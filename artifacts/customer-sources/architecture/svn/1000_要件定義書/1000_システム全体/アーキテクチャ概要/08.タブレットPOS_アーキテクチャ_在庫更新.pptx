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12670" r:id="rId5"/>
    <p:sldId id="12671" r:id="rId6"/>
    <p:sldId id="12962" r:id="rId7"/>
    <p:sldId id="12965" r:id="rId8"/>
    <p:sldId id="12967" r:id="rId9"/>
    <p:sldId id="12968" r:id="rId10"/>
    <p:sldId id="12964" r:id="rId11"/>
    <p:sldId id="12950" r:id="rId12"/>
  </p:sldIdLst>
  <p:sldSz cx="18288000" cy="10287000"/>
  <p:notesSz cx="6858000" cy="9144000"/>
  <p:defaultTextStyle>
    <a:defPPr>
      <a:defRPr lang="ja-JP"/>
    </a:defPPr>
    <a:lvl1pPr marL="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240">
          <p15:clr>
            <a:srgbClr val="A4A3A4"/>
          </p15:clr>
        </p15:guide>
        <p15:guide id="4" pos="57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FFCC"/>
    <a:srgbClr val="FFFF99"/>
    <a:srgbClr val="CCCCFF"/>
    <a:srgbClr val="CC99FF"/>
    <a:srgbClr val="FFCCFF"/>
    <a:srgbClr val="CCECFF"/>
    <a:srgbClr val="FFFFCC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E851C-A0AA-4571-B1F7-D67A1EF41EE8}" v="1" dt="2026-07-24T07:47:44.7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6652" autoAdjust="0"/>
  </p:normalViewPr>
  <p:slideViewPr>
    <p:cSldViewPr snapToGrid="0" showGuides="1">
      <p:cViewPr>
        <p:scale>
          <a:sx n="50" d="100"/>
          <a:sy n="50" d="100"/>
        </p:scale>
        <p:origin x="524" y="24"/>
      </p:cViewPr>
      <p:guideLst>
        <p:guide orient="horz" pos="2160"/>
        <p:guide pos="3840"/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4" d="100"/>
          <a:sy n="54" d="100"/>
        </p:scale>
        <p:origin x="2631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小松卓/主任" userId="9802634a-d422-44d6-afe6-87b5bf58f2fe" providerId="ADAL" clId="{477D7229-0E51-4CA4-9FEC-D48E189CFCCB}"/>
    <pc:docChg chg="undo custSel modSld">
      <pc:chgData name="小松卓/主任" userId="9802634a-d422-44d6-afe6-87b5bf58f2fe" providerId="ADAL" clId="{477D7229-0E51-4CA4-9FEC-D48E189CFCCB}" dt="2026-07-24T07:59:57.426" v="825" actId="14100"/>
      <pc:docMkLst>
        <pc:docMk/>
      </pc:docMkLst>
      <pc:sldChg chg="modSp mod">
        <pc:chgData name="小松卓/主任" userId="9802634a-d422-44d6-afe6-87b5bf58f2fe" providerId="ADAL" clId="{477D7229-0E51-4CA4-9FEC-D48E189CFCCB}" dt="2026-07-24T07:47:44.766" v="313"/>
        <pc:sldMkLst>
          <pc:docMk/>
          <pc:sldMk cId="117649913" sldId="12964"/>
        </pc:sldMkLst>
        <pc:spChg chg="mod">
          <ac:chgData name="小松卓/主任" userId="9802634a-d422-44d6-afe6-87b5bf58f2fe" providerId="ADAL" clId="{477D7229-0E51-4CA4-9FEC-D48E189CFCCB}" dt="2026-07-24T07:47:39.199" v="309" actId="20577"/>
          <ac:spMkLst>
            <pc:docMk/>
            <pc:sldMk cId="117649913" sldId="12964"/>
            <ac:spMk id="8" creationId="{B613DBCB-5609-DEAC-89CE-3C86BF91B23A}"/>
          </ac:spMkLst>
        </pc:spChg>
        <pc:spChg chg="mod">
          <ac:chgData name="小松卓/主任" userId="9802634a-d422-44d6-afe6-87b5bf58f2fe" providerId="ADAL" clId="{477D7229-0E51-4CA4-9FEC-D48E189CFCCB}" dt="2026-07-24T07:47:44.766" v="313"/>
          <ac:spMkLst>
            <pc:docMk/>
            <pc:sldMk cId="117649913" sldId="12964"/>
            <ac:spMk id="50" creationId="{0820F430-F035-B818-E3DD-18AF701B438E}"/>
          </ac:spMkLst>
        </pc:spChg>
      </pc:sldChg>
      <pc:sldChg chg="modSp mod">
        <pc:chgData name="小松卓/主任" userId="9802634a-d422-44d6-afe6-87b5bf58f2fe" providerId="ADAL" clId="{477D7229-0E51-4CA4-9FEC-D48E189CFCCB}" dt="2026-07-24T07:59:57.426" v="825" actId="14100"/>
        <pc:sldMkLst>
          <pc:docMk/>
          <pc:sldMk cId="1008237679" sldId="12967"/>
        </pc:sldMkLst>
        <pc:spChg chg="mod">
          <ac:chgData name="小松卓/主任" userId="9802634a-d422-44d6-afe6-87b5bf58f2fe" providerId="ADAL" clId="{477D7229-0E51-4CA4-9FEC-D48E189CFCCB}" dt="2026-07-24T07:59:57.426" v="825" actId="14100"/>
          <ac:spMkLst>
            <pc:docMk/>
            <pc:sldMk cId="1008237679" sldId="12967"/>
            <ac:spMk id="20" creationId="{09613B47-0DB9-035F-3975-466E384F47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D1929A-C832-4C51-892B-48BBA387B73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A8D0B-D510-4154-AB0C-777825F0917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1347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809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4487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B02FB-1743-386C-793E-EF36BD6F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933795-08B6-DE5B-6906-216532EE8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CD82D3A-CD11-3CD1-522A-5B3CEE622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720CEF-7695-77A9-B87F-A5F3907FEB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0982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52091-7BD0-8AC5-9870-E2366620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5E4A02-9C99-A94D-3656-E8561EB04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057AEA-CA6F-FD34-8AE9-BF8597043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E41611-B840-288A-01E5-4D84C75BB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148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AFDC-1DDA-E01C-C054-EC4C0DA18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C999A4B-28A8-B281-B796-CE3C3D2D0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4423A7A-57A6-F161-A67F-1F095ADA5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825ED8-CF03-2B4F-6FBD-71D7D6F02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5107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30E57-0CB6-8A77-2185-DC64D2B2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187BE66-BF18-4914-9427-0D9A9E0DD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47E8F9D-D940-AC8F-08E3-0072B873B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DE4B05-01A8-B47B-BAB4-FCD461B51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5150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D263E-A1E0-D3F0-0328-8FA0D2DB3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0CC67CC-7EF9-586C-32CB-C858492E3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64EC343-5A1F-3480-C8DC-23468FB073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186F4E-1120-02C6-FD64-13AE5E952F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7A8D0B-D510-4154-AB0C-777825F0917B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ＭＳ Ｐゴシック" panose="020B0600070205080204" pitchFamily="50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ＭＳ Ｐゴシック" panose="020B060007020508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12986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52091-7BD0-8AC5-9870-E23666206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75E4A02-9C99-A94D-3656-E8561EB04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057AEA-CA6F-FD34-8AE9-BF8597043E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E41611-B840-288A-01E5-4D84C75BBF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7A8D0B-D510-4154-AB0C-777825F0917B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148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１（サブタイト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C7E334F9-60CB-4E77-A4E6-B06957FF28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385800"/>
            <a:ext cx="18288000" cy="648000"/>
          </a:xfrm>
        </p:spPr>
        <p:txBody>
          <a:bodyPr lIns="0" tIns="0" rIns="0" bIns="0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200" baseline="0">
                <a:latin typeface="(日本語用のフォントを使用)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サブタイトル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DCAEF3-2FE9-4E7A-9654-2F9F5D29C984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2026/7/30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8829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バーページ２（サブタイトル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0" y="3969000"/>
            <a:ext cx="18288000" cy="1512000"/>
          </a:xfrm>
        </p:spPr>
        <p:txBody>
          <a:bodyPr wrap="none" lIns="0" tIns="0" rIns="0" bIns="0" anchor="ctr" anchorCtr="1">
            <a:normAutofit/>
          </a:bodyPr>
          <a:lstStyle>
            <a:lvl1pPr algn="ctr">
              <a:defRPr sz="6600" baseline="0">
                <a:solidFill>
                  <a:srgbClr val="59574C"/>
                </a:solidFill>
                <a:latin typeface="(日本語用のフォントを使用)"/>
                <a:ea typeface="源ノ角ゴシック JP Medium" panose="020B0600000000000000" pitchFamily="34" charset="-128"/>
              </a:defRPr>
            </a:lvl1pPr>
          </a:lstStyle>
          <a:p>
            <a:r>
              <a:rPr kumimoji="1" lang="ja-JP" altLang="en-US" dirty="0"/>
              <a:t>プレゼンテーションタイトル</a:t>
            </a:r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>
          <a:xfrm>
            <a:off x="4823999" y="7587000"/>
            <a:ext cx="8640000" cy="432000"/>
          </a:xfrm>
        </p:spPr>
        <p:txBody>
          <a:bodyPr anchor="ctr" anchorCtr="1">
            <a:noAutofit/>
          </a:bodyPr>
          <a:lstStyle>
            <a:lvl1pPr marL="0" indent="0" algn="ctr"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社名</a:t>
            </a:r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 hasCustomPrompt="1"/>
          </p:nvPr>
        </p:nvSpPr>
        <p:spPr>
          <a:xfrm>
            <a:off x="4824000" y="8154000"/>
            <a:ext cx="8640000" cy="702000"/>
          </a:xfrm>
        </p:spPr>
        <p:txBody>
          <a:bodyPr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100" baseline="0">
                <a:latin typeface="(日本語用のフォントを使用)"/>
              </a:defRPr>
            </a:lvl1pPr>
          </a:lstStyle>
          <a:p>
            <a:pPr lvl="0"/>
            <a:r>
              <a:rPr kumimoji="1" lang="ja-JP" altLang="en-US" dirty="0"/>
              <a:t>本部名</a:t>
            </a:r>
            <a:endParaRPr kumimoji="1" lang="en-US" altLang="ja-JP" dirty="0"/>
          </a:p>
          <a:p>
            <a:pPr lvl="0"/>
            <a:r>
              <a:rPr kumimoji="1" lang="ja-JP" altLang="en-US" dirty="0"/>
              <a:t>部門名</a:t>
            </a:r>
          </a:p>
        </p:txBody>
      </p:sp>
      <p:sp>
        <p:nvSpPr>
          <p:cNvPr id="11" name="日付プレースホルダー 10"/>
          <p:cNvSpPr>
            <a:spLocks noGrp="1"/>
          </p:cNvSpPr>
          <p:nvPr>
            <p:ph type="dt" sz="half" idx="15"/>
          </p:nvPr>
        </p:nvSpPr>
        <p:spPr>
          <a:xfrm>
            <a:off x="4823999" y="8991000"/>
            <a:ext cx="8640000" cy="432000"/>
          </a:xfrm>
        </p:spPr>
        <p:txBody>
          <a:bodyPr/>
          <a:lstStyle>
            <a:lvl1pPr algn="ctr">
              <a:defRPr sz="2100" baseline="0">
                <a:solidFill>
                  <a:schemeClr val="tx1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9082DA5B-CFED-4EA9-A9CF-51D6B7194673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2026/7/30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74C3497D-F957-437C-BA52-9036B28F34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3999" y="973984"/>
            <a:ext cx="2158931" cy="107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42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インデックス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/>
            </a:lvl1pPr>
          </a:lstStyle>
          <a:p>
            <a:fld id="{79AB4D3F-2AE4-467C-9678-D47D57DA8B15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 baseline="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/>
          </p:nvPr>
        </p:nvSpPr>
        <p:spPr>
          <a:xfrm>
            <a:off x="7349401" y="2764800"/>
            <a:ext cx="7782446" cy="4757400"/>
          </a:xfrm>
        </p:spPr>
        <p:txBody>
          <a:bodyPr anchor="ctr" anchorCtr="0"/>
          <a:lstStyle>
            <a:lvl1pPr marL="771525" indent="-771525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1pPr>
            <a:lvl2pPr marL="13716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2pPr>
            <a:lvl3pPr marL="2057400" indent="-68580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3pPr>
            <a:lvl4pPr marL="25717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4pPr>
            <a:lvl5pPr marL="3257550" indent="-514350">
              <a:buFont typeface="+mj-lt"/>
              <a:buAutoNum type="arabicPeriod"/>
              <a:defRPr baseline="0">
                <a:solidFill>
                  <a:srgbClr val="59574C"/>
                </a:solidFill>
                <a:latin typeface="(日本語用のフォントを使用)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2" name="直線コネクタ 11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図 14">
            <a:extLst>
              <a:ext uri="{FF2B5EF4-FFF2-40B4-BE49-F238E27FC236}">
                <a16:creationId xmlns:a16="http://schemas.microsoft.com/office/drawing/2014/main" id="{AC6B63DF-389A-4A98-8956-5BBF5DFBE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70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コンテンツ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lIns="0" tIns="0" rIns="0" bIns="0">
            <a:normAutofit/>
          </a:bodyPr>
          <a:lstStyle>
            <a:lvl1pPr>
              <a:defRPr sz="2700" baseline="0">
                <a:solidFill>
                  <a:srgbClr val="59574C"/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10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34031DBB-3291-48BB-BC28-17084E3E4F7C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1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2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ABD4378A-B289-4FC9-ADA8-4EF64E98E7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12CBCCE-C37F-4386-8BB6-498ADD1684D3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09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76942" y="1242000"/>
            <a:ext cx="17502458" cy="8656200"/>
          </a:xfrm>
        </p:spPr>
        <p:txBody>
          <a:bodyPr lIns="0" tIns="0" rIns="0" bIns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3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9F6429C1-8E62-4761-9877-E62B2DA92B1C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4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7" name="直線コネクタ 16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61F1F23-9698-4103-B3E9-5E4E605E8A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56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コンテンツ_03(2 つのコンテン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378000" y="1242000"/>
            <a:ext cx="8586000" cy="86360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9293400" y="1242000"/>
            <a:ext cx="8586000" cy="863460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F8B608F-4DEC-4D1D-B141-E614FF5669E8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cxnSp>
        <p:nvCxnSpPr>
          <p:cNvPr id="15" name="直線コネクタ 14"/>
          <p:cNvCxnSpPr/>
          <p:nvPr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図 16">
            <a:extLst>
              <a:ext uri="{FF2B5EF4-FFF2-40B4-BE49-F238E27FC236}">
                <a16:creationId xmlns:a16="http://schemas.microsoft.com/office/drawing/2014/main" id="{25CCDFE0-FDBF-4B25-8E18-40F619D84A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9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コンテンツ_04(比較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83400" y="437400"/>
            <a:ext cx="15514200" cy="415800"/>
          </a:xfrm>
        </p:spPr>
        <p:txBody>
          <a:bodyPr vert="horz" lIns="0" tIns="0" rIns="0" bIns="0" rtlCol="0" anchor="ctr">
            <a:normAutofit/>
          </a:bodyPr>
          <a:lstStyle>
            <a:lvl1pPr>
              <a:defRPr lang="ja-JP" altLang="en-US" sz="2700"/>
            </a:lvl1pPr>
          </a:lstStyle>
          <a:p>
            <a:pPr lvl="0"/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376941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376943" y="2527876"/>
            <a:ext cx="8586000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258300" y="1285877"/>
            <a:ext cx="8586000" cy="1242000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9258297" y="2527874"/>
            <a:ext cx="8621103" cy="7316672"/>
          </a:xfrm>
        </p:spPr>
        <p:txBody>
          <a:bodyPr/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6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1A58DF4-246C-48C1-B3B6-DF06CB441F9A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7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8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0169B903-E552-491B-BCBD-8D3E55AF30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4600" y="240300"/>
            <a:ext cx="1620000" cy="810000"/>
          </a:xfrm>
          <a:prstGeom prst="rect">
            <a:avLst/>
          </a:prstGeom>
        </p:spPr>
      </p:pic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3A5A175-8709-48AA-AEF7-8D4CA06A041E}"/>
              </a:ext>
            </a:extLst>
          </p:cNvPr>
          <p:cNvCxnSpPr/>
          <p:nvPr userDrawn="1"/>
        </p:nvCxnSpPr>
        <p:spPr>
          <a:xfrm>
            <a:off x="376943" y="1092633"/>
            <a:ext cx="17533058" cy="0"/>
          </a:xfrm>
          <a:prstGeom prst="line">
            <a:avLst/>
          </a:prstGeom>
          <a:ln w="19050">
            <a:solidFill>
              <a:srgbClr val="DBDAC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01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画面（基本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675D6162-6F61-4AA5-AF9B-79A5B59DCD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800" y="4732241"/>
            <a:ext cx="5576400" cy="8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144D8984-AA42-45E4-8983-9A2054881900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0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1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58615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1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F68BAD66-5485-4BF5-88CF-01CF8CEDDAD3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12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>
            <a:lvl1pPr>
              <a:defRPr baseline="0"/>
            </a:lvl1pPr>
          </a:lstStyle>
          <a:p>
            <a:fld id="{2A9E37A5-A917-4235-ABF6-8CD72E894915}" type="slidenum">
              <a:rPr lang="en-US" altLang="ja-JP" smtClean="0"/>
              <a:pPr/>
              <a:t>‹#›</a:t>
            </a:fld>
            <a:endParaRPr lang="ja-JP" altLang="en-US"/>
          </a:p>
        </p:txBody>
      </p:sp>
      <p:sp>
        <p:nvSpPr>
          <p:cNvPr id="13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73433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8" name="日付プレースホルダー 1"/>
          <p:cNvSpPr>
            <a:spLocks noGrp="1"/>
          </p:cNvSpPr>
          <p:nvPr>
            <p:ph type="dt" sz="half" idx="10"/>
          </p:nvPr>
        </p:nvSpPr>
        <p:spPr>
          <a:xfrm>
            <a:off x="378000" y="9936000"/>
            <a:ext cx="4114800" cy="324000"/>
          </a:xfrm>
        </p:spPr>
        <p:txBody>
          <a:bodyPr/>
          <a:lstStyle>
            <a:lvl1pPr>
              <a:defRPr baseline="0"/>
            </a:lvl1pPr>
          </a:lstStyle>
          <a:p>
            <a:fld id="{A6B0F656-4EE4-4163-B9C3-DDD4915C9549}" type="datetime1">
              <a:rPr lang="ja-JP" altLang="en-US" smtClean="0"/>
              <a:t>2026/7/30</a:t>
            </a:fld>
            <a:endParaRPr lang="ja-JP" altLang="en-US"/>
          </a:p>
        </p:txBody>
      </p:sp>
      <p:sp>
        <p:nvSpPr>
          <p:cNvPr id="9" name="スライド番号プレースホルダー 3"/>
          <p:cNvSpPr>
            <a:spLocks noGrp="1"/>
          </p:cNvSpPr>
          <p:nvPr>
            <p:ph type="sldNum" sz="quarter" idx="12"/>
          </p:nvPr>
        </p:nvSpPr>
        <p:spPr>
          <a:xfrm>
            <a:off x="17069400" y="9936000"/>
            <a:ext cx="810000" cy="324000"/>
          </a:xfrm>
        </p:spPr>
        <p:txBody>
          <a:bodyPr/>
          <a:lstStyle/>
          <a:p>
            <a:fld id="{2A9E37A5-A917-4235-ABF6-8CD72E894915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フッター プレースホルダー 3"/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 dirty="0"/>
              <a:t>Confidential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86500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137160" tIns="68580" rIns="137160" bIns="6858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378000" y="9936000"/>
            <a:ext cx="41148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500" baseline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C05EB7AA-217B-4EAE-BEC9-43341D9BD9B2}" type="datetime1">
              <a:rPr lang="ja-JP" altLang="en-US" smtClean="0">
                <a:latin typeface="源ノ角ゴシック JP Regular" panose="020B0500000000000000" pitchFamily="34" charset="-128"/>
              </a:rPr>
              <a:pPr/>
              <a:t>2026/7/30</a:t>
            </a:fld>
            <a:endParaRPr lang="ja-JP" altLang="en-US" dirty="0">
              <a:latin typeface="源ノ角ゴシック JP Regular" panose="020B0500000000000000" pitchFamily="34" charset="-128"/>
            </a:endParaRPr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5449400" y="9936000"/>
            <a:ext cx="162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US" altLang="ja-JP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r>
              <a:rPr lang="en-US" dirty="0">
                <a:latin typeface="源ノ角ゴシック JP Regular" panose="020B0500000000000000" pitchFamily="34" charset="-128"/>
              </a:rPr>
              <a:t>Confidential </a:t>
            </a:r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069400" y="9936000"/>
            <a:ext cx="810000" cy="32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lang="ja-JP" altLang="en-US" sz="1500" baseline="0" smtClean="0">
                <a:solidFill>
                  <a:schemeClr val="tx1">
                    <a:tint val="75000"/>
                  </a:schemeClr>
                </a:solidFill>
                <a:latin typeface="(日本語用のフォントを使用)"/>
                <a:ea typeface="源ノ角ゴシック JP Regular" panose="020B0500000000000000" pitchFamily="34" charset="-128"/>
              </a:defRPr>
            </a:lvl1pPr>
          </a:lstStyle>
          <a:p>
            <a:fld id="{2A9E37A5-A917-4235-ABF6-8CD72E894915}" type="slidenum">
              <a:rPr lang="en-US" altLang="ja-JP" smtClean="0">
                <a:latin typeface="源ノ角ゴシック JP Regular" panose="020B0500000000000000" pitchFamily="34" charset="-128"/>
              </a:rPr>
              <a:pPr/>
              <a:t>‹#›</a:t>
            </a:fld>
            <a:endParaRPr lang="en-US" altLang="ja-JP" dirty="0">
              <a:latin typeface="源ノ角ゴシック JP Regular" panose="020B0500000000000000" pitchFamily="34" charset="-128"/>
            </a:endParaRPr>
          </a:p>
        </p:txBody>
      </p:sp>
      <p:sp>
        <p:nvSpPr>
          <p:cNvPr id="7" name="フッター プレースホルダー 4"/>
          <p:cNvSpPr txBox="1">
            <a:spLocks/>
          </p:cNvSpPr>
          <p:nvPr userDrawn="1"/>
        </p:nvSpPr>
        <p:spPr>
          <a:xfrm>
            <a:off x="9277200" y="9936001"/>
            <a:ext cx="6172200" cy="378002"/>
          </a:xfrm>
          <a:prstGeom prst="rect">
            <a:avLst/>
          </a:prstGeom>
        </p:spPr>
        <p:txBody>
          <a:bodyPr vert="horz" lIns="137160" tIns="68580" rIns="137160" bIns="6858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279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55" r:id="rId3"/>
    <p:sldLayoutId id="2147483654" r:id="rId4"/>
    <p:sldLayoutId id="2147483650" r:id="rId5"/>
    <p:sldLayoutId id="2147483652" r:id="rId6"/>
    <p:sldLayoutId id="2147483653" r:id="rId7"/>
    <p:sldLayoutId id="2147483658" r:id="rId8"/>
    <p:sldLayoutId id="2147483660" r:id="rId9"/>
    <p:sldLayoutId id="2147483656" r:id="rId10"/>
    <p:sldLayoutId id="2147483657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kumimoji="1" sz="3600" kern="1200" baseline="0">
          <a:solidFill>
            <a:srgbClr val="59574C"/>
          </a:solidFill>
          <a:latin typeface="(日本語用のフォントを使用)"/>
          <a:ea typeface="源ノ角ゴシック JP Regular" panose="020B0500000000000000" pitchFamily="34" charset="-128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kumimoji="1" sz="42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6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30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 baseline="0">
          <a:solidFill>
            <a:schemeClr val="tx1"/>
          </a:solidFill>
          <a:latin typeface="+mn-lt"/>
          <a:ea typeface="源ノ角ゴシック JP Regular" panose="020B0500000000000000" pitchFamily="34" charset="-128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スライド番号プレースホルダー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テキスト プレースホルダー 11">
            <a:extLst>
              <a:ext uri="{FF2B5EF4-FFF2-40B4-BE49-F238E27FC236}">
                <a16:creationId xmlns:a16="http://schemas.microsoft.com/office/drawing/2014/main" id="{7AC65879-7FD1-5159-5240-E3ADC0AF25C0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5" name="フッター プレースホルダー 8">
            <a:extLst>
              <a:ext uri="{FF2B5EF4-FFF2-40B4-BE49-F238E27FC236}">
                <a16:creationId xmlns:a16="http://schemas.microsoft.com/office/drawing/2014/main" id="{4BFBC7A3-80BB-2E54-1CEC-26AE4427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lang="en-US" altLang="ja-JP" sz="1650" b="1" dirty="0"/>
              <a:t>Confidential </a:t>
            </a:r>
            <a:endParaRPr lang="ja-JP" altLang="en-US" sz="1650" b="1" dirty="0"/>
          </a:p>
        </p:txBody>
      </p:sp>
      <p:grpSp>
        <p:nvGrpSpPr>
          <p:cNvPr id="8" name="グループ化 22">
            <a:extLst>
              <a:ext uri="{FF2B5EF4-FFF2-40B4-BE49-F238E27FC236}">
                <a16:creationId xmlns:a16="http://schemas.microsoft.com/office/drawing/2014/main" id="{AAF6A984-94EF-49FC-9760-F28BEC404163}"/>
              </a:ext>
            </a:extLst>
          </p:cNvPr>
          <p:cNvGrpSpPr/>
          <p:nvPr/>
        </p:nvGrpSpPr>
        <p:grpSpPr>
          <a:xfrm>
            <a:off x="1415367" y="4759592"/>
            <a:ext cx="16997199" cy="967652"/>
            <a:chOff x="-439385" y="-73503"/>
            <a:chExt cx="9583385" cy="483826"/>
          </a:xfrm>
        </p:grpSpPr>
        <p:sp>
          <p:nvSpPr>
            <p:cNvPr id="9" name="角丸四角形 3">
              <a:extLst>
                <a:ext uri="{FF2B5EF4-FFF2-40B4-BE49-F238E27FC236}">
                  <a16:creationId xmlns:a16="http://schemas.microsoft.com/office/drawing/2014/main" id="{C3F9DEA1-9F8B-4EC4-9D6B-8A097D57D62B}"/>
                </a:ext>
              </a:extLst>
            </p:cNvPr>
            <p:cNvSpPr/>
            <p:nvPr/>
          </p:nvSpPr>
          <p:spPr bwMode="auto">
            <a:xfrm>
              <a:off x="-439385" y="-73503"/>
              <a:ext cx="9144000" cy="383908"/>
            </a:xfrm>
            <a:prstGeom prst="roundRect">
              <a:avLst>
                <a:gd name="adj" fmla="val 0"/>
              </a:avLst>
            </a:prstGeom>
            <a:solidFill>
              <a:srgbClr val="E5E3D4"/>
            </a:solidFill>
            <a:ln>
              <a:noFill/>
            </a:ln>
            <a:effectLst/>
          </p:spPr>
          <p:txBody>
            <a:bodyPr lIns="0" tIns="0" rIns="0" bIns="0" rtlCol="0" anchor="ctr">
              <a:noAutofit/>
            </a:bodyPr>
            <a:lstStyle/>
            <a:p>
              <a:pPr algn="just">
                <a:lnSpc>
                  <a:spcPct val="140000"/>
                </a:lnSpc>
                <a:spcBef>
                  <a:spcPct val="0"/>
                </a:spcBef>
                <a:spcAft>
                  <a:spcPts val="1022"/>
                </a:spcAft>
              </a:pPr>
              <a:endParaRPr lang="ja-JP" altLang="en-US" sz="2801" dirty="0">
                <a:solidFill>
                  <a:schemeClr val="bg1"/>
                </a:solidFill>
                <a:latin typeface="メイリオ" pitchFamily="50" charset="-128"/>
                <a:ea typeface="メイリオ" pitchFamily="50" charset="-128"/>
                <a:cs typeface="メイリオ" pitchFamily="50" charset="-128"/>
              </a:endParaRPr>
            </a:p>
          </p:txBody>
        </p:sp>
        <p:sp>
          <p:nvSpPr>
            <p:cNvPr id="10" name="Line 5">
              <a:extLst>
                <a:ext uri="{FF2B5EF4-FFF2-40B4-BE49-F238E27FC236}">
                  <a16:creationId xmlns:a16="http://schemas.microsoft.com/office/drawing/2014/main" id="{C3A3B830-65E0-4A2E-A9C4-CE4E415EBA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410323"/>
              <a:ext cx="9144000" cy="0"/>
            </a:xfrm>
            <a:prstGeom prst="line">
              <a:avLst/>
            </a:prstGeom>
            <a:noFill/>
            <a:ln w="12700">
              <a:solidFill>
                <a:srgbClr val="E5E3D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/>
            <a:p>
              <a:endParaRPr lang="ja-JP" altLang="en-US" sz="3600"/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FF97F0-39F2-468F-918B-BFB6B6B3F365}"/>
              </a:ext>
            </a:extLst>
          </p:cNvPr>
          <p:cNvSpPr txBox="1"/>
          <p:nvPr/>
        </p:nvSpPr>
        <p:spPr>
          <a:xfrm>
            <a:off x="1415368" y="4650245"/>
            <a:ext cx="158597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タブレット</a:t>
            </a:r>
            <a:r>
              <a:rPr lang="en-US" altLang="ja-JP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POS</a:t>
            </a:r>
            <a:r>
              <a:rPr lang="ja-JP" altLang="en-US" sz="4800" b="1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 在庫データ連携</a:t>
            </a:r>
          </a:p>
        </p:txBody>
      </p:sp>
    </p:spTree>
    <p:extLst>
      <p:ext uri="{BB962C8B-B14F-4D97-AF65-F5344CB8AC3E}">
        <p14:creationId xmlns:p14="http://schemas.microsoft.com/office/powerpoint/2010/main" val="252111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9AFEE408-19C8-68E6-4983-96BA0A9CA816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1816DB91-96ED-40FA-A739-05243431B836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D0EA77F-141D-DB67-E346-2F5CB0187737}"/>
              </a:ext>
            </a:extLst>
          </p:cNvPr>
          <p:cNvSpPr txBox="1"/>
          <p:nvPr/>
        </p:nvSpPr>
        <p:spPr>
          <a:xfrm>
            <a:off x="405609" y="840860"/>
            <a:ext cx="17473791" cy="42088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■在庫データ連携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・オンプレの店舗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がある店舗（タブレット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と現行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が並行稼働を含む）については、店舗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の在庫データを更新し、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店舗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の常駐機能でマスター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の在庫データを更新します。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入力後からマスター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の在庫データが更新されるまで、現状より時間がかかります。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下記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在庫データ更新経路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の（１）経路となります。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・オンプレの店舗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がない店舗（全てタブレット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に置き換わった店舗）はセントラル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の実績データ作成処理で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マスター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の在庫データを更新します。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→セントラル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には在庫データは持たない。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lvl="0">
              <a:lnSpc>
                <a:spcPct val="1500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　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で在庫データを参照する機能では、マスター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の在庫データを参照します。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CFFF936-1D6F-8D97-B1A4-3617BE98A16D}"/>
              </a:ext>
            </a:extLst>
          </p:cNvPr>
          <p:cNvSpPr/>
          <p:nvPr/>
        </p:nvSpPr>
        <p:spPr>
          <a:xfrm>
            <a:off x="1042832" y="5853554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POS/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据置型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312D8D8-1CAB-FEFA-AD93-B5D7B6F83B18}"/>
              </a:ext>
            </a:extLst>
          </p:cNvPr>
          <p:cNvSpPr/>
          <p:nvPr/>
        </p:nvSpPr>
        <p:spPr>
          <a:xfrm>
            <a:off x="5992683" y="5853554"/>
            <a:ext cx="1274490" cy="87432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D25140F-845C-F5DC-46B5-299C7E9CA699}"/>
              </a:ext>
            </a:extLst>
          </p:cNvPr>
          <p:cNvSpPr/>
          <p:nvPr/>
        </p:nvSpPr>
        <p:spPr>
          <a:xfrm>
            <a:off x="9335335" y="5853554"/>
            <a:ext cx="1274490" cy="874323"/>
          </a:xfrm>
          <a:prstGeom prst="rect">
            <a:avLst/>
          </a:prstGeom>
          <a:solidFill>
            <a:srgbClr val="00B0F0"/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A0C3B5C-00A9-BE26-D9FD-C19281739700}"/>
              </a:ext>
            </a:extLst>
          </p:cNvPr>
          <p:cNvSpPr/>
          <p:nvPr/>
        </p:nvSpPr>
        <p:spPr>
          <a:xfrm>
            <a:off x="2714158" y="5853551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6921DCDC-DB0B-BC11-9AAB-111295DCE749}"/>
              </a:ext>
            </a:extLst>
          </p:cNvPr>
          <p:cNvCxnSpPr>
            <a:cxnSpLocks/>
            <a:stCxn id="6" idx="3"/>
            <a:endCxn id="18" idx="1"/>
          </p:cNvCxnSpPr>
          <p:nvPr/>
        </p:nvCxnSpPr>
        <p:spPr>
          <a:xfrm flipV="1">
            <a:off x="2317322" y="6290713"/>
            <a:ext cx="396836" cy="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66B73A9A-50E9-A68F-1CBA-F4A320AD10B2}"/>
              </a:ext>
            </a:extLst>
          </p:cNvPr>
          <p:cNvCxnSpPr>
            <a:cxnSpLocks/>
            <a:stCxn id="18" idx="3"/>
            <a:endCxn id="51" idx="2"/>
          </p:cNvCxnSpPr>
          <p:nvPr/>
        </p:nvCxnSpPr>
        <p:spPr>
          <a:xfrm>
            <a:off x="3988648" y="6290713"/>
            <a:ext cx="300507" cy="29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4536F81-93D8-1331-EF0F-3036FBCA3324}"/>
              </a:ext>
            </a:extLst>
          </p:cNvPr>
          <p:cNvCxnSpPr>
            <a:cxnSpLocks/>
            <a:stCxn id="51" idx="4"/>
            <a:endCxn id="8" idx="1"/>
          </p:cNvCxnSpPr>
          <p:nvPr/>
        </p:nvCxnSpPr>
        <p:spPr>
          <a:xfrm flipV="1">
            <a:off x="5653280" y="6290716"/>
            <a:ext cx="339403" cy="2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928D2C6F-5DE4-E1F4-7E2A-8D13DFD0B78D}"/>
              </a:ext>
            </a:extLst>
          </p:cNvPr>
          <p:cNvCxnSpPr>
            <a:cxnSpLocks/>
            <a:endCxn id="128" idx="1"/>
          </p:cNvCxnSpPr>
          <p:nvPr/>
        </p:nvCxnSpPr>
        <p:spPr>
          <a:xfrm>
            <a:off x="7303096" y="6290716"/>
            <a:ext cx="3542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96DCBD7F-6DC4-15E0-5B24-D06E226D0071}"/>
              </a:ext>
            </a:extLst>
          </p:cNvPr>
          <p:cNvCxnSpPr>
            <a:cxnSpLocks/>
            <a:stCxn id="128" idx="3"/>
            <a:endCxn id="13" idx="1"/>
          </p:cNvCxnSpPr>
          <p:nvPr/>
        </p:nvCxnSpPr>
        <p:spPr>
          <a:xfrm>
            <a:off x="8931805" y="6290716"/>
            <a:ext cx="40353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A3F44A1D-A04C-CC47-60BC-FB28E76179DF}"/>
              </a:ext>
            </a:extLst>
          </p:cNvPr>
          <p:cNvCxnSpPr>
            <a:cxnSpLocks/>
            <a:stCxn id="13" idx="3"/>
            <a:endCxn id="53" idx="2"/>
          </p:cNvCxnSpPr>
          <p:nvPr/>
        </p:nvCxnSpPr>
        <p:spPr>
          <a:xfrm>
            <a:off x="10609825" y="6290716"/>
            <a:ext cx="328711" cy="27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14246D7F-E17D-B605-A2D9-6D58885427FB}"/>
              </a:ext>
            </a:extLst>
          </p:cNvPr>
          <p:cNvCxnSpPr>
            <a:cxnSpLocks/>
            <a:stCxn id="53" idx="4"/>
            <a:endCxn id="54" idx="2"/>
          </p:cNvCxnSpPr>
          <p:nvPr/>
        </p:nvCxnSpPr>
        <p:spPr>
          <a:xfrm flipV="1">
            <a:off x="12338128" y="6290713"/>
            <a:ext cx="339859" cy="27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EA65E844-4633-F50B-9C52-C4EFA72D2EC0}"/>
              </a:ext>
            </a:extLst>
          </p:cNvPr>
          <p:cNvCxnSpPr>
            <a:cxnSpLocks/>
            <a:stCxn id="54" idx="4"/>
            <a:endCxn id="55" idx="2"/>
          </p:cNvCxnSpPr>
          <p:nvPr/>
        </p:nvCxnSpPr>
        <p:spPr>
          <a:xfrm>
            <a:off x="14042112" y="6290713"/>
            <a:ext cx="3520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5F4C10F8-905C-C76C-B5C9-FAE22280630B}"/>
              </a:ext>
            </a:extLst>
          </p:cNvPr>
          <p:cNvCxnSpPr>
            <a:cxnSpLocks/>
            <a:stCxn id="55" idx="4"/>
            <a:endCxn id="56" idx="2"/>
          </p:cNvCxnSpPr>
          <p:nvPr/>
        </p:nvCxnSpPr>
        <p:spPr>
          <a:xfrm>
            <a:off x="15758256" y="6290713"/>
            <a:ext cx="3520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円柱 50">
            <a:extLst>
              <a:ext uri="{FF2B5EF4-FFF2-40B4-BE49-F238E27FC236}">
                <a16:creationId xmlns:a16="http://schemas.microsoft.com/office/drawing/2014/main" id="{471F2BCC-232A-FB92-C50F-C037E453C138}"/>
              </a:ext>
            </a:extLst>
          </p:cNvPr>
          <p:cNvSpPr/>
          <p:nvPr/>
        </p:nvSpPr>
        <p:spPr>
          <a:xfrm>
            <a:off x="4289155" y="5942703"/>
            <a:ext cx="1364125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OUTBOX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円柱 52">
            <a:extLst>
              <a:ext uri="{FF2B5EF4-FFF2-40B4-BE49-F238E27FC236}">
                <a16:creationId xmlns:a16="http://schemas.microsoft.com/office/drawing/2014/main" id="{A31EC537-A0A3-DB4B-E3F1-4D4503FD7286}"/>
              </a:ext>
            </a:extLst>
          </p:cNvPr>
          <p:cNvSpPr/>
          <p:nvPr/>
        </p:nvSpPr>
        <p:spPr>
          <a:xfrm>
            <a:off x="10938536" y="5940046"/>
            <a:ext cx="1399592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円柱 53">
            <a:extLst>
              <a:ext uri="{FF2B5EF4-FFF2-40B4-BE49-F238E27FC236}">
                <a16:creationId xmlns:a16="http://schemas.microsoft.com/office/drawing/2014/main" id="{BEF1A6E3-34EC-7B93-E45D-F69EF06A54F6}"/>
              </a:ext>
            </a:extLst>
          </p:cNvPr>
          <p:cNvSpPr/>
          <p:nvPr/>
        </p:nvSpPr>
        <p:spPr>
          <a:xfrm>
            <a:off x="12677987" y="5939772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下りトラン管理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円柱 54">
            <a:extLst>
              <a:ext uri="{FF2B5EF4-FFF2-40B4-BE49-F238E27FC236}">
                <a16:creationId xmlns:a16="http://schemas.microsoft.com/office/drawing/2014/main" id="{B23A12DF-6191-C375-089E-0EDCE3CEBCC8}"/>
              </a:ext>
            </a:extLst>
          </p:cNvPr>
          <p:cNvSpPr/>
          <p:nvPr/>
        </p:nvSpPr>
        <p:spPr>
          <a:xfrm>
            <a:off x="14394131" y="5939772"/>
            <a:ext cx="1364125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円柱 55">
            <a:extLst>
              <a:ext uri="{FF2B5EF4-FFF2-40B4-BE49-F238E27FC236}">
                <a16:creationId xmlns:a16="http://schemas.microsoft.com/office/drawing/2014/main" id="{D419CD27-8CBB-1789-316B-AEBFDA3CBE9E}"/>
              </a:ext>
            </a:extLst>
          </p:cNvPr>
          <p:cNvSpPr/>
          <p:nvPr/>
        </p:nvSpPr>
        <p:spPr>
          <a:xfrm>
            <a:off x="16110275" y="5939772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801D18AF-F321-6B37-1FAC-D775602C0188}"/>
              </a:ext>
            </a:extLst>
          </p:cNvPr>
          <p:cNvSpPr/>
          <p:nvPr/>
        </p:nvSpPr>
        <p:spPr>
          <a:xfrm>
            <a:off x="1042832" y="8904204"/>
            <a:ext cx="1274490" cy="874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B4731807-5606-5878-507F-DBA7B34174C8}"/>
              </a:ext>
            </a:extLst>
          </p:cNvPr>
          <p:cNvCxnSpPr>
            <a:cxnSpLocks/>
            <a:stCxn id="76" idx="3"/>
            <a:endCxn id="89" idx="2"/>
          </p:cNvCxnSpPr>
          <p:nvPr/>
        </p:nvCxnSpPr>
        <p:spPr>
          <a:xfrm>
            <a:off x="2317322" y="9341366"/>
            <a:ext cx="1971833" cy="2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F2B84FDE-1750-FED0-2DAC-51FB1F5CCD2B}"/>
              </a:ext>
            </a:extLst>
          </p:cNvPr>
          <p:cNvCxnSpPr>
            <a:cxnSpLocks/>
            <a:stCxn id="89" idx="4"/>
            <a:endCxn id="93" idx="2"/>
          </p:cNvCxnSpPr>
          <p:nvPr/>
        </p:nvCxnSpPr>
        <p:spPr>
          <a:xfrm flipV="1">
            <a:off x="5653280" y="9341363"/>
            <a:ext cx="8740851" cy="29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4C6E9368-B572-6036-7415-244CEE787CE1}"/>
              </a:ext>
            </a:extLst>
          </p:cNvPr>
          <p:cNvCxnSpPr>
            <a:cxnSpLocks/>
            <a:stCxn id="93" idx="4"/>
            <a:endCxn id="94" idx="2"/>
          </p:cNvCxnSpPr>
          <p:nvPr/>
        </p:nvCxnSpPr>
        <p:spPr>
          <a:xfrm>
            <a:off x="15758256" y="9341363"/>
            <a:ext cx="35201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円柱 88">
            <a:extLst>
              <a:ext uri="{FF2B5EF4-FFF2-40B4-BE49-F238E27FC236}">
                <a16:creationId xmlns:a16="http://schemas.microsoft.com/office/drawing/2014/main" id="{D1A619D0-3CCF-B570-122B-297544BB45A4}"/>
              </a:ext>
            </a:extLst>
          </p:cNvPr>
          <p:cNvSpPr/>
          <p:nvPr/>
        </p:nvSpPr>
        <p:spPr>
          <a:xfrm>
            <a:off x="4289155" y="8993353"/>
            <a:ext cx="1364125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sp>
        <p:nvSpPr>
          <p:cNvPr id="93" name="円柱 92">
            <a:extLst>
              <a:ext uri="{FF2B5EF4-FFF2-40B4-BE49-F238E27FC236}">
                <a16:creationId xmlns:a16="http://schemas.microsoft.com/office/drawing/2014/main" id="{1C730ED1-3E6C-139F-8924-C57981D3DFE0}"/>
              </a:ext>
            </a:extLst>
          </p:cNvPr>
          <p:cNvSpPr/>
          <p:nvPr/>
        </p:nvSpPr>
        <p:spPr>
          <a:xfrm>
            <a:off x="14394131" y="8990422"/>
            <a:ext cx="1364125" cy="701882"/>
          </a:xfrm>
          <a:prstGeom prst="ca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4" name="円柱 93">
            <a:extLst>
              <a:ext uri="{FF2B5EF4-FFF2-40B4-BE49-F238E27FC236}">
                <a16:creationId xmlns:a16="http://schemas.microsoft.com/office/drawing/2014/main" id="{3D68A84E-2292-016A-E3AE-677D646BF3EF}"/>
              </a:ext>
            </a:extLst>
          </p:cNvPr>
          <p:cNvSpPr/>
          <p:nvPr/>
        </p:nvSpPr>
        <p:spPr>
          <a:xfrm>
            <a:off x="16110275" y="8990422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20748F2D-2B59-568B-E1D3-A032EA54B05E}"/>
              </a:ext>
            </a:extLst>
          </p:cNvPr>
          <p:cNvSpPr/>
          <p:nvPr/>
        </p:nvSpPr>
        <p:spPr>
          <a:xfrm>
            <a:off x="1042832" y="7362408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POS/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据置型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AF34C8DD-95F3-E8C1-E0E3-DAE66DAE37AF}"/>
              </a:ext>
            </a:extLst>
          </p:cNvPr>
          <p:cNvSpPr/>
          <p:nvPr/>
        </p:nvSpPr>
        <p:spPr>
          <a:xfrm>
            <a:off x="5992683" y="7362408"/>
            <a:ext cx="1274490" cy="87432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5B976625-7955-2208-066D-E6504F2A9729}"/>
              </a:ext>
            </a:extLst>
          </p:cNvPr>
          <p:cNvSpPr/>
          <p:nvPr/>
        </p:nvSpPr>
        <p:spPr>
          <a:xfrm>
            <a:off x="2714158" y="7362405"/>
            <a:ext cx="1274490" cy="8743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6DB4D3B8-9B42-6482-33F4-7DA6F3FA4045}"/>
              </a:ext>
            </a:extLst>
          </p:cNvPr>
          <p:cNvCxnSpPr>
            <a:cxnSpLocks/>
            <a:stCxn id="101" idx="3"/>
            <a:endCxn id="104" idx="1"/>
          </p:cNvCxnSpPr>
          <p:nvPr/>
        </p:nvCxnSpPr>
        <p:spPr>
          <a:xfrm flipV="1">
            <a:off x="2317322" y="7799567"/>
            <a:ext cx="396836" cy="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矢印コネクタ 105">
            <a:extLst>
              <a:ext uri="{FF2B5EF4-FFF2-40B4-BE49-F238E27FC236}">
                <a16:creationId xmlns:a16="http://schemas.microsoft.com/office/drawing/2014/main" id="{5D3692A9-3BFC-46BE-3522-C5220CA70253}"/>
              </a:ext>
            </a:extLst>
          </p:cNvPr>
          <p:cNvCxnSpPr>
            <a:cxnSpLocks/>
            <a:stCxn id="104" idx="3"/>
            <a:endCxn id="114" idx="2"/>
          </p:cNvCxnSpPr>
          <p:nvPr/>
        </p:nvCxnSpPr>
        <p:spPr>
          <a:xfrm>
            <a:off x="3988648" y="7799567"/>
            <a:ext cx="300507" cy="29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35498724-4B7A-B047-51E9-083BB476F269}"/>
              </a:ext>
            </a:extLst>
          </p:cNvPr>
          <p:cNvCxnSpPr>
            <a:cxnSpLocks/>
            <a:stCxn id="114" idx="4"/>
            <a:endCxn id="102" idx="1"/>
          </p:cNvCxnSpPr>
          <p:nvPr/>
        </p:nvCxnSpPr>
        <p:spPr>
          <a:xfrm flipV="1">
            <a:off x="5653280" y="7799570"/>
            <a:ext cx="339403" cy="292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67CA0F04-A456-9508-514B-879069083E56}"/>
              </a:ext>
            </a:extLst>
          </p:cNvPr>
          <p:cNvCxnSpPr>
            <a:cxnSpLocks/>
            <a:stCxn id="102" idx="3"/>
            <a:endCxn id="133" idx="1"/>
          </p:cNvCxnSpPr>
          <p:nvPr/>
        </p:nvCxnSpPr>
        <p:spPr>
          <a:xfrm flipV="1">
            <a:off x="7267173" y="7799567"/>
            <a:ext cx="396836" cy="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E845B66C-66EE-703D-A81A-A9F909B9241C}"/>
              </a:ext>
            </a:extLst>
          </p:cNvPr>
          <p:cNvCxnSpPr>
            <a:cxnSpLocks/>
            <a:stCxn id="133" idx="3"/>
            <a:endCxn id="119" idx="2"/>
          </p:cNvCxnSpPr>
          <p:nvPr/>
        </p:nvCxnSpPr>
        <p:spPr>
          <a:xfrm>
            <a:off x="8931805" y="7799567"/>
            <a:ext cx="717847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円柱 113">
            <a:extLst>
              <a:ext uri="{FF2B5EF4-FFF2-40B4-BE49-F238E27FC236}">
                <a16:creationId xmlns:a16="http://schemas.microsoft.com/office/drawing/2014/main" id="{6D7666EA-0BF8-AC5C-7CE8-5DB6489C2001}"/>
              </a:ext>
            </a:extLst>
          </p:cNvPr>
          <p:cNvSpPr/>
          <p:nvPr/>
        </p:nvSpPr>
        <p:spPr>
          <a:xfrm>
            <a:off x="4289155" y="7451557"/>
            <a:ext cx="1364125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OUTBOX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9" name="円柱 118">
            <a:extLst>
              <a:ext uri="{FF2B5EF4-FFF2-40B4-BE49-F238E27FC236}">
                <a16:creationId xmlns:a16="http://schemas.microsoft.com/office/drawing/2014/main" id="{9C0D1163-BFA0-D72F-F7AC-F8FD9A7B76B7}"/>
              </a:ext>
            </a:extLst>
          </p:cNvPr>
          <p:cNvSpPr/>
          <p:nvPr/>
        </p:nvSpPr>
        <p:spPr>
          <a:xfrm>
            <a:off x="16110275" y="7448626"/>
            <a:ext cx="1364125" cy="701882"/>
          </a:xfrm>
          <a:prstGeom prst="can">
            <a:avLst/>
          </a:prstGeom>
          <a:solidFill>
            <a:srgbClr val="00B0F0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</a:t>
            </a: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A9AE87DA-2185-C485-3601-1CD53BE56ED0}"/>
              </a:ext>
            </a:extLst>
          </p:cNvPr>
          <p:cNvSpPr txBox="1"/>
          <p:nvPr/>
        </p:nvSpPr>
        <p:spPr>
          <a:xfrm>
            <a:off x="442015" y="5124905"/>
            <a:ext cx="10376405" cy="6882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在庫データ更新経路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lvl="0"/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（１）タブレット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、現行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並行稼働店舗のタブレット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入力分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F39D88C7-7194-7E40-2831-D0E3104E607C}"/>
              </a:ext>
            </a:extLst>
          </p:cNvPr>
          <p:cNvSpPr txBox="1"/>
          <p:nvPr/>
        </p:nvSpPr>
        <p:spPr>
          <a:xfrm>
            <a:off x="442016" y="6971466"/>
            <a:ext cx="6125040" cy="380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（２）タブレット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のみ稼働店舗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A50FD3D1-E9E9-68F6-104A-4045B65AE1C4}"/>
              </a:ext>
            </a:extLst>
          </p:cNvPr>
          <p:cNvSpPr txBox="1"/>
          <p:nvPr/>
        </p:nvSpPr>
        <p:spPr>
          <a:xfrm>
            <a:off x="442016" y="8524986"/>
            <a:ext cx="6125040" cy="3804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（参考）現行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のみ稼働店舗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CAAA3171-A2E7-7B7B-400D-6C0BB0BC4F10}"/>
              </a:ext>
            </a:extLst>
          </p:cNvPr>
          <p:cNvSpPr/>
          <p:nvPr/>
        </p:nvSpPr>
        <p:spPr>
          <a:xfrm>
            <a:off x="7657315" y="5853554"/>
            <a:ext cx="1274490" cy="87432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実績データ作成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Functions</a:t>
            </a:r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4D4D4296-EFDA-01CB-412D-3967AEA39581}"/>
              </a:ext>
            </a:extLst>
          </p:cNvPr>
          <p:cNvSpPr/>
          <p:nvPr/>
        </p:nvSpPr>
        <p:spPr>
          <a:xfrm>
            <a:off x="7664009" y="7362405"/>
            <a:ext cx="1267796" cy="874323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実績データ作成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Functions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BFA736-0DC0-36EC-57F1-6F58AB90BE7D}"/>
              </a:ext>
            </a:extLst>
          </p:cNvPr>
          <p:cNvSpPr txBox="1"/>
          <p:nvPr/>
        </p:nvSpPr>
        <p:spPr>
          <a:xfrm>
            <a:off x="9694048" y="9380890"/>
            <a:ext cx="1364125" cy="31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秒間隔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5606CE5-F36C-2C61-46C0-2A18C0EEAB29}"/>
              </a:ext>
            </a:extLst>
          </p:cNvPr>
          <p:cNvSpPr txBox="1"/>
          <p:nvPr/>
        </p:nvSpPr>
        <p:spPr>
          <a:xfrm>
            <a:off x="15549998" y="9692303"/>
            <a:ext cx="894331" cy="31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秒間隔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BE6D4C-A08A-C97E-AF61-AAE1908D69C9}"/>
              </a:ext>
            </a:extLst>
          </p:cNvPr>
          <p:cNvSpPr txBox="1"/>
          <p:nvPr/>
        </p:nvSpPr>
        <p:spPr>
          <a:xfrm>
            <a:off x="15549998" y="6688865"/>
            <a:ext cx="894331" cy="31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秒間隔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73698FB-627D-2A61-046C-DE046313B73E}"/>
              </a:ext>
            </a:extLst>
          </p:cNvPr>
          <p:cNvSpPr txBox="1"/>
          <p:nvPr/>
        </p:nvSpPr>
        <p:spPr>
          <a:xfrm>
            <a:off x="13724385" y="6714991"/>
            <a:ext cx="1093115" cy="3189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分間隔</a:t>
            </a:r>
            <a:r>
              <a:rPr lang="en-US" altLang="ja-JP" sz="1600" baseline="30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※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C20C352-3D30-2820-5E08-7184971EE232}"/>
              </a:ext>
            </a:extLst>
          </p:cNvPr>
          <p:cNvSpPr txBox="1"/>
          <p:nvPr/>
        </p:nvSpPr>
        <p:spPr>
          <a:xfrm>
            <a:off x="12060891" y="6688865"/>
            <a:ext cx="894331" cy="3189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 altLang="ja-JP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3</a:t>
            </a:r>
            <a:r>
              <a:rPr lang="ja-JP" altLang="en-US" sz="16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秒間隔</a:t>
            </a:r>
            <a:endParaRPr lang="en-US" altLang="ja-JP" sz="16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1" name="吹き出し: 線 20">
            <a:extLst>
              <a:ext uri="{FF2B5EF4-FFF2-40B4-BE49-F238E27FC236}">
                <a16:creationId xmlns:a16="http://schemas.microsoft.com/office/drawing/2014/main" id="{D4A6C083-AFD8-BE94-FD54-4D680D07BA9E}"/>
              </a:ext>
            </a:extLst>
          </p:cNvPr>
          <p:cNvSpPr/>
          <p:nvPr/>
        </p:nvSpPr>
        <p:spPr>
          <a:xfrm>
            <a:off x="13206550" y="4088675"/>
            <a:ext cx="4927682" cy="1482920"/>
          </a:xfrm>
          <a:prstGeom prst="borderCallout1">
            <a:avLst>
              <a:gd name="adj1" fmla="val 139792"/>
              <a:gd name="adj2" fmla="val 20091"/>
              <a:gd name="adj3" fmla="val 104726"/>
              <a:gd name="adj4" fmla="val 20408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全店舗から一斉に接続することを避けるため、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分間隔で起動し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かつ下記計算に一致した場合のみトラン取得を行うため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分間隔となっている</a:t>
            </a:r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&lt;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計算式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&gt;</a:t>
            </a:r>
          </a:p>
          <a:p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起動時間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分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)÷3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の余り 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=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店舗コード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÷3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の余り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2D66186-B4F1-1137-690E-57EA5E3B02C9}"/>
              </a:ext>
            </a:extLst>
          </p:cNvPr>
          <p:cNvGrpSpPr/>
          <p:nvPr/>
        </p:nvGrpSpPr>
        <p:grpSpPr>
          <a:xfrm>
            <a:off x="9212846" y="363305"/>
            <a:ext cx="6897429" cy="530640"/>
            <a:chOff x="-1119038" y="9205166"/>
            <a:chExt cx="6897429" cy="530640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4DF9AC95-B213-D2B9-6C6C-A59A886C31C1}"/>
                </a:ext>
              </a:extLst>
            </p:cNvPr>
            <p:cNvSpPr txBox="1"/>
            <p:nvPr/>
          </p:nvSpPr>
          <p:spPr>
            <a:xfrm>
              <a:off x="-1119038" y="9205166"/>
              <a:ext cx="6897429" cy="53064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ja-JP"/>
              </a:defPPr>
              <a:lvl1pPr>
                <a:defRPr sz="1400"/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lvl="0">
                <a:lnSpc>
                  <a:spcPct val="200000"/>
                </a:lnSpc>
              </a:pP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　　　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…SMJ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、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NSW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様担当　　　　</a:t>
              </a:r>
              <a:r>
                <a:rPr lang="en-US" altLang="ja-JP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r>
                <a:rPr lang="ja-JP" altLang="en-US" dirty="0">
                  <a:solidFill>
                    <a:schemeClr val="tx1"/>
                  </a:solidFill>
                  <a:latin typeface="メイリオ" panose="020B0604030504040204" pitchFamily="50" charset="-128"/>
                  <a:ea typeface="メイリオ" panose="020B0604030504040204" pitchFamily="50" charset="-128"/>
                </a:rPr>
                <a:t>カストマ様担当</a:t>
              </a:r>
              <a:endParaRPr lang="en-US" altLang="ja-JP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F926770D-5FC3-358E-F814-1BFD774F4F69}"/>
                </a:ext>
              </a:extLst>
            </p:cNvPr>
            <p:cNvSpPr/>
            <p:nvPr/>
          </p:nvSpPr>
          <p:spPr>
            <a:xfrm>
              <a:off x="-993723" y="9376272"/>
              <a:ext cx="542821" cy="250839"/>
            </a:xfrm>
            <a:prstGeom prst="rect">
              <a:avLst/>
            </a:prstGeom>
            <a:solidFill>
              <a:schemeClr val="accent6">
                <a:lumMod val="10000"/>
                <a:lumOff val="9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E573F77-254E-4532-EA89-D8AFBEBEAD8D}"/>
                </a:ext>
              </a:extLst>
            </p:cNvPr>
            <p:cNvSpPr/>
            <p:nvPr/>
          </p:nvSpPr>
          <p:spPr>
            <a:xfrm>
              <a:off x="3552049" y="9355074"/>
              <a:ext cx="542821" cy="260551"/>
            </a:xfrm>
            <a:prstGeom prst="rect">
              <a:avLst/>
            </a:prstGeom>
            <a:solidFill>
              <a:srgbClr val="00B0F0"/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FBD2B046-C28E-E22C-6FA7-5917F1C08CA6}"/>
                </a:ext>
              </a:extLst>
            </p:cNvPr>
            <p:cNvSpPr/>
            <p:nvPr/>
          </p:nvSpPr>
          <p:spPr>
            <a:xfrm>
              <a:off x="-398132" y="9376272"/>
              <a:ext cx="542821" cy="2508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C6E95F9-404E-C6D3-16D8-FA0EB7C18955}"/>
                </a:ext>
              </a:extLst>
            </p:cNvPr>
            <p:cNvSpPr/>
            <p:nvPr/>
          </p:nvSpPr>
          <p:spPr>
            <a:xfrm>
              <a:off x="1233895" y="9355074"/>
              <a:ext cx="542821" cy="26055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rgbClr val="59574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endPara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7654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A9207-8289-1B91-ED97-3448FA437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7AAAF344-86E2-F437-B89F-4C7C3BAA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05FCBF9-FDAD-788F-A090-B4173AA63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1A756B96-F961-C40B-C2E7-09AFA9DC0EA3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AE8C70E8-9DD2-11D6-D24B-DFBAA931EC30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8579B7-4054-5137-5C73-9829389D7AE1}"/>
              </a:ext>
            </a:extLst>
          </p:cNvPr>
          <p:cNvSpPr txBox="1"/>
          <p:nvPr/>
        </p:nvSpPr>
        <p:spPr>
          <a:xfrm>
            <a:off x="405608" y="1138709"/>
            <a:ext cx="1062226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■データ連携概要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31139FD-4170-2A65-5434-E4481F485CF6}"/>
              </a:ext>
            </a:extLst>
          </p:cNvPr>
          <p:cNvSpPr/>
          <p:nvPr/>
        </p:nvSpPr>
        <p:spPr>
          <a:xfrm>
            <a:off x="3019191" y="2985046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525A1BA-80A3-5E94-ABCF-B59687240C7C}"/>
              </a:ext>
            </a:extLst>
          </p:cNvPr>
          <p:cNvSpPr/>
          <p:nvPr/>
        </p:nvSpPr>
        <p:spPr>
          <a:xfrm>
            <a:off x="2474259" y="4662206"/>
            <a:ext cx="12118041" cy="4294855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43BA625-CFF2-585F-892A-5296D0A609E0}"/>
              </a:ext>
            </a:extLst>
          </p:cNvPr>
          <p:cNvSpPr/>
          <p:nvPr/>
        </p:nvSpPr>
        <p:spPr>
          <a:xfrm>
            <a:off x="4667137" y="4877684"/>
            <a:ext cx="1326302" cy="591349"/>
          </a:xfrm>
          <a:prstGeom prst="rect">
            <a:avLst/>
          </a:prstGeom>
          <a:noFill/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43" name="円柱 42">
            <a:extLst>
              <a:ext uri="{FF2B5EF4-FFF2-40B4-BE49-F238E27FC236}">
                <a16:creationId xmlns:a16="http://schemas.microsoft.com/office/drawing/2014/main" id="{790079F0-1630-AAEF-7819-50FB7086AB16}"/>
              </a:ext>
            </a:extLst>
          </p:cNvPr>
          <p:cNvSpPr/>
          <p:nvPr/>
        </p:nvSpPr>
        <p:spPr>
          <a:xfrm>
            <a:off x="9130836" y="3394752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FEA9327D-A8F1-6195-90CD-8FD50DFFC0B7}"/>
              </a:ext>
            </a:extLst>
          </p:cNvPr>
          <p:cNvSpPr/>
          <p:nvPr/>
        </p:nvSpPr>
        <p:spPr>
          <a:xfrm>
            <a:off x="4667137" y="2992453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333" name="直線矢印コネクタ 332">
            <a:extLst>
              <a:ext uri="{FF2B5EF4-FFF2-40B4-BE49-F238E27FC236}">
                <a16:creationId xmlns:a16="http://schemas.microsoft.com/office/drawing/2014/main" id="{B9077DDD-E236-529D-36BA-AA12317B641C}"/>
              </a:ext>
            </a:extLst>
          </p:cNvPr>
          <p:cNvCxnSpPr>
            <a:cxnSpLocks/>
            <a:stCxn id="332" idx="2"/>
            <a:endCxn id="6" idx="0"/>
          </p:cNvCxnSpPr>
          <p:nvPr/>
        </p:nvCxnSpPr>
        <p:spPr>
          <a:xfrm>
            <a:off x="5304382" y="3866776"/>
            <a:ext cx="25906" cy="101090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20E53E1B-BAD6-F51A-7CF2-618051722C0E}"/>
              </a:ext>
            </a:extLst>
          </p:cNvPr>
          <p:cNvSpPr/>
          <p:nvPr/>
        </p:nvSpPr>
        <p:spPr>
          <a:xfrm>
            <a:off x="2823882" y="6124038"/>
            <a:ext cx="7209112" cy="185110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8B69A7E-9E43-6DF4-75A1-DEE9FED3760D}"/>
              </a:ext>
            </a:extLst>
          </p:cNvPr>
          <p:cNvSpPr/>
          <p:nvPr/>
        </p:nvSpPr>
        <p:spPr>
          <a:xfrm>
            <a:off x="7429442" y="2505491"/>
            <a:ext cx="5391432" cy="175679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432BB5B-6860-7EDB-A843-3276B00977DC}"/>
              </a:ext>
            </a:extLst>
          </p:cNvPr>
          <p:cNvSpPr/>
          <p:nvPr/>
        </p:nvSpPr>
        <p:spPr>
          <a:xfrm>
            <a:off x="13146411" y="3357664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(RZ-A476)</a:t>
            </a: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CAB8317-4980-8FC8-491F-BBF615DE08F6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3656436" y="3859369"/>
            <a:ext cx="1673852" cy="101831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B2FC5E2-7A8C-3A28-D1FB-CFED9CFDCD79}"/>
              </a:ext>
            </a:extLst>
          </p:cNvPr>
          <p:cNvSpPr/>
          <p:nvPr/>
        </p:nvSpPr>
        <p:spPr>
          <a:xfrm>
            <a:off x="2474259" y="2375890"/>
            <a:ext cx="12118041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店舗Ａ</a:t>
            </a:r>
          </a:p>
        </p:txBody>
      </p:sp>
      <p:sp>
        <p:nvSpPr>
          <p:cNvPr id="32" name="円柱 31">
            <a:extLst>
              <a:ext uri="{FF2B5EF4-FFF2-40B4-BE49-F238E27FC236}">
                <a16:creationId xmlns:a16="http://schemas.microsoft.com/office/drawing/2014/main" id="{E815E46D-D1C7-5FE6-FEDD-5D114E25E396}"/>
              </a:ext>
            </a:extLst>
          </p:cNvPr>
          <p:cNvSpPr/>
          <p:nvPr/>
        </p:nvSpPr>
        <p:spPr>
          <a:xfrm>
            <a:off x="9130836" y="264916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各種実績データ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C2918CA9-5217-1CE9-E3DB-4F32FB76BC45}"/>
              </a:ext>
            </a:extLst>
          </p:cNvPr>
          <p:cNvSpPr txBox="1"/>
          <p:nvPr/>
        </p:nvSpPr>
        <p:spPr>
          <a:xfrm>
            <a:off x="405609" y="1770608"/>
            <a:ext cx="17032385" cy="457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（１）タブレット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、現行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並行稼働（オンプレ店舗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3" name="円柱 12">
            <a:extLst>
              <a:ext uri="{FF2B5EF4-FFF2-40B4-BE49-F238E27FC236}">
                <a16:creationId xmlns:a16="http://schemas.microsoft.com/office/drawing/2014/main" id="{30AC2D56-DD7A-FF55-215F-A379A000161F}"/>
              </a:ext>
            </a:extLst>
          </p:cNvPr>
          <p:cNvSpPr/>
          <p:nvPr/>
        </p:nvSpPr>
        <p:spPr>
          <a:xfrm>
            <a:off x="11177023" y="2836488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19CC2CD-9555-922E-CC0D-A7F5151539B0}"/>
              </a:ext>
            </a:extLst>
          </p:cNvPr>
          <p:cNvCxnSpPr>
            <a:cxnSpLocks/>
            <a:stCxn id="17" idx="1"/>
            <a:endCxn id="13" idx="4"/>
          </p:cNvCxnSpPr>
          <p:nvPr/>
        </p:nvCxnSpPr>
        <p:spPr>
          <a:xfrm flipH="1" flipV="1">
            <a:off x="12541148" y="3187429"/>
            <a:ext cx="605263" cy="60739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円柱 37">
            <a:extLst>
              <a:ext uri="{FF2B5EF4-FFF2-40B4-BE49-F238E27FC236}">
                <a16:creationId xmlns:a16="http://schemas.microsoft.com/office/drawing/2014/main" id="{7767364C-287E-2CE9-C56C-E5AD98F1235D}"/>
              </a:ext>
            </a:extLst>
          </p:cNvPr>
          <p:cNvSpPr/>
          <p:nvPr/>
        </p:nvSpPr>
        <p:spPr>
          <a:xfrm>
            <a:off x="4595529" y="6810180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OUTBOX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3293C4EB-0BA6-373D-F82F-A908189D8D94}"/>
              </a:ext>
            </a:extLst>
          </p:cNvPr>
          <p:cNvSpPr/>
          <p:nvPr/>
        </p:nvSpPr>
        <p:spPr>
          <a:xfrm>
            <a:off x="3078002" y="680050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INBOX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580480AC-B11F-5F9D-7C15-77ECCE44B694}"/>
              </a:ext>
            </a:extLst>
          </p:cNvPr>
          <p:cNvCxnSpPr>
            <a:cxnSpLocks/>
            <a:stCxn id="6" idx="2"/>
            <a:endCxn id="39" idx="1"/>
          </p:cNvCxnSpPr>
          <p:nvPr/>
        </p:nvCxnSpPr>
        <p:spPr>
          <a:xfrm flipH="1">
            <a:off x="3760065" y="5469033"/>
            <a:ext cx="1570223" cy="133147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D7BD3AD0-2FEC-9368-DF76-13677FEB5058}"/>
              </a:ext>
            </a:extLst>
          </p:cNvPr>
          <p:cNvCxnSpPr>
            <a:cxnSpLocks/>
            <a:stCxn id="6" idx="2"/>
            <a:endCxn id="38" idx="1"/>
          </p:cNvCxnSpPr>
          <p:nvPr/>
        </p:nvCxnSpPr>
        <p:spPr>
          <a:xfrm flipH="1">
            <a:off x="5277592" y="5469033"/>
            <a:ext cx="52696" cy="134114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E06E3227-3D87-0958-939E-D29ED9535F22}"/>
              </a:ext>
            </a:extLst>
          </p:cNvPr>
          <p:cNvSpPr/>
          <p:nvPr/>
        </p:nvSpPr>
        <p:spPr>
          <a:xfrm>
            <a:off x="4617573" y="8157308"/>
            <a:ext cx="1326302" cy="591349"/>
          </a:xfrm>
          <a:prstGeom prst="rect">
            <a:avLst/>
          </a:prstGeom>
          <a:noFill/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</a:p>
        </p:txBody>
      </p: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8C2CADAF-632C-A042-C2F9-B089368713F1}"/>
              </a:ext>
            </a:extLst>
          </p:cNvPr>
          <p:cNvCxnSpPr>
            <a:cxnSpLocks/>
            <a:stCxn id="38" idx="3"/>
            <a:endCxn id="61" idx="0"/>
          </p:cNvCxnSpPr>
          <p:nvPr/>
        </p:nvCxnSpPr>
        <p:spPr>
          <a:xfrm>
            <a:off x="5277592" y="7512062"/>
            <a:ext cx="3132" cy="64524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円柱 68">
            <a:extLst>
              <a:ext uri="{FF2B5EF4-FFF2-40B4-BE49-F238E27FC236}">
                <a16:creationId xmlns:a16="http://schemas.microsoft.com/office/drawing/2014/main" id="{95651D7A-22A3-7A9A-9B33-2C71D78E3F29}"/>
              </a:ext>
            </a:extLst>
          </p:cNvPr>
          <p:cNvSpPr/>
          <p:nvPr/>
        </p:nvSpPr>
        <p:spPr>
          <a:xfrm>
            <a:off x="8363995" y="637327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D6C66D6F-915D-08C0-46BD-4B41F1C7EAEF}"/>
              </a:ext>
            </a:extLst>
          </p:cNvPr>
          <p:cNvCxnSpPr>
            <a:cxnSpLocks/>
            <a:stCxn id="61" idx="3"/>
            <a:endCxn id="101" idx="1"/>
          </p:cNvCxnSpPr>
          <p:nvPr/>
        </p:nvCxnSpPr>
        <p:spPr>
          <a:xfrm flipV="1">
            <a:off x="5943875" y="8446431"/>
            <a:ext cx="390629" cy="6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7DEB52A2-1974-7163-41F3-3AFC00F5CF16}"/>
              </a:ext>
            </a:extLst>
          </p:cNvPr>
          <p:cNvSpPr/>
          <p:nvPr/>
        </p:nvSpPr>
        <p:spPr>
          <a:xfrm>
            <a:off x="5498150" y="9069822"/>
            <a:ext cx="4534843" cy="8334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フローチャート: 定義済み処理 84">
            <a:extLst>
              <a:ext uri="{FF2B5EF4-FFF2-40B4-BE49-F238E27FC236}">
                <a16:creationId xmlns:a16="http://schemas.microsoft.com/office/drawing/2014/main" id="{EA697656-13E2-9BFB-47F0-65D115844A1F}"/>
              </a:ext>
            </a:extLst>
          </p:cNvPr>
          <p:cNvSpPr/>
          <p:nvPr/>
        </p:nvSpPr>
        <p:spPr>
          <a:xfrm>
            <a:off x="8429353" y="9217680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85369C6A-EA88-A9C7-8D03-5958F18FA23F}"/>
              </a:ext>
            </a:extLst>
          </p:cNvPr>
          <p:cNvCxnSpPr>
            <a:cxnSpLocks/>
            <a:stCxn id="69" idx="3"/>
            <a:endCxn id="85" idx="0"/>
          </p:cNvCxnSpPr>
          <p:nvPr/>
        </p:nvCxnSpPr>
        <p:spPr>
          <a:xfrm flipH="1">
            <a:off x="9026469" y="7075156"/>
            <a:ext cx="19589" cy="214252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フローチャート: 定義済み処理 100">
            <a:extLst>
              <a:ext uri="{FF2B5EF4-FFF2-40B4-BE49-F238E27FC236}">
                <a16:creationId xmlns:a16="http://schemas.microsoft.com/office/drawing/2014/main" id="{5C17826B-68DD-229F-4B82-5787E1EB2ADA}"/>
              </a:ext>
            </a:extLst>
          </p:cNvPr>
          <p:cNvSpPr/>
          <p:nvPr/>
        </p:nvSpPr>
        <p:spPr>
          <a:xfrm>
            <a:off x="6334504" y="8159994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実績データ作成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Functions</a:t>
            </a:r>
          </a:p>
        </p:txBody>
      </p:sp>
      <p:cxnSp>
        <p:nvCxnSpPr>
          <p:cNvPr id="116" name="直線矢印コネクタ 115">
            <a:extLst>
              <a:ext uri="{FF2B5EF4-FFF2-40B4-BE49-F238E27FC236}">
                <a16:creationId xmlns:a16="http://schemas.microsoft.com/office/drawing/2014/main" id="{187FCA30-1BF7-474C-DEA8-82460BF18A5E}"/>
              </a:ext>
            </a:extLst>
          </p:cNvPr>
          <p:cNvCxnSpPr>
            <a:cxnSpLocks/>
            <a:stCxn id="101" idx="3"/>
            <a:endCxn id="69" idx="2"/>
          </p:cNvCxnSpPr>
          <p:nvPr/>
        </p:nvCxnSpPr>
        <p:spPr>
          <a:xfrm flipV="1">
            <a:off x="7528735" y="6724215"/>
            <a:ext cx="835260" cy="17222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6296105E-BAFF-FC08-86A9-EF85ADD5527D}"/>
              </a:ext>
            </a:extLst>
          </p:cNvPr>
          <p:cNvCxnSpPr>
            <a:cxnSpLocks/>
            <a:stCxn id="13" idx="2"/>
            <a:endCxn id="32" idx="4"/>
          </p:cNvCxnSpPr>
          <p:nvPr/>
        </p:nvCxnSpPr>
        <p:spPr>
          <a:xfrm flipH="1" flipV="1">
            <a:off x="10494961" y="3000108"/>
            <a:ext cx="682062" cy="1873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0820BCE5-A54A-7EF6-1006-BA0B2A23B026}"/>
              </a:ext>
            </a:extLst>
          </p:cNvPr>
          <p:cNvCxnSpPr>
            <a:cxnSpLocks/>
            <a:stCxn id="13" idx="2"/>
            <a:endCxn id="43" idx="4"/>
          </p:cNvCxnSpPr>
          <p:nvPr/>
        </p:nvCxnSpPr>
        <p:spPr>
          <a:xfrm flipH="1">
            <a:off x="10494961" y="3187429"/>
            <a:ext cx="682062" cy="55826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円柱 44">
            <a:extLst>
              <a:ext uri="{FF2B5EF4-FFF2-40B4-BE49-F238E27FC236}">
                <a16:creationId xmlns:a16="http://schemas.microsoft.com/office/drawing/2014/main" id="{61B40087-A681-AC85-F5E1-11D0171197AF}"/>
              </a:ext>
            </a:extLst>
          </p:cNvPr>
          <p:cNvSpPr/>
          <p:nvPr/>
        </p:nvSpPr>
        <p:spPr>
          <a:xfrm>
            <a:off x="10584595" y="637327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31E88F2B-50A2-DDFF-C0CC-40D338620B4F}"/>
              </a:ext>
            </a:extLst>
          </p:cNvPr>
          <p:cNvSpPr/>
          <p:nvPr/>
        </p:nvSpPr>
        <p:spPr>
          <a:xfrm>
            <a:off x="10211773" y="7470687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3D61BE21-6850-F762-D136-5AED6BE9F05A}"/>
              </a:ext>
            </a:extLst>
          </p:cNvPr>
          <p:cNvSpPr/>
          <p:nvPr/>
        </p:nvSpPr>
        <p:spPr>
          <a:xfrm>
            <a:off x="12432372" y="779612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C89F7838-2EEA-2F00-5241-5948AB9E269F}"/>
              </a:ext>
            </a:extLst>
          </p:cNvPr>
          <p:cNvCxnSpPr>
            <a:cxnSpLocks/>
            <a:stCxn id="85" idx="3"/>
            <a:endCxn id="51" idx="2"/>
          </p:cNvCxnSpPr>
          <p:nvPr/>
        </p:nvCxnSpPr>
        <p:spPr>
          <a:xfrm flipV="1">
            <a:off x="9623584" y="8147068"/>
            <a:ext cx="2808788" cy="1357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0F0B3912-A49A-4A3B-BAB8-B2C794813AB0}"/>
              </a:ext>
            </a:extLst>
          </p:cNvPr>
          <p:cNvSpPr/>
          <p:nvPr/>
        </p:nvSpPr>
        <p:spPr>
          <a:xfrm>
            <a:off x="10211773" y="6068702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円柱 64">
            <a:extLst>
              <a:ext uri="{FF2B5EF4-FFF2-40B4-BE49-F238E27FC236}">
                <a16:creationId xmlns:a16="http://schemas.microsoft.com/office/drawing/2014/main" id="{216FD8D0-61BA-D152-D990-DA2B576DAEA8}"/>
              </a:ext>
            </a:extLst>
          </p:cNvPr>
          <p:cNvSpPr/>
          <p:nvPr/>
        </p:nvSpPr>
        <p:spPr>
          <a:xfrm>
            <a:off x="12432372" y="6401522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E4578D5-FD7C-60E9-26C2-9EF7EBE499BD}"/>
              </a:ext>
            </a:extLst>
          </p:cNvPr>
          <p:cNvCxnSpPr>
            <a:cxnSpLocks/>
            <a:stCxn id="51" idx="1"/>
            <a:endCxn id="65" idx="3"/>
          </p:cNvCxnSpPr>
          <p:nvPr/>
        </p:nvCxnSpPr>
        <p:spPr>
          <a:xfrm flipV="1">
            <a:off x="13114435" y="7103404"/>
            <a:ext cx="0" cy="69272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8E0E079C-C680-415E-0B4A-0DCA0D6E252E}"/>
              </a:ext>
            </a:extLst>
          </p:cNvPr>
          <p:cNvCxnSpPr>
            <a:cxnSpLocks/>
            <a:stCxn id="65" idx="1"/>
            <a:endCxn id="13" idx="3"/>
          </p:cNvCxnSpPr>
          <p:nvPr/>
        </p:nvCxnSpPr>
        <p:spPr>
          <a:xfrm flipH="1" flipV="1">
            <a:off x="11859086" y="3538370"/>
            <a:ext cx="1255349" cy="286315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0A6F364-9F1F-9868-F17D-E7989A4E85ED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>
            <a:off x="9812899" y="4096634"/>
            <a:ext cx="1453759" cy="227664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F40D91DD-7120-0A60-55F9-3A4BBA18597D}"/>
              </a:ext>
            </a:extLst>
          </p:cNvPr>
          <p:cNvCxnSpPr>
            <a:cxnSpLocks/>
            <a:stCxn id="2" idx="2"/>
            <a:endCxn id="45" idx="1"/>
          </p:cNvCxnSpPr>
          <p:nvPr/>
        </p:nvCxnSpPr>
        <p:spPr>
          <a:xfrm>
            <a:off x="3656436" y="3859369"/>
            <a:ext cx="7610222" cy="251390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2D67DE6-26EC-6862-202E-C221186812B9}"/>
              </a:ext>
            </a:extLst>
          </p:cNvPr>
          <p:cNvCxnSpPr>
            <a:cxnSpLocks/>
            <a:stCxn id="332" idx="2"/>
            <a:endCxn id="45" idx="1"/>
          </p:cNvCxnSpPr>
          <p:nvPr/>
        </p:nvCxnSpPr>
        <p:spPr>
          <a:xfrm>
            <a:off x="5304382" y="3866776"/>
            <a:ext cx="5962276" cy="25064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E58E03EA-8393-A7F4-CBFA-08C3423412CD}"/>
              </a:ext>
            </a:extLst>
          </p:cNvPr>
          <p:cNvCxnSpPr>
            <a:cxnSpLocks/>
            <a:stCxn id="17" idx="1"/>
            <a:endCxn id="43" idx="4"/>
          </p:cNvCxnSpPr>
          <p:nvPr/>
        </p:nvCxnSpPr>
        <p:spPr>
          <a:xfrm flipH="1" flipV="1">
            <a:off x="10494961" y="3745693"/>
            <a:ext cx="2651450" cy="4913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260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ABAE-ADED-0CAF-4126-EDD2C775B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11">
            <a:extLst>
              <a:ext uri="{FF2B5EF4-FFF2-40B4-BE49-F238E27FC236}">
                <a16:creationId xmlns:a16="http://schemas.microsoft.com/office/drawing/2014/main" id="{18709823-598B-7817-8B53-25A2A73F8B92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4A44986B-E00E-C577-4C81-05769AAB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16CA-CFB7-4D39-9A5F-700CFE633E82}" type="datetime1">
              <a:rPr lang="ja-JP" altLang="en-US" smtClean="0"/>
              <a:t>2026/7/30</a:t>
            </a:fld>
            <a:endParaRPr lang="ja-JP" altLang="en-US"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01C4A65B-267E-7FD7-3194-07569FDC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166C7A7A-09E8-59D7-4B25-72C9F634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lang="en-US" altLang="ja-JP" smtClean="0"/>
              <a:pPr/>
              <a:t>4</a:t>
            </a:fld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4D6165-221A-0313-FF02-DFA3DB641223}"/>
              </a:ext>
            </a:extLst>
          </p:cNvPr>
          <p:cNvSpPr txBox="1">
            <a:spLocks/>
          </p:cNvSpPr>
          <p:nvPr/>
        </p:nvSpPr>
        <p:spPr>
          <a:xfrm>
            <a:off x="556666" y="1137624"/>
            <a:ext cx="17149445" cy="433965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・タブレット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入力後、オンプレ店舗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の在庫データ更新後、マスター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へ連携します。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3F091F7-B24C-50C2-072C-722DF68080A4}"/>
              </a:ext>
            </a:extLst>
          </p:cNvPr>
          <p:cNvCxnSpPr>
            <a:cxnSpLocks/>
          </p:cNvCxnSpPr>
          <p:nvPr/>
        </p:nvCxnSpPr>
        <p:spPr>
          <a:xfrm>
            <a:off x="9646304" y="3274695"/>
            <a:ext cx="0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1005DCE-8CB0-A712-22D2-4551949B4892}"/>
              </a:ext>
            </a:extLst>
          </p:cNvPr>
          <p:cNvSpPr txBox="1"/>
          <p:nvPr/>
        </p:nvSpPr>
        <p:spPr>
          <a:xfrm>
            <a:off x="1797561" y="2748607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売上</a:t>
            </a: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DDCB75E5-318F-0438-82B5-176E5CF94E9E}"/>
              </a:ext>
            </a:extLst>
          </p:cNvPr>
          <p:cNvGrpSpPr/>
          <p:nvPr/>
        </p:nvGrpSpPr>
        <p:grpSpPr>
          <a:xfrm>
            <a:off x="142626" y="2619603"/>
            <a:ext cx="1731984" cy="1200329"/>
            <a:chOff x="4644389" y="2741015"/>
            <a:chExt cx="1356189" cy="800219"/>
          </a:xfrm>
        </p:grpSpPr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5CBA1108-19F4-4FF7-27B6-274923D9DE6E}"/>
                </a:ext>
              </a:extLst>
            </p:cNvPr>
            <p:cNvSpPr txBox="1"/>
            <p:nvPr/>
          </p:nvSpPr>
          <p:spPr>
            <a:xfrm>
              <a:off x="4644389" y="2741015"/>
              <a:ext cx="135618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&lt;</a:t>
              </a:r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凡例</a:t>
              </a:r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&gt;</a:t>
              </a: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4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7F2D9FF5-8945-E7C6-F8E1-7BC775ADCEBB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144572"/>
              <a:ext cx="34638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FD4C8D01-9CD2-CCE0-E3F7-8C741E326A2B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428025"/>
              <a:ext cx="34638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A2E015DC-3D7F-DD70-F171-1CB6BDC8879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777275" y="3117939"/>
            <a:ext cx="4046" cy="1808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228FB3E-32F6-9151-C6B4-64E7C575E686}"/>
              </a:ext>
            </a:extLst>
          </p:cNvPr>
          <p:cNvSpPr txBox="1"/>
          <p:nvPr/>
        </p:nvSpPr>
        <p:spPr>
          <a:xfrm>
            <a:off x="1964473" y="4926614"/>
            <a:ext cx="1644152" cy="432274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印刷実施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38C994C5-7669-B41D-E9F8-A31E234874DB}"/>
              </a:ext>
            </a:extLst>
          </p:cNvPr>
          <p:cNvCxnSpPr>
            <a:cxnSpLocks/>
          </p:cNvCxnSpPr>
          <p:nvPr/>
        </p:nvCxnSpPr>
        <p:spPr>
          <a:xfrm>
            <a:off x="17372123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円柱 17">
            <a:extLst>
              <a:ext uri="{FF2B5EF4-FFF2-40B4-BE49-F238E27FC236}">
                <a16:creationId xmlns:a16="http://schemas.microsoft.com/office/drawing/2014/main" id="{3A1313DB-28FF-E8DC-C19B-8946BFE0024F}"/>
              </a:ext>
            </a:extLst>
          </p:cNvPr>
          <p:cNvSpPr/>
          <p:nvPr/>
        </p:nvSpPr>
        <p:spPr>
          <a:xfrm>
            <a:off x="16924671" y="2785634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A48EE7-C319-BECF-A193-3961EF84032B}"/>
              </a:ext>
            </a:extLst>
          </p:cNvPr>
          <p:cNvSpPr txBox="1"/>
          <p:nvPr/>
        </p:nvSpPr>
        <p:spPr>
          <a:xfrm>
            <a:off x="9070599" y="268001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ECBF92A-7DD3-87A3-10E2-D7EE4A685AAD}"/>
              </a:ext>
            </a:extLst>
          </p:cNvPr>
          <p:cNvSpPr/>
          <p:nvPr/>
        </p:nvSpPr>
        <p:spPr>
          <a:xfrm>
            <a:off x="1760312" y="2096874"/>
            <a:ext cx="2013618" cy="7780160"/>
          </a:xfrm>
          <a:prstGeom prst="roundRect">
            <a:avLst>
              <a:gd name="adj" fmla="val 6267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7745E79-DD87-3D1F-1EC2-8EB2C7A2512C}"/>
              </a:ext>
            </a:extLst>
          </p:cNvPr>
          <p:cNvSpPr txBox="1"/>
          <p:nvPr/>
        </p:nvSpPr>
        <p:spPr>
          <a:xfrm>
            <a:off x="1557646" y="2202226"/>
            <a:ext cx="2298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F1A3973-5DF4-FFFE-C994-5DBEE490DDB4}"/>
              </a:ext>
            </a:extLst>
          </p:cNvPr>
          <p:cNvSpPr/>
          <p:nvPr/>
        </p:nvSpPr>
        <p:spPr>
          <a:xfrm>
            <a:off x="8918052" y="2098573"/>
            <a:ext cx="9125248" cy="7765315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3A96121-11FE-5F7F-8E40-6992F4B30EC9}"/>
              </a:ext>
            </a:extLst>
          </p:cNvPr>
          <p:cNvSpPr txBox="1"/>
          <p:nvPr/>
        </p:nvSpPr>
        <p:spPr>
          <a:xfrm>
            <a:off x="8785240" y="2145206"/>
            <a:ext cx="189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FD9DEE38-6267-CF1C-4B21-711A3EFDCB3E}"/>
              </a:ext>
            </a:extLst>
          </p:cNvPr>
          <p:cNvSpPr/>
          <p:nvPr/>
        </p:nvSpPr>
        <p:spPr>
          <a:xfrm>
            <a:off x="14942952" y="2274861"/>
            <a:ext cx="2971281" cy="733904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24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マスター</a:t>
            </a:r>
            <a:r>
              <a:rPr kumimoji="1" lang="en-US" altLang="ja-JP" sz="24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SV</a:t>
            </a:r>
            <a:endParaRPr kumimoji="1" lang="ja-JP" altLang="en-US" sz="24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ECB8213C-5882-8B61-5D3E-602A183665F2}"/>
              </a:ext>
            </a:extLst>
          </p:cNvPr>
          <p:cNvSpPr/>
          <p:nvPr/>
        </p:nvSpPr>
        <p:spPr>
          <a:xfrm>
            <a:off x="11800087" y="2274861"/>
            <a:ext cx="3021000" cy="7339040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24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セントラル</a:t>
            </a:r>
            <a:r>
              <a:rPr kumimoji="1" lang="en-US" altLang="ja-JP" sz="24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POSDB</a:t>
            </a:r>
            <a:endParaRPr kumimoji="1" lang="ja-JP" altLang="en-US" sz="24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1160876A-1FAA-0E6D-0823-EDD659A519F0}"/>
              </a:ext>
            </a:extLst>
          </p:cNvPr>
          <p:cNvSpPr txBox="1"/>
          <p:nvPr/>
        </p:nvSpPr>
        <p:spPr>
          <a:xfrm>
            <a:off x="1972694" y="3154790"/>
            <a:ext cx="1627710" cy="390066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処理確定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DAA49813-8BB3-424F-E326-751458C48463}"/>
              </a:ext>
            </a:extLst>
          </p:cNvPr>
          <p:cNvCxnSpPr>
            <a:cxnSpLocks/>
          </p:cNvCxnSpPr>
          <p:nvPr/>
        </p:nvCxnSpPr>
        <p:spPr>
          <a:xfrm>
            <a:off x="12353567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円柱 51">
            <a:extLst>
              <a:ext uri="{FF2B5EF4-FFF2-40B4-BE49-F238E27FC236}">
                <a16:creationId xmlns:a16="http://schemas.microsoft.com/office/drawing/2014/main" id="{A32F9ED1-3164-F6A8-C080-9B9EC0E7FC90}"/>
              </a:ext>
            </a:extLst>
          </p:cNvPr>
          <p:cNvSpPr/>
          <p:nvPr/>
        </p:nvSpPr>
        <p:spPr>
          <a:xfrm>
            <a:off x="11906115" y="2785634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(OUTBOX)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0C02865A-ECE6-DB79-901F-555BB1B2F214}"/>
              </a:ext>
            </a:extLst>
          </p:cNvPr>
          <p:cNvCxnSpPr>
            <a:cxnSpLocks/>
          </p:cNvCxnSpPr>
          <p:nvPr/>
        </p:nvCxnSpPr>
        <p:spPr>
          <a:xfrm>
            <a:off x="14299481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円柱 53">
            <a:extLst>
              <a:ext uri="{FF2B5EF4-FFF2-40B4-BE49-F238E27FC236}">
                <a16:creationId xmlns:a16="http://schemas.microsoft.com/office/drawing/2014/main" id="{CF83E6AC-2BF5-CF6C-CBCA-B6D6FB1E3C1D}"/>
              </a:ext>
            </a:extLst>
          </p:cNvPr>
          <p:cNvSpPr/>
          <p:nvPr/>
        </p:nvSpPr>
        <p:spPr>
          <a:xfrm>
            <a:off x="13852029" y="2785634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次世代</a:t>
            </a:r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F162B553-7BBD-966B-6AAD-8976AF258947}"/>
              </a:ext>
            </a:extLst>
          </p:cNvPr>
          <p:cNvCxnSpPr>
            <a:cxnSpLocks/>
          </p:cNvCxnSpPr>
          <p:nvPr/>
        </p:nvCxnSpPr>
        <p:spPr>
          <a:xfrm>
            <a:off x="11022957" y="2698546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E8CFCE8E-CE2D-7BC8-4DB7-FFB2D8B463DE}"/>
              </a:ext>
            </a:extLst>
          </p:cNvPr>
          <p:cNvSpPr txBox="1"/>
          <p:nvPr/>
        </p:nvSpPr>
        <p:spPr>
          <a:xfrm>
            <a:off x="10436105" y="2684461"/>
            <a:ext cx="1173705" cy="646331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780A1D03-C0BB-900A-D8D9-583ADF895373}"/>
              </a:ext>
            </a:extLst>
          </p:cNvPr>
          <p:cNvCxnSpPr>
            <a:cxnSpLocks/>
          </p:cNvCxnSpPr>
          <p:nvPr/>
        </p:nvCxnSpPr>
        <p:spPr>
          <a:xfrm>
            <a:off x="2777275" y="3880232"/>
            <a:ext cx="62933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355F7620-4F9D-245F-25FC-4022F1565FA8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10244304" y="4081461"/>
            <a:ext cx="2125057" cy="12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10AEA533-EFD5-7409-6D22-EB0A12076DF9}"/>
              </a:ext>
            </a:extLst>
          </p:cNvPr>
          <p:cNvCxnSpPr>
            <a:cxnSpLocks/>
          </p:cNvCxnSpPr>
          <p:nvPr/>
        </p:nvCxnSpPr>
        <p:spPr>
          <a:xfrm flipH="1">
            <a:off x="2777275" y="4252833"/>
            <a:ext cx="6293324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1FB25607-5607-2706-988E-67BB6CB186DD}"/>
              </a:ext>
            </a:extLst>
          </p:cNvPr>
          <p:cNvSpPr txBox="1"/>
          <p:nvPr/>
        </p:nvSpPr>
        <p:spPr>
          <a:xfrm>
            <a:off x="2486412" y="3977130"/>
            <a:ext cx="27797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印刷データ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D7582325-976B-437B-1953-C17F66CCE0DB}"/>
              </a:ext>
            </a:extLst>
          </p:cNvPr>
          <p:cNvSpPr txBox="1"/>
          <p:nvPr/>
        </p:nvSpPr>
        <p:spPr>
          <a:xfrm>
            <a:off x="9072142" y="3765258"/>
            <a:ext cx="1172162" cy="632406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2DBEAA51-68C0-AFCF-41DA-F9CA7E5DB4A3}"/>
              </a:ext>
            </a:extLst>
          </p:cNvPr>
          <p:cNvCxnSpPr>
            <a:cxnSpLocks/>
          </p:cNvCxnSpPr>
          <p:nvPr/>
        </p:nvCxnSpPr>
        <p:spPr>
          <a:xfrm>
            <a:off x="10244304" y="4183886"/>
            <a:ext cx="3078913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2B8ADD74-8187-A7D1-CD5B-06AB3A384A3C}"/>
              </a:ext>
            </a:extLst>
          </p:cNvPr>
          <p:cNvCxnSpPr>
            <a:cxnSpLocks/>
          </p:cNvCxnSpPr>
          <p:nvPr/>
        </p:nvCxnSpPr>
        <p:spPr>
          <a:xfrm>
            <a:off x="11651590" y="4882577"/>
            <a:ext cx="7019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5E3D284-E01B-221F-5528-BA40A4E2AA00}"/>
              </a:ext>
            </a:extLst>
          </p:cNvPr>
          <p:cNvSpPr txBox="1"/>
          <p:nvPr/>
        </p:nvSpPr>
        <p:spPr>
          <a:xfrm>
            <a:off x="10413715" y="4651653"/>
            <a:ext cx="1237022" cy="60137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lIns="36000" tIns="36000" rIns="36000" bIns="36000" rtlCol="0" anchor="ctr" anchorCtr="0">
            <a:noAutofit/>
          </a:bodyPr>
          <a:lstStyle/>
          <a:p>
            <a:pPr algn="ctr"/>
            <a:r>
              <a:rPr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実績データ登録</a:t>
            </a:r>
            <a:r>
              <a:rPr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Functions</a:t>
            </a:r>
          </a:p>
        </p:txBody>
      </p:sp>
      <p:sp>
        <p:nvSpPr>
          <p:cNvPr id="91" name="四角形: 角を丸くする 90">
            <a:extLst>
              <a:ext uri="{FF2B5EF4-FFF2-40B4-BE49-F238E27FC236}">
                <a16:creationId xmlns:a16="http://schemas.microsoft.com/office/drawing/2014/main" id="{BFB128FA-8040-0A49-7CDC-5D24AF38C7E7}"/>
              </a:ext>
            </a:extLst>
          </p:cNvPr>
          <p:cNvSpPr/>
          <p:nvPr/>
        </p:nvSpPr>
        <p:spPr>
          <a:xfrm>
            <a:off x="7276234" y="2096874"/>
            <a:ext cx="1545917" cy="7780160"/>
          </a:xfrm>
          <a:prstGeom prst="roundRect">
            <a:avLst>
              <a:gd name="adj" fmla="val 14945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en-US" altLang="ja-JP" sz="20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DataSpider</a:t>
            </a:r>
            <a:endParaRPr kumimoji="1" lang="ja-JP" altLang="en-US" sz="20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A1AD88EF-B8BD-FB5C-9D2A-AD74CAC6F524}"/>
              </a:ext>
            </a:extLst>
          </p:cNvPr>
          <p:cNvSpPr txBox="1"/>
          <p:nvPr/>
        </p:nvSpPr>
        <p:spPr>
          <a:xfrm>
            <a:off x="7462339" y="268001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連携</a:t>
            </a:r>
          </a:p>
        </p:txBody>
      </p: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D71254BA-1373-F205-94C9-D019F474E07B}"/>
              </a:ext>
            </a:extLst>
          </p:cNvPr>
          <p:cNvCxnSpPr>
            <a:cxnSpLocks/>
            <a:stCxn id="92" idx="2"/>
          </p:cNvCxnSpPr>
          <p:nvPr/>
        </p:nvCxnSpPr>
        <p:spPr>
          <a:xfrm flipH="1">
            <a:off x="8039901" y="3326349"/>
            <a:ext cx="0" cy="61270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D2A0CC40-4E0E-C6D1-0659-D73CDF4EEDA6}"/>
              </a:ext>
            </a:extLst>
          </p:cNvPr>
          <p:cNvCxnSpPr>
            <a:cxnSpLocks/>
          </p:cNvCxnSpPr>
          <p:nvPr/>
        </p:nvCxnSpPr>
        <p:spPr>
          <a:xfrm>
            <a:off x="15468980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柱 97">
            <a:extLst>
              <a:ext uri="{FF2B5EF4-FFF2-40B4-BE49-F238E27FC236}">
                <a16:creationId xmlns:a16="http://schemas.microsoft.com/office/drawing/2014/main" id="{6739445C-54D4-27AC-5D50-49405376E0E0}"/>
              </a:ext>
            </a:extLst>
          </p:cNvPr>
          <p:cNvSpPr/>
          <p:nvPr/>
        </p:nvSpPr>
        <p:spPr>
          <a:xfrm>
            <a:off x="15021528" y="2785634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9CAE7E75-7E52-B5E1-6260-CD35C2EC5405}"/>
              </a:ext>
            </a:extLst>
          </p:cNvPr>
          <p:cNvCxnSpPr>
            <a:cxnSpLocks/>
          </p:cNvCxnSpPr>
          <p:nvPr/>
        </p:nvCxnSpPr>
        <p:spPr>
          <a:xfrm>
            <a:off x="8135803" y="5635022"/>
            <a:ext cx="734428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6DB79782-582A-0A33-799D-6AB116A35911}"/>
              </a:ext>
            </a:extLst>
          </p:cNvPr>
          <p:cNvCxnSpPr>
            <a:cxnSpLocks/>
          </p:cNvCxnSpPr>
          <p:nvPr/>
        </p:nvCxnSpPr>
        <p:spPr>
          <a:xfrm>
            <a:off x="8128098" y="5540334"/>
            <a:ext cx="60474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コンテンツ プレースホルダー 3">
            <a:extLst>
              <a:ext uri="{FF2B5EF4-FFF2-40B4-BE49-F238E27FC236}">
                <a16:creationId xmlns:a16="http://schemas.microsoft.com/office/drawing/2014/main" id="{57A4981B-D55B-7449-C076-07BB866BD746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14B86D-69F8-7D1C-8A0A-B111B935F84A}"/>
              </a:ext>
            </a:extLst>
          </p:cNvPr>
          <p:cNvSpPr txBox="1"/>
          <p:nvPr/>
        </p:nvSpPr>
        <p:spPr>
          <a:xfrm>
            <a:off x="3070190" y="3574743"/>
            <a:ext cx="2166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入力情報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B9B53C4-9F3D-BEA9-3C08-08A16D4E306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593169" y="3336836"/>
            <a:ext cx="0" cy="59579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10133723-C24F-5137-8047-B2DCA0F45438}"/>
              </a:ext>
            </a:extLst>
          </p:cNvPr>
          <p:cNvSpPr/>
          <p:nvPr/>
        </p:nvSpPr>
        <p:spPr>
          <a:xfrm>
            <a:off x="3918893" y="2096874"/>
            <a:ext cx="3244881" cy="7780160"/>
          </a:xfrm>
          <a:prstGeom prst="roundRect">
            <a:avLst>
              <a:gd name="adj" fmla="val 6267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BB7639B-300A-8D7B-F616-222261EDCA17}"/>
              </a:ext>
            </a:extLst>
          </p:cNvPr>
          <p:cNvSpPr txBox="1"/>
          <p:nvPr/>
        </p:nvSpPr>
        <p:spPr>
          <a:xfrm>
            <a:off x="4406471" y="2202226"/>
            <a:ext cx="2298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店舗</a:t>
            </a:r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SV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ABE5F3C-1A9A-7F1C-590C-1204B9607603}"/>
              </a:ext>
            </a:extLst>
          </p:cNvPr>
          <p:cNvSpPr txBox="1"/>
          <p:nvPr/>
        </p:nvSpPr>
        <p:spPr>
          <a:xfrm>
            <a:off x="4018574" y="2670670"/>
            <a:ext cx="1149190" cy="666166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常駐処理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05A9146E-C969-1D2E-D12A-9876F70E7B52}"/>
              </a:ext>
            </a:extLst>
          </p:cNvPr>
          <p:cNvSpPr txBox="1"/>
          <p:nvPr/>
        </p:nvSpPr>
        <p:spPr>
          <a:xfrm>
            <a:off x="7462339" y="5326567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トラン連携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2610C005-AE53-8433-1376-FA5E07296679}"/>
              </a:ext>
            </a:extLst>
          </p:cNvPr>
          <p:cNvCxnSpPr>
            <a:cxnSpLocks/>
          </p:cNvCxnSpPr>
          <p:nvPr/>
        </p:nvCxnSpPr>
        <p:spPr>
          <a:xfrm>
            <a:off x="13323217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円柱 32">
            <a:extLst>
              <a:ext uri="{FF2B5EF4-FFF2-40B4-BE49-F238E27FC236}">
                <a16:creationId xmlns:a16="http://schemas.microsoft.com/office/drawing/2014/main" id="{05EA9AB7-8F8D-B7AD-3920-73237DD889CB}"/>
              </a:ext>
            </a:extLst>
          </p:cNvPr>
          <p:cNvSpPr/>
          <p:nvPr/>
        </p:nvSpPr>
        <p:spPr>
          <a:xfrm>
            <a:off x="12875765" y="2785634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(INBOX)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EF14E8E-24FC-FFFF-3844-3BCB8238826A}"/>
              </a:ext>
            </a:extLst>
          </p:cNvPr>
          <p:cNvCxnSpPr>
            <a:cxnSpLocks/>
          </p:cNvCxnSpPr>
          <p:nvPr/>
        </p:nvCxnSpPr>
        <p:spPr>
          <a:xfrm>
            <a:off x="11651590" y="5001831"/>
            <a:ext cx="26478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ED0998FB-9FEB-712C-609C-0C2E2077838B}"/>
              </a:ext>
            </a:extLst>
          </p:cNvPr>
          <p:cNvSpPr txBox="1"/>
          <p:nvPr/>
        </p:nvSpPr>
        <p:spPr>
          <a:xfrm>
            <a:off x="10165233" y="3789330"/>
            <a:ext cx="2204128" cy="285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受付台帳・</a:t>
            </a:r>
            <a:r>
              <a:rPr kumimoji="1"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B6B2919D-6D98-2741-516C-DEC6B863FD22}"/>
              </a:ext>
            </a:extLst>
          </p:cNvPr>
          <p:cNvSpPr txBox="1"/>
          <p:nvPr/>
        </p:nvSpPr>
        <p:spPr>
          <a:xfrm>
            <a:off x="8384684" y="5297415"/>
            <a:ext cx="3827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</a:t>
            </a:r>
            <a:r>
              <a:rPr kumimoji="1"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(</a:t>
            </a:r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次世代</a:t>
            </a:r>
            <a:r>
              <a:rPr kumimoji="1"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)</a:t>
            </a:r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からトラン形式に変換</a:t>
            </a:r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27E78B8E-C0EF-2C90-ADB5-75CE3B755A3F}"/>
              </a:ext>
            </a:extLst>
          </p:cNvPr>
          <p:cNvCxnSpPr>
            <a:cxnSpLocks/>
          </p:cNvCxnSpPr>
          <p:nvPr/>
        </p:nvCxnSpPr>
        <p:spPr>
          <a:xfrm>
            <a:off x="16433305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円柱 79">
            <a:extLst>
              <a:ext uri="{FF2B5EF4-FFF2-40B4-BE49-F238E27FC236}">
                <a16:creationId xmlns:a16="http://schemas.microsoft.com/office/drawing/2014/main" id="{93115933-71CD-DA66-8D86-AAB078727110}"/>
              </a:ext>
            </a:extLst>
          </p:cNvPr>
          <p:cNvSpPr/>
          <p:nvPr/>
        </p:nvSpPr>
        <p:spPr>
          <a:xfrm>
            <a:off x="15985853" y="2785634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送信管理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8301A75C-A6B1-8DCE-F188-3D6BBE2BA2B2}"/>
              </a:ext>
            </a:extLst>
          </p:cNvPr>
          <p:cNvCxnSpPr>
            <a:cxnSpLocks/>
          </p:cNvCxnSpPr>
          <p:nvPr/>
        </p:nvCxnSpPr>
        <p:spPr>
          <a:xfrm>
            <a:off x="8636044" y="5720327"/>
            <a:ext cx="779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CB4A0842-5D16-C386-1C75-459F4910DA0B}"/>
              </a:ext>
            </a:extLst>
          </p:cNvPr>
          <p:cNvCxnSpPr>
            <a:cxnSpLocks/>
          </p:cNvCxnSpPr>
          <p:nvPr/>
        </p:nvCxnSpPr>
        <p:spPr>
          <a:xfrm>
            <a:off x="5697706" y="2840048"/>
            <a:ext cx="0" cy="64547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円柱 25">
            <a:extLst>
              <a:ext uri="{FF2B5EF4-FFF2-40B4-BE49-F238E27FC236}">
                <a16:creationId xmlns:a16="http://schemas.microsoft.com/office/drawing/2014/main" id="{D74579F3-69F5-2E92-9E9D-4E5608408494}"/>
              </a:ext>
            </a:extLst>
          </p:cNvPr>
          <p:cNvSpPr/>
          <p:nvPr/>
        </p:nvSpPr>
        <p:spPr>
          <a:xfrm>
            <a:off x="5250254" y="2720319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1ABB1DC-00AC-C638-29C9-9ADD3B7C7736}"/>
              </a:ext>
            </a:extLst>
          </p:cNvPr>
          <p:cNvSpPr txBox="1"/>
          <p:nvPr/>
        </p:nvSpPr>
        <p:spPr>
          <a:xfrm>
            <a:off x="4047852" y="6136453"/>
            <a:ext cx="1228653" cy="48004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トラン取込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356ADA3-5067-6488-5736-CD023E7ED24F}"/>
              </a:ext>
            </a:extLst>
          </p:cNvPr>
          <p:cNvSpPr txBox="1"/>
          <p:nvPr/>
        </p:nvSpPr>
        <p:spPr>
          <a:xfrm>
            <a:off x="4018575" y="6924897"/>
            <a:ext cx="1149188" cy="103074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トラン分解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4" name="円柱 33">
            <a:extLst>
              <a:ext uri="{FF2B5EF4-FFF2-40B4-BE49-F238E27FC236}">
                <a16:creationId xmlns:a16="http://schemas.microsoft.com/office/drawing/2014/main" id="{50770CFF-1E01-942E-349D-3CB4EA24D63A}"/>
              </a:ext>
            </a:extLst>
          </p:cNvPr>
          <p:cNvSpPr/>
          <p:nvPr/>
        </p:nvSpPr>
        <p:spPr>
          <a:xfrm>
            <a:off x="6221479" y="2723177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lang="ja-JP" altLang="en-US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現行レイアウト</a:t>
            </a:r>
            <a:r>
              <a:rPr lang="en-US" altLang="ja-JP" sz="9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en-US" altLang="ja-JP" sz="9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11BD8FF-BBE8-48FE-BFB5-E2B988B80AED}"/>
              </a:ext>
            </a:extLst>
          </p:cNvPr>
          <p:cNvCxnSpPr>
            <a:cxnSpLocks/>
          </p:cNvCxnSpPr>
          <p:nvPr/>
        </p:nvCxnSpPr>
        <p:spPr>
          <a:xfrm>
            <a:off x="5276505" y="6248877"/>
            <a:ext cx="11127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664AEE65-DBE8-DD30-9FA7-BC9DA0704513}"/>
              </a:ext>
            </a:extLst>
          </p:cNvPr>
          <p:cNvCxnSpPr>
            <a:cxnSpLocks/>
            <a:stCxn id="28" idx="3"/>
          </p:cNvCxnSpPr>
          <p:nvPr/>
        </p:nvCxnSpPr>
        <p:spPr>
          <a:xfrm flipV="1">
            <a:off x="5276505" y="6359864"/>
            <a:ext cx="10192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0F473901-844C-B6FC-547E-8B1C7DBCA836}"/>
              </a:ext>
            </a:extLst>
          </p:cNvPr>
          <p:cNvCxnSpPr>
            <a:cxnSpLocks/>
          </p:cNvCxnSpPr>
          <p:nvPr/>
        </p:nvCxnSpPr>
        <p:spPr>
          <a:xfrm>
            <a:off x="5263664" y="6469100"/>
            <a:ext cx="4340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E5EF5AC-2B77-61E7-5BD7-273D10D8EF48}"/>
              </a:ext>
            </a:extLst>
          </p:cNvPr>
          <p:cNvCxnSpPr>
            <a:cxnSpLocks/>
            <a:stCxn id="34" idx="3"/>
          </p:cNvCxnSpPr>
          <p:nvPr/>
        </p:nvCxnSpPr>
        <p:spPr>
          <a:xfrm>
            <a:off x="6668931" y="3425059"/>
            <a:ext cx="0" cy="38307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9403183-80B3-E4B2-DB1F-EF162FFBF56D}"/>
              </a:ext>
            </a:extLst>
          </p:cNvPr>
          <p:cNvCxnSpPr>
            <a:cxnSpLocks/>
          </p:cNvCxnSpPr>
          <p:nvPr/>
        </p:nvCxnSpPr>
        <p:spPr>
          <a:xfrm>
            <a:off x="5167763" y="7072802"/>
            <a:ext cx="15011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円柱 69">
            <a:extLst>
              <a:ext uri="{FF2B5EF4-FFF2-40B4-BE49-F238E27FC236}">
                <a16:creationId xmlns:a16="http://schemas.microsoft.com/office/drawing/2014/main" id="{172BE9F5-22D2-82D4-8C40-75B6C0D4ACBA}"/>
              </a:ext>
            </a:extLst>
          </p:cNvPr>
          <p:cNvSpPr/>
          <p:nvPr/>
        </p:nvSpPr>
        <p:spPr>
          <a:xfrm>
            <a:off x="6189072" y="7398345"/>
            <a:ext cx="894904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C79F3AEE-06A5-11FA-2A72-61B8198A62ED}"/>
              </a:ext>
            </a:extLst>
          </p:cNvPr>
          <p:cNvCxnSpPr>
            <a:cxnSpLocks/>
          </p:cNvCxnSpPr>
          <p:nvPr/>
        </p:nvCxnSpPr>
        <p:spPr>
          <a:xfrm>
            <a:off x="5167763" y="7737820"/>
            <a:ext cx="10213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3EFDD484-2B39-31A9-0085-C2D8850890D7}"/>
              </a:ext>
            </a:extLst>
          </p:cNvPr>
          <p:cNvCxnSpPr>
            <a:cxnSpLocks/>
            <a:stCxn id="70" idx="3"/>
          </p:cNvCxnSpPr>
          <p:nvPr/>
        </p:nvCxnSpPr>
        <p:spPr>
          <a:xfrm>
            <a:off x="6636524" y="8100227"/>
            <a:ext cx="0" cy="124723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7B88EAA8-E5F5-7A92-ECD0-6DCD771C62BD}"/>
              </a:ext>
            </a:extLst>
          </p:cNvPr>
          <p:cNvSpPr txBox="1"/>
          <p:nvPr/>
        </p:nvSpPr>
        <p:spPr>
          <a:xfrm>
            <a:off x="4047852" y="8591264"/>
            <a:ext cx="1228653" cy="48004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4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在庫送信</a:t>
            </a:r>
            <a:endParaRPr lang="en-US" altLang="ja-JP" sz="14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BCEE0CE-EA24-FF51-A6CD-BBAA86E08EE0}"/>
              </a:ext>
            </a:extLst>
          </p:cNvPr>
          <p:cNvSpPr txBox="1"/>
          <p:nvPr/>
        </p:nvSpPr>
        <p:spPr>
          <a:xfrm>
            <a:off x="4750193" y="5963170"/>
            <a:ext cx="38278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トラン取得・トランジャーナルへ書込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62AE8F31-3DA4-9A65-F451-6B7B21A3E515}"/>
              </a:ext>
            </a:extLst>
          </p:cNvPr>
          <p:cNvSpPr txBox="1"/>
          <p:nvPr/>
        </p:nvSpPr>
        <p:spPr>
          <a:xfrm>
            <a:off x="5182201" y="6784748"/>
            <a:ext cx="29325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各種実績データ</a:t>
            </a:r>
            <a:r>
              <a:rPr kumimoji="1"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(</a:t>
            </a:r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現行レイアウト</a:t>
            </a:r>
            <a:r>
              <a:rPr kumimoji="1"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)</a:t>
            </a:r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作成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DE484C7E-2D98-89B6-5F26-5618FA477B73}"/>
              </a:ext>
            </a:extLst>
          </p:cNvPr>
          <p:cNvSpPr txBox="1"/>
          <p:nvPr/>
        </p:nvSpPr>
        <p:spPr>
          <a:xfrm>
            <a:off x="4967814" y="7828969"/>
            <a:ext cx="1466254" cy="282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在庫データ更新</a:t>
            </a:r>
          </a:p>
        </p:txBody>
      </p: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F2E70331-D594-6004-1C5E-65A10546709A}"/>
              </a:ext>
            </a:extLst>
          </p:cNvPr>
          <p:cNvCxnSpPr>
            <a:cxnSpLocks/>
          </p:cNvCxnSpPr>
          <p:nvPr/>
        </p:nvCxnSpPr>
        <p:spPr>
          <a:xfrm>
            <a:off x="5276505" y="8874261"/>
            <a:ext cx="12095618" cy="183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F0159B17-78E6-BE53-1BD7-BF4500F9C5A3}"/>
              </a:ext>
            </a:extLst>
          </p:cNvPr>
          <p:cNvCxnSpPr>
            <a:cxnSpLocks/>
          </p:cNvCxnSpPr>
          <p:nvPr/>
        </p:nvCxnSpPr>
        <p:spPr>
          <a:xfrm>
            <a:off x="5276505" y="8685737"/>
            <a:ext cx="1387636" cy="21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2448EFCF-7E41-D6A4-5609-D179E8B97084}"/>
              </a:ext>
            </a:extLst>
          </p:cNvPr>
          <p:cNvSpPr txBox="1"/>
          <p:nvPr/>
        </p:nvSpPr>
        <p:spPr>
          <a:xfrm>
            <a:off x="5284743" y="8948497"/>
            <a:ext cx="25477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在庫データをマスター</a:t>
            </a:r>
            <a:r>
              <a:rPr kumimoji="1" lang="en-US" altLang="ja-JP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SV</a:t>
            </a:r>
            <a:r>
              <a:rPr kumimoji="1" lang="ja-JP" altLang="en-US" sz="12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へ送信</a:t>
            </a:r>
          </a:p>
        </p:txBody>
      </p:sp>
    </p:spTree>
    <p:extLst>
      <p:ext uri="{BB962C8B-B14F-4D97-AF65-F5344CB8AC3E}">
        <p14:creationId xmlns:p14="http://schemas.microsoft.com/office/powerpoint/2010/main" val="295618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B9E5F-EA7E-9B9E-98C3-1F8744D1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247B0D52-0ABC-C2AF-39AA-70B8466E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8E699F68-4CA7-F733-5FB8-ED8A6E773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14F8CC70-4EDB-924B-EAC8-76D3BEE49643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6ECDB4E8-439A-BC04-946F-FAFE409D8E18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4114E0C-C99F-6F63-B262-827D70F6F127}"/>
              </a:ext>
            </a:extLst>
          </p:cNvPr>
          <p:cNvSpPr/>
          <p:nvPr/>
        </p:nvSpPr>
        <p:spPr>
          <a:xfrm>
            <a:off x="1285393" y="2985046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227A51-57C1-CC62-383F-65042AF47FBD}"/>
              </a:ext>
            </a:extLst>
          </p:cNvPr>
          <p:cNvSpPr/>
          <p:nvPr/>
        </p:nvSpPr>
        <p:spPr>
          <a:xfrm>
            <a:off x="740461" y="4662206"/>
            <a:ext cx="12118041" cy="4294855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5835C2D-D942-D231-676E-A96FC2D74808}"/>
              </a:ext>
            </a:extLst>
          </p:cNvPr>
          <p:cNvSpPr/>
          <p:nvPr/>
        </p:nvSpPr>
        <p:spPr>
          <a:xfrm>
            <a:off x="2055061" y="5281307"/>
            <a:ext cx="1326302" cy="591349"/>
          </a:xfrm>
          <a:prstGeom prst="rect">
            <a:avLst/>
          </a:prstGeom>
          <a:noFill/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46D31702-D442-3344-0101-5F783F5DC2F1}"/>
              </a:ext>
            </a:extLst>
          </p:cNvPr>
          <p:cNvSpPr/>
          <p:nvPr/>
        </p:nvSpPr>
        <p:spPr>
          <a:xfrm>
            <a:off x="2933339" y="2992453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333" name="直線矢印コネクタ 332">
            <a:extLst>
              <a:ext uri="{FF2B5EF4-FFF2-40B4-BE49-F238E27FC236}">
                <a16:creationId xmlns:a16="http://schemas.microsoft.com/office/drawing/2014/main" id="{004434C3-155C-497F-3DB7-87BF8BFA8490}"/>
              </a:ext>
            </a:extLst>
          </p:cNvPr>
          <p:cNvCxnSpPr>
            <a:cxnSpLocks/>
            <a:stCxn id="332" idx="2"/>
            <a:endCxn id="6" idx="0"/>
          </p:cNvCxnSpPr>
          <p:nvPr/>
        </p:nvCxnSpPr>
        <p:spPr>
          <a:xfrm flipH="1">
            <a:off x="2718212" y="3866776"/>
            <a:ext cx="852372" cy="14145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E0C4029B-5EA4-FC31-0A39-EF88160201AA}"/>
              </a:ext>
            </a:extLst>
          </p:cNvPr>
          <p:cNvSpPr/>
          <p:nvPr/>
        </p:nvSpPr>
        <p:spPr>
          <a:xfrm>
            <a:off x="1090084" y="6124038"/>
            <a:ext cx="7209112" cy="2546586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7A88E6A0-0DE2-A869-8922-D22C5535EB28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1922638" y="3859369"/>
            <a:ext cx="795574" cy="142193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CA51D907-7FC5-FEB2-A6CD-3FB97946905A}"/>
              </a:ext>
            </a:extLst>
          </p:cNvPr>
          <p:cNvSpPr/>
          <p:nvPr/>
        </p:nvSpPr>
        <p:spPr>
          <a:xfrm>
            <a:off x="740461" y="2375890"/>
            <a:ext cx="12118041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店舗Ａ</a:t>
            </a:r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36E59788-1548-D4FD-CCD9-29D72609ACC3}"/>
              </a:ext>
            </a:extLst>
          </p:cNvPr>
          <p:cNvSpPr/>
          <p:nvPr/>
        </p:nvSpPr>
        <p:spPr>
          <a:xfrm>
            <a:off x="2861731" y="6810180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 err="1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TxEventQ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6E98EA06-682A-B047-7F83-B1CE549FA6F3}"/>
              </a:ext>
            </a:extLst>
          </p:cNvPr>
          <p:cNvSpPr/>
          <p:nvPr/>
        </p:nvSpPr>
        <p:spPr>
          <a:xfrm>
            <a:off x="1344204" y="680050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29CA8C1F-43DA-415F-D249-1BA4121D57F0}"/>
              </a:ext>
            </a:extLst>
          </p:cNvPr>
          <p:cNvCxnSpPr>
            <a:cxnSpLocks/>
            <a:stCxn id="6" idx="2"/>
            <a:endCxn id="39" idx="1"/>
          </p:cNvCxnSpPr>
          <p:nvPr/>
        </p:nvCxnSpPr>
        <p:spPr>
          <a:xfrm flipH="1">
            <a:off x="2026267" y="5872656"/>
            <a:ext cx="691945" cy="9278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DC1A612-3BA9-F201-C9F4-D67376A00792}"/>
              </a:ext>
            </a:extLst>
          </p:cNvPr>
          <p:cNvCxnSpPr>
            <a:cxnSpLocks/>
            <a:stCxn id="6" idx="2"/>
            <a:endCxn id="38" idx="1"/>
          </p:cNvCxnSpPr>
          <p:nvPr/>
        </p:nvCxnSpPr>
        <p:spPr>
          <a:xfrm>
            <a:off x="2718212" y="5872656"/>
            <a:ext cx="825582" cy="93752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0CA1E582-89E9-E73D-1B2F-417880A52A51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543794" y="7512062"/>
            <a:ext cx="1060275" cy="34469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円柱 68">
            <a:extLst>
              <a:ext uri="{FF2B5EF4-FFF2-40B4-BE49-F238E27FC236}">
                <a16:creationId xmlns:a16="http://schemas.microsoft.com/office/drawing/2014/main" id="{19C42068-6347-99FB-7461-949243FFA174}"/>
              </a:ext>
            </a:extLst>
          </p:cNvPr>
          <p:cNvSpPr/>
          <p:nvPr/>
        </p:nvSpPr>
        <p:spPr>
          <a:xfrm>
            <a:off x="6630197" y="6391481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7A99A033-7B78-9851-3684-29E629DC9E54}"/>
              </a:ext>
            </a:extLst>
          </p:cNvPr>
          <p:cNvSpPr/>
          <p:nvPr/>
        </p:nvSpPr>
        <p:spPr>
          <a:xfrm>
            <a:off x="3764352" y="9069822"/>
            <a:ext cx="4534843" cy="8334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フローチャート: 定義済み処理 84">
            <a:extLst>
              <a:ext uri="{FF2B5EF4-FFF2-40B4-BE49-F238E27FC236}">
                <a16:creationId xmlns:a16="http://schemas.microsoft.com/office/drawing/2014/main" id="{204A2FE6-ABF7-29D2-D49E-BD5A69549B50}"/>
              </a:ext>
            </a:extLst>
          </p:cNvPr>
          <p:cNvSpPr/>
          <p:nvPr/>
        </p:nvSpPr>
        <p:spPr>
          <a:xfrm>
            <a:off x="6695555" y="9217680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FB2FAB6A-D371-5D53-77E6-5D7C620B10B7}"/>
              </a:ext>
            </a:extLst>
          </p:cNvPr>
          <p:cNvCxnSpPr>
            <a:cxnSpLocks/>
            <a:stCxn id="69" idx="3"/>
            <a:endCxn id="85" idx="0"/>
          </p:cNvCxnSpPr>
          <p:nvPr/>
        </p:nvCxnSpPr>
        <p:spPr>
          <a:xfrm flipH="1">
            <a:off x="7292671" y="7093363"/>
            <a:ext cx="19589" cy="212431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F82396E6-A801-C434-257F-8F41520A72FC}"/>
              </a:ext>
            </a:extLst>
          </p:cNvPr>
          <p:cNvCxnSpPr>
            <a:cxnSpLocks/>
            <a:stCxn id="30" idx="3"/>
            <a:endCxn id="69" idx="2"/>
          </p:cNvCxnSpPr>
          <p:nvPr/>
        </p:nvCxnSpPr>
        <p:spPr>
          <a:xfrm flipV="1">
            <a:off x="5785459" y="6742422"/>
            <a:ext cx="844738" cy="126505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円柱 44">
            <a:extLst>
              <a:ext uri="{FF2B5EF4-FFF2-40B4-BE49-F238E27FC236}">
                <a16:creationId xmlns:a16="http://schemas.microsoft.com/office/drawing/2014/main" id="{4820AF22-A5C9-696C-040B-BFF56FE7996A}"/>
              </a:ext>
            </a:extLst>
          </p:cNvPr>
          <p:cNvSpPr/>
          <p:nvPr/>
        </p:nvSpPr>
        <p:spPr>
          <a:xfrm>
            <a:off x="8849972" y="637327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E3D418CA-D290-3989-2323-680669AFFE6B}"/>
              </a:ext>
            </a:extLst>
          </p:cNvPr>
          <p:cNvSpPr/>
          <p:nvPr/>
        </p:nvSpPr>
        <p:spPr>
          <a:xfrm>
            <a:off x="8477975" y="7470687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7B06717C-F26B-8242-C2AB-76A5D12D7E1D}"/>
              </a:ext>
            </a:extLst>
          </p:cNvPr>
          <p:cNvSpPr/>
          <p:nvPr/>
        </p:nvSpPr>
        <p:spPr>
          <a:xfrm>
            <a:off x="10752906" y="779612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A76CA265-4EC2-6C40-6E6E-B886D3795FA2}"/>
              </a:ext>
            </a:extLst>
          </p:cNvPr>
          <p:cNvCxnSpPr>
            <a:cxnSpLocks/>
            <a:stCxn id="85" idx="3"/>
            <a:endCxn id="51" idx="2"/>
          </p:cNvCxnSpPr>
          <p:nvPr/>
        </p:nvCxnSpPr>
        <p:spPr>
          <a:xfrm flipV="1">
            <a:off x="7889786" y="8147068"/>
            <a:ext cx="2863120" cy="1357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936374C9-2E8E-9386-F81A-427B91B14EA2}"/>
              </a:ext>
            </a:extLst>
          </p:cNvPr>
          <p:cNvSpPr/>
          <p:nvPr/>
        </p:nvSpPr>
        <p:spPr>
          <a:xfrm>
            <a:off x="8477975" y="6068702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円柱 64">
            <a:extLst>
              <a:ext uri="{FF2B5EF4-FFF2-40B4-BE49-F238E27FC236}">
                <a16:creationId xmlns:a16="http://schemas.microsoft.com/office/drawing/2014/main" id="{F104CE33-F96C-7683-418D-FF4D24383951}"/>
              </a:ext>
            </a:extLst>
          </p:cNvPr>
          <p:cNvSpPr/>
          <p:nvPr/>
        </p:nvSpPr>
        <p:spPr>
          <a:xfrm>
            <a:off x="10752906" y="6401522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2ED98A5A-7D15-EECB-99B2-FC7FFE2AE591}"/>
              </a:ext>
            </a:extLst>
          </p:cNvPr>
          <p:cNvCxnSpPr>
            <a:cxnSpLocks/>
            <a:stCxn id="51" idx="1"/>
            <a:endCxn id="65" idx="3"/>
          </p:cNvCxnSpPr>
          <p:nvPr/>
        </p:nvCxnSpPr>
        <p:spPr>
          <a:xfrm flipV="1">
            <a:off x="11434969" y="7103404"/>
            <a:ext cx="0" cy="69272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B8C33EB5-117D-0EBA-F1DC-0DC9B87A77A4}"/>
              </a:ext>
            </a:extLst>
          </p:cNvPr>
          <p:cNvCxnSpPr>
            <a:cxnSpLocks/>
            <a:stCxn id="2" idx="2"/>
            <a:endCxn id="45" idx="1"/>
          </p:cNvCxnSpPr>
          <p:nvPr/>
        </p:nvCxnSpPr>
        <p:spPr>
          <a:xfrm>
            <a:off x="1922638" y="3859369"/>
            <a:ext cx="7609397" cy="251390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E1D86A09-7B92-7F17-42D9-152FDD6C5BAB}"/>
              </a:ext>
            </a:extLst>
          </p:cNvPr>
          <p:cNvCxnSpPr>
            <a:cxnSpLocks/>
            <a:stCxn id="332" idx="2"/>
            <a:endCxn id="45" idx="1"/>
          </p:cNvCxnSpPr>
          <p:nvPr/>
        </p:nvCxnSpPr>
        <p:spPr>
          <a:xfrm>
            <a:off x="3570584" y="3866776"/>
            <a:ext cx="5961451" cy="25064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6E601C9-B93F-E899-39A2-3460058E30C7}"/>
              </a:ext>
            </a:extLst>
          </p:cNvPr>
          <p:cNvSpPr/>
          <p:nvPr/>
        </p:nvSpPr>
        <p:spPr>
          <a:xfrm>
            <a:off x="4518444" y="5297288"/>
            <a:ext cx="1326302" cy="591349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在庫更新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4BD1C26F-0EA3-08B3-5961-1FA99F65CDD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5844746" y="5592963"/>
            <a:ext cx="2989825" cy="1148734"/>
          </a:xfrm>
          <a:prstGeom prst="straightConnector1">
            <a:avLst/>
          </a:prstGeom>
          <a:ln w="25400">
            <a:solidFill>
              <a:srgbClr val="0000FF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090F23B-6AFC-CD48-3345-1B0DBF58F646}"/>
              </a:ext>
            </a:extLst>
          </p:cNvPr>
          <p:cNvSpPr txBox="1"/>
          <p:nvPr/>
        </p:nvSpPr>
        <p:spPr>
          <a:xfrm>
            <a:off x="405608" y="1138709"/>
            <a:ext cx="16663792" cy="9989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ts val="24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【JISEDAIKENTOU-67 08.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在庫更新　コメント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lvl="0">
              <a:lnSpc>
                <a:spcPts val="24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リンクは出来る限り使用したくないので、</a:t>
            </a:r>
          </a:p>
          <a:p>
            <a:pPr lvl="0">
              <a:lnSpc>
                <a:spcPts val="24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マスタ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に接続する在庫更新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を用意し、その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を呼ぶ形にするのは難しいでしょうか？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9613B47-0DB9-035F-3975-466E384F4778}"/>
              </a:ext>
            </a:extLst>
          </p:cNvPr>
          <p:cNvSpPr/>
          <p:nvPr/>
        </p:nvSpPr>
        <p:spPr>
          <a:xfrm>
            <a:off x="13073629" y="2375890"/>
            <a:ext cx="4873519" cy="51361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ja-JP" sz="2000" b="1" kern="12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確認事項</a:t>
            </a: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algn="l"/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左記図のとおり、</a:t>
            </a:r>
            <a:r>
              <a:rPr lang="en-US" altLang="ja-JP" sz="1800" b="1" dirty="0" err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TxEventQ</a:t>
            </a:r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で実績データ作成処理を</a:t>
            </a:r>
            <a:r>
              <a:rPr lang="en-US" altLang="ja-JP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PL/SQL</a:t>
            </a:r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プロシージャとした場合、</a:t>
            </a:r>
            <a:endParaRPr lang="en-US" altLang="ja-JP" sz="18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r>
              <a:rPr lang="en-US" altLang="ja-JP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8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を呼ぶ形となりますが、この構成は推奨されないようです。</a:t>
            </a:r>
            <a:endParaRPr lang="en-US" altLang="ja-JP" sz="2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endParaRPr lang="en-US" altLang="ja-JP" sz="20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algn="l"/>
            <a:r>
              <a:rPr lang="en-US" altLang="ja-JP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&lt;DB</a:t>
            </a:r>
            <a:r>
              <a:rPr lang="ja-JP" altLang="en-US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から</a:t>
            </a:r>
            <a:r>
              <a:rPr lang="en-US" altLang="ja-JP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呼出しの非推奨理由</a:t>
            </a:r>
            <a:r>
              <a:rPr lang="en-US" altLang="ja-JP" sz="16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&gt;</a:t>
            </a:r>
          </a:p>
          <a:p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のストアドプロシージャ等から</a:t>
            </a:r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HTTP</a:t>
            </a:r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リクエストを送ると、処理の所在が分散し保守性が下がる</a:t>
            </a:r>
            <a:endParaRPr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・外部</a:t>
            </a:r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の応答遅延やタイムアウトがそのまま</a:t>
            </a:r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のコネクションを占有し、システム全体のスループット低下やデッドロックを招く可能性がある</a:t>
            </a:r>
          </a:p>
          <a:p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</a:t>
            </a:r>
            <a:r>
              <a:rPr lang="en-US" altLang="ja-JP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API</a:t>
            </a:r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側でエラーが起きた際のロールバックや、データ不整合のハンドリングが複雑になる</a:t>
            </a:r>
            <a:endParaRPr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　↓</a:t>
            </a:r>
            <a:endParaRPr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マスター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の在庫を直接更新するのではなく、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セントラル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に在庫データを持ち、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定期的にマスター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に在庫データを連携する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方法も考えられますがいかがでしょうか。</a:t>
            </a:r>
            <a:endParaRPr lang="en-US" altLang="ja-JP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現行店舗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と同様の処理</a:t>
            </a:r>
            <a:r>
              <a:rPr lang="en-US" altLang="ja-JP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</a:p>
          <a:p>
            <a:r>
              <a:rPr lang="ja-JP" altLang="en-US" sz="14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　⇒次スライドにデータ連携図を記載</a:t>
            </a:r>
          </a:p>
          <a:p>
            <a:endParaRPr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1400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フローチャート: 定義済み処理 29">
            <a:extLst>
              <a:ext uri="{FF2B5EF4-FFF2-40B4-BE49-F238E27FC236}">
                <a16:creationId xmlns:a16="http://schemas.microsoft.com/office/drawing/2014/main" id="{6415294E-AA0D-ABA8-222D-CF98AFBE293A}"/>
              </a:ext>
            </a:extLst>
          </p:cNvPr>
          <p:cNvSpPr/>
          <p:nvPr/>
        </p:nvSpPr>
        <p:spPr>
          <a:xfrm>
            <a:off x="4591228" y="7721042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実績データ作成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PL/SQL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プロシージャ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85D71A81-32C0-EDEF-8038-FC94A5E25EC1}"/>
              </a:ext>
            </a:extLst>
          </p:cNvPr>
          <p:cNvCxnSpPr>
            <a:cxnSpLocks/>
            <a:stCxn id="30" idx="0"/>
            <a:endCxn id="4" idx="2"/>
          </p:cNvCxnSpPr>
          <p:nvPr/>
        </p:nvCxnSpPr>
        <p:spPr>
          <a:xfrm flipH="1" flipV="1">
            <a:off x="5181595" y="5888637"/>
            <a:ext cx="6749" cy="1832405"/>
          </a:xfrm>
          <a:prstGeom prst="straightConnector1">
            <a:avLst/>
          </a:prstGeom>
          <a:ln w="25400">
            <a:solidFill>
              <a:srgbClr val="0000FF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766937C-C2AB-0889-9021-2AA833CBEEFF}"/>
              </a:ext>
            </a:extLst>
          </p:cNvPr>
          <p:cNvCxnSpPr>
            <a:cxnSpLocks/>
            <a:stCxn id="30" idx="1"/>
            <a:endCxn id="39" idx="3"/>
          </p:cNvCxnSpPr>
          <p:nvPr/>
        </p:nvCxnSpPr>
        <p:spPr>
          <a:xfrm flipH="1" flipV="1">
            <a:off x="2026267" y="7502386"/>
            <a:ext cx="2564961" cy="50509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237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D2897-37FF-CE4F-A10A-999E84F0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47865B75-1955-56C0-D3C6-E36DC455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F217D152-FF5F-E318-B4B2-68259ED0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5F412229-E3ED-3916-60A4-20D3F51E04C2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5EBADB64-C889-C7AF-5BBB-CC97DCCC1C8D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3070E3-C0BA-A16F-1019-55D3940693B3}"/>
              </a:ext>
            </a:extLst>
          </p:cNvPr>
          <p:cNvSpPr/>
          <p:nvPr/>
        </p:nvSpPr>
        <p:spPr>
          <a:xfrm>
            <a:off x="3460022" y="2985046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AB4D66E-5225-660C-5C63-79FFFB88028B}"/>
              </a:ext>
            </a:extLst>
          </p:cNvPr>
          <p:cNvSpPr/>
          <p:nvPr/>
        </p:nvSpPr>
        <p:spPr>
          <a:xfrm>
            <a:off x="740461" y="4662206"/>
            <a:ext cx="12118041" cy="4294855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14A542C-1918-D17C-6B02-7A1415F195EC}"/>
              </a:ext>
            </a:extLst>
          </p:cNvPr>
          <p:cNvSpPr/>
          <p:nvPr/>
        </p:nvSpPr>
        <p:spPr>
          <a:xfrm>
            <a:off x="2055061" y="5281307"/>
            <a:ext cx="1326302" cy="591349"/>
          </a:xfrm>
          <a:prstGeom prst="rect">
            <a:avLst/>
          </a:prstGeom>
          <a:noFill/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630A839E-D616-EEF6-5CA1-4624231B5637}"/>
              </a:ext>
            </a:extLst>
          </p:cNvPr>
          <p:cNvSpPr/>
          <p:nvPr/>
        </p:nvSpPr>
        <p:spPr>
          <a:xfrm>
            <a:off x="5107968" y="2992453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333" name="直線矢印コネクタ 332">
            <a:extLst>
              <a:ext uri="{FF2B5EF4-FFF2-40B4-BE49-F238E27FC236}">
                <a16:creationId xmlns:a16="http://schemas.microsoft.com/office/drawing/2014/main" id="{06D17255-F857-9B06-CFA5-DDCD6AF29B99}"/>
              </a:ext>
            </a:extLst>
          </p:cNvPr>
          <p:cNvCxnSpPr>
            <a:cxnSpLocks/>
            <a:stCxn id="332" idx="2"/>
            <a:endCxn id="6" idx="0"/>
          </p:cNvCxnSpPr>
          <p:nvPr/>
        </p:nvCxnSpPr>
        <p:spPr>
          <a:xfrm flipH="1">
            <a:off x="2718212" y="3866776"/>
            <a:ext cx="3027001" cy="141453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884190DB-9608-E29A-8F1A-1109CEDFF972}"/>
              </a:ext>
            </a:extLst>
          </p:cNvPr>
          <p:cNvSpPr/>
          <p:nvPr/>
        </p:nvSpPr>
        <p:spPr>
          <a:xfrm>
            <a:off x="1090084" y="6124038"/>
            <a:ext cx="7209112" cy="2546586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22A43F9F-2261-51E4-F27E-4D1481300610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 flipH="1">
            <a:off x="2718212" y="3859369"/>
            <a:ext cx="1379055" cy="142193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F350ACF7-BDCF-ACAF-7191-9322F52C4E34}"/>
              </a:ext>
            </a:extLst>
          </p:cNvPr>
          <p:cNvSpPr/>
          <p:nvPr/>
        </p:nvSpPr>
        <p:spPr>
          <a:xfrm>
            <a:off x="740461" y="2375890"/>
            <a:ext cx="12118041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店舗Ａ</a:t>
            </a:r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B35B281F-7D92-C6ED-EBCD-846A2F161E61}"/>
              </a:ext>
            </a:extLst>
          </p:cNvPr>
          <p:cNvSpPr/>
          <p:nvPr/>
        </p:nvSpPr>
        <p:spPr>
          <a:xfrm>
            <a:off x="2861731" y="6810180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 err="1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TxEventQ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077797AB-B810-CCC5-49A2-2E72C4BD8FA6}"/>
              </a:ext>
            </a:extLst>
          </p:cNvPr>
          <p:cNvSpPr/>
          <p:nvPr/>
        </p:nvSpPr>
        <p:spPr>
          <a:xfrm>
            <a:off x="1344204" y="680050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2F384F75-89BA-1D9D-AA49-0AF3665B3745}"/>
              </a:ext>
            </a:extLst>
          </p:cNvPr>
          <p:cNvCxnSpPr>
            <a:cxnSpLocks/>
            <a:stCxn id="6" idx="2"/>
            <a:endCxn id="39" idx="1"/>
          </p:cNvCxnSpPr>
          <p:nvPr/>
        </p:nvCxnSpPr>
        <p:spPr>
          <a:xfrm flipH="1">
            <a:off x="2026267" y="5872656"/>
            <a:ext cx="691945" cy="9278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FCB2616B-FACD-C673-E1B1-D00DE9F0B8A9}"/>
              </a:ext>
            </a:extLst>
          </p:cNvPr>
          <p:cNvCxnSpPr>
            <a:cxnSpLocks/>
            <a:stCxn id="6" idx="2"/>
            <a:endCxn id="38" idx="1"/>
          </p:cNvCxnSpPr>
          <p:nvPr/>
        </p:nvCxnSpPr>
        <p:spPr>
          <a:xfrm>
            <a:off x="2718212" y="5872656"/>
            <a:ext cx="825582" cy="93752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EB99E52C-F846-58D7-F19E-4D769E9B71F0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3543794" y="7512062"/>
            <a:ext cx="744314" cy="3414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円柱 68">
            <a:extLst>
              <a:ext uri="{FF2B5EF4-FFF2-40B4-BE49-F238E27FC236}">
                <a16:creationId xmlns:a16="http://schemas.microsoft.com/office/drawing/2014/main" id="{1371BC8C-01FB-AC3B-3ECF-1E31D4795D5D}"/>
              </a:ext>
            </a:extLst>
          </p:cNvPr>
          <p:cNvSpPr/>
          <p:nvPr/>
        </p:nvSpPr>
        <p:spPr>
          <a:xfrm>
            <a:off x="6581210" y="763414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566C61F-868A-C680-CB05-22BDD9C0A219}"/>
              </a:ext>
            </a:extLst>
          </p:cNvPr>
          <p:cNvSpPr/>
          <p:nvPr/>
        </p:nvSpPr>
        <p:spPr>
          <a:xfrm>
            <a:off x="3764352" y="9069822"/>
            <a:ext cx="4534843" cy="8334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フローチャート: 定義済み処理 84">
            <a:extLst>
              <a:ext uri="{FF2B5EF4-FFF2-40B4-BE49-F238E27FC236}">
                <a16:creationId xmlns:a16="http://schemas.microsoft.com/office/drawing/2014/main" id="{A9F783EA-72EA-5970-15F1-B593CA44B9D6}"/>
              </a:ext>
            </a:extLst>
          </p:cNvPr>
          <p:cNvSpPr/>
          <p:nvPr/>
        </p:nvSpPr>
        <p:spPr>
          <a:xfrm>
            <a:off x="6695555" y="9217680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417D6677-13D1-535B-6C4A-9A75B3EBDAE4}"/>
              </a:ext>
            </a:extLst>
          </p:cNvPr>
          <p:cNvCxnSpPr>
            <a:cxnSpLocks/>
            <a:stCxn id="69" idx="3"/>
            <a:endCxn id="85" idx="0"/>
          </p:cNvCxnSpPr>
          <p:nvPr/>
        </p:nvCxnSpPr>
        <p:spPr>
          <a:xfrm>
            <a:off x="7263273" y="8336026"/>
            <a:ext cx="29398" cy="88165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9DCB575E-6A7C-2994-9303-8D1E553AEDC1}"/>
              </a:ext>
            </a:extLst>
          </p:cNvPr>
          <p:cNvCxnSpPr>
            <a:cxnSpLocks/>
            <a:stCxn id="30" idx="3"/>
            <a:endCxn id="69" idx="2"/>
          </p:cNvCxnSpPr>
          <p:nvPr/>
        </p:nvCxnSpPr>
        <p:spPr>
          <a:xfrm flipV="1">
            <a:off x="5443744" y="7985085"/>
            <a:ext cx="1137466" cy="14519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円柱 44">
            <a:extLst>
              <a:ext uri="{FF2B5EF4-FFF2-40B4-BE49-F238E27FC236}">
                <a16:creationId xmlns:a16="http://schemas.microsoft.com/office/drawing/2014/main" id="{0D17C34B-7365-02CB-869A-62822D8BA905}"/>
              </a:ext>
            </a:extLst>
          </p:cNvPr>
          <p:cNvSpPr/>
          <p:nvPr/>
        </p:nvSpPr>
        <p:spPr>
          <a:xfrm>
            <a:off x="8849972" y="637327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7431D22F-3B5D-C197-751E-C5135DF719FA}"/>
              </a:ext>
            </a:extLst>
          </p:cNvPr>
          <p:cNvSpPr/>
          <p:nvPr/>
        </p:nvSpPr>
        <p:spPr>
          <a:xfrm>
            <a:off x="8477975" y="7470687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69B48E2F-958A-745D-C02F-048ADD72076A}"/>
              </a:ext>
            </a:extLst>
          </p:cNvPr>
          <p:cNvSpPr/>
          <p:nvPr/>
        </p:nvSpPr>
        <p:spPr>
          <a:xfrm>
            <a:off x="10752906" y="779612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D143E04A-C454-3902-1BFD-148D1BA1205D}"/>
              </a:ext>
            </a:extLst>
          </p:cNvPr>
          <p:cNvCxnSpPr>
            <a:cxnSpLocks/>
            <a:stCxn id="85" idx="3"/>
            <a:endCxn id="51" idx="2"/>
          </p:cNvCxnSpPr>
          <p:nvPr/>
        </p:nvCxnSpPr>
        <p:spPr>
          <a:xfrm flipV="1">
            <a:off x="7889786" y="8147068"/>
            <a:ext cx="2863120" cy="1357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172DDF67-D6B2-3A05-12CF-A72EB9A9465A}"/>
              </a:ext>
            </a:extLst>
          </p:cNvPr>
          <p:cNvSpPr/>
          <p:nvPr/>
        </p:nvSpPr>
        <p:spPr>
          <a:xfrm>
            <a:off x="8477975" y="6068702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円柱 64">
            <a:extLst>
              <a:ext uri="{FF2B5EF4-FFF2-40B4-BE49-F238E27FC236}">
                <a16:creationId xmlns:a16="http://schemas.microsoft.com/office/drawing/2014/main" id="{F8A5249F-D564-DEE3-3B7A-EE79695C312B}"/>
              </a:ext>
            </a:extLst>
          </p:cNvPr>
          <p:cNvSpPr/>
          <p:nvPr/>
        </p:nvSpPr>
        <p:spPr>
          <a:xfrm>
            <a:off x="10752906" y="6401522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1EE4DC80-494C-53D3-8F02-889CEF6A62DE}"/>
              </a:ext>
            </a:extLst>
          </p:cNvPr>
          <p:cNvCxnSpPr>
            <a:cxnSpLocks/>
            <a:stCxn id="51" idx="1"/>
            <a:endCxn id="65" idx="3"/>
          </p:cNvCxnSpPr>
          <p:nvPr/>
        </p:nvCxnSpPr>
        <p:spPr>
          <a:xfrm flipV="1">
            <a:off x="11434969" y="7103404"/>
            <a:ext cx="0" cy="69272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EC0A4250-D579-A045-C323-1CBF015FE086}"/>
              </a:ext>
            </a:extLst>
          </p:cNvPr>
          <p:cNvCxnSpPr>
            <a:cxnSpLocks/>
            <a:stCxn id="2" idx="2"/>
            <a:endCxn id="45" idx="1"/>
          </p:cNvCxnSpPr>
          <p:nvPr/>
        </p:nvCxnSpPr>
        <p:spPr>
          <a:xfrm>
            <a:off x="4097267" y="3859369"/>
            <a:ext cx="5434768" cy="251390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BAA3FDF1-5887-21C5-97CE-7FBB140B2EB9}"/>
              </a:ext>
            </a:extLst>
          </p:cNvPr>
          <p:cNvCxnSpPr>
            <a:cxnSpLocks/>
            <a:stCxn id="332" idx="2"/>
            <a:endCxn id="45" idx="1"/>
          </p:cNvCxnSpPr>
          <p:nvPr/>
        </p:nvCxnSpPr>
        <p:spPr>
          <a:xfrm>
            <a:off x="5745213" y="3866776"/>
            <a:ext cx="3786822" cy="25064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6B7F776-5DE1-CF0E-1800-9533C8D86727}"/>
              </a:ext>
            </a:extLst>
          </p:cNvPr>
          <p:cNvSpPr/>
          <p:nvPr/>
        </p:nvSpPr>
        <p:spPr>
          <a:xfrm>
            <a:off x="5719307" y="5391202"/>
            <a:ext cx="1326302" cy="591349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在庫更新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509B26EC-A067-92B5-1DE9-8B8E771437AD}"/>
              </a:ext>
            </a:extLst>
          </p:cNvPr>
          <p:cNvCxnSpPr>
            <a:cxnSpLocks/>
            <a:stCxn id="4" idx="3"/>
            <a:endCxn id="45" idx="2"/>
          </p:cNvCxnSpPr>
          <p:nvPr/>
        </p:nvCxnSpPr>
        <p:spPr>
          <a:xfrm>
            <a:off x="7045609" y="5686877"/>
            <a:ext cx="1804363" cy="1037338"/>
          </a:xfrm>
          <a:prstGeom prst="straightConnector1">
            <a:avLst/>
          </a:prstGeom>
          <a:ln w="25400">
            <a:solidFill>
              <a:srgbClr val="0000FF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31771C0-A9B1-3E18-3FC9-D5D8B913D435}"/>
              </a:ext>
            </a:extLst>
          </p:cNvPr>
          <p:cNvSpPr txBox="1"/>
          <p:nvPr/>
        </p:nvSpPr>
        <p:spPr>
          <a:xfrm>
            <a:off x="405608" y="1138709"/>
            <a:ext cx="16663792" cy="9989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ts val="24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【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別案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】</a:t>
            </a:r>
          </a:p>
          <a:p>
            <a:pPr lvl="0">
              <a:lnSpc>
                <a:spcPts val="2400"/>
              </a:lnSpc>
            </a:pP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セントラル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 DB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に在庫データを持ち、定期的にマスター</a:t>
            </a:r>
            <a:r>
              <a:rPr lang="en-US" altLang="ja-JP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0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に在庫データを連携する</a:t>
            </a:r>
            <a:endParaRPr lang="en-US" altLang="ja-JP" sz="20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0" name="フローチャート: 定義済み処理 29">
            <a:extLst>
              <a:ext uri="{FF2B5EF4-FFF2-40B4-BE49-F238E27FC236}">
                <a16:creationId xmlns:a16="http://schemas.microsoft.com/office/drawing/2014/main" id="{B19445D0-4A87-AACF-B8D3-0FD4AEDF9629}"/>
              </a:ext>
            </a:extLst>
          </p:cNvPr>
          <p:cNvSpPr/>
          <p:nvPr/>
        </p:nvSpPr>
        <p:spPr>
          <a:xfrm>
            <a:off x="4249513" y="7843844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実績データ作成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PL/SQL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プロシージャ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AEE74FC2-5ECA-D6F4-DDD3-115EF112CC88}"/>
              </a:ext>
            </a:extLst>
          </p:cNvPr>
          <p:cNvCxnSpPr>
            <a:cxnSpLocks/>
            <a:stCxn id="30" idx="0"/>
            <a:endCxn id="15" idx="3"/>
          </p:cNvCxnSpPr>
          <p:nvPr/>
        </p:nvCxnSpPr>
        <p:spPr>
          <a:xfrm flipV="1">
            <a:off x="4846629" y="7288771"/>
            <a:ext cx="1129756" cy="555073"/>
          </a:xfrm>
          <a:prstGeom prst="straightConnector1">
            <a:avLst/>
          </a:prstGeom>
          <a:ln w="25400">
            <a:solidFill>
              <a:srgbClr val="0000FF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F1B61FFE-2087-DA13-E96C-64408396BC68}"/>
              </a:ext>
            </a:extLst>
          </p:cNvPr>
          <p:cNvCxnSpPr>
            <a:cxnSpLocks/>
            <a:stCxn id="30" idx="1"/>
            <a:endCxn id="39" idx="3"/>
          </p:cNvCxnSpPr>
          <p:nvPr/>
        </p:nvCxnSpPr>
        <p:spPr>
          <a:xfrm flipH="1" flipV="1">
            <a:off x="2026267" y="7502386"/>
            <a:ext cx="2223246" cy="62789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円柱 14">
            <a:extLst>
              <a:ext uri="{FF2B5EF4-FFF2-40B4-BE49-F238E27FC236}">
                <a16:creationId xmlns:a16="http://schemas.microsoft.com/office/drawing/2014/main" id="{856BB36C-6B8C-5A96-899F-DDFEA3AF3CE7}"/>
              </a:ext>
            </a:extLst>
          </p:cNvPr>
          <p:cNvSpPr/>
          <p:nvPr/>
        </p:nvSpPr>
        <p:spPr>
          <a:xfrm>
            <a:off x="5294322" y="6586889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0000F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41F0875A-76F3-73C9-AA62-3BD1E1F08973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flipH="1">
            <a:off x="5976385" y="5982551"/>
            <a:ext cx="406073" cy="604338"/>
          </a:xfrm>
          <a:prstGeom prst="straightConnector1">
            <a:avLst/>
          </a:prstGeom>
          <a:ln w="25400">
            <a:solidFill>
              <a:srgbClr val="0000FF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吹き出し: 線 51">
            <a:extLst>
              <a:ext uri="{FF2B5EF4-FFF2-40B4-BE49-F238E27FC236}">
                <a16:creationId xmlns:a16="http://schemas.microsoft.com/office/drawing/2014/main" id="{8F051692-30C9-16B7-E353-AA120815C495}"/>
              </a:ext>
            </a:extLst>
          </p:cNvPr>
          <p:cNvSpPr/>
          <p:nvPr/>
        </p:nvSpPr>
        <p:spPr>
          <a:xfrm>
            <a:off x="8791197" y="4861175"/>
            <a:ext cx="4239785" cy="659292"/>
          </a:xfrm>
          <a:prstGeom prst="borderCallout1">
            <a:avLst>
              <a:gd name="adj1" fmla="val 92327"/>
              <a:gd name="adj2" fmla="val -39252"/>
              <a:gd name="adj3" fmla="val 23665"/>
              <a:gd name="adj4" fmla="val -3661"/>
            </a:avLst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>
            <a:defPPr>
              <a:defRPr lang="ja-JP"/>
            </a:defPPr>
            <a:lvl1pPr marL="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3716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20574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7432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34290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41148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48006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5486400" indent="0" algn="l" defTabSz="1371600" rtl="0" eaLnBrk="1" latinLnBrk="0" hangingPunct="1">
              <a:defRPr kumimoji="1" sz="27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160"/>
              </a:lnSpc>
            </a:pP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Kigelia Light" panose="020B0303020202020203" pitchFamily="34" charset="0"/>
              </a:rPr>
              <a:t>在庫更新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Kigelia Light" panose="020B0303020202020203" pitchFamily="34" charset="0"/>
              </a:rPr>
              <a:t>API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Kigelia Light" panose="020B0303020202020203" pitchFamily="34" charset="0"/>
              </a:rPr>
              <a:t>を常駐的に動作させ、定期的に連携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  <a:cs typeface="Kigelia Light" panose="020B03030202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97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EA1D2-5CDB-BB4D-4065-872F048B4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BBA476B6-B4D9-D909-40D2-8A3F890A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50" b="1" i="0" u="none" strike="noStrike" kern="1200" cap="none" spc="0" normalizeH="0" baseline="0" noProof="0" dirty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t>Confidential </a:t>
            </a:r>
            <a:endParaRPr kumimoji="1" lang="ja-JP" altLang="en-US" sz="1650" b="1" i="0" u="none" strike="noStrike" kern="1200" cap="none" spc="0" normalizeH="0" baseline="0" noProof="0" dirty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2AF3BCFE-6756-3E92-B612-8E9D262D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A9E37A5-A917-4235-ABF6-8CD72E894915}" type="slidenum">
              <a:rPr kumimoji="1" lang="en-US" altLang="ja-JP" sz="1500" b="0" i="0" u="none" strike="noStrike" kern="1200" cap="none" spc="0" normalizeH="0" baseline="0" noProof="0" smtClean="0">
                <a:ln>
                  <a:noFill/>
                </a:ln>
                <a:solidFill>
                  <a:srgbClr val="59574C">
                    <a:tint val="75000"/>
                  </a:srgbClr>
                </a:solidFill>
                <a:effectLst/>
                <a:uLnTx/>
                <a:uFillTx/>
                <a:latin typeface="源ノ角ゴシック JP Regular" panose="020B0500000000000000" pitchFamily="34" charset="-128"/>
                <a:ea typeface="源ノ角ゴシック JP Regular" panose="020B0500000000000000" pitchFamily="34" charset="-128"/>
                <a:cs typeface="+mn-cs"/>
              </a:rPr>
              <a:pPr marL="0" marR="0" lvl="0" indent="0" algn="r" defTabSz="1371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ja-JP" altLang="en-US" sz="1500" b="0" i="0" u="none" strike="noStrike" kern="1200" cap="none" spc="0" normalizeH="0" baseline="0" noProof="0">
              <a:ln>
                <a:noFill/>
              </a:ln>
              <a:solidFill>
                <a:srgbClr val="59574C">
                  <a:tint val="75000"/>
                </a:srgbClr>
              </a:solidFill>
              <a:effectLst/>
              <a:uLnTx/>
              <a:uFillTx/>
              <a:latin typeface="源ノ角ゴシック JP Regular" panose="020B0500000000000000" pitchFamily="34" charset="-128"/>
              <a:ea typeface="源ノ角ゴシック JP Regular" panose="020B0500000000000000" pitchFamily="34" charset="-128"/>
              <a:cs typeface="+mn-cs"/>
            </a:endParaRPr>
          </a:p>
        </p:txBody>
      </p:sp>
      <p:sp>
        <p:nvSpPr>
          <p:cNvPr id="3" name="テキスト プレースホルダー 11">
            <a:extLst>
              <a:ext uri="{FF2B5EF4-FFF2-40B4-BE49-F238E27FC236}">
                <a16:creationId xmlns:a16="http://schemas.microsoft.com/office/drawing/2014/main" id="{66E542E4-191D-2716-8C3E-48E79FCB5707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575" b="0" i="0" u="none" strike="noStrike" kern="1200" cap="none" spc="0" normalizeH="0" baseline="0" noProof="0" dirty="0">
                <a:ln>
                  <a:noFill/>
                </a:ln>
                <a:solidFill>
                  <a:srgbClr val="9A9A96"/>
                </a:solidFill>
                <a:effectLst/>
                <a:uLnTx/>
                <a:uFillTx/>
                <a:latin typeface="HGPｺﾞｼｯｸM" panose="020B0600000000000000" pitchFamily="50" charset="-128"/>
                <a:ea typeface="HGPｺﾞｼｯｸM" panose="020B0600000000000000" pitchFamily="50" charset="-128"/>
                <a:cs typeface="Arial" panose="020B0604020202020204" pitchFamily="34" charset="0"/>
              </a:rPr>
              <a:t>Copyright © All rights reserved, Sharp Marketing Japan Corporation</a:t>
            </a:r>
            <a:endParaRPr kumimoji="1" lang="ja-JP" altLang="en-US" sz="1575" b="0" i="0" u="none" strike="noStrike" kern="1200" cap="none" spc="0" normalizeH="0" baseline="0" noProof="0" dirty="0">
              <a:ln>
                <a:noFill/>
              </a:ln>
              <a:solidFill>
                <a:srgbClr val="9A9A96"/>
              </a:solidFill>
              <a:effectLst/>
              <a:uLnTx/>
              <a:uFillTx/>
              <a:latin typeface="HGPｺﾞｼｯｸM" panose="020B0600000000000000" pitchFamily="50" charset="-128"/>
              <a:ea typeface="HGPｺﾞｼｯｸM" panose="020B06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11" name="コンテンツ プレースホルダー 3">
            <a:extLst>
              <a:ext uri="{FF2B5EF4-FFF2-40B4-BE49-F238E27FC236}">
                <a16:creationId xmlns:a16="http://schemas.microsoft.com/office/drawing/2014/main" id="{6E64987F-E95F-46AE-B1CC-C8F2480B819F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3DBCB-5609-DEAC-89CE-3C86BF91B23A}"/>
              </a:ext>
            </a:extLst>
          </p:cNvPr>
          <p:cNvSpPr txBox="1"/>
          <p:nvPr/>
        </p:nvSpPr>
        <p:spPr>
          <a:xfrm>
            <a:off x="405608" y="1138709"/>
            <a:ext cx="10622261" cy="5652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lnSpc>
                <a:spcPct val="150000"/>
              </a:lnSpc>
            </a:pP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■データ連携概要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2F12F35-99CC-41D7-E84C-40ED945FEAF0}"/>
              </a:ext>
            </a:extLst>
          </p:cNvPr>
          <p:cNvSpPr/>
          <p:nvPr/>
        </p:nvSpPr>
        <p:spPr>
          <a:xfrm>
            <a:off x="3019191" y="2985046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タブレット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(iPad</a:t>
            </a:r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mini)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6DF3DDA-DC84-6A9F-AE33-8CB87128FAF7}"/>
              </a:ext>
            </a:extLst>
          </p:cNvPr>
          <p:cNvSpPr/>
          <p:nvPr/>
        </p:nvSpPr>
        <p:spPr>
          <a:xfrm>
            <a:off x="2474259" y="4662206"/>
            <a:ext cx="12118041" cy="4294855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en-US" altLang="ja-JP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endParaRPr kumimoji="1" lang="ja-JP" altLang="en-US" sz="24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FC6B19-32CD-B3BD-70D3-EE97BC94CB89}"/>
              </a:ext>
            </a:extLst>
          </p:cNvPr>
          <p:cNvSpPr/>
          <p:nvPr/>
        </p:nvSpPr>
        <p:spPr>
          <a:xfrm>
            <a:off x="3932378" y="5054759"/>
            <a:ext cx="1326302" cy="591349"/>
          </a:xfrm>
          <a:prstGeom prst="rect">
            <a:avLst/>
          </a:prstGeom>
          <a:noFill/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データ登録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C60D30E3-6A75-8954-8537-8FCB9F448153}"/>
              </a:ext>
            </a:extLst>
          </p:cNvPr>
          <p:cNvSpPr/>
          <p:nvPr/>
        </p:nvSpPr>
        <p:spPr>
          <a:xfrm>
            <a:off x="4667137" y="2992453"/>
            <a:ext cx="1274490" cy="87432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据置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</a:p>
        </p:txBody>
      </p:sp>
      <p:cxnSp>
        <p:nvCxnSpPr>
          <p:cNvPr id="333" name="直線矢印コネクタ 332">
            <a:extLst>
              <a:ext uri="{FF2B5EF4-FFF2-40B4-BE49-F238E27FC236}">
                <a16:creationId xmlns:a16="http://schemas.microsoft.com/office/drawing/2014/main" id="{3930727A-442C-7260-AC5C-F6C80F605D53}"/>
              </a:ext>
            </a:extLst>
          </p:cNvPr>
          <p:cNvCxnSpPr>
            <a:cxnSpLocks/>
            <a:stCxn id="332" idx="2"/>
            <a:endCxn id="6" idx="0"/>
          </p:cNvCxnSpPr>
          <p:nvPr/>
        </p:nvCxnSpPr>
        <p:spPr>
          <a:xfrm flipH="1">
            <a:off x="4595529" y="3866776"/>
            <a:ext cx="708853" cy="118798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2283D278-D7EA-EEBA-0395-3EE48F96D74E}"/>
              </a:ext>
            </a:extLst>
          </p:cNvPr>
          <p:cNvSpPr/>
          <p:nvPr/>
        </p:nvSpPr>
        <p:spPr>
          <a:xfrm>
            <a:off x="2823882" y="6124038"/>
            <a:ext cx="7209112" cy="1851109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セントラル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POS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Ver.26ai(AL32UTF8)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CBE325CC-4AA9-3027-2E02-27E5581A2542}"/>
              </a:ext>
            </a:extLst>
          </p:cNvPr>
          <p:cNvCxnSpPr>
            <a:cxnSpLocks/>
            <a:stCxn id="2" idx="2"/>
            <a:endCxn id="6" idx="0"/>
          </p:cNvCxnSpPr>
          <p:nvPr/>
        </p:nvCxnSpPr>
        <p:spPr>
          <a:xfrm>
            <a:off x="3656436" y="3859369"/>
            <a:ext cx="939093" cy="119539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D8230BBD-A25E-F7AB-C000-B87A2F334DFD}"/>
              </a:ext>
            </a:extLst>
          </p:cNvPr>
          <p:cNvSpPr/>
          <p:nvPr/>
        </p:nvSpPr>
        <p:spPr>
          <a:xfrm>
            <a:off x="2474259" y="2375890"/>
            <a:ext cx="12118041" cy="2002403"/>
          </a:xfrm>
          <a:prstGeom prst="rect">
            <a:avLst/>
          </a:prstGeom>
          <a:noFill/>
          <a:ln w="381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kumimoji="1" lang="ja-JP" altLang="en-US" sz="24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店舗Ａ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0820F430-F035-B818-E3DD-18AF701B438E}"/>
              </a:ext>
            </a:extLst>
          </p:cNvPr>
          <p:cNvSpPr txBox="1"/>
          <p:nvPr/>
        </p:nvSpPr>
        <p:spPr>
          <a:xfrm>
            <a:off x="405609" y="1770608"/>
            <a:ext cx="17032385" cy="4574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>
            <a:spAutoFit/>
          </a:bodyPr>
          <a:lstStyle>
            <a:defPPr>
              <a:defRPr lang="ja-JP"/>
            </a:defPPr>
            <a:lvl1pPr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（２）すべてタブレット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POS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（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OCI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 </a:t>
            </a:r>
            <a:r>
              <a:rPr lang="en-US" altLang="ja-JP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Functions</a:t>
            </a:r>
            <a:r>
              <a:rPr lang="ja-JP" altLang="en-US" sz="25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で実績データ作成）</a:t>
            </a:r>
            <a:endParaRPr lang="en-US" altLang="ja-JP" sz="25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38" name="円柱 37">
            <a:extLst>
              <a:ext uri="{FF2B5EF4-FFF2-40B4-BE49-F238E27FC236}">
                <a16:creationId xmlns:a16="http://schemas.microsoft.com/office/drawing/2014/main" id="{7A8E6EDA-6702-C2FC-1486-DA5946A4B28E}"/>
              </a:ext>
            </a:extLst>
          </p:cNvPr>
          <p:cNvSpPr/>
          <p:nvPr/>
        </p:nvSpPr>
        <p:spPr>
          <a:xfrm>
            <a:off x="4595529" y="6810180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OUTBOX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円柱 38">
            <a:extLst>
              <a:ext uri="{FF2B5EF4-FFF2-40B4-BE49-F238E27FC236}">
                <a16:creationId xmlns:a16="http://schemas.microsoft.com/office/drawing/2014/main" id="{2AEBD8E7-74E7-976B-A5D5-0C1465C90B0A}"/>
              </a:ext>
            </a:extLst>
          </p:cNvPr>
          <p:cNvSpPr/>
          <p:nvPr/>
        </p:nvSpPr>
        <p:spPr>
          <a:xfrm>
            <a:off x="3078002" y="680050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INBOX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DD4D1EDA-05C8-8B8D-782C-43DEA28C2205}"/>
              </a:ext>
            </a:extLst>
          </p:cNvPr>
          <p:cNvCxnSpPr>
            <a:cxnSpLocks/>
            <a:stCxn id="6" idx="2"/>
            <a:endCxn id="39" idx="1"/>
          </p:cNvCxnSpPr>
          <p:nvPr/>
        </p:nvCxnSpPr>
        <p:spPr>
          <a:xfrm flipH="1">
            <a:off x="3760065" y="5646108"/>
            <a:ext cx="835464" cy="115439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E2514C88-9AA9-4231-39A6-9E42E535124F}"/>
              </a:ext>
            </a:extLst>
          </p:cNvPr>
          <p:cNvCxnSpPr>
            <a:cxnSpLocks/>
            <a:stCxn id="6" idx="2"/>
            <a:endCxn id="38" idx="1"/>
          </p:cNvCxnSpPr>
          <p:nvPr/>
        </p:nvCxnSpPr>
        <p:spPr>
          <a:xfrm>
            <a:off x="4595529" y="5646108"/>
            <a:ext cx="682063" cy="116407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0E7792D6-3192-6629-B780-9573125EA274}"/>
              </a:ext>
            </a:extLst>
          </p:cNvPr>
          <p:cNvSpPr/>
          <p:nvPr/>
        </p:nvSpPr>
        <p:spPr>
          <a:xfrm>
            <a:off x="4617573" y="8157308"/>
            <a:ext cx="1326302" cy="591349"/>
          </a:xfrm>
          <a:prstGeom prst="rect">
            <a:avLst/>
          </a:prstGeom>
          <a:noFill/>
          <a:ln w="1905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</a:p>
        </p:txBody>
      </p: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A4BB58BC-77D5-49C4-B9A4-8EBA0A448C0D}"/>
              </a:ext>
            </a:extLst>
          </p:cNvPr>
          <p:cNvCxnSpPr>
            <a:cxnSpLocks/>
            <a:stCxn id="38" idx="3"/>
            <a:endCxn id="61" idx="0"/>
          </p:cNvCxnSpPr>
          <p:nvPr/>
        </p:nvCxnSpPr>
        <p:spPr>
          <a:xfrm>
            <a:off x="5277592" y="7512062"/>
            <a:ext cx="3132" cy="64524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円柱 68">
            <a:extLst>
              <a:ext uri="{FF2B5EF4-FFF2-40B4-BE49-F238E27FC236}">
                <a16:creationId xmlns:a16="http://schemas.microsoft.com/office/drawing/2014/main" id="{5DF39323-23A7-7DE9-212F-14AD6A9CA125}"/>
              </a:ext>
            </a:extLst>
          </p:cNvPr>
          <p:cNvSpPr/>
          <p:nvPr/>
        </p:nvSpPr>
        <p:spPr>
          <a:xfrm>
            <a:off x="8363995" y="6391481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</a:t>
            </a:r>
            <a:endParaRPr kumimoji="1" lang="ja-JP" altLang="en-US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550205F8-3343-8191-2477-D8A131FF5E17}"/>
              </a:ext>
            </a:extLst>
          </p:cNvPr>
          <p:cNvCxnSpPr>
            <a:cxnSpLocks/>
            <a:stCxn id="61" idx="3"/>
            <a:endCxn id="101" idx="1"/>
          </p:cNvCxnSpPr>
          <p:nvPr/>
        </p:nvCxnSpPr>
        <p:spPr>
          <a:xfrm flipV="1">
            <a:off x="5943875" y="8446431"/>
            <a:ext cx="390629" cy="655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ED5DDA89-471C-EEB2-B5BF-E8A2C4D3221E}"/>
              </a:ext>
            </a:extLst>
          </p:cNvPr>
          <p:cNvSpPr/>
          <p:nvPr/>
        </p:nvSpPr>
        <p:spPr>
          <a:xfrm>
            <a:off x="5498150" y="9069822"/>
            <a:ext cx="4534843" cy="83349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DataSpider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フローチャート: 定義済み処理 84">
            <a:extLst>
              <a:ext uri="{FF2B5EF4-FFF2-40B4-BE49-F238E27FC236}">
                <a16:creationId xmlns:a16="http://schemas.microsoft.com/office/drawing/2014/main" id="{364EA4B5-0B90-58EE-4B75-56DF365EF621}"/>
              </a:ext>
            </a:extLst>
          </p:cNvPr>
          <p:cNvSpPr/>
          <p:nvPr/>
        </p:nvSpPr>
        <p:spPr>
          <a:xfrm>
            <a:off x="8429353" y="9217680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トラン連携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88CE2FC-AD15-14BC-C32D-C4045C5117B4}"/>
              </a:ext>
            </a:extLst>
          </p:cNvPr>
          <p:cNvCxnSpPr>
            <a:cxnSpLocks/>
            <a:stCxn id="69" idx="3"/>
            <a:endCxn id="85" idx="0"/>
          </p:cNvCxnSpPr>
          <p:nvPr/>
        </p:nvCxnSpPr>
        <p:spPr>
          <a:xfrm flipH="1">
            <a:off x="9026469" y="7093363"/>
            <a:ext cx="19589" cy="212431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フローチャート: 定義済み処理 100">
            <a:extLst>
              <a:ext uri="{FF2B5EF4-FFF2-40B4-BE49-F238E27FC236}">
                <a16:creationId xmlns:a16="http://schemas.microsoft.com/office/drawing/2014/main" id="{B4FBA0BF-1BB0-6F2C-4690-4A9FDE0A15A0}"/>
              </a:ext>
            </a:extLst>
          </p:cNvPr>
          <p:cNvSpPr/>
          <p:nvPr/>
        </p:nvSpPr>
        <p:spPr>
          <a:xfrm>
            <a:off x="6334504" y="8159994"/>
            <a:ext cx="1194231" cy="572874"/>
          </a:xfrm>
          <a:prstGeom prst="flowChartPredefinedProcess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pPr algn="ctr"/>
            <a:r>
              <a:rPr kumimoji="1" lang="ja-JP" altLang="en-US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実績データ作成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2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Functions</a:t>
            </a:r>
            <a:endParaRPr kumimoji="1" lang="en-US" altLang="ja-JP" sz="12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FE5F92A7-C756-8E2A-D713-BAB2228F708D}"/>
              </a:ext>
            </a:extLst>
          </p:cNvPr>
          <p:cNvCxnSpPr>
            <a:cxnSpLocks/>
            <a:stCxn id="101" idx="3"/>
            <a:endCxn id="69" idx="2"/>
          </p:cNvCxnSpPr>
          <p:nvPr/>
        </p:nvCxnSpPr>
        <p:spPr>
          <a:xfrm flipV="1">
            <a:off x="7528735" y="6742422"/>
            <a:ext cx="835260" cy="170400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円柱 44">
            <a:extLst>
              <a:ext uri="{FF2B5EF4-FFF2-40B4-BE49-F238E27FC236}">
                <a16:creationId xmlns:a16="http://schemas.microsoft.com/office/drawing/2014/main" id="{6400A2C2-D9CD-1C27-5A63-BEE27388A95E}"/>
              </a:ext>
            </a:extLst>
          </p:cNvPr>
          <p:cNvSpPr/>
          <p:nvPr/>
        </p:nvSpPr>
        <p:spPr>
          <a:xfrm>
            <a:off x="10583770" y="6373274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087D5805-5F42-B8DD-BD3F-A2EF3CF30616}"/>
              </a:ext>
            </a:extLst>
          </p:cNvPr>
          <p:cNvSpPr/>
          <p:nvPr/>
        </p:nvSpPr>
        <p:spPr>
          <a:xfrm>
            <a:off x="10211773" y="7470687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円柱 50">
            <a:extLst>
              <a:ext uri="{FF2B5EF4-FFF2-40B4-BE49-F238E27FC236}">
                <a16:creationId xmlns:a16="http://schemas.microsoft.com/office/drawing/2014/main" id="{7F7C5CD4-F7EE-BD8D-02B7-51AB23C9DEBA}"/>
              </a:ext>
            </a:extLst>
          </p:cNvPr>
          <p:cNvSpPr/>
          <p:nvPr/>
        </p:nvSpPr>
        <p:spPr>
          <a:xfrm>
            <a:off x="12486704" y="7796127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1D0AC102-BD99-9267-D64D-8A7D7BB70ED2}"/>
              </a:ext>
            </a:extLst>
          </p:cNvPr>
          <p:cNvCxnSpPr>
            <a:cxnSpLocks/>
            <a:stCxn id="85" idx="3"/>
            <a:endCxn id="51" idx="2"/>
          </p:cNvCxnSpPr>
          <p:nvPr/>
        </p:nvCxnSpPr>
        <p:spPr>
          <a:xfrm flipV="1">
            <a:off x="9623584" y="8147068"/>
            <a:ext cx="2863120" cy="135704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B2321441-CEAE-CD9D-940D-52A806641EB9}"/>
              </a:ext>
            </a:extLst>
          </p:cNvPr>
          <p:cNvSpPr/>
          <p:nvPr/>
        </p:nvSpPr>
        <p:spPr>
          <a:xfrm>
            <a:off x="10211773" y="6068702"/>
            <a:ext cx="3955784" cy="1186043"/>
          </a:xfrm>
          <a:prstGeom prst="rect">
            <a:avLst/>
          </a:prstGeom>
          <a:noFill/>
          <a:ln w="25400"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 anchorCtr="0"/>
          <a:lstStyle/>
          <a:p>
            <a:pPr algn="ctr"/>
            <a:r>
              <a:rPr lang="ja-JP" altLang="en-US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マスター</a:t>
            </a:r>
            <a:r>
              <a:rPr lang="en-US" altLang="ja-JP" sz="1800" b="1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SV(SJIS)</a:t>
            </a:r>
            <a:endParaRPr kumimoji="1" lang="ja-JP" altLang="en-US" sz="1800" b="1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円柱 64">
            <a:extLst>
              <a:ext uri="{FF2B5EF4-FFF2-40B4-BE49-F238E27FC236}">
                <a16:creationId xmlns:a16="http://schemas.microsoft.com/office/drawing/2014/main" id="{8A67E5C8-8CD7-D242-562F-11FA292D7122}"/>
              </a:ext>
            </a:extLst>
          </p:cNvPr>
          <p:cNvSpPr/>
          <p:nvPr/>
        </p:nvSpPr>
        <p:spPr>
          <a:xfrm>
            <a:off x="12486704" y="6401522"/>
            <a:ext cx="1364125" cy="701882"/>
          </a:xfrm>
          <a:prstGeom prst="can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トランジャーナル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6A10A1D5-689E-A2F0-D88D-23BB31ABE006}"/>
              </a:ext>
            </a:extLst>
          </p:cNvPr>
          <p:cNvCxnSpPr>
            <a:cxnSpLocks/>
            <a:stCxn id="51" idx="1"/>
            <a:endCxn id="65" idx="3"/>
          </p:cNvCxnSpPr>
          <p:nvPr/>
        </p:nvCxnSpPr>
        <p:spPr>
          <a:xfrm flipV="1">
            <a:off x="13168767" y="7103404"/>
            <a:ext cx="0" cy="69272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489D4688-E106-F443-129E-3552C42CB6E3}"/>
              </a:ext>
            </a:extLst>
          </p:cNvPr>
          <p:cNvCxnSpPr>
            <a:cxnSpLocks/>
            <a:stCxn id="2" idx="2"/>
            <a:endCxn id="45" idx="1"/>
          </p:cNvCxnSpPr>
          <p:nvPr/>
        </p:nvCxnSpPr>
        <p:spPr>
          <a:xfrm>
            <a:off x="3656436" y="3859369"/>
            <a:ext cx="7609397" cy="251390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E943C26A-2C5D-E270-C436-18C02677BE7B}"/>
              </a:ext>
            </a:extLst>
          </p:cNvPr>
          <p:cNvCxnSpPr>
            <a:cxnSpLocks/>
            <a:stCxn id="332" idx="2"/>
            <a:endCxn id="45" idx="1"/>
          </p:cNvCxnSpPr>
          <p:nvPr/>
        </p:nvCxnSpPr>
        <p:spPr>
          <a:xfrm>
            <a:off x="5304382" y="3866776"/>
            <a:ext cx="5961451" cy="250649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53D0A72-A85C-391A-B302-01FBE65A4CA4}"/>
              </a:ext>
            </a:extLst>
          </p:cNvPr>
          <p:cNvCxnSpPr>
            <a:cxnSpLocks/>
            <a:stCxn id="101" idx="3"/>
            <a:endCxn id="45" idx="2"/>
          </p:cNvCxnSpPr>
          <p:nvPr/>
        </p:nvCxnSpPr>
        <p:spPr>
          <a:xfrm flipV="1">
            <a:off x="7528735" y="6724215"/>
            <a:ext cx="3055035" cy="17222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DFDE116-AB15-D4C2-E784-3AAF6481BF9E}"/>
              </a:ext>
            </a:extLst>
          </p:cNvPr>
          <p:cNvSpPr/>
          <p:nvPr/>
        </p:nvSpPr>
        <p:spPr>
          <a:xfrm>
            <a:off x="6267643" y="5247403"/>
            <a:ext cx="1326302" cy="591349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在庫更新</a:t>
            </a:r>
            <a:endParaRPr kumimoji="1" lang="en-US" altLang="ja-JP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84B612E6-F365-697B-AA35-D00D604EF27B}"/>
              </a:ext>
            </a:extLst>
          </p:cNvPr>
          <p:cNvCxnSpPr>
            <a:cxnSpLocks/>
            <a:stCxn id="4" idx="3"/>
            <a:endCxn id="45" idx="2"/>
          </p:cNvCxnSpPr>
          <p:nvPr/>
        </p:nvCxnSpPr>
        <p:spPr>
          <a:xfrm>
            <a:off x="7593945" y="5543078"/>
            <a:ext cx="2989825" cy="1181137"/>
          </a:xfrm>
          <a:prstGeom prst="straightConnector1">
            <a:avLst/>
          </a:prstGeom>
          <a:ln w="25400">
            <a:solidFill>
              <a:srgbClr val="0000FF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324FCE21-D29D-1E3D-C5A2-46E4A534F01F}"/>
              </a:ext>
            </a:extLst>
          </p:cNvPr>
          <p:cNvCxnSpPr>
            <a:cxnSpLocks/>
            <a:stCxn id="101" idx="0"/>
            <a:endCxn id="4" idx="2"/>
          </p:cNvCxnSpPr>
          <p:nvPr/>
        </p:nvCxnSpPr>
        <p:spPr>
          <a:xfrm flipH="1" flipV="1">
            <a:off x="6930794" y="5838752"/>
            <a:ext cx="826" cy="2321242"/>
          </a:xfrm>
          <a:prstGeom prst="straightConnector1">
            <a:avLst/>
          </a:prstGeom>
          <a:ln w="25400">
            <a:solidFill>
              <a:srgbClr val="0000FF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4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ABAE-ADED-0CAF-4126-EDD2C775B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63AB76A5-3E76-926B-081B-120ECB3AB99C}"/>
              </a:ext>
            </a:extLst>
          </p:cNvPr>
          <p:cNvCxnSpPr>
            <a:cxnSpLocks/>
          </p:cNvCxnSpPr>
          <p:nvPr/>
        </p:nvCxnSpPr>
        <p:spPr>
          <a:xfrm>
            <a:off x="6942864" y="5932526"/>
            <a:ext cx="5615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E240B5B-41F2-E54E-3773-6EDC817C6632}"/>
              </a:ext>
            </a:extLst>
          </p:cNvPr>
          <p:cNvCxnSpPr>
            <a:cxnSpLocks/>
          </p:cNvCxnSpPr>
          <p:nvPr/>
        </p:nvCxnSpPr>
        <p:spPr>
          <a:xfrm>
            <a:off x="6942864" y="4804675"/>
            <a:ext cx="56158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AFEFAEB-7379-F204-7C21-ECBA0C59902D}"/>
              </a:ext>
            </a:extLst>
          </p:cNvPr>
          <p:cNvCxnSpPr>
            <a:cxnSpLocks/>
          </p:cNvCxnSpPr>
          <p:nvPr/>
        </p:nvCxnSpPr>
        <p:spPr>
          <a:xfrm>
            <a:off x="6942864" y="4909177"/>
            <a:ext cx="68183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FB6374FD-C701-CF4B-6D4F-E7F642BD91BD}"/>
              </a:ext>
            </a:extLst>
          </p:cNvPr>
          <p:cNvCxnSpPr/>
          <p:nvPr/>
        </p:nvCxnSpPr>
        <p:spPr>
          <a:xfrm>
            <a:off x="14936611" y="250638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円柱 161">
            <a:extLst>
              <a:ext uri="{FF2B5EF4-FFF2-40B4-BE49-F238E27FC236}">
                <a16:creationId xmlns:a16="http://schemas.microsoft.com/office/drawing/2014/main" id="{8F1F3801-B02B-B201-3746-EDB5E4EA6707}"/>
              </a:ext>
            </a:extLst>
          </p:cNvPr>
          <p:cNvSpPr/>
          <p:nvPr/>
        </p:nvSpPr>
        <p:spPr>
          <a:xfrm>
            <a:off x="14431492" y="2962437"/>
            <a:ext cx="1058290" cy="48165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1" name="円柱 160">
            <a:extLst>
              <a:ext uri="{FF2B5EF4-FFF2-40B4-BE49-F238E27FC236}">
                <a16:creationId xmlns:a16="http://schemas.microsoft.com/office/drawing/2014/main" id="{5A64407C-8FFA-7705-833C-F789DCBD3B0E}"/>
              </a:ext>
            </a:extLst>
          </p:cNvPr>
          <p:cNvSpPr/>
          <p:nvPr/>
        </p:nvSpPr>
        <p:spPr>
          <a:xfrm>
            <a:off x="14431492" y="2762641"/>
            <a:ext cx="1058290" cy="481659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テキスト プレースホルダー 11">
            <a:extLst>
              <a:ext uri="{FF2B5EF4-FFF2-40B4-BE49-F238E27FC236}">
                <a16:creationId xmlns:a16="http://schemas.microsoft.com/office/drawing/2014/main" id="{18709823-598B-7817-8B53-25A2A73F8B92}"/>
              </a:ext>
            </a:extLst>
          </p:cNvPr>
          <p:cNvSpPr txBox="1">
            <a:spLocks/>
          </p:cNvSpPr>
          <p:nvPr/>
        </p:nvSpPr>
        <p:spPr>
          <a:xfrm>
            <a:off x="5592800" y="9936000"/>
            <a:ext cx="7102401" cy="32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050" kern="1200" baseline="0">
                <a:solidFill>
                  <a:srgbClr val="9A9A96"/>
                </a:solidFill>
                <a:latin typeface="+mj-lt"/>
                <a:ea typeface="源ノ角ゴシック JP Regular" panose="020B0500000000000000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+mn-lt"/>
                <a:ea typeface="源ノ角ゴシック JP Regular" panose="020B0500000000000000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1575" dirty="0">
                <a:latin typeface="HGPｺﾞｼｯｸM" panose="020B0600000000000000" pitchFamily="50" charset="-128"/>
                <a:ea typeface="HGPｺﾞｼｯｸM" panose="020B0600000000000000" pitchFamily="50" charset="-128"/>
              </a:rPr>
              <a:t>Copyright © All rights reserved, SHARP MARKETING JAPAN CORPORATION</a:t>
            </a:r>
            <a:endParaRPr lang="ja-JP" altLang="en-US" sz="1575" dirty="0">
              <a:latin typeface="HGPｺﾞｼｯｸM" panose="020B0600000000000000" pitchFamily="50" charset="-128"/>
              <a:ea typeface="HGPｺﾞｼｯｸM" panose="020B0600000000000000" pitchFamily="50" charset="-128"/>
            </a:endParaRP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4A44986B-E00E-C577-4C81-05769AAB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416CA-CFB7-4D39-9A5F-700CFE633E82}" type="datetime1">
              <a:rPr lang="ja-JP" altLang="en-US" smtClean="0"/>
              <a:t>2026/7/30</a:t>
            </a:fld>
            <a:endParaRPr lang="ja-JP" altLang="en-US" dirty="0"/>
          </a:p>
        </p:txBody>
      </p:sp>
      <p:sp>
        <p:nvSpPr>
          <p:cNvPr id="9" name="フッター プレースホルダー 8">
            <a:extLst>
              <a:ext uri="{FF2B5EF4-FFF2-40B4-BE49-F238E27FC236}">
                <a16:creationId xmlns:a16="http://schemas.microsoft.com/office/drawing/2014/main" id="{01C4A65B-267E-7FD7-3194-07569FDCF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294731" y="9903315"/>
            <a:ext cx="2619755" cy="378000"/>
          </a:xfrm>
        </p:spPr>
        <p:txBody>
          <a:bodyPr/>
          <a:lstStyle/>
          <a:p>
            <a:r>
              <a:rPr kumimoji="1" lang="en-US" altLang="ja-JP"/>
              <a:t>Confidential </a:t>
            </a:r>
            <a:endParaRPr kumimoji="1"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166C7A7A-09E8-59D7-4B25-72C9F634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E37A5-A917-4235-ABF6-8CD72E894915}" type="slidenum">
              <a:rPr lang="en-US" altLang="ja-JP" smtClean="0"/>
              <a:pPr/>
              <a:t>8</a:t>
            </a:fld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4D6165-221A-0313-FF02-DFA3DB641223}"/>
              </a:ext>
            </a:extLst>
          </p:cNvPr>
          <p:cNvSpPr txBox="1">
            <a:spLocks/>
          </p:cNvSpPr>
          <p:nvPr/>
        </p:nvSpPr>
        <p:spPr>
          <a:xfrm>
            <a:off x="556666" y="1137624"/>
            <a:ext cx="17149445" cy="433965"/>
          </a:xfrm>
          <a:prstGeom prst="rect">
            <a:avLst/>
          </a:prstGeom>
        </p:spPr>
        <p:txBody>
          <a:bodyPr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・実績データ登録処理の中で、マスター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SV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の在庫データを直接更新します（</a:t>
            </a:r>
            <a:r>
              <a:rPr lang="en-US" altLang="ja-JP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DB</a:t>
            </a:r>
            <a:r>
              <a:rPr lang="ja-JP" altLang="en-US" sz="24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リンクを使用）。</a:t>
            </a:r>
            <a:endParaRPr lang="en-US" altLang="ja-JP" sz="2400" dirty="0">
              <a:solidFill>
                <a:srgbClr val="59574C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63F091F7-B24C-50C2-072C-722DF68080A4}"/>
              </a:ext>
            </a:extLst>
          </p:cNvPr>
          <p:cNvCxnSpPr>
            <a:cxnSpLocks/>
          </p:cNvCxnSpPr>
          <p:nvPr/>
        </p:nvCxnSpPr>
        <p:spPr>
          <a:xfrm>
            <a:off x="6942864" y="3274695"/>
            <a:ext cx="0" cy="61787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21005DCE-8CB0-A712-22D2-4551949B4892}"/>
              </a:ext>
            </a:extLst>
          </p:cNvPr>
          <p:cNvSpPr txBox="1"/>
          <p:nvPr/>
        </p:nvSpPr>
        <p:spPr>
          <a:xfrm>
            <a:off x="2238302" y="2748607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95913D6B-8E32-BA30-7CCE-7E2A6821C470}"/>
              </a:ext>
            </a:extLst>
          </p:cNvPr>
          <p:cNvCxnSpPr>
            <a:cxnSpLocks/>
          </p:cNvCxnSpPr>
          <p:nvPr/>
        </p:nvCxnSpPr>
        <p:spPr>
          <a:xfrm>
            <a:off x="3224927" y="4730214"/>
            <a:ext cx="39172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5D7A9024-41C8-025F-9335-85BAB0E2FD62}"/>
              </a:ext>
            </a:extLst>
          </p:cNvPr>
          <p:cNvSpPr txBox="1"/>
          <p:nvPr/>
        </p:nvSpPr>
        <p:spPr>
          <a:xfrm>
            <a:off x="3310925" y="4426065"/>
            <a:ext cx="290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入力情報</a:t>
            </a:r>
          </a:p>
        </p:txBody>
      </p:sp>
      <p:grpSp>
        <p:nvGrpSpPr>
          <p:cNvPr id="86" name="グループ化 85">
            <a:extLst>
              <a:ext uri="{FF2B5EF4-FFF2-40B4-BE49-F238E27FC236}">
                <a16:creationId xmlns:a16="http://schemas.microsoft.com/office/drawing/2014/main" id="{DDCB75E5-318F-0438-82B5-176E5CF94E9E}"/>
              </a:ext>
            </a:extLst>
          </p:cNvPr>
          <p:cNvGrpSpPr/>
          <p:nvPr/>
        </p:nvGrpSpPr>
        <p:grpSpPr>
          <a:xfrm>
            <a:off x="142626" y="2619603"/>
            <a:ext cx="1731984" cy="1200329"/>
            <a:chOff x="4644389" y="2741015"/>
            <a:chExt cx="1356189" cy="800219"/>
          </a:xfrm>
        </p:grpSpPr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5CBA1108-19F4-4FF7-27B6-274923D9DE6E}"/>
                </a:ext>
              </a:extLst>
            </p:cNvPr>
            <p:cNvSpPr txBox="1"/>
            <p:nvPr/>
          </p:nvSpPr>
          <p:spPr>
            <a:xfrm>
              <a:off x="4644389" y="2741015"/>
              <a:ext cx="1356189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&lt;</a:t>
              </a:r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凡例</a:t>
              </a:r>
              <a:r>
                <a:rPr lang="en-US" altLang="ja-JP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&gt;</a:t>
              </a: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要求：</a:t>
              </a:r>
              <a:endParaRPr lang="en-US" altLang="ja-JP" sz="2400" dirty="0">
                <a:latin typeface="HGPｺﾞｼｯｸM" panose="020B0600000000000000" pitchFamily="50" charset="-128"/>
                <a:ea typeface="HGPｺﾞｼｯｸM" panose="020B0600000000000000" pitchFamily="50" charset="-128"/>
              </a:endParaRPr>
            </a:p>
            <a:p>
              <a:r>
                <a:rPr lang="ja-JP" altLang="en-US" sz="2400" dirty="0">
                  <a:latin typeface="HGPｺﾞｼｯｸM" panose="020B0600000000000000" pitchFamily="50" charset="-128"/>
                  <a:ea typeface="HGPｺﾞｼｯｸM" panose="020B0600000000000000" pitchFamily="50" charset="-128"/>
                </a:rPr>
                <a:t>　結果：</a:t>
              </a:r>
            </a:p>
          </p:txBody>
        </p:sp>
        <p:cxnSp>
          <p:nvCxnSpPr>
            <p:cNvPr id="88" name="直線矢印コネクタ 87">
              <a:extLst>
                <a:ext uri="{FF2B5EF4-FFF2-40B4-BE49-F238E27FC236}">
                  <a16:creationId xmlns:a16="http://schemas.microsoft.com/office/drawing/2014/main" id="{7F2D9FF5-8945-E7C6-F8E1-7BC775ADCEBB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144572"/>
              <a:ext cx="34638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矢印コネクタ 88">
              <a:extLst>
                <a:ext uri="{FF2B5EF4-FFF2-40B4-BE49-F238E27FC236}">
                  <a16:creationId xmlns:a16="http://schemas.microsoft.com/office/drawing/2014/main" id="{FD4C8D01-9CD2-CCE0-E3F7-8C741E326A2B}"/>
                </a:ext>
              </a:extLst>
            </p:cNvPr>
            <p:cNvCxnSpPr>
              <a:cxnSpLocks/>
            </p:cNvCxnSpPr>
            <p:nvPr/>
          </p:nvCxnSpPr>
          <p:spPr>
            <a:xfrm>
              <a:off x="5506171" y="3428025"/>
              <a:ext cx="346380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257FAAD8-9782-E078-B115-37780B2C5EA1}"/>
              </a:ext>
            </a:extLst>
          </p:cNvPr>
          <p:cNvCxnSpPr>
            <a:cxnSpLocks/>
          </p:cNvCxnSpPr>
          <p:nvPr/>
        </p:nvCxnSpPr>
        <p:spPr>
          <a:xfrm>
            <a:off x="11749666" y="7443863"/>
            <a:ext cx="8090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E8A9DFF9-1B9C-42CD-6977-203ED14859C0}"/>
              </a:ext>
            </a:extLst>
          </p:cNvPr>
          <p:cNvCxnSpPr>
            <a:cxnSpLocks/>
          </p:cNvCxnSpPr>
          <p:nvPr/>
        </p:nvCxnSpPr>
        <p:spPr>
          <a:xfrm flipH="1">
            <a:off x="3218016" y="6486774"/>
            <a:ext cx="3169186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テキスト ボックス 134">
            <a:extLst>
              <a:ext uri="{FF2B5EF4-FFF2-40B4-BE49-F238E27FC236}">
                <a16:creationId xmlns:a16="http://schemas.microsoft.com/office/drawing/2014/main" id="{48F6E556-AB2D-63EE-C946-2555D95D6242}"/>
              </a:ext>
            </a:extLst>
          </p:cNvPr>
          <p:cNvSpPr txBox="1"/>
          <p:nvPr/>
        </p:nvSpPr>
        <p:spPr>
          <a:xfrm>
            <a:off x="3118394" y="6497274"/>
            <a:ext cx="277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「売上」印刷データ</a:t>
            </a:r>
          </a:p>
        </p:txBody>
      </p:sp>
      <p:cxnSp>
        <p:nvCxnSpPr>
          <p:cNvPr id="136" name="直線コネクタ 135">
            <a:extLst>
              <a:ext uri="{FF2B5EF4-FFF2-40B4-BE49-F238E27FC236}">
                <a16:creationId xmlns:a16="http://schemas.microsoft.com/office/drawing/2014/main" id="{A2E015DC-3D7F-DD70-F171-1CB6BDC88794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218016" y="3117939"/>
            <a:ext cx="10018" cy="447770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線コネクタ 139">
            <a:extLst>
              <a:ext uri="{FF2B5EF4-FFF2-40B4-BE49-F238E27FC236}">
                <a16:creationId xmlns:a16="http://schemas.microsoft.com/office/drawing/2014/main" id="{8CCBB092-31D8-5E65-6E9C-CB6615DEDAFF}"/>
              </a:ext>
            </a:extLst>
          </p:cNvPr>
          <p:cNvCxnSpPr>
            <a:cxnSpLocks/>
          </p:cNvCxnSpPr>
          <p:nvPr/>
        </p:nvCxnSpPr>
        <p:spPr>
          <a:xfrm>
            <a:off x="11162813" y="2506383"/>
            <a:ext cx="0" cy="69470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コネクタ 140">
            <a:extLst>
              <a:ext uri="{FF2B5EF4-FFF2-40B4-BE49-F238E27FC236}">
                <a16:creationId xmlns:a16="http://schemas.microsoft.com/office/drawing/2014/main" id="{EE879C7B-B1C3-7203-1083-0DF416443F48}"/>
              </a:ext>
            </a:extLst>
          </p:cNvPr>
          <p:cNvCxnSpPr>
            <a:cxnSpLocks/>
          </p:cNvCxnSpPr>
          <p:nvPr/>
        </p:nvCxnSpPr>
        <p:spPr>
          <a:xfrm>
            <a:off x="13761212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円柱 126">
            <a:extLst>
              <a:ext uri="{FF2B5EF4-FFF2-40B4-BE49-F238E27FC236}">
                <a16:creationId xmlns:a16="http://schemas.microsoft.com/office/drawing/2014/main" id="{7B8EEB87-2C4F-DFFC-9C9A-627B609C2D3F}"/>
              </a:ext>
            </a:extLst>
          </p:cNvPr>
          <p:cNvSpPr/>
          <p:nvPr/>
        </p:nvSpPr>
        <p:spPr>
          <a:xfrm>
            <a:off x="14431492" y="2452668"/>
            <a:ext cx="1058290" cy="565253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各種実績</a:t>
            </a:r>
            <a:endParaRPr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テーブル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1228FB3E-32F6-9151-C6B4-64E7C575E686}"/>
              </a:ext>
            </a:extLst>
          </p:cNvPr>
          <p:cNvSpPr txBox="1"/>
          <p:nvPr/>
        </p:nvSpPr>
        <p:spPr>
          <a:xfrm>
            <a:off x="2405214" y="7262151"/>
            <a:ext cx="1644152" cy="64800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印刷実施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21E4E4EB-66C8-3438-FD4F-B38F255821EC}"/>
              </a:ext>
            </a:extLst>
          </p:cNvPr>
          <p:cNvSpPr txBox="1"/>
          <p:nvPr/>
        </p:nvSpPr>
        <p:spPr>
          <a:xfrm>
            <a:off x="2405214" y="3351679"/>
            <a:ext cx="1644152" cy="390066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処理確定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150" name="直線コネクタ 149">
            <a:extLst>
              <a:ext uri="{FF2B5EF4-FFF2-40B4-BE49-F238E27FC236}">
                <a16:creationId xmlns:a16="http://schemas.microsoft.com/office/drawing/2014/main" id="{38C994C5-7669-B41D-E9F8-A31E234874DB}"/>
              </a:ext>
            </a:extLst>
          </p:cNvPr>
          <p:cNvCxnSpPr>
            <a:cxnSpLocks/>
          </p:cNvCxnSpPr>
          <p:nvPr/>
        </p:nvCxnSpPr>
        <p:spPr>
          <a:xfrm>
            <a:off x="9736555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コネクタ 167">
            <a:extLst>
              <a:ext uri="{FF2B5EF4-FFF2-40B4-BE49-F238E27FC236}">
                <a16:creationId xmlns:a16="http://schemas.microsoft.com/office/drawing/2014/main" id="{5C1829E7-F8CC-0B6B-F5BB-09BD05147DD8}"/>
              </a:ext>
            </a:extLst>
          </p:cNvPr>
          <p:cNvCxnSpPr>
            <a:cxnSpLocks/>
            <a:stCxn id="167" idx="0"/>
          </p:cNvCxnSpPr>
          <p:nvPr/>
        </p:nvCxnSpPr>
        <p:spPr>
          <a:xfrm>
            <a:off x="8494903" y="2729893"/>
            <a:ext cx="0" cy="6723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線矢印コネクタ 175">
            <a:extLst>
              <a:ext uri="{FF2B5EF4-FFF2-40B4-BE49-F238E27FC236}">
                <a16:creationId xmlns:a16="http://schemas.microsoft.com/office/drawing/2014/main" id="{125717DE-9FA6-DBF2-BF0C-93660A444F2A}"/>
              </a:ext>
            </a:extLst>
          </p:cNvPr>
          <p:cNvCxnSpPr>
            <a:cxnSpLocks/>
          </p:cNvCxnSpPr>
          <p:nvPr/>
        </p:nvCxnSpPr>
        <p:spPr>
          <a:xfrm>
            <a:off x="6942864" y="5776233"/>
            <a:ext cx="279369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テキスト ボックス 177">
            <a:extLst>
              <a:ext uri="{FF2B5EF4-FFF2-40B4-BE49-F238E27FC236}">
                <a16:creationId xmlns:a16="http://schemas.microsoft.com/office/drawing/2014/main" id="{F436F3A0-E524-084F-86C3-14ADEA30EB02}"/>
              </a:ext>
            </a:extLst>
          </p:cNvPr>
          <p:cNvSpPr txBox="1"/>
          <p:nvPr/>
        </p:nvSpPr>
        <p:spPr>
          <a:xfrm>
            <a:off x="7623816" y="6052550"/>
            <a:ext cx="444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ジャーナルデータ・受付台帳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更新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B85BF9C-EB10-EEB9-F416-33E1EE1291FC}"/>
              </a:ext>
            </a:extLst>
          </p:cNvPr>
          <p:cNvCxnSpPr>
            <a:cxnSpLocks/>
          </p:cNvCxnSpPr>
          <p:nvPr/>
        </p:nvCxnSpPr>
        <p:spPr>
          <a:xfrm>
            <a:off x="11749666" y="7953634"/>
            <a:ext cx="3186945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円柱 17">
            <a:extLst>
              <a:ext uri="{FF2B5EF4-FFF2-40B4-BE49-F238E27FC236}">
                <a16:creationId xmlns:a16="http://schemas.microsoft.com/office/drawing/2014/main" id="{3A1313DB-28FF-E8DC-C19B-8946BFE0024F}"/>
              </a:ext>
            </a:extLst>
          </p:cNvPr>
          <p:cNvSpPr/>
          <p:nvPr/>
        </p:nvSpPr>
        <p:spPr>
          <a:xfrm>
            <a:off x="9207410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ジャーナル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4A5EE1EB-39D5-E73D-C84D-372A2A4C50A6}"/>
              </a:ext>
            </a:extLst>
          </p:cNvPr>
          <p:cNvCxnSpPr>
            <a:cxnSpLocks/>
          </p:cNvCxnSpPr>
          <p:nvPr/>
        </p:nvCxnSpPr>
        <p:spPr>
          <a:xfrm>
            <a:off x="6942864" y="5562431"/>
            <a:ext cx="1552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円柱 105">
            <a:extLst>
              <a:ext uri="{FF2B5EF4-FFF2-40B4-BE49-F238E27FC236}">
                <a16:creationId xmlns:a16="http://schemas.microsoft.com/office/drawing/2014/main" id="{0FD9616F-B86D-B950-009B-1B9F6BA47EB4}"/>
              </a:ext>
            </a:extLst>
          </p:cNvPr>
          <p:cNvSpPr/>
          <p:nvPr/>
        </p:nvSpPr>
        <p:spPr>
          <a:xfrm>
            <a:off x="13217779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JSON</a:t>
            </a:r>
          </a:p>
          <a:p>
            <a:pPr algn="ctr"/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(OUTBOX)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7" name="円柱 166">
            <a:extLst>
              <a:ext uri="{FF2B5EF4-FFF2-40B4-BE49-F238E27FC236}">
                <a16:creationId xmlns:a16="http://schemas.microsoft.com/office/drawing/2014/main" id="{D83B951F-9AC5-EC38-4D2B-13605A1E9705}"/>
              </a:ext>
            </a:extLst>
          </p:cNvPr>
          <p:cNvSpPr/>
          <p:nvPr/>
        </p:nvSpPr>
        <p:spPr>
          <a:xfrm>
            <a:off x="7965758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帳票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フォーマット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CA48EE7-C319-BECF-A193-3961EF84032B}"/>
              </a:ext>
            </a:extLst>
          </p:cNvPr>
          <p:cNvSpPr txBox="1"/>
          <p:nvPr/>
        </p:nvSpPr>
        <p:spPr>
          <a:xfrm>
            <a:off x="6367159" y="2680018"/>
            <a:ext cx="1173705" cy="646331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ECBF92A-7DD3-87A3-10E2-D7EE4A685AAD}"/>
              </a:ext>
            </a:extLst>
          </p:cNvPr>
          <p:cNvSpPr/>
          <p:nvPr/>
        </p:nvSpPr>
        <p:spPr>
          <a:xfrm>
            <a:off x="1973965" y="2096874"/>
            <a:ext cx="3616164" cy="7780160"/>
          </a:xfrm>
          <a:prstGeom prst="roundRect">
            <a:avLst>
              <a:gd name="adj" fmla="val 7059"/>
            </a:avLst>
          </a:prstGeom>
          <a:noFill/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7745E79-DD87-3D1F-1EC2-8EB2C7A2512C}"/>
              </a:ext>
            </a:extLst>
          </p:cNvPr>
          <p:cNvSpPr txBox="1"/>
          <p:nvPr/>
        </p:nvSpPr>
        <p:spPr>
          <a:xfrm>
            <a:off x="1998387" y="2202226"/>
            <a:ext cx="2298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タブレット</a:t>
            </a:r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POS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F1A3973-5DF4-FFFE-C994-5DBEE490DDB4}"/>
              </a:ext>
            </a:extLst>
          </p:cNvPr>
          <p:cNvSpPr/>
          <p:nvPr/>
        </p:nvSpPr>
        <p:spPr>
          <a:xfrm>
            <a:off x="5789430" y="2098573"/>
            <a:ext cx="11963945" cy="7765315"/>
          </a:xfrm>
          <a:prstGeom prst="roundRect">
            <a:avLst>
              <a:gd name="adj" fmla="val 3105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3A96121-11FE-5F7F-8E40-6992F4B30EC9}"/>
              </a:ext>
            </a:extLst>
          </p:cNvPr>
          <p:cNvSpPr txBox="1"/>
          <p:nvPr/>
        </p:nvSpPr>
        <p:spPr>
          <a:xfrm>
            <a:off x="5992591" y="2145206"/>
            <a:ext cx="18916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OCI</a:t>
            </a:r>
            <a:r>
              <a:rPr lang="ja-JP" altLang="en-US" sz="2000" b="1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環境</a:t>
            </a:r>
            <a:endParaRPr kumimoji="1" lang="ja-JP" altLang="en-US" sz="2000" b="1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77AC442-4F1E-C1F8-1A7C-721C39336241}"/>
              </a:ext>
            </a:extLst>
          </p:cNvPr>
          <p:cNvSpPr txBox="1"/>
          <p:nvPr/>
        </p:nvSpPr>
        <p:spPr>
          <a:xfrm>
            <a:off x="7885453" y="5166654"/>
            <a:ext cx="276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帳票フォーマット取得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DA50BDDB-336D-675C-3F0A-3CAB4171C798}"/>
              </a:ext>
            </a:extLst>
          </p:cNvPr>
          <p:cNvSpPr txBox="1"/>
          <p:nvPr/>
        </p:nvSpPr>
        <p:spPr>
          <a:xfrm>
            <a:off x="13386532" y="7618311"/>
            <a:ext cx="249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8F04C091-47BC-A7D7-91E5-39D209B4B082}"/>
              </a:ext>
            </a:extLst>
          </p:cNvPr>
          <p:cNvSpPr txBox="1"/>
          <p:nvPr/>
        </p:nvSpPr>
        <p:spPr>
          <a:xfrm>
            <a:off x="5956709" y="4426066"/>
            <a:ext cx="1999627" cy="2243675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&lt;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r>
              <a:rPr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API&gt;</a:t>
            </a:r>
          </a:p>
          <a:p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</a:t>
            </a:r>
            <a:r>
              <a:rPr lang="en-US" altLang="ja-JP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データ登録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印刷データ作成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↓</a:t>
            </a:r>
            <a:endParaRPr kumimoji="1"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ジャーナル</a:t>
            </a:r>
            <a:r>
              <a:rPr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　↓</a:t>
            </a:r>
            <a:endParaRPr kumimoji="1" lang="en-US" altLang="ja-JP" sz="16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ja-JP" altLang="en-US" sz="16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 処理結果返却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907C443-AAA4-6D81-7B3E-2BB3F4C528F8}"/>
              </a:ext>
            </a:extLst>
          </p:cNvPr>
          <p:cNvCxnSpPr>
            <a:cxnSpLocks/>
          </p:cNvCxnSpPr>
          <p:nvPr/>
        </p:nvCxnSpPr>
        <p:spPr>
          <a:xfrm>
            <a:off x="12558758" y="2905363"/>
            <a:ext cx="0" cy="65480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円柱 14">
            <a:extLst>
              <a:ext uri="{FF2B5EF4-FFF2-40B4-BE49-F238E27FC236}">
                <a16:creationId xmlns:a16="http://schemas.microsoft.com/office/drawing/2014/main" id="{0143FB25-D4DD-820B-D0DF-963AB831B179}"/>
              </a:ext>
            </a:extLst>
          </p:cNvPr>
          <p:cNvSpPr/>
          <p:nvPr/>
        </p:nvSpPr>
        <p:spPr>
          <a:xfrm>
            <a:off x="12015325" y="2554422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受付台帳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lang="en-US" altLang="ja-JP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INBOX</a:t>
            </a:r>
            <a:r>
              <a:rPr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9FB32A3-A08A-68DE-28FE-FFAC9A56996F}"/>
              </a:ext>
            </a:extLst>
          </p:cNvPr>
          <p:cNvSpPr txBox="1"/>
          <p:nvPr/>
        </p:nvSpPr>
        <p:spPr>
          <a:xfrm>
            <a:off x="10575961" y="2492298"/>
            <a:ext cx="1173705" cy="646331"/>
          </a:xfrm>
          <a:prstGeom prst="rect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OCI</a:t>
            </a:r>
          </a:p>
          <a:p>
            <a:pPr algn="ctr"/>
            <a:r>
              <a:rPr lang="en-US" altLang="ja-JP" sz="14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Streaming</a:t>
            </a:r>
            <a:endParaRPr lang="ja-JP" altLang="en-US" sz="14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63D5E46-14A4-F6D1-234F-72564D0552DE}"/>
              </a:ext>
            </a:extLst>
          </p:cNvPr>
          <p:cNvSpPr txBox="1"/>
          <p:nvPr/>
        </p:nvSpPr>
        <p:spPr>
          <a:xfrm>
            <a:off x="7784027" y="4444913"/>
            <a:ext cx="4234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受付台帳・</a:t>
            </a:r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データ参照・登録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3544811E-8668-0D8E-236D-88585D7A25A6}"/>
              </a:ext>
            </a:extLst>
          </p:cNvPr>
          <p:cNvCxnSpPr>
            <a:cxnSpLocks/>
          </p:cNvCxnSpPr>
          <p:nvPr/>
        </p:nvCxnSpPr>
        <p:spPr>
          <a:xfrm>
            <a:off x="11749666" y="7595642"/>
            <a:ext cx="20115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637D136-381B-AF8B-2D2E-EB01C5705DC0}"/>
              </a:ext>
            </a:extLst>
          </p:cNvPr>
          <p:cNvSpPr txBox="1"/>
          <p:nvPr/>
        </p:nvSpPr>
        <p:spPr>
          <a:xfrm>
            <a:off x="11949995" y="6721643"/>
            <a:ext cx="3623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受付台帳取得（ステータス確認）</a:t>
            </a:r>
            <a:endParaRPr kumimoji="1"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r>
              <a:rPr kumimoji="1" lang="en-US" altLang="ja-JP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JSON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データ取得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9482160-0EE4-0B52-53FE-1C42CBCFC8E0}"/>
              </a:ext>
            </a:extLst>
          </p:cNvPr>
          <p:cNvSpPr txBox="1"/>
          <p:nvPr/>
        </p:nvSpPr>
        <p:spPr>
          <a:xfrm>
            <a:off x="2173266" y="3827085"/>
            <a:ext cx="2123781" cy="44962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pPr algn="ctr"/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リクエスト</a:t>
            </a:r>
            <a:r>
              <a:rPr lang="en-US" altLang="ja-JP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ID</a:t>
            </a:r>
            <a:r>
              <a:rPr lang="ja-JP" altLang="en-US" sz="1800" dirty="0">
                <a:solidFill>
                  <a:srgbClr val="59574C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発行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DD08D1FF-33E6-75EB-E141-B4AD3E8D7CA5}"/>
              </a:ext>
            </a:extLst>
          </p:cNvPr>
          <p:cNvSpPr/>
          <p:nvPr/>
        </p:nvSpPr>
        <p:spPr>
          <a:xfrm>
            <a:off x="15624208" y="2274861"/>
            <a:ext cx="1944691" cy="7339040"/>
          </a:xfrm>
          <a:prstGeom prst="roundRect">
            <a:avLst>
              <a:gd name="adj" fmla="val 11403"/>
            </a:avLst>
          </a:prstGeom>
          <a:noFill/>
          <a:ln w="25400">
            <a:solidFill>
              <a:schemeClr val="accent6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kumimoji="1" lang="ja-JP" altLang="en-US" sz="24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マスター</a:t>
            </a:r>
            <a:r>
              <a:rPr kumimoji="1" lang="en-US" altLang="ja-JP" sz="2400" dirty="0">
                <a:solidFill>
                  <a:srgbClr val="59574C"/>
                </a:solidFill>
                <a:latin typeface="Source Sans Pro" panose="020B0503030403020204" pitchFamily="34" charset="0"/>
                <a:ea typeface="源ノ角ゴシック JP Regular" panose="020B0500000000000000" pitchFamily="34" charset="-128"/>
              </a:rPr>
              <a:t>SV</a:t>
            </a:r>
            <a:endParaRPr kumimoji="1" lang="ja-JP" altLang="en-US" sz="2400" dirty="0">
              <a:solidFill>
                <a:srgbClr val="59574C"/>
              </a:solidFill>
              <a:latin typeface="Source Sans Pro" panose="020B0503030403020204" pitchFamily="34" charset="0"/>
              <a:ea typeface="源ノ角ゴシック JP Regular" panose="020B0500000000000000" pitchFamily="34" charset="-128"/>
            </a:endParaRP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7CE270AB-A75C-B916-E425-A9DADD9A3BFE}"/>
              </a:ext>
            </a:extLst>
          </p:cNvPr>
          <p:cNvCxnSpPr>
            <a:cxnSpLocks/>
            <a:stCxn id="44" idx="3"/>
          </p:cNvCxnSpPr>
          <p:nvPr/>
        </p:nvCxnSpPr>
        <p:spPr>
          <a:xfrm>
            <a:off x="16602847" y="3464523"/>
            <a:ext cx="14288" cy="59889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円柱 43">
            <a:extLst>
              <a:ext uri="{FF2B5EF4-FFF2-40B4-BE49-F238E27FC236}">
                <a16:creationId xmlns:a16="http://schemas.microsoft.com/office/drawing/2014/main" id="{4C912307-9E0C-5E5E-A7E8-7426B238AC88}"/>
              </a:ext>
            </a:extLst>
          </p:cNvPr>
          <p:cNvSpPr/>
          <p:nvPr/>
        </p:nvSpPr>
        <p:spPr>
          <a:xfrm>
            <a:off x="16073702" y="2762641"/>
            <a:ext cx="1058290" cy="701882"/>
          </a:xfrm>
          <a:prstGeom prst="can">
            <a:avLst/>
          </a:prstGeom>
          <a:solidFill>
            <a:schemeClr val="accent6">
              <a:lumMod val="10000"/>
              <a:lumOff val="90000"/>
            </a:schemeClr>
          </a:solidFill>
          <a:ln>
            <a:solidFill>
              <a:srgbClr val="5957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1100" dirty="0">
                <a:solidFill>
                  <a:srgbClr val="59574C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在庫データ</a:t>
            </a:r>
            <a:endParaRPr kumimoji="1" lang="en-US" altLang="ja-JP" sz="1100" dirty="0">
              <a:solidFill>
                <a:srgbClr val="59574C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4B6FD58D-B6CE-307B-E24E-10AF5BE4B410}"/>
              </a:ext>
            </a:extLst>
          </p:cNvPr>
          <p:cNvCxnSpPr>
            <a:cxnSpLocks/>
          </p:cNvCxnSpPr>
          <p:nvPr/>
        </p:nvCxnSpPr>
        <p:spPr>
          <a:xfrm>
            <a:off x="11749666" y="8195277"/>
            <a:ext cx="4853181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202E6711-8EB3-4004-7098-D4AADE2349F3}"/>
              </a:ext>
            </a:extLst>
          </p:cNvPr>
          <p:cNvSpPr txBox="1"/>
          <p:nvPr/>
        </p:nvSpPr>
        <p:spPr>
          <a:xfrm>
            <a:off x="10417506" y="7234167"/>
            <a:ext cx="1502040" cy="1200329"/>
          </a:xfrm>
          <a:prstGeom prst="rect">
            <a:avLst/>
          </a:prstGeom>
          <a:solidFill>
            <a:srgbClr val="FFFFFF"/>
          </a:solidFill>
          <a:ln>
            <a:solidFill>
              <a:srgbClr val="59574C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実績データ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登録</a:t>
            </a:r>
            <a:endParaRPr lang="en-US" altLang="ja-JP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  <a:p>
            <a:pPr algn="ctr"/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A2B4D467-9F47-D585-D03E-7CA958B4B5F9}"/>
              </a:ext>
            </a:extLst>
          </p:cNvPr>
          <p:cNvSpPr txBox="1"/>
          <p:nvPr/>
        </p:nvSpPr>
        <p:spPr>
          <a:xfrm>
            <a:off x="13386532" y="8275736"/>
            <a:ext cx="249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在庫</a:t>
            </a:r>
            <a:r>
              <a:rPr kumimoji="1"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データ</a:t>
            </a:r>
            <a:r>
              <a:rPr lang="ja-JP" altLang="en-US" sz="1800" dirty="0">
                <a:latin typeface="源ノ角ゴシック JP Regular" panose="020B0500000000000000" pitchFamily="34" charset="-128"/>
                <a:ea typeface="源ノ角ゴシック JP Regular" panose="020B0500000000000000" pitchFamily="34" charset="-128"/>
              </a:rPr>
              <a:t>更新</a:t>
            </a:r>
            <a:endParaRPr kumimoji="1" lang="ja-JP" altLang="en-US" sz="1800" dirty="0">
              <a:latin typeface="源ノ角ゴシック JP Regular" panose="020B0500000000000000" pitchFamily="34" charset="-128"/>
              <a:ea typeface="源ノ角ゴシック JP Regular" panose="020B0500000000000000" pitchFamily="34" charset="-128"/>
            </a:endParaRPr>
          </a:p>
        </p:txBody>
      </p:sp>
      <p:sp>
        <p:nvSpPr>
          <p:cNvPr id="12" name="コンテンツ プレースホルダー 3">
            <a:extLst>
              <a:ext uri="{FF2B5EF4-FFF2-40B4-BE49-F238E27FC236}">
                <a16:creationId xmlns:a16="http://schemas.microsoft.com/office/drawing/2014/main" id="{5D6563A6-049F-AA21-6A50-CC04E86CB2B7}"/>
              </a:ext>
            </a:extLst>
          </p:cNvPr>
          <p:cNvSpPr txBox="1">
            <a:spLocks/>
          </p:cNvSpPr>
          <p:nvPr/>
        </p:nvSpPr>
        <p:spPr>
          <a:xfrm>
            <a:off x="405609" y="-313678"/>
            <a:ext cx="18090000" cy="1315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 baseline="0">
                <a:solidFill>
                  <a:schemeClr val="tx1"/>
                </a:solidFill>
                <a:latin typeface="HGPｺﾞｼｯｸM" panose="020B0600000000000000" pitchFamily="50" charset="-128"/>
                <a:ea typeface="HGPｺﾞｼｯｸM" panose="020B06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250000"/>
              </a:lnSpc>
              <a:buNone/>
            </a:pP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タブレット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POS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 </a:t>
            </a:r>
            <a:r>
              <a:rPr lang="en-US" altLang="ja-JP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API</a:t>
            </a:r>
            <a:r>
              <a:rPr lang="ja-JP" altLang="en-US" sz="3600" b="1" dirty="0">
                <a:solidFill>
                  <a:srgbClr val="59574C"/>
                </a:solidFill>
                <a:latin typeface="源ノ角ゴシック JP Medium"/>
                <a:ea typeface="源ノ角ゴシック JP Medium"/>
              </a:rPr>
              <a:t>データ連携</a:t>
            </a:r>
            <a:endParaRPr kumimoji="1" lang="en-US" altLang="ja-JP" sz="3600" b="1" i="0" u="none" strike="noStrike" kern="1200" cap="none" spc="0" normalizeH="0" baseline="0" noProof="0" dirty="0">
              <a:ln>
                <a:noFill/>
              </a:ln>
              <a:solidFill>
                <a:srgbClr val="59574C"/>
              </a:solidFill>
              <a:effectLst/>
              <a:uLnTx/>
              <a:uFillTx/>
              <a:latin typeface="源ノ角ゴシック JP Medium"/>
              <a:ea typeface="源ノ角ゴシック JP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4454360"/>
      </p:ext>
    </p:extLst>
  </p:cSld>
  <p:clrMapOvr>
    <a:masterClrMapping/>
  </p:clrMapOvr>
</p:sld>
</file>

<file path=ppt/theme/theme1.xml><?xml version="1.0" encoding="utf-8"?>
<a:theme xmlns:a="http://schemas.openxmlformats.org/drawingml/2006/main" name="Be Original.テーマ">
  <a:themeElements>
    <a:clrScheme name="スタイルガイドライン">
      <a:dk1>
        <a:srgbClr val="59574C"/>
      </a:dk1>
      <a:lt1>
        <a:srgbClr val="FBFAF1"/>
      </a:lt1>
      <a:dk2>
        <a:srgbClr val="44546A"/>
      </a:dk2>
      <a:lt2>
        <a:srgbClr val="E7E6E6"/>
      </a:lt2>
      <a:accent1>
        <a:srgbClr val="7BA6DE"/>
      </a:accent1>
      <a:accent2>
        <a:srgbClr val="D45D00"/>
      </a:accent2>
      <a:accent3>
        <a:srgbClr val="DBDACB"/>
      </a:accent3>
      <a:accent4>
        <a:srgbClr val="FFA300"/>
      </a:accent4>
      <a:accent5>
        <a:srgbClr val="236192"/>
      </a:accent5>
      <a:accent6>
        <a:srgbClr val="035F1D"/>
      </a:accent6>
      <a:hlink>
        <a:srgbClr val="0563C1"/>
      </a:hlink>
      <a:folHlink>
        <a:srgbClr val="954F72"/>
      </a:folHlink>
    </a:clrScheme>
    <a:fontScheme name="スタイルガイドライン準拠">
      <a:majorFont>
        <a:latin typeface="Source Sans Pro"/>
        <a:ea typeface="源ノ角ゴシック JP Medium"/>
        <a:cs typeface=""/>
      </a:majorFont>
      <a:minorFont>
        <a:latin typeface="Source Sans Pro Black"/>
        <a:ea typeface="源ノ角ゴシック JP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59574C"/>
          </a:solidFill>
        </a:ln>
      </a:spPr>
      <a:bodyPr rtlCol="0" anchor="ctr"/>
      <a:lstStyle>
        <a:defPPr algn="ctr">
          <a:defRPr kumimoji="1" dirty="0">
            <a:solidFill>
              <a:srgbClr val="59574C"/>
            </a:solidFill>
            <a:latin typeface="Source Sans Pro" panose="020B0503030403020204" pitchFamily="34" charset="0"/>
            <a:ea typeface="源ノ角ゴシック JP Regular" panose="020B0500000000000000" pitchFamily="34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dirty="0" smtClean="0">
            <a:latin typeface="源ノ角ゴシック JP Regular" panose="020B0500000000000000" pitchFamily="34" charset="-128"/>
            <a:ea typeface="源ノ角ゴシック JP Regular" panose="020B0500000000000000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CC5DFE86622C54FA415395869D16A8B" ma:contentTypeVersion="11" ma:contentTypeDescription="新しいドキュメントを作成します。" ma:contentTypeScope="" ma:versionID="b3a7fc785f8413af6f238272c885c1f4">
  <xsd:schema xmlns:xsd="http://www.w3.org/2001/XMLSchema" xmlns:xs="http://www.w3.org/2001/XMLSchema" xmlns:p="http://schemas.microsoft.com/office/2006/metadata/properties" xmlns:ns2="3f41c9ba-4722-47dc-944d-e307c247106d" xmlns:ns3="7c4bc140-dba8-4755-bb3f-994b7d16408a" targetNamespace="http://schemas.microsoft.com/office/2006/metadata/properties" ma:root="true" ma:fieldsID="00166112198be06187a0c248e3ae7bfa" ns2:_="" ns3:_="">
    <xsd:import namespace="3f41c9ba-4722-47dc-944d-e307c247106d"/>
    <xsd:import namespace="7c4bc140-dba8-4755-bb3f-994b7d1640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41c9ba-4722-47dc-944d-e307c2471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6de805ed-0ddf-4e5b-915b-481f2a666b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4bc140-dba8-4755-bb3f-994b7d16408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2659d32-2768-4b7a-bd91-11b25cb1b4f1}" ma:internalName="TaxCatchAll" ma:showField="CatchAllData" ma:web="7c4bc140-dba8-4755-bb3f-994b7d1640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c4bc140-dba8-4755-bb3f-994b7d16408a" xsi:nil="true"/>
    <lcf76f155ced4ddcb4097134ff3c332f xmlns="3f41c9ba-4722-47dc-944d-e307c247106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862A6B-AA44-4E75-A2F2-1F91815934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48BEFEF-E72E-4D60-A61C-F4D8014F7B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f41c9ba-4722-47dc-944d-e307c247106d"/>
    <ds:schemaRef ds:uri="7c4bc140-dba8-4755-bb3f-994b7d1640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5D8AC76-C1D8-4390-84DD-2B4B2B7BA12C}">
  <ds:schemaRefs>
    <ds:schemaRef ds:uri="http://schemas.microsoft.com/office/2006/documentManagement/types"/>
    <ds:schemaRef ds:uri="3f41c9ba-4722-47dc-944d-e307c247106d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7c4bc140-dba8-4755-bb3f-994b7d16408a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4629</TotalTime>
  <Words>1317</Words>
  <Application>Microsoft Office PowerPoint</Application>
  <PresentationFormat>ユーザー設定</PresentationFormat>
  <Paragraphs>316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9" baseType="lpstr">
      <vt:lpstr>(日本語用のフォントを使用)</vt:lpstr>
      <vt:lpstr>HGPｺﾞｼｯｸM</vt:lpstr>
      <vt:lpstr>Meiryo UI</vt:lpstr>
      <vt:lpstr>メイリオ</vt:lpstr>
      <vt:lpstr>源ノ角ゴシック JP Medium</vt:lpstr>
      <vt:lpstr>源ノ角ゴシック JP Regular</vt:lpstr>
      <vt:lpstr>Arial</vt:lpstr>
      <vt:lpstr>Calibri</vt:lpstr>
      <vt:lpstr>Source Sans Pro</vt:lpstr>
      <vt:lpstr>Source Sans Pro Black</vt:lpstr>
      <vt:lpstr>Be Original.テーマ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SMJ様サポート用PC02（駅南事務所）</dc:creator>
  <cp:lastModifiedBy>滝沢砂稚男</cp:lastModifiedBy>
  <cp:revision>596</cp:revision>
  <dcterms:created xsi:type="dcterms:W3CDTF">2022-10-24T00:43:26Z</dcterms:created>
  <dcterms:modified xsi:type="dcterms:W3CDTF">2026-07-30T08:50:09Z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0x010100ACC5DFE86622C54FA415395869D16A8B</vt:lpwstr>
  </property>
  <property fmtid="{D5CDD505-2E9C-101B-9397-08002B2CF9AE}" pid="3" name="MediaServiceImageTags">
    <vt:lpwstr/>
  </property>
</Properties>
</file>