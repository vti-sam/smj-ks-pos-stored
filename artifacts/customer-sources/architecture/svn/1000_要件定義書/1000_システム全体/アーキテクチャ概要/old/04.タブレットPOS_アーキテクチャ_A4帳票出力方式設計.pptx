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12952" r:id="rId5"/>
    <p:sldId id="12950" r:id="rId6"/>
    <p:sldId id="12730" r:id="rId7"/>
    <p:sldId id="12949" r:id="rId8"/>
    <p:sldId id="12953" r:id="rId9"/>
  </p:sldIdLst>
  <p:sldSz cx="18288000" cy="10287000"/>
  <p:notesSz cx="6858000" cy="9144000"/>
  <p:defaultTextStyle>
    <a:defPPr>
      <a:defRPr lang="ja-JP"/>
    </a:defPPr>
    <a:lvl1pPr marL="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240">
          <p15:clr>
            <a:srgbClr val="A4A3A4"/>
          </p15:clr>
        </p15:guide>
        <p15:guide id="4" pos="57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74C"/>
    <a:srgbClr val="FFFFFF"/>
    <a:srgbClr val="FFC866"/>
    <a:srgbClr val="CADBF2"/>
    <a:srgbClr val="E7E6E6"/>
    <a:srgbClr val="E5EDF8"/>
    <a:srgbClr val="7F7F7F"/>
    <a:srgbClr val="7BA6DE"/>
    <a:srgbClr val="B0CAEB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49" d="100"/>
          <a:sy n="49" d="100"/>
        </p:scale>
        <p:origin x="324" y="32"/>
      </p:cViewPr>
      <p:guideLst>
        <p:guide orient="horz" pos="2160"/>
        <p:guide pos="3840"/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1929A-C832-4C51-892B-48BBA387B732}" type="datetimeFigureOut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A8D0B-D510-4154-AB0C-777825F091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1347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552CD-00B1-BDEF-5B73-A22005E89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B1699CE-5502-88DE-7D3A-D3153DECE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F1DAB8-84F5-38D3-B50A-48A2EB864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6D2999-09B7-209B-2A50-60D5F487B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A8D0B-D510-4154-AB0C-777825F0917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9259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A8D0B-D510-4154-AB0C-777825F0917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7129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A8D0B-D510-4154-AB0C-777825F0917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7129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DCB02-A15F-3DC7-D44C-9406D140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76ADFE1-5016-BC5B-0C1E-4BFA84D4F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25349-47A1-691E-F6A3-FD74A9D21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A2C79AE-B58C-26A7-1F11-2F3278AD58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A8D0B-D510-4154-AB0C-777825F0917B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2593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A8D0B-D510-4154-AB0C-777825F0917B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7129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カバーページ１（サブタイト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7E334F9-60CB-4E77-A4E6-B06957FF28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999" y="973984"/>
            <a:ext cx="2158931" cy="1079466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0" y="3969000"/>
            <a:ext cx="18288000" cy="1512000"/>
          </a:xfrm>
        </p:spPr>
        <p:txBody>
          <a:bodyPr wrap="none" lIns="0" tIns="0" rIns="0" bIns="0" anchor="ctr" anchorCtr="1">
            <a:normAutofit/>
          </a:bodyPr>
          <a:lstStyle>
            <a:lvl1pPr algn="ctr">
              <a:defRPr sz="6600" baseline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385800"/>
            <a:ext cx="18288000" cy="648000"/>
          </a:xfrm>
        </p:spPr>
        <p:txBody>
          <a:bodyPr lIns="0" tIns="0" rIns="0" bIns="0" anchor="ctr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200"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85800" indent="0">
              <a:buNone/>
              <a:defRPr/>
            </a:lvl2pPr>
            <a:lvl3pPr marL="137160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1" hasCustomPrompt="1"/>
          </p:nvPr>
        </p:nvSpPr>
        <p:spPr>
          <a:xfrm>
            <a:off x="4823999" y="7587000"/>
            <a:ext cx="8640000" cy="432000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2100"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社名</a:t>
            </a:r>
          </a:p>
        </p:txBody>
      </p:sp>
      <p:sp>
        <p:nvSpPr>
          <p:cNvPr id="16" name="テキスト プレースホルダー 15"/>
          <p:cNvSpPr>
            <a:spLocks noGrp="1"/>
          </p:cNvSpPr>
          <p:nvPr>
            <p:ph type="body" sz="quarter" idx="12" hasCustomPrompt="1"/>
          </p:nvPr>
        </p:nvSpPr>
        <p:spPr>
          <a:xfrm>
            <a:off x="4824000" y="8154000"/>
            <a:ext cx="8640000" cy="702000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本部名</a:t>
            </a:r>
            <a:endParaRPr kumimoji="1" lang="en-US" altLang="ja-JP"/>
          </a:p>
          <a:p>
            <a:pPr lvl="0"/>
            <a:r>
              <a:rPr kumimoji="1" lang="ja-JP" altLang="en-US"/>
              <a:t>部門名</a:t>
            </a:r>
          </a:p>
        </p:txBody>
      </p:sp>
      <p:sp>
        <p:nvSpPr>
          <p:cNvPr id="11" name="日付プレースホルダー 10"/>
          <p:cNvSpPr>
            <a:spLocks noGrp="1"/>
          </p:cNvSpPr>
          <p:nvPr>
            <p:ph type="dt" sz="half" idx="15"/>
          </p:nvPr>
        </p:nvSpPr>
        <p:spPr>
          <a:xfrm>
            <a:off x="4823999" y="8991000"/>
            <a:ext cx="8640000" cy="432000"/>
          </a:xfrm>
        </p:spPr>
        <p:txBody>
          <a:bodyPr/>
          <a:lstStyle>
            <a:lvl1pPr algn="ctr">
              <a:defRPr sz="210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DE3A522F-00E1-4E7A-AFBE-13580E49A764}" type="datetime1">
              <a:rPr lang="ja-JP" altLang="en-US" smtClean="0"/>
              <a:t>2026/6/29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8829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カバーページ２（サブタイトル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0" y="3969000"/>
            <a:ext cx="18288000" cy="1512000"/>
          </a:xfrm>
        </p:spPr>
        <p:txBody>
          <a:bodyPr wrap="none" lIns="0" tIns="0" rIns="0" bIns="0" anchor="ctr" anchorCtr="1">
            <a:normAutofit/>
          </a:bodyPr>
          <a:lstStyle>
            <a:lvl1pPr algn="ctr">
              <a:defRPr sz="6600" baseline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1" hasCustomPrompt="1"/>
          </p:nvPr>
        </p:nvSpPr>
        <p:spPr>
          <a:xfrm>
            <a:off x="4823999" y="7587000"/>
            <a:ext cx="8640000" cy="432000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2100"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社名</a:t>
            </a:r>
          </a:p>
        </p:txBody>
      </p:sp>
      <p:sp>
        <p:nvSpPr>
          <p:cNvPr id="16" name="テキスト プレースホルダー 15"/>
          <p:cNvSpPr>
            <a:spLocks noGrp="1"/>
          </p:cNvSpPr>
          <p:nvPr>
            <p:ph type="body" sz="quarter" idx="12" hasCustomPrompt="1"/>
          </p:nvPr>
        </p:nvSpPr>
        <p:spPr>
          <a:xfrm>
            <a:off x="4824000" y="8154000"/>
            <a:ext cx="8640000" cy="702000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本部名</a:t>
            </a:r>
            <a:endParaRPr kumimoji="1" lang="en-US" altLang="ja-JP"/>
          </a:p>
          <a:p>
            <a:pPr lvl="0"/>
            <a:r>
              <a:rPr kumimoji="1" lang="ja-JP" altLang="en-US"/>
              <a:t>部門名</a:t>
            </a:r>
          </a:p>
        </p:txBody>
      </p:sp>
      <p:sp>
        <p:nvSpPr>
          <p:cNvPr id="11" name="日付プレースホルダー 10"/>
          <p:cNvSpPr>
            <a:spLocks noGrp="1"/>
          </p:cNvSpPr>
          <p:nvPr>
            <p:ph type="dt" sz="half" idx="15"/>
          </p:nvPr>
        </p:nvSpPr>
        <p:spPr>
          <a:xfrm>
            <a:off x="4823999" y="8991000"/>
            <a:ext cx="8640000" cy="432000"/>
          </a:xfrm>
        </p:spPr>
        <p:txBody>
          <a:bodyPr/>
          <a:lstStyle>
            <a:lvl1pPr algn="ctr">
              <a:defRPr sz="210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126290F9-954C-4EC2-BAF6-2F9D44AD7976}" type="datetime1">
              <a:rPr lang="ja-JP" altLang="en-US" smtClean="0"/>
              <a:t>2026/6/29</a:t>
            </a:fld>
            <a:endParaRPr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4C3497D-F957-437C-BA52-9036B28F34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999" y="973984"/>
            <a:ext cx="2158931" cy="1079466"/>
          </a:xfrm>
          <a:prstGeom prst="rect">
            <a:avLst/>
          </a:prstGeom>
        </p:spPr>
      </p:pic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5882576A-AC22-19C0-A52D-0F488CAF34E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4294731" y="9903315"/>
            <a:ext cx="2619755" cy="378000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/>
              <a:t>Confidential 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1242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ンデックス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/>
            </a:lvl1pPr>
          </a:lstStyle>
          <a:p>
            <a:fld id="{02FD29F7-868E-4B05-A00A-88A8A42C3A5D}" type="datetime1">
              <a:rPr lang="ja-JP" altLang="en-US" smtClean="0"/>
              <a:t>2026/6/29</a:t>
            </a:fld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E37A5-A917-4235-ABF6-8CD72E894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3"/>
          </p:nvPr>
        </p:nvSpPr>
        <p:spPr>
          <a:xfrm>
            <a:off x="7349401" y="2764800"/>
            <a:ext cx="7782446" cy="4757400"/>
          </a:xfrm>
        </p:spPr>
        <p:txBody>
          <a:bodyPr anchor="ctr" anchorCtr="0"/>
          <a:lstStyle>
            <a:lvl1pPr marL="771525" indent="-771525">
              <a:buFont typeface="+mj-lt"/>
              <a:buAutoNum type="arabicPeriod"/>
              <a:defRPr baseline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1371600" indent="-685800">
              <a:buFont typeface="+mj-lt"/>
              <a:buAutoNum type="arabicPeriod"/>
              <a:defRPr baseline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2057400" indent="-685800">
              <a:buFont typeface="+mj-lt"/>
              <a:buAutoNum type="arabicPeriod"/>
              <a:defRPr baseline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2571750" indent="-514350">
              <a:buFont typeface="+mj-lt"/>
              <a:buAutoNum type="arabicPeriod"/>
              <a:defRPr baseline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3257550" indent="-514350">
              <a:buFont typeface="+mj-lt"/>
              <a:buAutoNum type="arabicPeriod"/>
              <a:defRPr baseline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/>
              <a:t>Confidential </a:t>
            </a:r>
            <a:endParaRPr kumimoji="1" lang="ja-JP" altLang="en-US"/>
          </a:p>
        </p:txBody>
      </p:sp>
      <p:cxnSp>
        <p:nvCxnSpPr>
          <p:cNvPr id="12" name="直線コネクタ 11"/>
          <p:cNvCxnSpPr/>
          <p:nvPr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図 14">
            <a:extLst>
              <a:ext uri="{FF2B5EF4-FFF2-40B4-BE49-F238E27FC236}">
                <a16:creationId xmlns:a16="http://schemas.microsoft.com/office/drawing/2014/main" id="{AC6B63DF-389A-4A98-8956-5BBF5DFBE8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70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コンテンツ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lIns="0" tIns="0" rIns="0" bIns="0">
            <a:normAutofit/>
          </a:bodyPr>
          <a:lstStyle>
            <a:lvl1pPr>
              <a:defRPr sz="2700" baseline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0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434F4A95-FD37-4C45-9E63-8B75E6CA4F73}" type="datetime1">
              <a:rPr lang="ja-JP" altLang="en-US" smtClean="0"/>
              <a:t>2026/6/29</a:t>
            </a:fld>
            <a:endParaRPr lang="ja-JP" altLang="en-US"/>
          </a:p>
        </p:txBody>
      </p:sp>
      <p:sp>
        <p:nvSpPr>
          <p:cNvPr id="11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en-US"/>
          </a:p>
        </p:txBody>
      </p:sp>
      <p:sp>
        <p:nvSpPr>
          <p:cNvPr id="12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/>
              <a:t>Confidential </a:t>
            </a:r>
            <a:endParaRPr lang="en-US" altLang="ja-JP"/>
          </a:p>
        </p:txBody>
      </p:sp>
      <p:cxnSp>
        <p:nvCxnSpPr>
          <p:cNvPr id="13" name="直線コネクタ 12"/>
          <p:cNvCxnSpPr/>
          <p:nvPr/>
        </p:nvCxnSpPr>
        <p:spPr>
          <a:xfrm>
            <a:off x="376943" y="1092633"/>
            <a:ext cx="17286943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図 14">
            <a:extLst>
              <a:ext uri="{FF2B5EF4-FFF2-40B4-BE49-F238E27FC236}">
                <a16:creationId xmlns:a16="http://schemas.microsoft.com/office/drawing/2014/main" id="{ABD4378A-B289-4FC9-ADA8-4EF64E98E7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94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コンテンツ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76942" y="1242000"/>
            <a:ext cx="17502458" cy="8656200"/>
          </a:xfrm>
        </p:spPr>
        <p:txBody>
          <a:bodyPr lIns="0" tIns="0" rIns="0" bIns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3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5F940278-8FA3-46F3-853B-91A0919C5578}" type="datetime1">
              <a:rPr lang="ja-JP" altLang="en-US" smtClean="0"/>
              <a:t>2026/6/29</a:t>
            </a:fld>
            <a:endParaRPr lang="ja-JP" altLang="en-US"/>
          </a:p>
        </p:txBody>
      </p:sp>
      <p:sp>
        <p:nvSpPr>
          <p:cNvPr id="14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5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/>
              <a:t>Confidential </a:t>
            </a:r>
            <a:endParaRPr lang="en-US" altLang="ja-JP"/>
          </a:p>
        </p:txBody>
      </p:sp>
      <p:cxnSp>
        <p:nvCxnSpPr>
          <p:cNvPr id="17" name="直線コネクタ 16"/>
          <p:cNvCxnSpPr/>
          <p:nvPr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161F1F23-9698-4103-B3E9-5E4E605E8A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5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コンテンツ_03(2 つのコンテンツ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378000" y="1242000"/>
            <a:ext cx="8586000" cy="8636079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9293400" y="1242000"/>
            <a:ext cx="8586000" cy="8634600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0925962F-2FDF-4643-AD07-609324B00209}" type="datetime1">
              <a:rPr lang="ja-JP" altLang="en-US" smtClean="0"/>
              <a:t>2026/6/29</a:t>
            </a:fld>
            <a:endParaRPr lang="ja-JP" altLang="en-US"/>
          </a:p>
        </p:txBody>
      </p:sp>
      <p:sp>
        <p:nvSpPr>
          <p:cNvPr id="12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en-US"/>
          </a:p>
        </p:txBody>
      </p:sp>
      <p:sp>
        <p:nvSpPr>
          <p:cNvPr id="13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/>
              <a:t>Confidential </a:t>
            </a:r>
            <a:endParaRPr lang="en-US" altLang="ja-JP"/>
          </a:p>
        </p:txBody>
      </p:sp>
      <p:cxnSp>
        <p:nvCxnSpPr>
          <p:cNvPr id="15" name="直線コネクタ 14"/>
          <p:cNvCxnSpPr/>
          <p:nvPr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図 16">
            <a:extLst>
              <a:ext uri="{FF2B5EF4-FFF2-40B4-BE49-F238E27FC236}">
                <a16:creationId xmlns:a16="http://schemas.microsoft.com/office/drawing/2014/main" id="{25CCDFE0-FDBF-4B25-8E18-40F619D84A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コンテンツ_04(比較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76941" y="1285877"/>
            <a:ext cx="8586000" cy="1242000"/>
          </a:xfrm>
        </p:spPr>
        <p:txBody>
          <a:bodyPr anchor="b"/>
          <a:lstStyle>
            <a:lvl1pPr marL="0" indent="0">
              <a:buNone/>
              <a:defRPr sz="36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76943" y="2527876"/>
            <a:ext cx="8586000" cy="7316672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258300" y="1285877"/>
            <a:ext cx="8586000" cy="1242000"/>
          </a:xfrm>
        </p:spPr>
        <p:txBody>
          <a:bodyPr anchor="b"/>
          <a:lstStyle>
            <a:lvl1pPr marL="0" indent="0">
              <a:buNone/>
              <a:defRPr sz="36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9258297" y="2527874"/>
            <a:ext cx="8621103" cy="7316672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6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23C83D3-2F4E-4FAF-BF15-296A5AF120BF}" type="datetime1">
              <a:rPr lang="ja-JP" altLang="en-US" smtClean="0"/>
              <a:t>2026/6/29</a:t>
            </a:fld>
            <a:endParaRPr lang="ja-JP" altLang="en-US"/>
          </a:p>
        </p:txBody>
      </p:sp>
      <p:sp>
        <p:nvSpPr>
          <p:cNvPr id="17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en-US"/>
          </a:p>
        </p:txBody>
      </p:sp>
      <p:sp>
        <p:nvSpPr>
          <p:cNvPr id="18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/>
              <a:t>Confidential </a:t>
            </a:r>
            <a:endParaRPr lang="en-US" altLang="ja-JP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0169B903-E552-491B-BCBD-8D3E55AF30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013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画面（基本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75D6162-6F61-4AA5-AF9B-79A5B59DCD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800" y="4732241"/>
            <a:ext cx="5576400" cy="82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49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D6ED4381-8F26-4182-B885-E6C50124FEFB}" type="datetime1">
              <a:rPr lang="ja-JP" altLang="en-US" smtClean="0"/>
              <a:t>2026/6/29</a:t>
            </a:fld>
            <a:endParaRPr lang="ja-JP" altLang="en-US"/>
          </a:p>
        </p:txBody>
      </p:sp>
      <p:sp>
        <p:nvSpPr>
          <p:cNvPr id="10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en-US"/>
          </a:p>
        </p:txBody>
      </p:sp>
      <p:sp>
        <p:nvSpPr>
          <p:cNvPr id="11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/>
              <a:t>Confidential 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58615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42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sz="3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3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3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D8493EB0-13E6-45F0-9885-6355AF457A07}" type="datetime1">
              <a:rPr lang="ja-JP" altLang="en-US" smtClean="0"/>
              <a:t>2026/6/29</a:t>
            </a:fld>
            <a:endParaRPr lang="ja-JP" altLang="en-US"/>
          </a:p>
        </p:txBody>
      </p:sp>
      <p:sp>
        <p:nvSpPr>
          <p:cNvPr id="12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en-US"/>
          </a:p>
        </p:txBody>
      </p:sp>
      <p:sp>
        <p:nvSpPr>
          <p:cNvPr id="13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/>
              <a:t>Confidential 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73433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C58F9A3-0A07-4227-B44F-AA3FB40DA035}" type="datetime1">
              <a:rPr lang="ja-JP" altLang="en-US" smtClean="0"/>
              <a:t>2026/6/29</a:t>
            </a:fld>
            <a:endParaRPr lang="ja-JP" altLang="en-US"/>
          </a:p>
        </p:txBody>
      </p:sp>
      <p:sp>
        <p:nvSpPr>
          <p:cNvPr id="9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0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/>
              <a:t>Confidential 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86500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137160" tIns="68580" rIns="137160" bIns="6858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378000" y="9936000"/>
            <a:ext cx="4114800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500" baseline="0">
                <a:solidFill>
                  <a:schemeClr val="tx1">
                    <a:tint val="75000"/>
                  </a:schemeClr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</a:defRPr>
            </a:lvl1pPr>
          </a:lstStyle>
          <a:p>
            <a:fld id="{22A56B89-B2D8-46A1-BD44-7D1E49A7A780}" type="datetime1">
              <a:rPr lang="ja-JP" altLang="en-US" smtClean="0"/>
              <a:t>2026/6/29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5449400" y="9936000"/>
            <a:ext cx="1620000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lang="en-US" altLang="ja-JP" sz="1500" baseline="0" smtClean="0">
                <a:solidFill>
                  <a:schemeClr val="tx1">
                    <a:tint val="75000"/>
                  </a:schemeClr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</a:defRPr>
            </a:lvl1pPr>
          </a:lstStyle>
          <a:p>
            <a:r>
              <a:rPr lang="en-US"/>
              <a:t>Confidential 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069400" y="9936000"/>
            <a:ext cx="810000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ja-JP" altLang="en-US" sz="1500" baseline="0" smtClean="0">
                <a:solidFill>
                  <a:schemeClr val="tx1">
                    <a:tint val="75000"/>
                  </a:schemeClr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</a:defRPr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en-US" altLang="ja-JP"/>
          </a:p>
        </p:txBody>
      </p:sp>
      <p:sp>
        <p:nvSpPr>
          <p:cNvPr id="7" name="フッター プレースホルダー 4"/>
          <p:cNvSpPr txBox="1">
            <a:spLocks/>
          </p:cNvSpPr>
          <p:nvPr userDrawn="1"/>
        </p:nvSpPr>
        <p:spPr>
          <a:xfrm>
            <a:off x="9277200" y="9936001"/>
            <a:ext cx="6172200" cy="378002"/>
          </a:xfrm>
          <a:prstGeom prst="rect">
            <a:avLst/>
          </a:prstGeom>
        </p:spPr>
        <p:txBody>
          <a:bodyPr vert="horz" lIns="137160" tIns="68580" rIns="137160" bIns="6858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62795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55" r:id="rId3"/>
    <p:sldLayoutId id="2147483654" r:id="rId4"/>
    <p:sldLayoutId id="2147483650" r:id="rId5"/>
    <p:sldLayoutId id="2147483652" r:id="rId6"/>
    <p:sldLayoutId id="2147483653" r:id="rId7"/>
    <p:sldLayoutId id="2147483658" r:id="rId8"/>
    <p:sldLayoutId id="2147483660" r:id="rId9"/>
    <p:sldLayoutId id="2147483656" r:id="rId10"/>
    <p:sldLayoutId id="2147483657" r:id="rId11"/>
  </p:sldLayoutIdLst>
  <p:hf hdr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kumimoji="1" sz="3600" kern="1200" baseline="0">
          <a:solidFill>
            <a:srgbClr val="59574C"/>
          </a:solidFill>
          <a:latin typeface="(日本語用のフォントを使用)"/>
          <a:ea typeface="HGPｺﾞｼｯｸM" panose="020B0600000000000000" pitchFamily="50" charset="-128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kumimoji="1" sz="4200" kern="1200" baseline="0">
          <a:solidFill>
            <a:schemeClr val="tx1"/>
          </a:solidFill>
          <a:latin typeface="+mn-lt"/>
          <a:ea typeface="HGPｺﾞｼｯｸM" panose="020B0600000000000000" pitchFamily="50" charset="-128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3600" kern="1200" baseline="0">
          <a:solidFill>
            <a:schemeClr val="tx1"/>
          </a:solidFill>
          <a:latin typeface="+mn-lt"/>
          <a:ea typeface="HGPｺﾞｼｯｸM" panose="020B0600000000000000" pitchFamily="50" charset="-128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3000" kern="1200" baseline="0">
          <a:solidFill>
            <a:schemeClr val="tx1"/>
          </a:solidFill>
          <a:latin typeface="+mn-lt"/>
          <a:ea typeface="HGPｺﾞｼｯｸM" panose="020B0600000000000000" pitchFamily="50" charset="-128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 baseline="0">
          <a:solidFill>
            <a:schemeClr val="tx1"/>
          </a:solidFill>
          <a:latin typeface="+mn-lt"/>
          <a:ea typeface="HGPｺﾞｼｯｸM" panose="020B0600000000000000" pitchFamily="50" charset="-128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 baseline="0">
          <a:solidFill>
            <a:schemeClr val="tx1"/>
          </a:solidFill>
          <a:latin typeface="+mn-lt"/>
          <a:ea typeface="HGPｺﾞｼｯｸM" panose="020B0600000000000000" pitchFamily="50" charset="-128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443AA-7EDA-FED0-BB06-AB82172C7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スライド番号プレースホルダー 13">
            <a:extLst>
              <a:ext uri="{FF2B5EF4-FFF2-40B4-BE49-F238E27FC236}">
                <a16:creationId xmlns:a16="http://schemas.microsoft.com/office/drawing/2014/main" id="{A4E92E2D-61FA-2356-7E81-8A9C35BDC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E37A5-A917-4235-ABF6-8CD72E894915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8C8EA811-ECC5-B4AB-14FC-63FCC9419227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57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lang="ja-JP" altLang="en-US" sz="1575" dirty="0"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5" name="フッター プレースホルダー 8">
            <a:extLst>
              <a:ext uri="{FF2B5EF4-FFF2-40B4-BE49-F238E27FC236}">
                <a16:creationId xmlns:a16="http://schemas.microsoft.com/office/drawing/2014/main" id="{6B8C642A-8206-68DB-6EBB-27945D689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lang="en-US" altLang="ja-JP" sz="1650" b="1" dirty="0"/>
              <a:t>Confidential </a:t>
            </a:r>
            <a:endParaRPr lang="ja-JP" altLang="en-US" sz="1650" b="1" dirty="0"/>
          </a:p>
        </p:txBody>
      </p:sp>
      <p:grpSp>
        <p:nvGrpSpPr>
          <p:cNvPr id="8" name="グループ化 22">
            <a:extLst>
              <a:ext uri="{FF2B5EF4-FFF2-40B4-BE49-F238E27FC236}">
                <a16:creationId xmlns:a16="http://schemas.microsoft.com/office/drawing/2014/main" id="{A153C1B8-E114-4760-1ED8-1A987EA869CF}"/>
              </a:ext>
            </a:extLst>
          </p:cNvPr>
          <p:cNvGrpSpPr/>
          <p:nvPr/>
        </p:nvGrpSpPr>
        <p:grpSpPr>
          <a:xfrm>
            <a:off x="1415367" y="4759592"/>
            <a:ext cx="16997199" cy="967652"/>
            <a:chOff x="-439385" y="-73503"/>
            <a:chExt cx="9583385" cy="483826"/>
          </a:xfrm>
        </p:grpSpPr>
        <p:sp>
          <p:nvSpPr>
            <p:cNvPr id="9" name="角丸四角形 3">
              <a:extLst>
                <a:ext uri="{FF2B5EF4-FFF2-40B4-BE49-F238E27FC236}">
                  <a16:creationId xmlns:a16="http://schemas.microsoft.com/office/drawing/2014/main" id="{2C217813-3CAD-5CEA-A3DF-B591348CD138}"/>
                </a:ext>
              </a:extLst>
            </p:cNvPr>
            <p:cNvSpPr/>
            <p:nvPr/>
          </p:nvSpPr>
          <p:spPr bwMode="auto">
            <a:xfrm>
              <a:off x="-439385" y="-73503"/>
              <a:ext cx="9144000" cy="383908"/>
            </a:xfrm>
            <a:prstGeom prst="roundRect">
              <a:avLst>
                <a:gd name="adj" fmla="val 0"/>
              </a:avLst>
            </a:prstGeom>
            <a:solidFill>
              <a:srgbClr val="E5E3D4"/>
            </a:solidFill>
            <a:ln>
              <a:noFill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algn="just">
                <a:lnSpc>
                  <a:spcPct val="140000"/>
                </a:lnSpc>
                <a:spcBef>
                  <a:spcPct val="0"/>
                </a:spcBef>
                <a:spcAft>
                  <a:spcPts val="1022"/>
                </a:spcAft>
              </a:pPr>
              <a:endParaRPr lang="ja-JP" altLang="en-US" sz="280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9A39EC3F-3E93-ECF7-C1D2-F9BF9622968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410323"/>
              <a:ext cx="9144000" cy="0"/>
            </a:xfrm>
            <a:prstGeom prst="line">
              <a:avLst/>
            </a:prstGeom>
            <a:noFill/>
            <a:ln w="12700">
              <a:solidFill>
                <a:srgbClr val="E5E3D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/>
            <a:p>
              <a:endParaRPr lang="ja-JP" altLang="en-US" sz="3600"/>
            </a:p>
          </p:txBody>
        </p:sp>
      </p:grp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36BB0F4-DBC4-992D-31A1-A44B3E2F60B1}"/>
              </a:ext>
            </a:extLst>
          </p:cNvPr>
          <p:cNvSpPr txBox="1"/>
          <p:nvPr/>
        </p:nvSpPr>
        <p:spPr>
          <a:xfrm>
            <a:off x="1415368" y="4650245"/>
            <a:ext cx="15859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800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A4</a:t>
            </a:r>
            <a:r>
              <a:rPr lang="zh-TW" altLang="en-US" sz="4800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帳票出力方式設計</a:t>
            </a:r>
            <a:endParaRPr lang="en-US" altLang="ja-JP" sz="4800" dirty="0">
              <a:latin typeface="HGPｺﾞｼｯｸM" panose="020B0600000000000000" pitchFamily="50" charset="-128"/>
              <a:ea typeface="HGPｺﾞｼｯｸM" panose="020B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3218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11"/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575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Copyright © All rights reserved, SHARP MARKETING JAPAN CORPORATION</a:t>
            </a:r>
            <a:endParaRPr lang="ja-JP" altLang="en-US" sz="1575" dirty="0">
              <a:latin typeface="HGPｺﾞｼｯｸM" panose="020B0600000000000000" pitchFamily="50" charset="-128"/>
              <a:ea typeface="HGPｺﾞｼｯｸM" panose="020B0600000000000000" pitchFamily="50" charset="-128"/>
            </a:endParaRPr>
          </a:p>
        </p:txBody>
      </p:sp>
      <p:sp>
        <p:nvSpPr>
          <p:cNvPr id="8" name="日付プレースホルダー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416CA-CFB7-4D39-9A5F-700CFE633E82}" type="datetime1">
              <a:rPr lang="ja-JP" altLang="en-US" smtClean="0"/>
              <a:t>2026/6/29</a:t>
            </a:fld>
            <a:endParaRPr lang="ja-JP" altLang="en-US" dirty="0"/>
          </a:p>
        </p:txBody>
      </p:sp>
      <p:sp>
        <p:nvSpPr>
          <p:cNvPr id="9" name="フッター プレースホルダー 8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/>
              <a:t>Confidential </a:t>
            </a:r>
            <a:endParaRPr kumimoji="1" lang="ja-JP" altLang="en-US" dirty="0"/>
          </a:p>
        </p:txBody>
      </p:sp>
      <p:sp>
        <p:nvSpPr>
          <p:cNvPr id="10" name="スライド番号プレースホルダー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E37A5-A917-4235-ABF6-8CD72E894915}" type="slidenum">
              <a:rPr lang="en-US" altLang="ja-JP" smtClean="0"/>
              <a:pPr/>
              <a:t>2</a:t>
            </a:fld>
            <a:endParaRPr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AA8B27-59D6-01FF-E521-F3CAC7FC0200}"/>
              </a:ext>
            </a:extLst>
          </p:cNvPr>
          <p:cNvSpPr txBox="1">
            <a:spLocks/>
          </p:cNvSpPr>
          <p:nvPr/>
        </p:nvSpPr>
        <p:spPr>
          <a:xfrm>
            <a:off x="556666" y="1137624"/>
            <a:ext cx="17149445" cy="36447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A4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帳票出力方式</a:t>
            </a:r>
            <a:endParaRPr lang="en-US" altLang="ja-JP" sz="2400" dirty="0">
              <a:solidFill>
                <a:srgbClr val="59574C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・タブレット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から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を呼出し、印刷データをタブレット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に返却、帳票プリンターより出力する。</a:t>
            </a:r>
            <a:endParaRPr lang="en-US" altLang="ja-JP" sz="2400" dirty="0">
              <a:solidFill>
                <a:srgbClr val="59574C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・印刷データは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OCI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Function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にて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Document Generator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を利用し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PDF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化を行う。</a:t>
            </a:r>
            <a:endParaRPr lang="en-US" altLang="ja-JP" sz="2400" dirty="0">
              <a:solidFill>
                <a:srgbClr val="59574C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PDF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バイナリデータを返却し、タブレット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より連携し印刷します。（ファイルとしては保存しない）</a:t>
            </a:r>
            <a:endParaRPr lang="en-US" altLang="ja-JP" sz="2400" dirty="0">
              <a:solidFill>
                <a:srgbClr val="59574C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（電子ジャーナルテーブルに、印刷データとテンプレートのバージョンを保存する）</a:t>
            </a:r>
            <a:endParaRPr lang="en-US" altLang="ja-JP" sz="2400" dirty="0">
              <a:solidFill>
                <a:srgbClr val="59574C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・実績テーブルへの登録は別処理で行うため、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JSON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データ登録以降の処理でエラーとなっても、帳票は出力される。</a:t>
            </a:r>
            <a:endParaRPr lang="en-US" altLang="ja-JP" sz="2400" dirty="0">
              <a:solidFill>
                <a:srgbClr val="59574C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・エラー時のリトライにて、印刷データが作成済みの場合はそれを使って帳票出力を行う。（再作成しない）</a:t>
            </a:r>
            <a:endParaRPr lang="en-US" altLang="ja-JP" sz="2400" dirty="0">
              <a:solidFill>
                <a:srgbClr val="59574C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・印刷帳票が複数ある場合も、</a:t>
            </a:r>
            <a:r>
              <a:rPr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呼出しを</a:t>
            </a:r>
            <a:r>
              <a:rPr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回とするため、すべての帳票印刷を待って結果を返却する。</a:t>
            </a:r>
            <a:endParaRPr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タイトル 1">
            <a:extLst>
              <a:ext uri="{FF2B5EF4-FFF2-40B4-BE49-F238E27FC236}">
                <a16:creationId xmlns:a16="http://schemas.microsoft.com/office/drawing/2014/main" id="{6587927F-58C0-CA87-27A8-5F4BA89F5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>
            <a:normAutofit/>
          </a:bodyPr>
          <a:lstStyle/>
          <a:p>
            <a:r>
              <a:rPr lang="en-US" altLang="zh-TW" b="1" dirty="0"/>
              <a:t>A4</a:t>
            </a:r>
            <a:r>
              <a:rPr lang="zh-TW" altLang="en-US" b="1" dirty="0"/>
              <a:t>帳票出力方式設計</a:t>
            </a:r>
            <a:endParaRPr kumimoji="1" lang="ja-JP" altLang="en-US" b="1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ACB2414-EE4B-6524-EEAE-E5A420FB0E98}"/>
              </a:ext>
            </a:extLst>
          </p:cNvPr>
          <p:cNvSpPr/>
          <p:nvPr/>
        </p:nvSpPr>
        <p:spPr>
          <a:xfrm>
            <a:off x="13519633" y="5504065"/>
            <a:ext cx="2607305" cy="1953250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セントラル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DB</a:t>
            </a:r>
          </a:p>
          <a:p>
            <a:r>
              <a:rPr kumimoji="1"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Ver.26ai(AL32UTF8) 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D6498748-C555-5766-4673-FFD65C090A14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4806297" y="6325002"/>
            <a:ext cx="1273339" cy="947481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CC5470AA-D663-C303-B1D5-03145FF906E6}"/>
              </a:ext>
            </a:extLst>
          </p:cNvPr>
          <p:cNvGrpSpPr/>
          <p:nvPr/>
        </p:nvGrpSpPr>
        <p:grpSpPr>
          <a:xfrm>
            <a:off x="732292" y="8669550"/>
            <a:ext cx="1911644" cy="959651"/>
            <a:chOff x="405609" y="9205165"/>
            <a:chExt cx="1911644" cy="959651"/>
          </a:xfrm>
        </p:grpSpPr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403558D2-C736-26A7-B70C-181869475D6F}"/>
                </a:ext>
              </a:extLst>
            </p:cNvPr>
            <p:cNvSpPr txBox="1"/>
            <p:nvPr/>
          </p:nvSpPr>
          <p:spPr>
            <a:xfrm>
              <a:off x="405609" y="9205165"/>
              <a:ext cx="1911644" cy="95965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ja-JP"/>
              </a:defPPr>
              <a:lvl1pPr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>
                <a:lnSpc>
                  <a:spcPct val="200000"/>
                </a:lnSpc>
              </a:pP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データの流れ</a:t>
              </a:r>
              <a:endPara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lvl="0">
                <a:lnSpc>
                  <a:spcPct val="200000"/>
                </a:lnSpc>
              </a:pP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データ参照</a:t>
              </a:r>
              <a:endPara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BEA93735-E651-1AF4-5F83-215E2712DCEB}"/>
                </a:ext>
              </a:extLst>
            </p:cNvPr>
            <p:cNvCxnSpPr>
              <a:cxnSpLocks/>
            </p:cNvCxnSpPr>
            <p:nvPr/>
          </p:nvCxnSpPr>
          <p:spPr>
            <a:xfrm>
              <a:off x="1635001" y="9936000"/>
              <a:ext cx="57634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AC5DC612-51A1-4073-2390-1EBD6A1AA8B3}"/>
                </a:ext>
              </a:extLst>
            </p:cNvPr>
            <p:cNvCxnSpPr>
              <a:cxnSpLocks/>
            </p:cNvCxnSpPr>
            <p:nvPr/>
          </p:nvCxnSpPr>
          <p:spPr>
            <a:xfrm>
              <a:off x="1635001" y="9490619"/>
              <a:ext cx="60229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円柱 23">
            <a:extLst>
              <a:ext uri="{FF2B5EF4-FFF2-40B4-BE49-F238E27FC236}">
                <a16:creationId xmlns:a16="http://schemas.microsoft.com/office/drawing/2014/main" id="{53F324B3-8BF5-875D-222B-B600D9CC134A}"/>
              </a:ext>
            </a:extLst>
          </p:cNvPr>
          <p:cNvSpPr/>
          <p:nvPr/>
        </p:nvSpPr>
        <p:spPr>
          <a:xfrm>
            <a:off x="14229551" y="6360387"/>
            <a:ext cx="1194231" cy="898655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電子</a:t>
            </a:r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ジャーナル</a:t>
            </a:r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E1E8D040-9727-BA97-B74A-21219BBFCE5A}"/>
              </a:ext>
            </a:extLst>
          </p:cNvPr>
          <p:cNvCxnSpPr>
            <a:cxnSpLocks/>
            <a:stCxn id="11" idx="3"/>
            <a:endCxn id="24" idx="2"/>
          </p:cNvCxnSpPr>
          <p:nvPr/>
        </p:nvCxnSpPr>
        <p:spPr>
          <a:xfrm flipV="1">
            <a:off x="8481324" y="6809715"/>
            <a:ext cx="5748227" cy="448771"/>
          </a:xfrm>
          <a:prstGeom prst="straightConnector1">
            <a:avLst/>
          </a:prstGeom>
          <a:ln w="2540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A542DAB3-2407-E567-6021-12F5E45869ED}"/>
              </a:ext>
            </a:extLst>
          </p:cNvPr>
          <p:cNvSpPr/>
          <p:nvPr/>
        </p:nvSpPr>
        <p:spPr>
          <a:xfrm>
            <a:off x="3531807" y="5887840"/>
            <a:ext cx="1274490" cy="874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タブレット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(iPad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mini)</a:t>
            </a:r>
          </a:p>
        </p:txBody>
      </p:sp>
      <p:pic>
        <p:nvPicPr>
          <p:cNvPr id="44" name="Picture 171" descr="img_mxc381">
            <a:extLst>
              <a:ext uri="{FF2B5EF4-FFF2-40B4-BE49-F238E27FC236}">
                <a16:creationId xmlns:a16="http://schemas.microsoft.com/office/drawing/2014/main" id="{32344869-F23C-FD38-CA8F-695558796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6" r="15446"/>
          <a:stretch>
            <a:fillRect/>
          </a:stretch>
        </p:blipFill>
        <p:spPr bwMode="auto">
          <a:xfrm>
            <a:off x="3114291" y="8210801"/>
            <a:ext cx="763119" cy="128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DBBAC143-8A6B-3979-A7C7-2823DB39E564}"/>
              </a:ext>
            </a:extLst>
          </p:cNvPr>
          <p:cNvSpPr txBox="1"/>
          <p:nvPr/>
        </p:nvSpPr>
        <p:spPr>
          <a:xfrm>
            <a:off x="3951878" y="8536408"/>
            <a:ext cx="1708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8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複合機 </a:t>
            </a:r>
            <a:r>
              <a:rPr lang="en-US" altLang="ja-JP" sz="18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or</a:t>
            </a:r>
          </a:p>
          <a:p>
            <a:r>
              <a:rPr lang="ja-JP" altLang="en-US" sz="18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帳票プリンター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F60E59BF-0472-A42B-DCD9-97A1B090F687}"/>
              </a:ext>
            </a:extLst>
          </p:cNvPr>
          <p:cNvSpPr/>
          <p:nvPr/>
        </p:nvSpPr>
        <p:spPr>
          <a:xfrm>
            <a:off x="11315721" y="8075649"/>
            <a:ext cx="2248753" cy="1513352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Functions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4998981B-169E-475E-9E85-B0FC9440E1FD}"/>
              </a:ext>
            </a:extLst>
          </p:cNvPr>
          <p:cNvCxnSpPr>
            <a:cxnSpLocks/>
          </p:cNvCxnSpPr>
          <p:nvPr/>
        </p:nvCxnSpPr>
        <p:spPr>
          <a:xfrm>
            <a:off x="8355532" y="7655562"/>
            <a:ext cx="3151908" cy="1015240"/>
          </a:xfrm>
          <a:prstGeom prst="straightConnector1">
            <a:avLst/>
          </a:prstGeom>
          <a:ln w="2540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85D7F2AA-1895-44F8-4A64-D489E1D12BE2}"/>
              </a:ext>
            </a:extLst>
          </p:cNvPr>
          <p:cNvSpPr/>
          <p:nvPr/>
        </p:nvSpPr>
        <p:spPr>
          <a:xfrm>
            <a:off x="11558501" y="8514628"/>
            <a:ext cx="1701729" cy="876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PDF</a:t>
            </a:r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作成処理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9D080203-DD61-42BB-8637-1616F126A405}"/>
              </a:ext>
            </a:extLst>
          </p:cNvPr>
          <p:cNvSpPr/>
          <p:nvPr/>
        </p:nvSpPr>
        <p:spPr>
          <a:xfrm>
            <a:off x="9213152" y="4869905"/>
            <a:ext cx="1937801" cy="1953250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Storage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392170AD-66EA-13F8-E94B-6AFA1AE8B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6718" y="5400164"/>
            <a:ext cx="884784" cy="975352"/>
          </a:xfrm>
          <a:prstGeom prst="rect">
            <a:avLst/>
          </a:prstGeom>
        </p:spPr>
      </p:pic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A9CEB23E-A7B9-439A-5A1F-CDD8CACB93F0}"/>
              </a:ext>
            </a:extLst>
          </p:cNvPr>
          <p:cNvSpPr txBox="1"/>
          <p:nvPr/>
        </p:nvSpPr>
        <p:spPr>
          <a:xfrm>
            <a:off x="10083141" y="5678572"/>
            <a:ext cx="978248" cy="46166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Excel</a:t>
            </a:r>
          </a:p>
          <a:p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テンプレート</a:t>
            </a:r>
          </a:p>
        </p:txBody>
      </p: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F8E46918-9592-439E-78F6-045E40E0899C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7306476" y="6154110"/>
            <a:ext cx="2088207" cy="530179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フローチャート: 書類 74">
            <a:extLst>
              <a:ext uri="{FF2B5EF4-FFF2-40B4-BE49-F238E27FC236}">
                <a16:creationId xmlns:a16="http://schemas.microsoft.com/office/drawing/2014/main" id="{D626B767-14F1-5153-C416-B2C68F4529AC}"/>
              </a:ext>
            </a:extLst>
          </p:cNvPr>
          <p:cNvSpPr/>
          <p:nvPr/>
        </p:nvSpPr>
        <p:spPr>
          <a:xfrm>
            <a:off x="9638639" y="7516670"/>
            <a:ext cx="1418231" cy="744893"/>
          </a:xfrm>
          <a:prstGeom prst="flowChartDocument">
            <a:avLst/>
          </a:prstGeom>
          <a:solidFill>
            <a:srgbClr val="FFFFF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印刷データ</a:t>
            </a:r>
            <a:endParaRPr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（テンプレート＋</a:t>
            </a:r>
            <a:endParaRPr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JSON</a:t>
            </a:r>
            <a:r>
              <a:rPr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データ）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BFDCF32-D8BB-855F-7282-166FA70C9278}"/>
              </a:ext>
            </a:extLst>
          </p:cNvPr>
          <p:cNvSpPr/>
          <p:nvPr/>
        </p:nvSpPr>
        <p:spPr>
          <a:xfrm>
            <a:off x="2744713" y="4782390"/>
            <a:ext cx="2890257" cy="4937013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kumimoji="1" lang="ja-JP" altLang="en-US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店舗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C0F0E6F-6EEB-13E9-EA51-6EB47CD441CB}"/>
              </a:ext>
            </a:extLst>
          </p:cNvPr>
          <p:cNvSpPr/>
          <p:nvPr/>
        </p:nvSpPr>
        <p:spPr>
          <a:xfrm>
            <a:off x="5756753" y="4784390"/>
            <a:ext cx="11501374" cy="4937013"/>
          </a:xfrm>
          <a:prstGeom prst="rect">
            <a:avLst/>
          </a:prstGeom>
          <a:noFill/>
          <a:ln w="38100">
            <a:solidFill>
              <a:schemeClr val="accent6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ja-JP" altLang="en-US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r>
              <a:rPr lang="ja-JP" altLang="en-US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環境</a:t>
            </a:r>
            <a:endParaRPr kumimoji="1" lang="ja-JP" altLang="en-US" sz="24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77E90569-EB8F-9441-AA80-AEDA7A0F18B8}"/>
              </a:ext>
            </a:extLst>
          </p:cNvPr>
          <p:cNvCxnSpPr>
            <a:cxnSpLocks/>
          </p:cNvCxnSpPr>
          <p:nvPr/>
        </p:nvCxnSpPr>
        <p:spPr>
          <a:xfrm>
            <a:off x="8309088" y="7916242"/>
            <a:ext cx="3151908" cy="101524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559656C-C7DF-8E1B-BF68-C5D4D5979F90}"/>
              </a:ext>
            </a:extLst>
          </p:cNvPr>
          <p:cNvSpPr/>
          <p:nvPr/>
        </p:nvSpPr>
        <p:spPr>
          <a:xfrm>
            <a:off x="6131628" y="6684289"/>
            <a:ext cx="2349696" cy="11483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帳票印刷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</a:p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（データ登録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を含む）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60" name="Picture 2" descr="PDFの拡張子ファイルのアイコンの透過PNGイラスト">
            <a:extLst>
              <a:ext uri="{FF2B5EF4-FFF2-40B4-BE49-F238E27FC236}">
                <a16:creationId xmlns:a16="http://schemas.microsoft.com/office/drawing/2014/main" id="{578CF6E0-A1FC-101E-B253-52CE6E7FA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488" y="8269687"/>
            <a:ext cx="1371265" cy="102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2002431C-A01A-A6D9-E994-CCF5B0C1DF90}"/>
              </a:ext>
            </a:extLst>
          </p:cNvPr>
          <p:cNvSpPr txBox="1"/>
          <p:nvPr/>
        </p:nvSpPr>
        <p:spPr>
          <a:xfrm>
            <a:off x="8915552" y="8783911"/>
            <a:ext cx="1131201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バイナリデータ</a:t>
            </a:r>
          </a:p>
        </p:txBody>
      </p: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A5FBE31A-5837-8F16-22D0-6936D68512EE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169052" y="6762163"/>
            <a:ext cx="0" cy="1273270"/>
          </a:xfrm>
          <a:prstGeom prst="straightConnector1">
            <a:avLst/>
          </a:prstGeom>
          <a:ln w="2540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2" descr="PDFの拡張子ファイルのアイコンの透過PNGイラスト">
            <a:extLst>
              <a:ext uri="{FF2B5EF4-FFF2-40B4-BE49-F238E27FC236}">
                <a16:creationId xmlns:a16="http://schemas.microsoft.com/office/drawing/2014/main" id="{D54383A4-9B7E-2AF9-4D46-ADE939712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794" y="6998318"/>
            <a:ext cx="1371265" cy="102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447B8BE8-B637-5798-E1AD-F7D6C4C61D9E}"/>
              </a:ext>
            </a:extLst>
          </p:cNvPr>
          <p:cNvSpPr txBox="1"/>
          <p:nvPr/>
        </p:nvSpPr>
        <p:spPr>
          <a:xfrm>
            <a:off x="4198858" y="7512542"/>
            <a:ext cx="1131201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バイナリデータ</a:t>
            </a:r>
          </a:p>
        </p:txBody>
      </p:sp>
      <p:sp>
        <p:nvSpPr>
          <p:cNvPr id="70" name="吹き出し: 線 69">
            <a:extLst>
              <a:ext uri="{FF2B5EF4-FFF2-40B4-BE49-F238E27FC236}">
                <a16:creationId xmlns:a16="http://schemas.microsoft.com/office/drawing/2014/main" id="{85918BD3-452B-4B1B-F3EA-C8C2E524E103}"/>
              </a:ext>
            </a:extLst>
          </p:cNvPr>
          <p:cNvSpPr/>
          <p:nvPr/>
        </p:nvSpPr>
        <p:spPr>
          <a:xfrm>
            <a:off x="13799892" y="7992716"/>
            <a:ext cx="3824635" cy="1032171"/>
          </a:xfrm>
          <a:prstGeom prst="borderCallout1">
            <a:avLst>
              <a:gd name="adj1" fmla="val 84177"/>
              <a:gd name="adj2" fmla="val -13089"/>
              <a:gd name="adj3" fmla="val 33925"/>
              <a:gd name="adj4" fmla="val -2309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8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Document</a:t>
            </a:r>
            <a:r>
              <a:rPr kumimoji="1" lang="ja-JP" altLang="en-US" sz="18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8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Generator</a:t>
            </a:r>
            <a:r>
              <a:rPr kumimoji="1" lang="ja-JP" altLang="en-US" sz="18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を利用し</a:t>
            </a:r>
            <a:endParaRPr kumimoji="1" lang="en-US" altLang="ja-JP" sz="18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8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PDF</a:t>
            </a:r>
            <a:r>
              <a:rPr kumimoji="1" lang="ja-JP" altLang="en-US" sz="18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データを作成する（バイナリデータ）</a:t>
            </a:r>
            <a:endParaRPr kumimoji="1" lang="en-US" altLang="ja-JP" sz="18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フローチャート: 書類 70">
            <a:extLst>
              <a:ext uri="{FF2B5EF4-FFF2-40B4-BE49-F238E27FC236}">
                <a16:creationId xmlns:a16="http://schemas.microsoft.com/office/drawing/2014/main" id="{9760FFDE-6AE3-A332-3278-32831508C9DF}"/>
              </a:ext>
            </a:extLst>
          </p:cNvPr>
          <p:cNvSpPr/>
          <p:nvPr/>
        </p:nvSpPr>
        <p:spPr>
          <a:xfrm>
            <a:off x="11558501" y="6248445"/>
            <a:ext cx="1767171" cy="744893"/>
          </a:xfrm>
          <a:prstGeom prst="flowChartDocument">
            <a:avLst/>
          </a:prstGeom>
          <a:solidFill>
            <a:srgbClr val="FFFFF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印刷データ</a:t>
            </a:r>
            <a:endParaRPr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（テンプレートバージョン</a:t>
            </a:r>
            <a:endParaRPr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＋</a:t>
            </a:r>
            <a:r>
              <a:rPr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JSON</a:t>
            </a:r>
            <a:r>
              <a:rPr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データ）</a:t>
            </a:r>
          </a:p>
        </p:txBody>
      </p:sp>
    </p:spTree>
    <p:extLst>
      <p:ext uri="{BB962C8B-B14F-4D97-AF65-F5344CB8AC3E}">
        <p14:creationId xmlns:p14="http://schemas.microsoft.com/office/powerpoint/2010/main" val="2394333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94300E53-A954-0390-8192-96B921461D80}"/>
              </a:ext>
            </a:extLst>
          </p:cNvPr>
          <p:cNvCxnSpPr>
            <a:cxnSpLocks/>
          </p:cNvCxnSpPr>
          <p:nvPr/>
        </p:nvCxnSpPr>
        <p:spPr>
          <a:xfrm>
            <a:off x="7805524" y="5932526"/>
            <a:ext cx="66456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72A9A8E5-2F03-18CA-D250-82A3DFFF8890}"/>
              </a:ext>
            </a:extLst>
          </p:cNvPr>
          <p:cNvCxnSpPr>
            <a:cxnSpLocks/>
          </p:cNvCxnSpPr>
          <p:nvPr/>
        </p:nvCxnSpPr>
        <p:spPr>
          <a:xfrm>
            <a:off x="7805524" y="4804675"/>
            <a:ext cx="66456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6CAECC63-D175-E33C-D83C-B280D05361A4}"/>
              </a:ext>
            </a:extLst>
          </p:cNvPr>
          <p:cNvCxnSpPr>
            <a:cxnSpLocks/>
          </p:cNvCxnSpPr>
          <p:nvPr/>
        </p:nvCxnSpPr>
        <p:spPr>
          <a:xfrm>
            <a:off x="7805524" y="4909177"/>
            <a:ext cx="78610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コネクタ 138">
            <a:extLst>
              <a:ext uri="{FF2B5EF4-FFF2-40B4-BE49-F238E27FC236}">
                <a16:creationId xmlns:a16="http://schemas.microsoft.com/office/drawing/2014/main" id="{62697A97-31DB-39A9-AAFF-998273739408}"/>
              </a:ext>
            </a:extLst>
          </p:cNvPr>
          <p:cNvCxnSpPr/>
          <p:nvPr/>
        </p:nvCxnSpPr>
        <p:spPr>
          <a:xfrm>
            <a:off x="16952204" y="2506383"/>
            <a:ext cx="0" cy="6947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円柱 161">
            <a:extLst>
              <a:ext uri="{FF2B5EF4-FFF2-40B4-BE49-F238E27FC236}">
                <a16:creationId xmlns:a16="http://schemas.microsoft.com/office/drawing/2014/main" id="{22664A79-BB87-6C01-192B-D7BBBC974925}"/>
              </a:ext>
            </a:extLst>
          </p:cNvPr>
          <p:cNvSpPr/>
          <p:nvPr/>
        </p:nvSpPr>
        <p:spPr>
          <a:xfrm>
            <a:off x="16447085" y="2962437"/>
            <a:ext cx="1058290" cy="481659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1" name="円柱 160">
            <a:extLst>
              <a:ext uri="{FF2B5EF4-FFF2-40B4-BE49-F238E27FC236}">
                <a16:creationId xmlns:a16="http://schemas.microsoft.com/office/drawing/2014/main" id="{80029A99-ABF5-8E99-AC7E-E4A2F33B800E}"/>
              </a:ext>
            </a:extLst>
          </p:cNvPr>
          <p:cNvSpPr/>
          <p:nvPr/>
        </p:nvSpPr>
        <p:spPr>
          <a:xfrm>
            <a:off x="16447085" y="2762641"/>
            <a:ext cx="1058290" cy="481659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プレースホルダー 11"/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575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Copyright © All rights reserved, SHARP MARKETING JAPAN CORPORATION</a:t>
            </a:r>
            <a:endParaRPr lang="ja-JP" altLang="en-US" sz="1575" dirty="0">
              <a:latin typeface="HGPｺﾞｼｯｸM" panose="020B0600000000000000" pitchFamily="50" charset="-128"/>
              <a:ea typeface="HGPｺﾞｼｯｸM" panose="020B0600000000000000" pitchFamily="50" charset="-128"/>
            </a:endParaRPr>
          </a:p>
        </p:txBody>
      </p:sp>
      <p:sp>
        <p:nvSpPr>
          <p:cNvPr id="8" name="日付プレースホルダー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416CA-CFB7-4D39-9A5F-700CFE633E82}" type="datetime1">
              <a:rPr lang="ja-JP" altLang="en-US" smtClean="0"/>
              <a:t>2026/6/29</a:t>
            </a:fld>
            <a:endParaRPr lang="ja-JP" altLang="en-US" dirty="0"/>
          </a:p>
        </p:txBody>
      </p:sp>
      <p:sp>
        <p:nvSpPr>
          <p:cNvPr id="9" name="フッター プレースホルダー 8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/>
              <a:t>Confidential </a:t>
            </a:r>
            <a:endParaRPr kumimoji="1" lang="ja-JP" altLang="en-US" dirty="0"/>
          </a:p>
        </p:txBody>
      </p:sp>
      <p:sp>
        <p:nvSpPr>
          <p:cNvPr id="10" name="スライド番号プレースホルダー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E37A5-A917-4235-ABF6-8CD72E894915}" type="slidenum">
              <a:rPr lang="en-US" altLang="ja-JP" smtClean="0"/>
              <a:pPr/>
              <a:t>3</a:t>
            </a:fld>
            <a:endParaRPr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AA8B27-59D6-01FF-E521-F3CAC7FC0200}"/>
              </a:ext>
            </a:extLst>
          </p:cNvPr>
          <p:cNvSpPr txBox="1">
            <a:spLocks/>
          </p:cNvSpPr>
          <p:nvPr/>
        </p:nvSpPr>
        <p:spPr>
          <a:xfrm>
            <a:off x="556666" y="1137624"/>
            <a:ext cx="17149445" cy="87131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・速度を優先するため、</a:t>
            </a:r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データ登録と各種帳票印刷を、</a:t>
            </a:r>
            <a:r>
              <a:rPr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回の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呼出しで実施します</a:t>
            </a:r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エラー時に各処理が完了しているか判断できるよう、登録データに一意となるリクエスト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を含めます。</a:t>
            </a:r>
            <a:endParaRPr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23F6D3D7-0189-2C38-4ECC-2C1D5F81312D}"/>
              </a:ext>
            </a:extLst>
          </p:cNvPr>
          <p:cNvCxnSpPr>
            <a:cxnSpLocks/>
          </p:cNvCxnSpPr>
          <p:nvPr/>
        </p:nvCxnSpPr>
        <p:spPr>
          <a:xfrm>
            <a:off x="7805524" y="3274695"/>
            <a:ext cx="0" cy="61787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BBE7C34-BB5F-19DD-A18E-AA8186BE0F5A}"/>
              </a:ext>
            </a:extLst>
          </p:cNvPr>
          <p:cNvSpPr txBox="1"/>
          <p:nvPr/>
        </p:nvSpPr>
        <p:spPr>
          <a:xfrm>
            <a:off x="2238302" y="2748607"/>
            <a:ext cx="19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タブレット</a:t>
            </a:r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POS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B50532C3-A9A0-C581-D985-83F65970422F}"/>
              </a:ext>
            </a:extLst>
          </p:cNvPr>
          <p:cNvCxnSpPr>
            <a:cxnSpLocks/>
          </p:cNvCxnSpPr>
          <p:nvPr/>
        </p:nvCxnSpPr>
        <p:spPr>
          <a:xfrm>
            <a:off x="3214829" y="4730214"/>
            <a:ext cx="3604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2ECE77D-F331-9811-42E1-008071178C4C}"/>
              </a:ext>
            </a:extLst>
          </p:cNvPr>
          <p:cNvSpPr txBox="1"/>
          <p:nvPr/>
        </p:nvSpPr>
        <p:spPr>
          <a:xfrm>
            <a:off x="2996824" y="4426065"/>
            <a:ext cx="2908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データ登録</a:t>
            </a:r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378C38D7-CAE9-293E-E423-8D75BFBCE068}"/>
              </a:ext>
            </a:extLst>
          </p:cNvPr>
          <p:cNvGrpSpPr/>
          <p:nvPr/>
        </p:nvGrpSpPr>
        <p:grpSpPr>
          <a:xfrm>
            <a:off x="142626" y="2619603"/>
            <a:ext cx="1731984" cy="1200329"/>
            <a:chOff x="4644389" y="2741015"/>
            <a:chExt cx="1356189" cy="800219"/>
          </a:xfrm>
        </p:grpSpPr>
        <p:sp>
          <p:nvSpPr>
            <p:cNvPr id="87" name="テキスト ボックス 86">
              <a:extLst>
                <a:ext uri="{FF2B5EF4-FFF2-40B4-BE49-F238E27FC236}">
                  <a16:creationId xmlns:a16="http://schemas.microsoft.com/office/drawing/2014/main" id="{40C45EC6-4D6B-D209-3F1E-9DF30F45F93D}"/>
                </a:ext>
              </a:extLst>
            </p:cNvPr>
            <p:cNvSpPr txBox="1"/>
            <p:nvPr/>
          </p:nvSpPr>
          <p:spPr>
            <a:xfrm>
              <a:off x="4644389" y="2741015"/>
              <a:ext cx="1356189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&lt;</a:t>
              </a:r>
              <a:r>
                <a:rPr lang="ja-JP" altLang="en-US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凡例</a:t>
              </a:r>
              <a:r>
                <a:rPr lang="en-US" altLang="ja-JP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&gt;</a:t>
              </a:r>
            </a:p>
            <a:p>
              <a:r>
                <a:rPr lang="ja-JP" altLang="en-US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　要求：</a:t>
              </a:r>
              <a:endParaRPr lang="en-US" altLang="ja-JP" sz="2400" dirty="0">
                <a:latin typeface="HGPｺﾞｼｯｸM" panose="020B0600000000000000" pitchFamily="50" charset="-128"/>
                <a:ea typeface="HGPｺﾞｼｯｸM" panose="020B0600000000000000" pitchFamily="50" charset="-128"/>
              </a:endParaRPr>
            </a:p>
            <a:p>
              <a:r>
                <a:rPr lang="ja-JP" altLang="en-US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　結果：</a:t>
              </a:r>
            </a:p>
          </p:txBody>
        </p:sp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A20115F6-D7B1-1767-7308-50094F548FD2}"/>
                </a:ext>
              </a:extLst>
            </p:cNvPr>
            <p:cNvCxnSpPr>
              <a:cxnSpLocks/>
            </p:cNvCxnSpPr>
            <p:nvPr/>
          </p:nvCxnSpPr>
          <p:spPr>
            <a:xfrm>
              <a:off x="5506171" y="3144572"/>
              <a:ext cx="346380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矢印コネクタ 88">
              <a:extLst>
                <a:ext uri="{FF2B5EF4-FFF2-40B4-BE49-F238E27FC236}">
                  <a16:creationId xmlns:a16="http://schemas.microsoft.com/office/drawing/2014/main" id="{BA518213-80E9-E6C3-7FB9-D392E9C53916}"/>
                </a:ext>
              </a:extLst>
            </p:cNvPr>
            <p:cNvCxnSpPr>
              <a:cxnSpLocks/>
            </p:cNvCxnSpPr>
            <p:nvPr/>
          </p:nvCxnSpPr>
          <p:spPr>
            <a:xfrm>
              <a:off x="5506171" y="3428025"/>
              <a:ext cx="346380" cy="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DFDAAF84-AC16-4C4E-E9BD-65C54002FFF5}"/>
              </a:ext>
            </a:extLst>
          </p:cNvPr>
          <p:cNvCxnSpPr>
            <a:cxnSpLocks/>
          </p:cNvCxnSpPr>
          <p:nvPr/>
        </p:nvCxnSpPr>
        <p:spPr>
          <a:xfrm>
            <a:off x="13642105" y="8268950"/>
            <a:ext cx="8090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6493E969-0A47-D8F2-8EC3-E8F6CCA93FC2}"/>
              </a:ext>
            </a:extLst>
          </p:cNvPr>
          <p:cNvCxnSpPr>
            <a:cxnSpLocks/>
          </p:cNvCxnSpPr>
          <p:nvPr/>
        </p:nvCxnSpPr>
        <p:spPr>
          <a:xfrm flipH="1">
            <a:off x="3214829" y="6550390"/>
            <a:ext cx="383573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AD4F2D0A-A33B-4FE4-5329-A8FF6EEAC5EA}"/>
              </a:ext>
            </a:extLst>
          </p:cNvPr>
          <p:cNvSpPr txBox="1"/>
          <p:nvPr/>
        </p:nvSpPr>
        <p:spPr>
          <a:xfrm>
            <a:off x="3118394" y="6200002"/>
            <a:ext cx="277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印刷データ</a:t>
            </a:r>
          </a:p>
        </p:txBody>
      </p: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9B2AAF6D-5E35-DCD4-37A4-21506D9F3F40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218016" y="3117939"/>
            <a:ext cx="13823" cy="61787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8D90D98B-4F64-0AB3-DC40-6F5B73C5B591}"/>
              </a:ext>
            </a:extLst>
          </p:cNvPr>
          <p:cNvCxnSpPr>
            <a:cxnSpLocks/>
          </p:cNvCxnSpPr>
          <p:nvPr/>
        </p:nvCxnSpPr>
        <p:spPr>
          <a:xfrm>
            <a:off x="13055252" y="2506383"/>
            <a:ext cx="0" cy="6947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コネクタ 140">
            <a:extLst>
              <a:ext uri="{FF2B5EF4-FFF2-40B4-BE49-F238E27FC236}">
                <a16:creationId xmlns:a16="http://schemas.microsoft.com/office/drawing/2014/main" id="{F8C113DB-8271-F43F-383F-DE53E1AFFED1}"/>
              </a:ext>
            </a:extLst>
          </p:cNvPr>
          <p:cNvCxnSpPr>
            <a:cxnSpLocks/>
          </p:cNvCxnSpPr>
          <p:nvPr/>
        </p:nvCxnSpPr>
        <p:spPr>
          <a:xfrm>
            <a:off x="15653651" y="2905363"/>
            <a:ext cx="0" cy="6548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円柱 126">
            <a:extLst>
              <a:ext uri="{FF2B5EF4-FFF2-40B4-BE49-F238E27FC236}">
                <a16:creationId xmlns:a16="http://schemas.microsoft.com/office/drawing/2014/main" id="{06123E2D-33E0-4984-25E9-9ECBE697C9FB}"/>
              </a:ext>
            </a:extLst>
          </p:cNvPr>
          <p:cNvSpPr/>
          <p:nvPr/>
        </p:nvSpPr>
        <p:spPr>
          <a:xfrm>
            <a:off x="16447085" y="2452668"/>
            <a:ext cx="1058290" cy="565253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テーブル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48E47844-2574-3A62-E5DF-4D5512531A3F}"/>
              </a:ext>
            </a:extLst>
          </p:cNvPr>
          <p:cNvSpPr txBox="1"/>
          <p:nvPr/>
        </p:nvSpPr>
        <p:spPr>
          <a:xfrm>
            <a:off x="2405214" y="3351679"/>
            <a:ext cx="1644152" cy="390066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処理確定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150" name="直線コネクタ 149">
            <a:extLst>
              <a:ext uri="{FF2B5EF4-FFF2-40B4-BE49-F238E27FC236}">
                <a16:creationId xmlns:a16="http://schemas.microsoft.com/office/drawing/2014/main" id="{CA5B2DC7-95C5-A0F9-2858-D099B80726C9}"/>
              </a:ext>
            </a:extLst>
          </p:cNvPr>
          <p:cNvCxnSpPr>
            <a:cxnSpLocks/>
          </p:cNvCxnSpPr>
          <p:nvPr/>
        </p:nvCxnSpPr>
        <p:spPr>
          <a:xfrm>
            <a:off x="10932355" y="2905363"/>
            <a:ext cx="0" cy="6548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コネクタ 167">
            <a:extLst>
              <a:ext uri="{FF2B5EF4-FFF2-40B4-BE49-F238E27FC236}">
                <a16:creationId xmlns:a16="http://schemas.microsoft.com/office/drawing/2014/main" id="{38319CFD-DA32-8550-7254-0E6DB1179DC0}"/>
              </a:ext>
            </a:extLst>
          </p:cNvPr>
          <p:cNvCxnSpPr>
            <a:cxnSpLocks/>
          </p:cNvCxnSpPr>
          <p:nvPr/>
        </p:nvCxnSpPr>
        <p:spPr>
          <a:xfrm>
            <a:off x="9690703" y="2729893"/>
            <a:ext cx="0" cy="67235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矢印コネクタ 175">
            <a:extLst>
              <a:ext uri="{FF2B5EF4-FFF2-40B4-BE49-F238E27FC236}">
                <a16:creationId xmlns:a16="http://schemas.microsoft.com/office/drawing/2014/main" id="{E12B32CC-79F1-2256-CF4E-E0AD588F543C}"/>
              </a:ext>
            </a:extLst>
          </p:cNvPr>
          <p:cNvCxnSpPr>
            <a:cxnSpLocks/>
          </p:cNvCxnSpPr>
          <p:nvPr/>
        </p:nvCxnSpPr>
        <p:spPr>
          <a:xfrm>
            <a:off x="7805524" y="5870363"/>
            <a:ext cx="3115831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テキスト ボックス 177">
            <a:extLst>
              <a:ext uri="{FF2B5EF4-FFF2-40B4-BE49-F238E27FC236}">
                <a16:creationId xmlns:a16="http://schemas.microsoft.com/office/drawing/2014/main" id="{75A5ABAD-AEE5-8B40-CA4C-3B86C7338118}"/>
              </a:ext>
            </a:extLst>
          </p:cNvPr>
          <p:cNvSpPr txBox="1"/>
          <p:nvPr/>
        </p:nvSpPr>
        <p:spPr>
          <a:xfrm>
            <a:off x="8486476" y="5974172"/>
            <a:ext cx="4442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ジャーナルデータ・受付台帳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更新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452C1226-19EB-AED1-3A35-2DD27599ADB1}"/>
              </a:ext>
            </a:extLst>
          </p:cNvPr>
          <p:cNvCxnSpPr>
            <a:cxnSpLocks/>
          </p:cNvCxnSpPr>
          <p:nvPr/>
        </p:nvCxnSpPr>
        <p:spPr>
          <a:xfrm>
            <a:off x="13642105" y="8573276"/>
            <a:ext cx="331524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円柱 17">
            <a:extLst>
              <a:ext uri="{FF2B5EF4-FFF2-40B4-BE49-F238E27FC236}">
                <a16:creationId xmlns:a16="http://schemas.microsoft.com/office/drawing/2014/main" id="{D573FB84-5EDD-8A12-C150-581CE914AE05}"/>
              </a:ext>
            </a:extLst>
          </p:cNvPr>
          <p:cNvSpPr/>
          <p:nvPr/>
        </p:nvSpPr>
        <p:spPr>
          <a:xfrm>
            <a:off x="10403210" y="2554422"/>
            <a:ext cx="1058290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電子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ジャーナル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18A6D18A-C9E4-0445-1B6A-A85B63A48FD0}"/>
              </a:ext>
            </a:extLst>
          </p:cNvPr>
          <p:cNvCxnSpPr>
            <a:cxnSpLocks/>
          </p:cNvCxnSpPr>
          <p:nvPr/>
        </p:nvCxnSpPr>
        <p:spPr>
          <a:xfrm>
            <a:off x="7805524" y="5562431"/>
            <a:ext cx="18851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円柱 105">
            <a:extLst>
              <a:ext uri="{FF2B5EF4-FFF2-40B4-BE49-F238E27FC236}">
                <a16:creationId xmlns:a16="http://schemas.microsoft.com/office/drawing/2014/main" id="{480A13EB-823B-B511-D540-CA7C9900FBB9}"/>
              </a:ext>
            </a:extLst>
          </p:cNvPr>
          <p:cNvSpPr/>
          <p:nvPr/>
        </p:nvSpPr>
        <p:spPr>
          <a:xfrm>
            <a:off x="15110218" y="2554422"/>
            <a:ext cx="1058290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JSON</a:t>
            </a: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5D21C69-EB9D-212E-7B65-A99FE76F6131}"/>
              </a:ext>
            </a:extLst>
          </p:cNvPr>
          <p:cNvSpPr txBox="1"/>
          <p:nvPr/>
        </p:nvSpPr>
        <p:spPr>
          <a:xfrm>
            <a:off x="7229819" y="2680018"/>
            <a:ext cx="1173705" cy="646331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C6252AB-5BB4-4033-BF0F-4365FB19A172}"/>
              </a:ext>
            </a:extLst>
          </p:cNvPr>
          <p:cNvSpPr/>
          <p:nvPr/>
        </p:nvSpPr>
        <p:spPr>
          <a:xfrm>
            <a:off x="1973964" y="2096874"/>
            <a:ext cx="4474331" cy="7780160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589D93B-D1A8-7050-5050-5B08EBAF197E}"/>
              </a:ext>
            </a:extLst>
          </p:cNvPr>
          <p:cNvSpPr txBox="1"/>
          <p:nvPr/>
        </p:nvSpPr>
        <p:spPr>
          <a:xfrm>
            <a:off x="1998387" y="2202226"/>
            <a:ext cx="784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店舗</a:t>
            </a:r>
            <a:endParaRPr kumimoji="1" lang="ja-JP" altLang="en-US" sz="2000" b="1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A55E10F-FB76-6947-7415-1AA8DEC5E9EA}"/>
              </a:ext>
            </a:extLst>
          </p:cNvPr>
          <p:cNvSpPr/>
          <p:nvPr/>
        </p:nvSpPr>
        <p:spPr>
          <a:xfrm>
            <a:off x="6547649" y="2098573"/>
            <a:ext cx="11205726" cy="7765315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accent6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740C31E-0665-68E2-25D3-6FF6313D6BD3}"/>
              </a:ext>
            </a:extLst>
          </p:cNvPr>
          <p:cNvSpPr txBox="1"/>
          <p:nvPr/>
        </p:nvSpPr>
        <p:spPr>
          <a:xfrm>
            <a:off x="6282707" y="2145206"/>
            <a:ext cx="18916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OCI</a:t>
            </a:r>
            <a:r>
              <a:rPr lang="ja-JP" altLang="en-US" sz="20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環境</a:t>
            </a:r>
            <a:endParaRPr kumimoji="1" lang="ja-JP" altLang="en-US" sz="2000" b="1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D2E4918-603B-6864-F0C6-64164606CA01}"/>
              </a:ext>
            </a:extLst>
          </p:cNvPr>
          <p:cNvSpPr txBox="1"/>
          <p:nvPr/>
        </p:nvSpPr>
        <p:spPr>
          <a:xfrm>
            <a:off x="8810105" y="5166654"/>
            <a:ext cx="276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Excel</a:t>
            </a:r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テンプレート取得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6C241F1-2940-0009-CBAB-A6E510582CE2}"/>
              </a:ext>
            </a:extLst>
          </p:cNvPr>
          <p:cNvSpPr txBox="1"/>
          <p:nvPr/>
        </p:nvSpPr>
        <p:spPr>
          <a:xfrm>
            <a:off x="15278971" y="8674440"/>
            <a:ext cx="1812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実績</a:t>
            </a:r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登録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7" name="タイトル 1">
            <a:extLst>
              <a:ext uri="{FF2B5EF4-FFF2-40B4-BE49-F238E27FC236}">
                <a16:creationId xmlns:a16="http://schemas.microsoft.com/office/drawing/2014/main" id="{6587927F-58C0-CA87-27A8-5F4BA89F5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>
            <a:normAutofit/>
          </a:bodyPr>
          <a:lstStyle/>
          <a:p>
            <a:r>
              <a:rPr lang="en-US" altLang="zh-TW" b="1" dirty="0"/>
              <a:t>A4</a:t>
            </a:r>
            <a:r>
              <a:rPr lang="zh-TW" altLang="en-US" b="1" dirty="0"/>
              <a:t>帳票出力方式設計</a:t>
            </a:r>
            <a:endParaRPr kumimoji="1" lang="ja-JP" altLang="en-US" dirty="0"/>
          </a:p>
        </p:txBody>
      </p:sp>
      <p:sp>
        <p:nvSpPr>
          <p:cNvPr id="5" name="吹き出し: 線 4">
            <a:extLst>
              <a:ext uri="{FF2B5EF4-FFF2-40B4-BE49-F238E27FC236}">
                <a16:creationId xmlns:a16="http://schemas.microsoft.com/office/drawing/2014/main" id="{4B2B5383-972A-0E2E-827D-B2653C33115B}"/>
              </a:ext>
            </a:extLst>
          </p:cNvPr>
          <p:cNvSpPr/>
          <p:nvPr/>
        </p:nvSpPr>
        <p:spPr>
          <a:xfrm>
            <a:off x="6750620" y="7290979"/>
            <a:ext cx="5389761" cy="1112129"/>
          </a:xfrm>
          <a:prstGeom prst="borderCallout1">
            <a:avLst>
              <a:gd name="adj1" fmla="val -46759"/>
              <a:gd name="adj2" fmla="val 8925"/>
              <a:gd name="adj3" fmla="val -8925"/>
              <a:gd name="adj4" fmla="val 6482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・データ登録</a:t>
            </a:r>
            <a:r>
              <a:rPr kumimoji="1" lang="en-US" altLang="ja-JP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API</a:t>
            </a:r>
            <a:r>
              <a:rPr kumimoji="1"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の中で、データ登録、</a:t>
            </a:r>
            <a:r>
              <a:rPr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帳票印刷結果</a:t>
            </a:r>
            <a:r>
              <a:rPr kumimoji="1"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の返却まで行う</a:t>
            </a:r>
            <a:endParaRPr kumimoji="1" lang="en-US" altLang="ja-JP" sz="1800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  <a:p>
            <a:r>
              <a:rPr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・各登録データにリクエスト</a:t>
            </a:r>
            <a:r>
              <a:rPr lang="en-US" altLang="ja-JP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ID</a:t>
            </a:r>
            <a:r>
              <a:rPr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を含む</a:t>
            </a:r>
            <a:endParaRPr kumimoji="1" lang="en-US" altLang="ja-JP" sz="1800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56FB442-70F9-19C1-D019-91C7D2BBBE46}"/>
              </a:ext>
            </a:extLst>
          </p:cNvPr>
          <p:cNvCxnSpPr>
            <a:cxnSpLocks/>
          </p:cNvCxnSpPr>
          <p:nvPr/>
        </p:nvCxnSpPr>
        <p:spPr>
          <a:xfrm>
            <a:off x="14451197" y="2905363"/>
            <a:ext cx="0" cy="6548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円柱 14">
            <a:extLst>
              <a:ext uri="{FF2B5EF4-FFF2-40B4-BE49-F238E27FC236}">
                <a16:creationId xmlns:a16="http://schemas.microsoft.com/office/drawing/2014/main" id="{21869F44-E76C-00E9-98FE-468021CBEABD}"/>
              </a:ext>
            </a:extLst>
          </p:cNvPr>
          <p:cNvSpPr/>
          <p:nvPr/>
        </p:nvSpPr>
        <p:spPr>
          <a:xfrm>
            <a:off x="13907764" y="2554422"/>
            <a:ext cx="1058290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受付台帳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INBOX</a:t>
            </a: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2BC0801-B6CF-D50C-6839-CAE71B547096}"/>
              </a:ext>
            </a:extLst>
          </p:cNvPr>
          <p:cNvSpPr txBox="1"/>
          <p:nvPr/>
        </p:nvSpPr>
        <p:spPr>
          <a:xfrm>
            <a:off x="8646687" y="4444913"/>
            <a:ext cx="4234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受付台帳・</a:t>
            </a:r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JSON</a:t>
            </a:r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データ参照・登録</a:t>
            </a:r>
          </a:p>
        </p:txBody>
      </p:sp>
      <p:sp>
        <p:nvSpPr>
          <p:cNvPr id="2" name="吹き出し: 線 1">
            <a:extLst>
              <a:ext uri="{FF2B5EF4-FFF2-40B4-BE49-F238E27FC236}">
                <a16:creationId xmlns:a16="http://schemas.microsoft.com/office/drawing/2014/main" id="{2695BD73-79A9-34D7-95DA-EF97640FE3B0}"/>
              </a:ext>
            </a:extLst>
          </p:cNvPr>
          <p:cNvSpPr/>
          <p:nvPr/>
        </p:nvSpPr>
        <p:spPr>
          <a:xfrm>
            <a:off x="13277562" y="6317380"/>
            <a:ext cx="4654092" cy="1032171"/>
          </a:xfrm>
          <a:prstGeom prst="borderCallout1">
            <a:avLst>
              <a:gd name="adj1" fmla="val 162642"/>
              <a:gd name="adj2" fmla="val 3190"/>
              <a:gd name="adj3" fmla="val 113656"/>
              <a:gd name="adj4" fmla="val 10321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実績データ登録は別処理のため、各種実績テーブルへの登録でエラーとなっても、タブレット</a:t>
            </a:r>
            <a:r>
              <a:rPr kumimoji="1" lang="en-US" altLang="ja-JP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POS</a:t>
            </a:r>
            <a:r>
              <a:rPr kumimoji="1"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での印刷は実行される</a:t>
            </a:r>
            <a:endParaRPr kumimoji="1" lang="en-US" altLang="ja-JP" sz="1800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BC97D163-091C-C39C-BA5F-1979D1CE706F}"/>
              </a:ext>
            </a:extLst>
          </p:cNvPr>
          <p:cNvCxnSpPr>
            <a:cxnSpLocks/>
          </p:cNvCxnSpPr>
          <p:nvPr/>
        </p:nvCxnSpPr>
        <p:spPr>
          <a:xfrm>
            <a:off x="13642105" y="8340047"/>
            <a:ext cx="20115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99127F9E-8FBF-C378-5B27-4924FF42A640}"/>
              </a:ext>
            </a:extLst>
          </p:cNvPr>
          <p:cNvSpPr txBox="1"/>
          <p:nvPr/>
        </p:nvSpPr>
        <p:spPr>
          <a:xfrm>
            <a:off x="12309945" y="8120747"/>
            <a:ext cx="1502040" cy="646331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実績データ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登録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31321FB0-89D6-81E2-ED1D-2A32A1FC7251}"/>
              </a:ext>
            </a:extLst>
          </p:cNvPr>
          <p:cNvSpPr txBox="1"/>
          <p:nvPr/>
        </p:nvSpPr>
        <p:spPr>
          <a:xfrm>
            <a:off x="13842434" y="7571456"/>
            <a:ext cx="3623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受付台帳取得（ステータス確認）</a:t>
            </a:r>
            <a:endParaRPr kumimoji="1"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JSON</a:t>
            </a:r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データ取得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A98DD90-8041-9A8F-41BE-2103A283720F}"/>
              </a:ext>
            </a:extLst>
          </p:cNvPr>
          <p:cNvSpPr txBox="1"/>
          <p:nvPr/>
        </p:nvSpPr>
        <p:spPr>
          <a:xfrm>
            <a:off x="2173266" y="3827085"/>
            <a:ext cx="2123781" cy="449628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pPr algn="ctr"/>
            <a:r>
              <a:rPr lang="ja-JP" altLang="en-US" sz="18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リクエスト</a:t>
            </a:r>
            <a:r>
              <a:rPr lang="en-US" altLang="ja-JP" sz="18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8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発行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pic>
        <p:nvPicPr>
          <p:cNvPr id="12" name="Picture 171" descr="img_mxc381">
            <a:extLst>
              <a:ext uri="{FF2B5EF4-FFF2-40B4-BE49-F238E27FC236}">
                <a16:creationId xmlns:a16="http://schemas.microsoft.com/office/drawing/2014/main" id="{850F83CB-E12E-D274-2375-FE7775F8A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6" r="15446"/>
          <a:stretch>
            <a:fillRect/>
          </a:stretch>
        </p:blipFill>
        <p:spPr bwMode="auto">
          <a:xfrm>
            <a:off x="4764065" y="2624230"/>
            <a:ext cx="485032" cy="819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02768B6-9906-6DA0-835F-2EB740E42F54}"/>
              </a:ext>
            </a:extLst>
          </p:cNvPr>
          <p:cNvSpPr txBox="1"/>
          <p:nvPr/>
        </p:nvSpPr>
        <p:spPr>
          <a:xfrm>
            <a:off x="5065080" y="2737207"/>
            <a:ext cx="1425668" cy="5232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ja-JP" altLang="en-US" sz="1400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複合機 </a:t>
            </a:r>
            <a:r>
              <a:rPr lang="en-US" altLang="ja-JP" sz="1400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or</a:t>
            </a:r>
          </a:p>
          <a:p>
            <a:pPr algn="ctr"/>
            <a:r>
              <a:rPr lang="ja-JP" altLang="en-US" sz="1400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帳票プリンター</a:t>
            </a: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160143ED-3764-82E8-BF28-94D6F2CB6C8D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3224927" y="8708249"/>
            <a:ext cx="15233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ED202EC4-5D3F-77E8-776E-6E281255E513}"/>
              </a:ext>
            </a:extLst>
          </p:cNvPr>
          <p:cNvSpPr txBox="1"/>
          <p:nvPr/>
        </p:nvSpPr>
        <p:spPr>
          <a:xfrm>
            <a:off x="6819369" y="4426066"/>
            <a:ext cx="1999627" cy="2431934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&lt;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データ登録</a:t>
            </a:r>
            <a:r>
              <a:rPr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API&gt;</a:t>
            </a:r>
          </a:p>
          <a:p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 </a:t>
            </a:r>
            <a:r>
              <a:rPr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JSON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データ登録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　↓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 印刷データ作成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　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↓</a:t>
            </a:r>
            <a:endParaRPr kumimoji="1"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 ジャーナル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登録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　↓</a:t>
            </a:r>
            <a:endParaRPr kumimoji="1"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処理結果返却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32A1EC2-60C3-6F80-13B3-DFCCF7C425D3}"/>
              </a:ext>
            </a:extLst>
          </p:cNvPr>
          <p:cNvSpPr txBox="1"/>
          <p:nvPr/>
        </p:nvSpPr>
        <p:spPr>
          <a:xfrm>
            <a:off x="12468400" y="2492298"/>
            <a:ext cx="1173705" cy="646331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Streaming</a:t>
            </a:r>
            <a:endParaRPr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F11F2AD6-8EB1-74EE-0FA0-5722AFB035AA}"/>
              </a:ext>
            </a:extLst>
          </p:cNvPr>
          <p:cNvSpPr txBox="1"/>
          <p:nvPr/>
        </p:nvSpPr>
        <p:spPr>
          <a:xfrm>
            <a:off x="9089744" y="2585286"/>
            <a:ext cx="1173705" cy="646331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Storage</a:t>
            </a:r>
            <a:endParaRPr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906305E2-CDB5-D653-63CA-1DB141CFFD6D}"/>
              </a:ext>
            </a:extLst>
          </p:cNvPr>
          <p:cNvCxnSpPr>
            <a:cxnSpLocks/>
          </p:cNvCxnSpPr>
          <p:nvPr/>
        </p:nvCxnSpPr>
        <p:spPr>
          <a:xfrm>
            <a:off x="5333519" y="3351679"/>
            <a:ext cx="13300" cy="59450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D4F9ED0A-28A4-A8FE-0B22-9B0904F7347C}"/>
              </a:ext>
            </a:extLst>
          </p:cNvPr>
          <p:cNvSpPr txBox="1"/>
          <p:nvPr/>
        </p:nvSpPr>
        <p:spPr>
          <a:xfrm>
            <a:off x="4748294" y="8523583"/>
            <a:ext cx="1167584" cy="369332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印刷実施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330FAAA4-8565-41A9-4041-10B97FA9B22D}"/>
              </a:ext>
            </a:extLst>
          </p:cNvPr>
          <p:cNvSpPr txBox="1"/>
          <p:nvPr/>
        </p:nvSpPr>
        <p:spPr>
          <a:xfrm>
            <a:off x="3313387" y="8361194"/>
            <a:ext cx="1335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印刷指示</a:t>
            </a:r>
          </a:p>
        </p:txBody>
      </p:sp>
      <p:pic>
        <p:nvPicPr>
          <p:cNvPr id="45" name="Picture 2" descr="PDFの拡張子ファイルのアイコンの透過PNGイラスト">
            <a:extLst>
              <a:ext uri="{FF2B5EF4-FFF2-40B4-BE49-F238E27FC236}">
                <a16:creationId xmlns:a16="http://schemas.microsoft.com/office/drawing/2014/main" id="{42E87E34-2C66-F3FD-5D68-907907532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030" y="6537296"/>
            <a:ext cx="1371265" cy="102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PDFの拡張子ファイルのアイコンの透過PNGイラスト">
            <a:extLst>
              <a:ext uri="{FF2B5EF4-FFF2-40B4-BE49-F238E27FC236}">
                <a16:creationId xmlns:a16="http://schemas.microsoft.com/office/drawing/2014/main" id="{06F87056-8031-5CEB-BFDD-AC0F23DD4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436" y="8635152"/>
            <a:ext cx="1371265" cy="102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55350F3-427D-9246-BBFC-24E6EAEB9B06}"/>
              </a:ext>
            </a:extLst>
          </p:cNvPr>
          <p:cNvSpPr txBox="1"/>
          <p:nvPr/>
        </p:nvSpPr>
        <p:spPr>
          <a:xfrm>
            <a:off x="4046149" y="7046076"/>
            <a:ext cx="1131201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バイナリデータ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66F6CC4-6D72-1ABC-5A65-7CC87DECA685}"/>
              </a:ext>
            </a:extLst>
          </p:cNvPr>
          <p:cNvSpPr txBox="1"/>
          <p:nvPr/>
        </p:nvSpPr>
        <p:spPr>
          <a:xfrm>
            <a:off x="3496985" y="9108920"/>
            <a:ext cx="1131201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バイナリデータ</a:t>
            </a:r>
          </a:p>
        </p:txBody>
      </p:sp>
    </p:spTree>
    <p:extLst>
      <p:ext uri="{BB962C8B-B14F-4D97-AF65-F5344CB8AC3E}">
        <p14:creationId xmlns:p14="http://schemas.microsoft.com/office/powerpoint/2010/main" val="2587735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83D55-C02B-12C1-18D8-6ED478DD8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7EBE56A5-FF4B-5B8A-4F76-9AB916375953}"/>
              </a:ext>
            </a:extLst>
          </p:cNvPr>
          <p:cNvCxnSpPr>
            <a:cxnSpLocks/>
          </p:cNvCxnSpPr>
          <p:nvPr/>
        </p:nvCxnSpPr>
        <p:spPr>
          <a:xfrm>
            <a:off x="7805524" y="8112832"/>
            <a:ext cx="3115831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55C390D9-7E36-31B2-7E3F-87F1C7796784}"/>
              </a:ext>
            </a:extLst>
          </p:cNvPr>
          <p:cNvCxnSpPr>
            <a:cxnSpLocks/>
          </p:cNvCxnSpPr>
          <p:nvPr/>
        </p:nvCxnSpPr>
        <p:spPr>
          <a:xfrm>
            <a:off x="7805524" y="8038384"/>
            <a:ext cx="786104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0B9F8266-AC75-B538-E3D1-88E6E6960324}"/>
              </a:ext>
            </a:extLst>
          </p:cNvPr>
          <p:cNvCxnSpPr>
            <a:cxnSpLocks/>
          </p:cNvCxnSpPr>
          <p:nvPr/>
        </p:nvCxnSpPr>
        <p:spPr>
          <a:xfrm>
            <a:off x="7805524" y="5765450"/>
            <a:ext cx="6645673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DCF7F5D-AC68-A714-E5FA-B334E8A46E68}"/>
              </a:ext>
            </a:extLst>
          </p:cNvPr>
          <p:cNvSpPr txBox="1"/>
          <p:nvPr/>
        </p:nvSpPr>
        <p:spPr>
          <a:xfrm>
            <a:off x="3006663" y="4293417"/>
            <a:ext cx="2908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データ登録</a:t>
            </a:r>
            <a:r>
              <a:rPr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</a:t>
            </a:r>
            <a:endParaRPr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139" name="直線コネクタ 138">
            <a:extLst>
              <a:ext uri="{FF2B5EF4-FFF2-40B4-BE49-F238E27FC236}">
                <a16:creationId xmlns:a16="http://schemas.microsoft.com/office/drawing/2014/main" id="{83BC342C-8F2D-8E73-4DB2-CA8896FE9D69}"/>
              </a:ext>
            </a:extLst>
          </p:cNvPr>
          <p:cNvCxnSpPr/>
          <p:nvPr/>
        </p:nvCxnSpPr>
        <p:spPr>
          <a:xfrm>
            <a:off x="16952204" y="2506383"/>
            <a:ext cx="0" cy="6947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円柱 161">
            <a:extLst>
              <a:ext uri="{FF2B5EF4-FFF2-40B4-BE49-F238E27FC236}">
                <a16:creationId xmlns:a16="http://schemas.microsoft.com/office/drawing/2014/main" id="{5836D084-8C3E-8966-3923-FC5F60E07B39}"/>
              </a:ext>
            </a:extLst>
          </p:cNvPr>
          <p:cNvSpPr/>
          <p:nvPr/>
        </p:nvSpPr>
        <p:spPr>
          <a:xfrm>
            <a:off x="16447085" y="2962437"/>
            <a:ext cx="1058290" cy="481659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1" name="円柱 160">
            <a:extLst>
              <a:ext uri="{FF2B5EF4-FFF2-40B4-BE49-F238E27FC236}">
                <a16:creationId xmlns:a16="http://schemas.microsoft.com/office/drawing/2014/main" id="{5418FC62-22AB-BFB2-CA9A-7E0F2CCA77CF}"/>
              </a:ext>
            </a:extLst>
          </p:cNvPr>
          <p:cNvSpPr/>
          <p:nvPr/>
        </p:nvSpPr>
        <p:spPr>
          <a:xfrm>
            <a:off x="16447085" y="2762641"/>
            <a:ext cx="1058290" cy="481659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プレースホルダー 11">
            <a:extLst>
              <a:ext uri="{FF2B5EF4-FFF2-40B4-BE49-F238E27FC236}">
                <a16:creationId xmlns:a16="http://schemas.microsoft.com/office/drawing/2014/main" id="{70F1F5B6-4D3F-E5CD-E76F-D007CF0B2D52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575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Copyright © All rights reserved, SHARP MARKETING JAPAN CORPORATION</a:t>
            </a:r>
            <a:endParaRPr lang="ja-JP" altLang="en-US" sz="1575" dirty="0">
              <a:latin typeface="HGPｺﾞｼｯｸM" panose="020B0600000000000000" pitchFamily="50" charset="-128"/>
              <a:ea typeface="HGPｺﾞｼｯｸM" panose="020B0600000000000000" pitchFamily="50" charset="-128"/>
            </a:endParaRP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B2D38E56-258D-1EC1-4D11-0DF895E3F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416CA-CFB7-4D39-9A5F-700CFE633E82}" type="datetime1">
              <a:rPr lang="ja-JP" altLang="en-US" smtClean="0"/>
              <a:t>2026/6/29</a:t>
            </a:fld>
            <a:endParaRPr lang="ja-JP" altLang="en-US" dirty="0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60561322-797C-9BEE-49B8-C0BC46895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/>
              <a:t>Confidential </a:t>
            </a:r>
            <a:endParaRPr kumimoji="1" lang="ja-JP" alt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784719B2-670C-8068-0B62-CD9CC9FA0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E37A5-A917-4235-ABF6-8CD72E894915}" type="slidenum">
              <a:rPr lang="en-US" altLang="ja-JP" smtClean="0"/>
              <a:pPr/>
              <a:t>4</a:t>
            </a:fld>
            <a:endParaRPr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7757A0-F681-6F5F-A231-A8C996D7FD5C}"/>
              </a:ext>
            </a:extLst>
          </p:cNvPr>
          <p:cNvSpPr txBox="1">
            <a:spLocks/>
          </p:cNvSpPr>
          <p:nvPr/>
        </p:nvSpPr>
        <p:spPr>
          <a:xfrm>
            <a:off x="556666" y="1137624"/>
            <a:ext cx="17149445" cy="87131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・エラー時の流れ：登録されているリクエスト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を判断し、未実施の処理のみを実施する</a:t>
            </a:r>
            <a:endParaRPr lang="en-US" altLang="ja-JP" sz="2400" dirty="0">
              <a:solidFill>
                <a:srgbClr val="59574C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例）ジャーナルデータ登録まで完了後、エラーによってタブレット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へ返却できず処理が終了した場合</a:t>
            </a:r>
            <a:endParaRPr lang="en-US" altLang="ja-JP" sz="2400" dirty="0">
              <a:solidFill>
                <a:srgbClr val="59574C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40802A00-B519-CD04-657B-C1B4A0A01B93}"/>
              </a:ext>
            </a:extLst>
          </p:cNvPr>
          <p:cNvCxnSpPr>
            <a:cxnSpLocks/>
          </p:cNvCxnSpPr>
          <p:nvPr/>
        </p:nvCxnSpPr>
        <p:spPr>
          <a:xfrm>
            <a:off x="7805524" y="3274695"/>
            <a:ext cx="0" cy="63918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B5F91EB-FAB5-DFCF-80A5-5B1DC0D12018}"/>
              </a:ext>
            </a:extLst>
          </p:cNvPr>
          <p:cNvSpPr txBox="1"/>
          <p:nvPr/>
        </p:nvSpPr>
        <p:spPr>
          <a:xfrm>
            <a:off x="2238302" y="2639045"/>
            <a:ext cx="19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タブレット</a:t>
            </a:r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POS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1ED3AB73-60CA-F19C-692F-059130F12014}"/>
              </a:ext>
            </a:extLst>
          </p:cNvPr>
          <p:cNvCxnSpPr>
            <a:cxnSpLocks/>
          </p:cNvCxnSpPr>
          <p:nvPr/>
        </p:nvCxnSpPr>
        <p:spPr>
          <a:xfrm>
            <a:off x="3214829" y="4597566"/>
            <a:ext cx="3604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C4A0B0B0-E151-2F34-9A0A-EF489A656108}"/>
              </a:ext>
            </a:extLst>
          </p:cNvPr>
          <p:cNvGrpSpPr/>
          <p:nvPr/>
        </p:nvGrpSpPr>
        <p:grpSpPr>
          <a:xfrm>
            <a:off x="142626" y="2619603"/>
            <a:ext cx="1731984" cy="1200329"/>
            <a:chOff x="4644389" y="2741015"/>
            <a:chExt cx="1356189" cy="800219"/>
          </a:xfrm>
        </p:grpSpPr>
        <p:sp>
          <p:nvSpPr>
            <p:cNvPr id="87" name="テキスト ボックス 86">
              <a:extLst>
                <a:ext uri="{FF2B5EF4-FFF2-40B4-BE49-F238E27FC236}">
                  <a16:creationId xmlns:a16="http://schemas.microsoft.com/office/drawing/2014/main" id="{3BE14777-E86F-50FB-6FB4-53B7422F3A08}"/>
                </a:ext>
              </a:extLst>
            </p:cNvPr>
            <p:cNvSpPr txBox="1"/>
            <p:nvPr/>
          </p:nvSpPr>
          <p:spPr>
            <a:xfrm>
              <a:off x="4644389" y="2741015"/>
              <a:ext cx="1356189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&lt;</a:t>
              </a:r>
              <a:r>
                <a:rPr lang="ja-JP" altLang="en-US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凡例</a:t>
              </a:r>
              <a:r>
                <a:rPr lang="en-US" altLang="ja-JP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&gt;</a:t>
              </a:r>
            </a:p>
            <a:p>
              <a:r>
                <a:rPr lang="ja-JP" altLang="en-US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　要求：</a:t>
              </a:r>
              <a:endParaRPr lang="en-US" altLang="ja-JP" sz="2400" dirty="0">
                <a:latin typeface="HGPｺﾞｼｯｸM" panose="020B0600000000000000" pitchFamily="50" charset="-128"/>
                <a:ea typeface="HGPｺﾞｼｯｸM" panose="020B0600000000000000" pitchFamily="50" charset="-128"/>
              </a:endParaRPr>
            </a:p>
            <a:p>
              <a:r>
                <a:rPr lang="ja-JP" altLang="en-US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　結果：</a:t>
              </a:r>
            </a:p>
          </p:txBody>
        </p:sp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4B921F90-3FC1-1E38-4207-3D5BD7243194}"/>
                </a:ext>
              </a:extLst>
            </p:cNvPr>
            <p:cNvCxnSpPr>
              <a:cxnSpLocks/>
            </p:cNvCxnSpPr>
            <p:nvPr/>
          </p:nvCxnSpPr>
          <p:spPr>
            <a:xfrm>
              <a:off x="5506171" y="3144572"/>
              <a:ext cx="346380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矢印コネクタ 88">
              <a:extLst>
                <a:ext uri="{FF2B5EF4-FFF2-40B4-BE49-F238E27FC236}">
                  <a16:creationId xmlns:a16="http://schemas.microsoft.com/office/drawing/2014/main" id="{71F308B7-74CD-25F3-9E55-E4508B6201C1}"/>
                </a:ext>
              </a:extLst>
            </p:cNvPr>
            <p:cNvCxnSpPr>
              <a:cxnSpLocks/>
            </p:cNvCxnSpPr>
            <p:nvPr/>
          </p:nvCxnSpPr>
          <p:spPr>
            <a:xfrm>
              <a:off x="5506171" y="3428025"/>
              <a:ext cx="346380" cy="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454C4F27-0ABE-B75B-333A-D5E49D695C8D}"/>
              </a:ext>
            </a:extLst>
          </p:cNvPr>
          <p:cNvCxnSpPr>
            <a:cxnSpLocks/>
          </p:cNvCxnSpPr>
          <p:nvPr/>
        </p:nvCxnSpPr>
        <p:spPr>
          <a:xfrm>
            <a:off x="13642105" y="7038379"/>
            <a:ext cx="794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3727170D-E8C1-56C2-F24D-31AF5154DC3E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3214829" y="3008377"/>
            <a:ext cx="3187" cy="66842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CED4CDB4-A065-B474-F4F6-FA073D206D82}"/>
              </a:ext>
            </a:extLst>
          </p:cNvPr>
          <p:cNvCxnSpPr>
            <a:cxnSpLocks/>
          </p:cNvCxnSpPr>
          <p:nvPr/>
        </p:nvCxnSpPr>
        <p:spPr>
          <a:xfrm>
            <a:off x="13055252" y="2506383"/>
            <a:ext cx="0" cy="6947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コネクタ 140">
            <a:extLst>
              <a:ext uri="{FF2B5EF4-FFF2-40B4-BE49-F238E27FC236}">
                <a16:creationId xmlns:a16="http://schemas.microsoft.com/office/drawing/2014/main" id="{42AE18F3-49DF-AE10-235D-1AE215AF18A4}"/>
              </a:ext>
            </a:extLst>
          </p:cNvPr>
          <p:cNvCxnSpPr>
            <a:cxnSpLocks/>
          </p:cNvCxnSpPr>
          <p:nvPr/>
        </p:nvCxnSpPr>
        <p:spPr>
          <a:xfrm>
            <a:off x="15666569" y="2905363"/>
            <a:ext cx="0" cy="6548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EEDBECBE-D55A-621C-BD7F-11C456D17014}"/>
              </a:ext>
            </a:extLst>
          </p:cNvPr>
          <p:cNvSpPr txBox="1"/>
          <p:nvPr/>
        </p:nvSpPr>
        <p:spPr>
          <a:xfrm>
            <a:off x="12468400" y="2492298"/>
            <a:ext cx="1173705" cy="646331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Streaming</a:t>
            </a:r>
            <a:endParaRPr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7" name="円柱 126">
            <a:extLst>
              <a:ext uri="{FF2B5EF4-FFF2-40B4-BE49-F238E27FC236}">
                <a16:creationId xmlns:a16="http://schemas.microsoft.com/office/drawing/2014/main" id="{BDBD07B9-C025-85B6-226C-67A632DE45D6}"/>
              </a:ext>
            </a:extLst>
          </p:cNvPr>
          <p:cNvSpPr/>
          <p:nvPr/>
        </p:nvSpPr>
        <p:spPr>
          <a:xfrm>
            <a:off x="16447085" y="2452668"/>
            <a:ext cx="1058290" cy="565253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テーブル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B684A26C-E6F6-9686-001D-93D401FFAF94}"/>
              </a:ext>
            </a:extLst>
          </p:cNvPr>
          <p:cNvSpPr txBox="1"/>
          <p:nvPr/>
        </p:nvSpPr>
        <p:spPr>
          <a:xfrm>
            <a:off x="2173266" y="3761770"/>
            <a:ext cx="2123781" cy="449628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pPr algn="ctr"/>
            <a:r>
              <a:rPr lang="ja-JP" altLang="en-US" sz="18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リクエスト</a:t>
            </a:r>
            <a:r>
              <a:rPr lang="en-US" altLang="ja-JP" sz="18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8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発行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150" name="直線コネクタ 149">
            <a:extLst>
              <a:ext uri="{FF2B5EF4-FFF2-40B4-BE49-F238E27FC236}">
                <a16:creationId xmlns:a16="http://schemas.microsoft.com/office/drawing/2014/main" id="{2364A4AC-E02F-C357-5EA3-AB4E5FDB9E2D}"/>
              </a:ext>
            </a:extLst>
          </p:cNvPr>
          <p:cNvCxnSpPr>
            <a:cxnSpLocks/>
          </p:cNvCxnSpPr>
          <p:nvPr/>
        </p:nvCxnSpPr>
        <p:spPr>
          <a:xfrm>
            <a:off x="10932355" y="2905363"/>
            <a:ext cx="0" cy="67611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コネクタ 167">
            <a:extLst>
              <a:ext uri="{FF2B5EF4-FFF2-40B4-BE49-F238E27FC236}">
                <a16:creationId xmlns:a16="http://schemas.microsoft.com/office/drawing/2014/main" id="{A7CFBD1E-230D-EF72-0580-9BC5377A3FEA}"/>
              </a:ext>
            </a:extLst>
          </p:cNvPr>
          <p:cNvCxnSpPr>
            <a:cxnSpLocks/>
          </p:cNvCxnSpPr>
          <p:nvPr/>
        </p:nvCxnSpPr>
        <p:spPr>
          <a:xfrm>
            <a:off x="9690703" y="2729893"/>
            <a:ext cx="0" cy="69366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矢印コネクタ 175">
            <a:extLst>
              <a:ext uri="{FF2B5EF4-FFF2-40B4-BE49-F238E27FC236}">
                <a16:creationId xmlns:a16="http://schemas.microsoft.com/office/drawing/2014/main" id="{FA733A32-7507-1099-AF83-DCEB387A4732}"/>
              </a:ext>
            </a:extLst>
          </p:cNvPr>
          <p:cNvCxnSpPr>
            <a:cxnSpLocks/>
          </p:cNvCxnSpPr>
          <p:nvPr/>
        </p:nvCxnSpPr>
        <p:spPr>
          <a:xfrm>
            <a:off x="7805524" y="5687426"/>
            <a:ext cx="3115831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30F46846-29C7-F7D1-2D4D-091BE84F4573}"/>
              </a:ext>
            </a:extLst>
          </p:cNvPr>
          <p:cNvCxnSpPr>
            <a:cxnSpLocks/>
          </p:cNvCxnSpPr>
          <p:nvPr/>
        </p:nvCxnSpPr>
        <p:spPr>
          <a:xfrm>
            <a:off x="13642105" y="7277390"/>
            <a:ext cx="331524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2DAEFBF9-CF8A-2285-63B2-1F1F2DE58688}"/>
              </a:ext>
            </a:extLst>
          </p:cNvPr>
          <p:cNvSpPr txBox="1"/>
          <p:nvPr/>
        </p:nvSpPr>
        <p:spPr>
          <a:xfrm>
            <a:off x="12309945" y="6824861"/>
            <a:ext cx="1502040" cy="646331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実績データ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登録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8" name="円柱 17">
            <a:extLst>
              <a:ext uri="{FF2B5EF4-FFF2-40B4-BE49-F238E27FC236}">
                <a16:creationId xmlns:a16="http://schemas.microsoft.com/office/drawing/2014/main" id="{AB872A35-3190-68F7-BF93-F52F3C8FD826}"/>
              </a:ext>
            </a:extLst>
          </p:cNvPr>
          <p:cNvSpPr/>
          <p:nvPr/>
        </p:nvSpPr>
        <p:spPr>
          <a:xfrm>
            <a:off x="10403210" y="2554422"/>
            <a:ext cx="1058290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電子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ジャーナル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A621C2FE-13F9-FDDA-0B87-701164748F4C}"/>
              </a:ext>
            </a:extLst>
          </p:cNvPr>
          <p:cNvCxnSpPr>
            <a:cxnSpLocks/>
          </p:cNvCxnSpPr>
          <p:nvPr/>
        </p:nvCxnSpPr>
        <p:spPr>
          <a:xfrm>
            <a:off x="7805524" y="5301115"/>
            <a:ext cx="18851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円柱 105">
            <a:extLst>
              <a:ext uri="{FF2B5EF4-FFF2-40B4-BE49-F238E27FC236}">
                <a16:creationId xmlns:a16="http://schemas.microsoft.com/office/drawing/2014/main" id="{14743D37-51E1-3532-4507-0DF3E38C3478}"/>
              </a:ext>
            </a:extLst>
          </p:cNvPr>
          <p:cNvSpPr/>
          <p:nvPr/>
        </p:nvSpPr>
        <p:spPr>
          <a:xfrm>
            <a:off x="15123136" y="2554422"/>
            <a:ext cx="1058290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JSON</a:t>
            </a: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39C55C8-EB9F-F79E-77B8-AB8A557F5FFB}"/>
              </a:ext>
            </a:extLst>
          </p:cNvPr>
          <p:cNvSpPr txBox="1"/>
          <p:nvPr/>
        </p:nvSpPr>
        <p:spPr>
          <a:xfrm>
            <a:off x="7229819" y="2680018"/>
            <a:ext cx="1173705" cy="646331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5FBC805D-85B9-09F2-9288-65185FC64A39}"/>
              </a:ext>
            </a:extLst>
          </p:cNvPr>
          <p:cNvSpPr/>
          <p:nvPr/>
        </p:nvSpPr>
        <p:spPr>
          <a:xfrm>
            <a:off x="1973964" y="2072114"/>
            <a:ext cx="4474331" cy="7804920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89748B0C-E504-800E-E2BD-610575F9C7A8}"/>
              </a:ext>
            </a:extLst>
          </p:cNvPr>
          <p:cNvSpPr/>
          <p:nvPr/>
        </p:nvSpPr>
        <p:spPr>
          <a:xfrm>
            <a:off x="6547649" y="2073860"/>
            <a:ext cx="11205726" cy="7790028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accent6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B866A97-ACDD-076F-0086-A25C0EFBDB55}"/>
              </a:ext>
            </a:extLst>
          </p:cNvPr>
          <p:cNvSpPr txBox="1"/>
          <p:nvPr/>
        </p:nvSpPr>
        <p:spPr>
          <a:xfrm>
            <a:off x="6282707" y="2103234"/>
            <a:ext cx="18916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OCI</a:t>
            </a:r>
            <a:r>
              <a:rPr lang="ja-JP" altLang="en-US" sz="20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環境</a:t>
            </a:r>
            <a:endParaRPr kumimoji="1" lang="ja-JP" altLang="en-US" sz="2000" b="1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2EFB845A-50A8-BEC0-5299-96E34027CFEC}"/>
              </a:ext>
            </a:extLst>
          </p:cNvPr>
          <p:cNvSpPr txBox="1"/>
          <p:nvPr/>
        </p:nvSpPr>
        <p:spPr>
          <a:xfrm>
            <a:off x="8841775" y="4905338"/>
            <a:ext cx="276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Excel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テンプレート取得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A924B67-C477-F607-06B3-3A797911AA97}"/>
              </a:ext>
            </a:extLst>
          </p:cNvPr>
          <p:cNvSpPr txBox="1"/>
          <p:nvPr/>
        </p:nvSpPr>
        <p:spPr>
          <a:xfrm>
            <a:off x="13848173" y="6698310"/>
            <a:ext cx="3145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受付台帳のステータス確認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713747E0-21F7-5409-DE7C-6EF755DB703E}"/>
              </a:ext>
            </a:extLst>
          </p:cNvPr>
          <p:cNvSpPr txBox="1"/>
          <p:nvPr/>
        </p:nvSpPr>
        <p:spPr>
          <a:xfrm>
            <a:off x="14471042" y="7338747"/>
            <a:ext cx="2304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実績</a:t>
            </a:r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登録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7" name="タイトル 1">
            <a:extLst>
              <a:ext uri="{FF2B5EF4-FFF2-40B4-BE49-F238E27FC236}">
                <a16:creationId xmlns:a16="http://schemas.microsoft.com/office/drawing/2014/main" id="{D8500628-ECBD-9E46-E2B5-BA0B2AC63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>
            <a:normAutofit/>
          </a:bodyPr>
          <a:lstStyle/>
          <a:p>
            <a:r>
              <a:rPr lang="en-US" altLang="zh-TW" b="1" dirty="0"/>
              <a:t>A4</a:t>
            </a:r>
            <a:r>
              <a:rPr lang="zh-TW" altLang="en-US" b="1" dirty="0"/>
              <a:t>帳票出力方式設計</a:t>
            </a:r>
            <a:endParaRPr kumimoji="1" lang="ja-JP" altLang="en-US" dirty="0"/>
          </a:p>
        </p:txBody>
      </p: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D4AB6D7F-AF5C-9607-8364-ADAF2A56FBAF}"/>
              </a:ext>
            </a:extLst>
          </p:cNvPr>
          <p:cNvCxnSpPr>
            <a:cxnSpLocks/>
          </p:cNvCxnSpPr>
          <p:nvPr/>
        </p:nvCxnSpPr>
        <p:spPr>
          <a:xfrm>
            <a:off x="7805524" y="4543359"/>
            <a:ext cx="66456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吹き出し: 線 4">
            <a:extLst>
              <a:ext uri="{FF2B5EF4-FFF2-40B4-BE49-F238E27FC236}">
                <a16:creationId xmlns:a16="http://schemas.microsoft.com/office/drawing/2014/main" id="{4C01C4F4-C399-BCF3-B2BC-C67E75606CD4}"/>
              </a:ext>
            </a:extLst>
          </p:cNvPr>
          <p:cNvSpPr/>
          <p:nvPr/>
        </p:nvSpPr>
        <p:spPr>
          <a:xfrm>
            <a:off x="909541" y="5180893"/>
            <a:ext cx="3849312" cy="895141"/>
          </a:xfrm>
          <a:prstGeom prst="borderCallout1">
            <a:avLst>
              <a:gd name="adj1" fmla="val 78882"/>
              <a:gd name="adj2" fmla="val 112600"/>
              <a:gd name="adj3" fmla="val 47988"/>
              <a:gd name="adj4" fmla="val 10228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エラー発生によりタブレット</a:t>
            </a:r>
            <a:r>
              <a:rPr kumimoji="1" lang="en-US" altLang="ja-JP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POS</a:t>
            </a:r>
            <a:r>
              <a:rPr kumimoji="1"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に</a:t>
            </a:r>
            <a:endParaRPr kumimoji="1" lang="en-US" altLang="ja-JP" sz="1800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  <a:p>
            <a:r>
              <a:rPr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結果が返却されない</a:t>
            </a:r>
            <a:endParaRPr kumimoji="1" lang="en-US" altLang="ja-JP" sz="1800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B4DDA1C8-578B-4CE7-029D-4288DD5F34D8}"/>
              </a:ext>
            </a:extLst>
          </p:cNvPr>
          <p:cNvCxnSpPr>
            <a:cxnSpLocks/>
            <a:stCxn id="71" idx="3"/>
          </p:cNvCxnSpPr>
          <p:nvPr/>
        </p:nvCxnSpPr>
        <p:spPr>
          <a:xfrm>
            <a:off x="4049366" y="7654327"/>
            <a:ext cx="2794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19632DE0-AAD9-CC89-0922-927F9725D41B}"/>
              </a:ext>
            </a:extLst>
          </p:cNvPr>
          <p:cNvSpPr txBox="1"/>
          <p:nvPr/>
        </p:nvSpPr>
        <p:spPr>
          <a:xfrm>
            <a:off x="2405214" y="7330327"/>
            <a:ext cx="1644152" cy="64800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タイムアウトにてリトライ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92C62C6-A376-2F09-44F5-10D7FD669D41}"/>
              </a:ext>
            </a:extLst>
          </p:cNvPr>
          <p:cNvSpPr txBox="1"/>
          <p:nvPr/>
        </p:nvSpPr>
        <p:spPr>
          <a:xfrm>
            <a:off x="8646687" y="4183597"/>
            <a:ext cx="4234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受付台帳・</a:t>
            </a:r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JSON</a:t>
            </a:r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データ参照・登録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8269090F-53A6-033F-4A53-EF1C2FC5FE11}"/>
              </a:ext>
            </a:extLst>
          </p:cNvPr>
          <p:cNvCxnSpPr>
            <a:cxnSpLocks/>
          </p:cNvCxnSpPr>
          <p:nvPr/>
        </p:nvCxnSpPr>
        <p:spPr>
          <a:xfrm>
            <a:off x="14451197" y="2905363"/>
            <a:ext cx="0" cy="6548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円柱 15">
            <a:extLst>
              <a:ext uri="{FF2B5EF4-FFF2-40B4-BE49-F238E27FC236}">
                <a16:creationId xmlns:a16="http://schemas.microsoft.com/office/drawing/2014/main" id="{6D904390-EFF3-C0DF-07A4-09455DA67A5E}"/>
              </a:ext>
            </a:extLst>
          </p:cNvPr>
          <p:cNvSpPr/>
          <p:nvPr/>
        </p:nvSpPr>
        <p:spPr>
          <a:xfrm>
            <a:off x="13907764" y="2554422"/>
            <a:ext cx="1058290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受付台帳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INBOX</a:t>
            </a: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吹き出し: 線 24">
            <a:extLst>
              <a:ext uri="{FF2B5EF4-FFF2-40B4-BE49-F238E27FC236}">
                <a16:creationId xmlns:a16="http://schemas.microsoft.com/office/drawing/2014/main" id="{C5441EF3-6B57-DC30-5847-B2716A8D3379}"/>
              </a:ext>
            </a:extLst>
          </p:cNvPr>
          <p:cNvSpPr/>
          <p:nvPr/>
        </p:nvSpPr>
        <p:spPr>
          <a:xfrm>
            <a:off x="10259126" y="8584628"/>
            <a:ext cx="5078760" cy="1004347"/>
          </a:xfrm>
          <a:prstGeom prst="borderCallout1">
            <a:avLst>
              <a:gd name="adj1" fmla="val -17936"/>
              <a:gd name="adj2" fmla="val -32572"/>
              <a:gd name="adj3" fmla="val 22072"/>
              <a:gd name="adj4" fmla="val -4700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リクエスト</a:t>
            </a:r>
            <a:r>
              <a:rPr kumimoji="1" lang="en-US" altLang="ja-JP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ID</a:t>
            </a:r>
            <a:r>
              <a:rPr kumimoji="1"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が</a:t>
            </a:r>
            <a:r>
              <a:rPr kumimoji="1" lang="en-US" altLang="ja-JP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JSON</a:t>
            </a:r>
            <a:r>
              <a:rPr kumimoji="1"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データおよびジャーナル</a:t>
            </a:r>
            <a:endParaRPr kumimoji="1" lang="en-US" altLang="ja-JP" sz="1800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  <a:p>
            <a:r>
              <a:rPr kumimoji="1"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データに有るため</a:t>
            </a:r>
            <a:r>
              <a:rPr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、ジャーナルデータから再度帳票印刷を実行する</a:t>
            </a:r>
            <a:endParaRPr kumimoji="1" lang="en-US" altLang="ja-JP" sz="1800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B4A125CB-D092-DE40-BEE9-A6AAE219A940}"/>
              </a:ext>
            </a:extLst>
          </p:cNvPr>
          <p:cNvCxnSpPr>
            <a:cxnSpLocks/>
          </p:cNvCxnSpPr>
          <p:nvPr/>
        </p:nvCxnSpPr>
        <p:spPr>
          <a:xfrm>
            <a:off x="7805524" y="4647861"/>
            <a:ext cx="78610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C3FF4071-CD0E-4499-3CD2-6F49190C5754}"/>
              </a:ext>
            </a:extLst>
          </p:cNvPr>
          <p:cNvSpPr txBox="1"/>
          <p:nvPr/>
        </p:nvSpPr>
        <p:spPr>
          <a:xfrm>
            <a:off x="6819369" y="4164750"/>
            <a:ext cx="1999627" cy="2406166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&lt;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データ登録</a:t>
            </a:r>
            <a:r>
              <a:rPr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API&gt;</a:t>
            </a:r>
          </a:p>
          <a:p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 </a:t>
            </a:r>
            <a:r>
              <a:rPr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JSON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データ登録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　↓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 印刷データ作成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　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↓</a:t>
            </a:r>
            <a:endParaRPr kumimoji="1"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 ジャーナル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登録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　↓</a:t>
            </a:r>
            <a:endParaRPr kumimoji="1"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処理結果返却</a:t>
            </a:r>
          </a:p>
        </p:txBody>
      </p:sp>
      <p:sp>
        <p:nvSpPr>
          <p:cNvPr id="2" name="爆発: 8 pt 1">
            <a:extLst>
              <a:ext uri="{FF2B5EF4-FFF2-40B4-BE49-F238E27FC236}">
                <a16:creationId xmlns:a16="http://schemas.microsoft.com/office/drawing/2014/main" id="{16F72294-8DB5-2F3B-277D-B22BAB38B6C8}"/>
              </a:ext>
            </a:extLst>
          </p:cNvPr>
          <p:cNvSpPr/>
          <p:nvPr/>
        </p:nvSpPr>
        <p:spPr>
          <a:xfrm>
            <a:off x="5304700" y="5737441"/>
            <a:ext cx="1999626" cy="1134421"/>
          </a:xfrm>
          <a:prstGeom prst="irregularSeal1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rgbClr val="FF0000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エラー発生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B5BA957-38EE-C721-D013-BBA4AC4EFC3C}"/>
              </a:ext>
            </a:extLst>
          </p:cNvPr>
          <p:cNvSpPr txBox="1"/>
          <p:nvPr/>
        </p:nvSpPr>
        <p:spPr>
          <a:xfrm>
            <a:off x="2405214" y="3221913"/>
            <a:ext cx="1644152" cy="460122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処理確定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35" name="吹き出し: 線 34">
            <a:extLst>
              <a:ext uri="{FF2B5EF4-FFF2-40B4-BE49-F238E27FC236}">
                <a16:creationId xmlns:a16="http://schemas.microsoft.com/office/drawing/2014/main" id="{EE6A1906-36FB-E94B-D5CE-BE710458775E}"/>
              </a:ext>
            </a:extLst>
          </p:cNvPr>
          <p:cNvSpPr/>
          <p:nvPr/>
        </p:nvSpPr>
        <p:spPr>
          <a:xfrm>
            <a:off x="782328" y="6552088"/>
            <a:ext cx="3384351" cy="556094"/>
          </a:xfrm>
          <a:prstGeom prst="borderCallout1">
            <a:avLst>
              <a:gd name="adj1" fmla="val 175011"/>
              <a:gd name="adj2" fmla="val 43470"/>
              <a:gd name="adj3" fmla="val 119241"/>
              <a:gd name="adj4" fmla="val 20460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同じリクエスト</a:t>
            </a:r>
            <a:r>
              <a:rPr lang="en-US" altLang="ja-JP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ID</a:t>
            </a:r>
            <a:r>
              <a:rPr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でリトライ</a:t>
            </a:r>
            <a:endParaRPr kumimoji="1" lang="en-US" altLang="ja-JP" sz="1800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513FC72E-2EF9-B650-09AA-36971EA8DBAE}"/>
              </a:ext>
            </a:extLst>
          </p:cNvPr>
          <p:cNvSpPr txBox="1"/>
          <p:nvPr/>
        </p:nvSpPr>
        <p:spPr>
          <a:xfrm>
            <a:off x="3731376" y="8337281"/>
            <a:ext cx="277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帳票印刷結果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B6B588B5-3E8F-6736-2C3D-B8A002C5CA18}"/>
              </a:ext>
            </a:extLst>
          </p:cNvPr>
          <p:cNvSpPr txBox="1"/>
          <p:nvPr/>
        </p:nvSpPr>
        <p:spPr>
          <a:xfrm>
            <a:off x="8539395" y="5818475"/>
            <a:ext cx="4442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ジャーナルデータ・受付台帳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更新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D322031E-8666-03DC-C465-46395E125435}"/>
              </a:ext>
            </a:extLst>
          </p:cNvPr>
          <p:cNvSpPr txBox="1"/>
          <p:nvPr/>
        </p:nvSpPr>
        <p:spPr>
          <a:xfrm>
            <a:off x="8827711" y="7669052"/>
            <a:ext cx="4337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JSON</a:t>
            </a:r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・ジャーナルデータ参照</a:t>
            </a:r>
          </a:p>
          <a:p>
            <a:pPr algn="ctr"/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3" name="吹き出し: 線 12">
            <a:extLst>
              <a:ext uri="{FF2B5EF4-FFF2-40B4-BE49-F238E27FC236}">
                <a16:creationId xmlns:a16="http://schemas.microsoft.com/office/drawing/2014/main" id="{C5795810-96FF-60FD-D5DB-E0C36BA6A891}"/>
              </a:ext>
            </a:extLst>
          </p:cNvPr>
          <p:cNvSpPr/>
          <p:nvPr/>
        </p:nvSpPr>
        <p:spPr>
          <a:xfrm>
            <a:off x="14655516" y="5104857"/>
            <a:ext cx="3450334" cy="1391688"/>
          </a:xfrm>
          <a:prstGeom prst="borderCallout1">
            <a:avLst>
              <a:gd name="adj1" fmla="val 117199"/>
              <a:gd name="adj2" fmla="val -22678"/>
              <a:gd name="adj3" fmla="val 76551"/>
              <a:gd name="adj4" fmla="val -315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受付台帳のステータスにて、</a:t>
            </a:r>
          </a:p>
          <a:p>
            <a:r>
              <a:rPr kumimoji="1"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印刷データ登録まで完了しているか判断し、エラーとは関係なく実績データ登録を行う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DBA15D8-332F-0BFC-A01B-A1A80BEE85BA}"/>
              </a:ext>
            </a:extLst>
          </p:cNvPr>
          <p:cNvSpPr txBox="1"/>
          <p:nvPr/>
        </p:nvSpPr>
        <p:spPr>
          <a:xfrm>
            <a:off x="9105889" y="2492298"/>
            <a:ext cx="1173705" cy="646331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Storage</a:t>
            </a:r>
            <a:endParaRPr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7" name="Picture 171" descr="img_mxc381">
            <a:extLst>
              <a:ext uri="{FF2B5EF4-FFF2-40B4-BE49-F238E27FC236}">
                <a16:creationId xmlns:a16="http://schemas.microsoft.com/office/drawing/2014/main" id="{71970FF0-6B40-99CC-E410-36B7599A7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6" r="15446"/>
          <a:stretch>
            <a:fillRect/>
          </a:stretch>
        </p:blipFill>
        <p:spPr bwMode="auto">
          <a:xfrm>
            <a:off x="4764065" y="2624230"/>
            <a:ext cx="485032" cy="819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0781D48-E93E-CA35-34E3-7CA8697D709A}"/>
              </a:ext>
            </a:extLst>
          </p:cNvPr>
          <p:cNvSpPr txBox="1"/>
          <p:nvPr/>
        </p:nvSpPr>
        <p:spPr>
          <a:xfrm>
            <a:off x="5065080" y="2737207"/>
            <a:ext cx="1425668" cy="5232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ja-JP" altLang="en-US" sz="1400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複合機 </a:t>
            </a:r>
            <a:r>
              <a:rPr lang="en-US" altLang="ja-JP" sz="1400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or</a:t>
            </a:r>
          </a:p>
          <a:p>
            <a:pPr algn="ctr"/>
            <a:r>
              <a:rPr lang="ja-JP" altLang="en-US" sz="1400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帳票プリンター</a:t>
            </a:r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3162BD49-1A81-89AD-E8AD-494A50939B35}"/>
              </a:ext>
            </a:extLst>
          </p:cNvPr>
          <p:cNvCxnSpPr>
            <a:cxnSpLocks/>
          </p:cNvCxnSpPr>
          <p:nvPr/>
        </p:nvCxnSpPr>
        <p:spPr>
          <a:xfrm>
            <a:off x="5333519" y="3351679"/>
            <a:ext cx="10148" cy="6314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EBD40C47-B4BA-5A4E-843F-94CCAA1EE97C}"/>
              </a:ext>
            </a:extLst>
          </p:cNvPr>
          <p:cNvSpPr txBox="1"/>
          <p:nvPr/>
        </p:nvSpPr>
        <p:spPr>
          <a:xfrm>
            <a:off x="4747086" y="9153057"/>
            <a:ext cx="1167584" cy="369332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印刷実施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10ECE95-2E21-76F0-BB03-752FA061D31C}"/>
              </a:ext>
            </a:extLst>
          </p:cNvPr>
          <p:cNvSpPr txBox="1"/>
          <p:nvPr/>
        </p:nvSpPr>
        <p:spPr>
          <a:xfrm>
            <a:off x="6819369" y="7339582"/>
            <a:ext cx="1999627" cy="1434573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&lt;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データ登録</a:t>
            </a:r>
            <a:r>
              <a:rPr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API&gt;</a:t>
            </a:r>
          </a:p>
          <a:p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 登録データ参照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　↓</a:t>
            </a:r>
            <a:endParaRPr kumimoji="1"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処理結果返却</a:t>
            </a: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9BF273E-83CD-AADD-92E4-735671A92049}"/>
              </a:ext>
            </a:extLst>
          </p:cNvPr>
          <p:cNvCxnSpPr>
            <a:cxnSpLocks/>
          </p:cNvCxnSpPr>
          <p:nvPr/>
        </p:nvCxnSpPr>
        <p:spPr>
          <a:xfrm flipH="1">
            <a:off x="3243616" y="8315383"/>
            <a:ext cx="355754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DDE5F83D-C77D-9212-0DE9-C94819402079}"/>
              </a:ext>
            </a:extLst>
          </p:cNvPr>
          <p:cNvSpPr txBox="1"/>
          <p:nvPr/>
        </p:nvSpPr>
        <p:spPr>
          <a:xfrm>
            <a:off x="1998387" y="2202226"/>
            <a:ext cx="784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店舗</a:t>
            </a:r>
            <a:endParaRPr kumimoji="1" lang="ja-JP" altLang="en-US" sz="2000" b="1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4F4BB1AC-8112-6956-052B-FD2825747782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3214829" y="9337723"/>
            <a:ext cx="15322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CFC054B8-D96E-9D9F-06AF-43CDA92A87EA}"/>
              </a:ext>
            </a:extLst>
          </p:cNvPr>
          <p:cNvSpPr txBox="1"/>
          <p:nvPr/>
        </p:nvSpPr>
        <p:spPr>
          <a:xfrm>
            <a:off x="3301224" y="9325759"/>
            <a:ext cx="1335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印刷指示</a:t>
            </a:r>
          </a:p>
        </p:txBody>
      </p:sp>
    </p:spTree>
    <p:extLst>
      <p:ext uri="{BB962C8B-B14F-4D97-AF65-F5344CB8AC3E}">
        <p14:creationId xmlns:p14="http://schemas.microsoft.com/office/powerpoint/2010/main" val="1562461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11"/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575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Copyright © All rights reserved, SHARP MARKETING JAPAN CORPORATION</a:t>
            </a:r>
            <a:endParaRPr lang="ja-JP" altLang="en-US" sz="1575" dirty="0">
              <a:latin typeface="HGPｺﾞｼｯｸM" panose="020B0600000000000000" pitchFamily="50" charset="-128"/>
              <a:ea typeface="HGPｺﾞｼｯｸM" panose="020B0600000000000000" pitchFamily="50" charset="-128"/>
            </a:endParaRPr>
          </a:p>
        </p:txBody>
      </p:sp>
      <p:sp>
        <p:nvSpPr>
          <p:cNvPr id="8" name="日付プレースホルダー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416CA-CFB7-4D39-9A5F-700CFE633E82}" type="datetime1">
              <a:rPr lang="ja-JP" altLang="en-US" smtClean="0"/>
              <a:t>2026/6/29</a:t>
            </a:fld>
            <a:endParaRPr lang="ja-JP" altLang="en-US" dirty="0"/>
          </a:p>
        </p:txBody>
      </p:sp>
      <p:sp>
        <p:nvSpPr>
          <p:cNvPr id="9" name="フッター プレースホルダー 8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/>
              <a:t>Confidential </a:t>
            </a:r>
            <a:endParaRPr kumimoji="1" lang="ja-JP" altLang="en-US" dirty="0"/>
          </a:p>
        </p:txBody>
      </p:sp>
      <p:sp>
        <p:nvSpPr>
          <p:cNvPr id="10" name="スライド番号プレースホルダー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E37A5-A917-4235-ABF6-8CD72E894915}" type="slidenum">
              <a:rPr lang="en-US" altLang="ja-JP" smtClean="0"/>
              <a:pPr/>
              <a:t>5</a:t>
            </a:fld>
            <a:endParaRPr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AA8B27-59D6-01FF-E521-F3CAC7FC0200}"/>
              </a:ext>
            </a:extLst>
          </p:cNvPr>
          <p:cNvSpPr txBox="1">
            <a:spLocks/>
          </p:cNvSpPr>
          <p:nvPr/>
        </p:nvSpPr>
        <p:spPr>
          <a:xfrm>
            <a:off x="556666" y="1176813"/>
            <a:ext cx="17149445" cy="8475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先行開発：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通販未処理照会の場合</a:t>
            </a:r>
            <a:endParaRPr lang="en-US" altLang="ja-JP" sz="2400" dirty="0">
              <a:solidFill>
                <a:srgbClr val="59574C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20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20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参照テーブルは現行での名称</a:t>
            </a:r>
            <a:endParaRPr lang="en-US" altLang="ja-JP" sz="2000" dirty="0">
              <a:solidFill>
                <a:srgbClr val="59574C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23F6D3D7-0189-2C38-4ECC-2C1D5F81312D}"/>
              </a:ext>
            </a:extLst>
          </p:cNvPr>
          <p:cNvCxnSpPr>
            <a:cxnSpLocks/>
          </p:cNvCxnSpPr>
          <p:nvPr/>
        </p:nvCxnSpPr>
        <p:spPr>
          <a:xfrm flipH="1">
            <a:off x="7805524" y="3117939"/>
            <a:ext cx="11147" cy="63355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BBE7C34-BB5F-19DD-A18E-AA8186BE0F5A}"/>
              </a:ext>
            </a:extLst>
          </p:cNvPr>
          <p:cNvSpPr txBox="1"/>
          <p:nvPr/>
        </p:nvSpPr>
        <p:spPr>
          <a:xfrm>
            <a:off x="2238302" y="2748607"/>
            <a:ext cx="19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タブレット</a:t>
            </a:r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POS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B50532C3-A9A0-C581-D985-83F65970422F}"/>
              </a:ext>
            </a:extLst>
          </p:cNvPr>
          <p:cNvCxnSpPr>
            <a:cxnSpLocks/>
          </p:cNvCxnSpPr>
          <p:nvPr/>
        </p:nvCxnSpPr>
        <p:spPr>
          <a:xfrm>
            <a:off x="3214829" y="6661388"/>
            <a:ext cx="3604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2ECE77D-F331-9811-42E1-008071178C4C}"/>
              </a:ext>
            </a:extLst>
          </p:cNvPr>
          <p:cNvSpPr txBox="1"/>
          <p:nvPr/>
        </p:nvSpPr>
        <p:spPr>
          <a:xfrm>
            <a:off x="2996824" y="6357239"/>
            <a:ext cx="2908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印刷</a:t>
            </a:r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</a:t>
            </a:r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呼出し</a:t>
            </a:r>
          </a:p>
        </p:txBody>
      </p: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378C38D7-CAE9-293E-E423-8D75BFBCE068}"/>
              </a:ext>
            </a:extLst>
          </p:cNvPr>
          <p:cNvGrpSpPr/>
          <p:nvPr/>
        </p:nvGrpSpPr>
        <p:grpSpPr>
          <a:xfrm>
            <a:off x="142626" y="2619603"/>
            <a:ext cx="1731984" cy="1200329"/>
            <a:chOff x="4644389" y="2741015"/>
            <a:chExt cx="1356189" cy="800219"/>
          </a:xfrm>
        </p:grpSpPr>
        <p:sp>
          <p:nvSpPr>
            <p:cNvPr id="87" name="テキスト ボックス 86">
              <a:extLst>
                <a:ext uri="{FF2B5EF4-FFF2-40B4-BE49-F238E27FC236}">
                  <a16:creationId xmlns:a16="http://schemas.microsoft.com/office/drawing/2014/main" id="{40C45EC6-4D6B-D209-3F1E-9DF30F45F93D}"/>
                </a:ext>
              </a:extLst>
            </p:cNvPr>
            <p:cNvSpPr txBox="1"/>
            <p:nvPr/>
          </p:nvSpPr>
          <p:spPr>
            <a:xfrm>
              <a:off x="4644389" y="2741015"/>
              <a:ext cx="1356189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&lt;</a:t>
              </a:r>
              <a:r>
                <a:rPr lang="ja-JP" altLang="en-US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凡例</a:t>
              </a:r>
              <a:r>
                <a:rPr lang="en-US" altLang="ja-JP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&gt;</a:t>
              </a:r>
            </a:p>
            <a:p>
              <a:r>
                <a:rPr lang="ja-JP" altLang="en-US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　要求：</a:t>
              </a:r>
              <a:endParaRPr lang="en-US" altLang="ja-JP" sz="2400" dirty="0">
                <a:latin typeface="HGPｺﾞｼｯｸM" panose="020B0600000000000000" pitchFamily="50" charset="-128"/>
                <a:ea typeface="HGPｺﾞｼｯｸM" panose="020B0600000000000000" pitchFamily="50" charset="-128"/>
              </a:endParaRPr>
            </a:p>
            <a:p>
              <a:r>
                <a:rPr lang="ja-JP" altLang="en-US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　結果：</a:t>
              </a:r>
            </a:p>
          </p:txBody>
        </p:sp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A20115F6-D7B1-1767-7308-50094F548FD2}"/>
                </a:ext>
              </a:extLst>
            </p:cNvPr>
            <p:cNvCxnSpPr>
              <a:cxnSpLocks/>
            </p:cNvCxnSpPr>
            <p:nvPr/>
          </p:nvCxnSpPr>
          <p:spPr>
            <a:xfrm>
              <a:off x="5506171" y="3144572"/>
              <a:ext cx="346380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矢印コネクタ 88">
              <a:extLst>
                <a:ext uri="{FF2B5EF4-FFF2-40B4-BE49-F238E27FC236}">
                  <a16:creationId xmlns:a16="http://schemas.microsoft.com/office/drawing/2014/main" id="{BA518213-80E9-E6C3-7FB9-D392E9C53916}"/>
                </a:ext>
              </a:extLst>
            </p:cNvPr>
            <p:cNvCxnSpPr>
              <a:cxnSpLocks/>
            </p:cNvCxnSpPr>
            <p:nvPr/>
          </p:nvCxnSpPr>
          <p:spPr>
            <a:xfrm>
              <a:off x="5506171" y="3428025"/>
              <a:ext cx="346380" cy="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6493E969-0A47-D8F2-8EC3-E8F6CCA93FC2}"/>
              </a:ext>
            </a:extLst>
          </p:cNvPr>
          <p:cNvCxnSpPr>
            <a:cxnSpLocks/>
          </p:cNvCxnSpPr>
          <p:nvPr/>
        </p:nvCxnSpPr>
        <p:spPr>
          <a:xfrm flipH="1">
            <a:off x="3214829" y="7930572"/>
            <a:ext cx="383573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AD4F2D0A-A33B-4FE4-5329-A8FF6EEAC5EA}"/>
              </a:ext>
            </a:extLst>
          </p:cNvPr>
          <p:cNvSpPr txBox="1"/>
          <p:nvPr/>
        </p:nvSpPr>
        <p:spPr>
          <a:xfrm>
            <a:off x="3118394" y="7580184"/>
            <a:ext cx="277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印刷データ</a:t>
            </a:r>
          </a:p>
        </p:txBody>
      </p: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9B2AAF6D-5E35-DCD4-37A4-21506D9F3F40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218016" y="3117939"/>
            <a:ext cx="13823" cy="61787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8D90D98B-4F64-0AB3-DC40-6F5B73C5B591}"/>
              </a:ext>
            </a:extLst>
          </p:cNvPr>
          <p:cNvCxnSpPr>
            <a:cxnSpLocks/>
          </p:cNvCxnSpPr>
          <p:nvPr/>
        </p:nvCxnSpPr>
        <p:spPr>
          <a:xfrm>
            <a:off x="13524844" y="3017921"/>
            <a:ext cx="0" cy="64355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48E47844-2574-3A62-E5DF-4D5512531A3F}"/>
              </a:ext>
            </a:extLst>
          </p:cNvPr>
          <p:cNvSpPr txBox="1"/>
          <p:nvPr/>
        </p:nvSpPr>
        <p:spPr>
          <a:xfrm>
            <a:off x="2300709" y="3351678"/>
            <a:ext cx="1826829" cy="433405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画面起動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150" name="直線コネクタ 149">
            <a:extLst>
              <a:ext uri="{FF2B5EF4-FFF2-40B4-BE49-F238E27FC236}">
                <a16:creationId xmlns:a16="http://schemas.microsoft.com/office/drawing/2014/main" id="{CA5B2DC7-95C5-A0F9-2858-D099B80726C9}"/>
              </a:ext>
            </a:extLst>
          </p:cNvPr>
          <p:cNvCxnSpPr>
            <a:cxnSpLocks/>
          </p:cNvCxnSpPr>
          <p:nvPr/>
        </p:nvCxnSpPr>
        <p:spPr>
          <a:xfrm>
            <a:off x="11363899" y="2905363"/>
            <a:ext cx="0" cy="6548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コネクタ 167">
            <a:extLst>
              <a:ext uri="{FF2B5EF4-FFF2-40B4-BE49-F238E27FC236}">
                <a16:creationId xmlns:a16="http://schemas.microsoft.com/office/drawing/2014/main" id="{38319CFD-DA32-8550-7254-0E6DB1179DC0}"/>
              </a:ext>
            </a:extLst>
          </p:cNvPr>
          <p:cNvCxnSpPr>
            <a:cxnSpLocks/>
          </p:cNvCxnSpPr>
          <p:nvPr/>
        </p:nvCxnSpPr>
        <p:spPr>
          <a:xfrm flipH="1">
            <a:off x="9690703" y="2882304"/>
            <a:ext cx="22004" cy="6571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矢印コネクタ 175">
            <a:extLst>
              <a:ext uri="{FF2B5EF4-FFF2-40B4-BE49-F238E27FC236}">
                <a16:creationId xmlns:a16="http://schemas.microsoft.com/office/drawing/2014/main" id="{E12B32CC-79F1-2256-CF4E-E0AD588F543C}"/>
              </a:ext>
            </a:extLst>
          </p:cNvPr>
          <p:cNvCxnSpPr>
            <a:cxnSpLocks/>
          </p:cNvCxnSpPr>
          <p:nvPr/>
        </p:nvCxnSpPr>
        <p:spPr>
          <a:xfrm>
            <a:off x="7805524" y="7358894"/>
            <a:ext cx="355837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テキスト ボックス 177">
            <a:extLst>
              <a:ext uri="{FF2B5EF4-FFF2-40B4-BE49-F238E27FC236}">
                <a16:creationId xmlns:a16="http://schemas.microsoft.com/office/drawing/2014/main" id="{75A5ABAD-AEE5-8B40-CA4C-3B86C7338118}"/>
              </a:ext>
            </a:extLst>
          </p:cNvPr>
          <p:cNvSpPr txBox="1"/>
          <p:nvPr/>
        </p:nvSpPr>
        <p:spPr>
          <a:xfrm>
            <a:off x="8892224" y="7383048"/>
            <a:ext cx="2763670" cy="378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電子ジャーナル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登録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8" name="円柱 17">
            <a:extLst>
              <a:ext uri="{FF2B5EF4-FFF2-40B4-BE49-F238E27FC236}">
                <a16:creationId xmlns:a16="http://schemas.microsoft.com/office/drawing/2014/main" id="{D573FB84-5EDD-8A12-C150-581CE914AE05}"/>
              </a:ext>
            </a:extLst>
          </p:cNvPr>
          <p:cNvSpPr/>
          <p:nvPr/>
        </p:nvSpPr>
        <p:spPr>
          <a:xfrm>
            <a:off x="10834754" y="2554422"/>
            <a:ext cx="1058290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電子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ジャーナル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18A6D18A-C9E4-0445-1B6A-A85B63A48FD0}"/>
              </a:ext>
            </a:extLst>
          </p:cNvPr>
          <p:cNvCxnSpPr>
            <a:cxnSpLocks/>
          </p:cNvCxnSpPr>
          <p:nvPr/>
        </p:nvCxnSpPr>
        <p:spPr>
          <a:xfrm>
            <a:off x="7805524" y="6942613"/>
            <a:ext cx="18851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5D21C69-EB9D-212E-7B65-A99FE76F6131}"/>
              </a:ext>
            </a:extLst>
          </p:cNvPr>
          <p:cNvSpPr txBox="1"/>
          <p:nvPr/>
        </p:nvSpPr>
        <p:spPr>
          <a:xfrm>
            <a:off x="7229819" y="2680018"/>
            <a:ext cx="1173705" cy="646331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C6252AB-5BB4-4033-BF0F-4365FB19A172}"/>
              </a:ext>
            </a:extLst>
          </p:cNvPr>
          <p:cNvSpPr/>
          <p:nvPr/>
        </p:nvSpPr>
        <p:spPr>
          <a:xfrm>
            <a:off x="1973964" y="2096874"/>
            <a:ext cx="4474331" cy="7780160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589D93B-D1A8-7050-5050-5B08EBAF197E}"/>
              </a:ext>
            </a:extLst>
          </p:cNvPr>
          <p:cNvSpPr txBox="1"/>
          <p:nvPr/>
        </p:nvSpPr>
        <p:spPr>
          <a:xfrm>
            <a:off x="1998387" y="2202226"/>
            <a:ext cx="784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店舗</a:t>
            </a:r>
            <a:endParaRPr kumimoji="1" lang="ja-JP" altLang="en-US" sz="2000" b="1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A55E10F-FB76-6947-7415-1AA8DEC5E9EA}"/>
              </a:ext>
            </a:extLst>
          </p:cNvPr>
          <p:cNvSpPr/>
          <p:nvPr/>
        </p:nvSpPr>
        <p:spPr>
          <a:xfrm>
            <a:off x="6547648" y="2098573"/>
            <a:ext cx="10521751" cy="7765315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accent6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740C31E-0665-68E2-25D3-6FF6313D6BD3}"/>
              </a:ext>
            </a:extLst>
          </p:cNvPr>
          <p:cNvSpPr txBox="1"/>
          <p:nvPr/>
        </p:nvSpPr>
        <p:spPr>
          <a:xfrm>
            <a:off x="6282707" y="2145206"/>
            <a:ext cx="18916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OCI</a:t>
            </a:r>
            <a:r>
              <a:rPr lang="ja-JP" altLang="en-US" sz="20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環境</a:t>
            </a:r>
            <a:endParaRPr kumimoji="1" lang="ja-JP" altLang="en-US" sz="2000" b="1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D2E4918-603B-6864-F0C6-64164606CA01}"/>
              </a:ext>
            </a:extLst>
          </p:cNvPr>
          <p:cNvSpPr txBox="1"/>
          <p:nvPr/>
        </p:nvSpPr>
        <p:spPr>
          <a:xfrm>
            <a:off x="8810105" y="6546836"/>
            <a:ext cx="276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Excel</a:t>
            </a:r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テンプレート取得</a:t>
            </a:r>
          </a:p>
        </p:txBody>
      </p:sp>
      <p:sp>
        <p:nvSpPr>
          <p:cNvPr id="17" name="タイトル 1">
            <a:extLst>
              <a:ext uri="{FF2B5EF4-FFF2-40B4-BE49-F238E27FC236}">
                <a16:creationId xmlns:a16="http://schemas.microsoft.com/office/drawing/2014/main" id="{6587927F-58C0-CA87-27A8-5F4BA89F5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>
            <a:normAutofit/>
          </a:bodyPr>
          <a:lstStyle/>
          <a:p>
            <a:r>
              <a:rPr lang="en-US" altLang="zh-TW" b="1" dirty="0"/>
              <a:t>A4</a:t>
            </a:r>
            <a:r>
              <a:rPr lang="zh-TW" altLang="en-US" b="1" dirty="0"/>
              <a:t>帳票出力方式設計</a:t>
            </a:r>
            <a:endParaRPr kumimoji="1" lang="ja-JP" altLang="en-US" dirty="0"/>
          </a:p>
        </p:txBody>
      </p:sp>
      <p:pic>
        <p:nvPicPr>
          <p:cNvPr id="12" name="Picture 171" descr="img_mxc381">
            <a:extLst>
              <a:ext uri="{FF2B5EF4-FFF2-40B4-BE49-F238E27FC236}">
                <a16:creationId xmlns:a16="http://schemas.microsoft.com/office/drawing/2014/main" id="{850F83CB-E12E-D274-2375-FE7775F8A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6" r="15446"/>
          <a:stretch>
            <a:fillRect/>
          </a:stretch>
        </p:blipFill>
        <p:spPr bwMode="auto">
          <a:xfrm>
            <a:off x="4764065" y="2624230"/>
            <a:ext cx="485032" cy="819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02768B6-9906-6DA0-835F-2EB740E42F54}"/>
              </a:ext>
            </a:extLst>
          </p:cNvPr>
          <p:cNvSpPr txBox="1"/>
          <p:nvPr/>
        </p:nvSpPr>
        <p:spPr>
          <a:xfrm>
            <a:off x="5065080" y="2737207"/>
            <a:ext cx="1425668" cy="5232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ja-JP" altLang="en-US" sz="1400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複合機 </a:t>
            </a:r>
            <a:r>
              <a:rPr lang="en-US" altLang="ja-JP" sz="1400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or</a:t>
            </a:r>
          </a:p>
          <a:p>
            <a:pPr algn="ctr"/>
            <a:r>
              <a:rPr lang="ja-JP" altLang="en-US" sz="1400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帳票プリンター</a:t>
            </a: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160143ED-3764-82E8-BF28-94D6F2CB6C8D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3224927" y="8708249"/>
            <a:ext cx="15233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ED202EC4-5D3F-77E8-776E-6E281255E513}"/>
              </a:ext>
            </a:extLst>
          </p:cNvPr>
          <p:cNvSpPr txBox="1"/>
          <p:nvPr/>
        </p:nvSpPr>
        <p:spPr>
          <a:xfrm>
            <a:off x="6819369" y="6384292"/>
            <a:ext cx="1999627" cy="1853890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&lt;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印刷</a:t>
            </a:r>
            <a:r>
              <a:rPr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API&gt;</a:t>
            </a:r>
          </a:p>
          <a:p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印刷データ作成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　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↓</a:t>
            </a:r>
            <a:endParaRPr kumimoji="1"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 ジャーナル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登録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　↓</a:t>
            </a:r>
            <a:endParaRPr kumimoji="1"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処理結果返却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F11F2AD6-8EB1-74EE-0FA0-5722AFB035AA}"/>
              </a:ext>
            </a:extLst>
          </p:cNvPr>
          <p:cNvSpPr txBox="1"/>
          <p:nvPr/>
        </p:nvSpPr>
        <p:spPr>
          <a:xfrm>
            <a:off x="9125855" y="2676043"/>
            <a:ext cx="1173705" cy="646330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Storage</a:t>
            </a:r>
            <a:endParaRPr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906305E2-CDB5-D653-63CA-1DB141CFFD6D}"/>
              </a:ext>
            </a:extLst>
          </p:cNvPr>
          <p:cNvCxnSpPr>
            <a:cxnSpLocks/>
          </p:cNvCxnSpPr>
          <p:nvPr/>
        </p:nvCxnSpPr>
        <p:spPr>
          <a:xfrm>
            <a:off x="5333519" y="3351679"/>
            <a:ext cx="13300" cy="59450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D4F9ED0A-28A4-A8FE-0B22-9B0904F7347C}"/>
              </a:ext>
            </a:extLst>
          </p:cNvPr>
          <p:cNvSpPr txBox="1"/>
          <p:nvPr/>
        </p:nvSpPr>
        <p:spPr>
          <a:xfrm>
            <a:off x="4748294" y="8523583"/>
            <a:ext cx="1167584" cy="369332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印刷実施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330FAAA4-8565-41A9-4041-10B97FA9B22D}"/>
              </a:ext>
            </a:extLst>
          </p:cNvPr>
          <p:cNvSpPr txBox="1"/>
          <p:nvPr/>
        </p:nvSpPr>
        <p:spPr>
          <a:xfrm>
            <a:off x="3313387" y="8361194"/>
            <a:ext cx="1335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印刷指示</a:t>
            </a:r>
          </a:p>
        </p:txBody>
      </p:sp>
      <p:pic>
        <p:nvPicPr>
          <p:cNvPr id="46" name="Picture 2" descr="PDFの拡張子ファイルのアイコンの透過PNGイラスト">
            <a:extLst>
              <a:ext uri="{FF2B5EF4-FFF2-40B4-BE49-F238E27FC236}">
                <a16:creationId xmlns:a16="http://schemas.microsoft.com/office/drawing/2014/main" id="{06F87056-8031-5CEB-BFDD-AC0F23DD4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436" y="8635152"/>
            <a:ext cx="1371265" cy="102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66F6CC4-6D72-1ABC-5A65-7CC87DECA685}"/>
              </a:ext>
            </a:extLst>
          </p:cNvPr>
          <p:cNvSpPr txBox="1"/>
          <p:nvPr/>
        </p:nvSpPr>
        <p:spPr>
          <a:xfrm>
            <a:off x="3496985" y="9108920"/>
            <a:ext cx="1131201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バイナリデータ</a:t>
            </a: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5D45AD3C-ED82-7FA4-A289-75A92C010649}"/>
              </a:ext>
            </a:extLst>
          </p:cNvPr>
          <p:cNvCxnSpPr>
            <a:cxnSpLocks/>
          </p:cNvCxnSpPr>
          <p:nvPr/>
        </p:nvCxnSpPr>
        <p:spPr>
          <a:xfrm>
            <a:off x="3214829" y="4423924"/>
            <a:ext cx="3604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28978B6-9DC7-5C0C-8B23-A76B8F1691B6}"/>
              </a:ext>
            </a:extLst>
          </p:cNvPr>
          <p:cNvSpPr txBox="1"/>
          <p:nvPr/>
        </p:nvSpPr>
        <p:spPr>
          <a:xfrm>
            <a:off x="2996824" y="4119775"/>
            <a:ext cx="2908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データ参照</a:t>
            </a:r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</a:t>
            </a:r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呼出し</a:t>
            </a:r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E132A171-76C2-CC36-A7BE-46B8706EFD80}"/>
              </a:ext>
            </a:extLst>
          </p:cNvPr>
          <p:cNvCxnSpPr>
            <a:cxnSpLocks/>
          </p:cNvCxnSpPr>
          <p:nvPr/>
        </p:nvCxnSpPr>
        <p:spPr>
          <a:xfrm flipH="1">
            <a:off x="3214829" y="5277538"/>
            <a:ext cx="383573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E68102AC-14BE-8FFB-A5B2-C28863519B94}"/>
              </a:ext>
            </a:extLst>
          </p:cNvPr>
          <p:cNvSpPr txBox="1"/>
          <p:nvPr/>
        </p:nvSpPr>
        <p:spPr>
          <a:xfrm>
            <a:off x="3118394" y="4927150"/>
            <a:ext cx="277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参照結果データ</a:t>
            </a: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4A536C35-7736-C7E6-E8DD-3136B278A9FE}"/>
              </a:ext>
            </a:extLst>
          </p:cNvPr>
          <p:cNvCxnSpPr>
            <a:cxnSpLocks/>
          </p:cNvCxnSpPr>
          <p:nvPr/>
        </p:nvCxnSpPr>
        <p:spPr>
          <a:xfrm>
            <a:off x="7805524" y="4747419"/>
            <a:ext cx="57193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BFAE0921-9A8B-681D-DBB5-39130404EB68}"/>
              </a:ext>
            </a:extLst>
          </p:cNvPr>
          <p:cNvSpPr txBox="1"/>
          <p:nvPr/>
        </p:nvSpPr>
        <p:spPr>
          <a:xfrm>
            <a:off x="8836684" y="4312453"/>
            <a:ext cx="2849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8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lang="ja-JP" altLang="en-US" sz="18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通販未処理情報取得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63" name="円柱 62">
            <a:extLst>
              <a:ext uri="{FF2B5EF4-FFF2-40B4-BE49-F238E27FC236}">
                <a16:creationId xmlns:a16="http://schemas.microsoft.com/office/drawing/2014/main" id="{5ABA1C9E-23D4-F4E1-8EC2-EB244A3098FD}"/>
              </a:ext>
            </a:extLst>
          </p:cNvPr>
          <p:cNvSpPr/>
          <p:nvPr/>
        </p:nvSpPr>
        <p:spPr>
          <a:xfrm>
            <a:off x="12467046" y="2995680"/>
            <a:ext cx="1058290" cy="400111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名称マスタ</a:t>
            </a:r>
            <a:endParaRPr kumimoji="1" lang="en-US" altLang="ja-JP" sz="9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円柱 63">
            <a:extLst>
              <a:ext uri="{FF2B5EF4-FFF2-40B4-BE49-F238E27FC236}">
                <a16:creationId xmlns:a16="http://schemas.microsoft.com/office/drawing/2014/main" id="{7202701C-77A1-9BCB-8D83-D7AF96B692EF}"/>
              </a:ext>
            </a:extLst>
          </p:cNvPr>
          <p:cNvSpPr/>
          <p:nvPr/>
        </p:nvSpPr>
        <p:spPr>
          <a:xfrm>
            <a:off x="12467046" y="2682249"/>
            <a:ext cx="1058290" cy="400111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商品別税番号</a:t>
            </a:r>
            <a:r>
              <a:rPr lang="ja-JP" altLang="en-US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</a:t>
            </a:r>
            <a:endParaRPr kumimoji="1" lang="en-US" altLang="ja-JP" sz="9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円柱 64">
            <a:extLst>
              <a:ext uri="{FF2B5EF4-FFF2-40B4-BE49-F238E27FC236}">
                <a16:creationId xmlns:a16="http://schemas.microsoft.com/office/drawing/2014/main" id="{92A2D6B3-44DD-D61C-F8D7-E1311BBCD246}"/>
              </a:ext>
            </a:extLst>
          </p:cNvPr>
          <p:cNvSpPr/>
          <p:nvPr/>
        </p:nvSpPr>
        <p:spPr>
          <a:xfrm>
            <a:off x="12467046" y="2368135"/>
            <a:ext cx="1058290" cy="400111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消費税率</a:t>
            </a:r>
            <a:r>
              <a:rPr lang="ja-JP" altLang="en-US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</a:t>
            </a:r>
            <a:endParaRPr kumimoji="1" lang="en-US" altLang="ja-JP" sz="9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7" name="円柱 126">
            <a:extLst>
              <a:ext uri="{FF2B5EF4-FFF2-40B4-BE49-F238E27FC236}">
                <a16:creationId xmlns:a16="http://schemas.microsoft.com/office/drawing/2014/main" id="{06123E2D-33E0-4984-25E9-9ECBE697C9FB}"/>
              </a:ext>
            </a:extLst>
          </p:cNvPr>
          <p:cNvSpPr/>
          <p:nvPr/>
        </p:nvSpPr>
        <p:spPr>
          <a:xfrm>
            <a:off x="13524844" y="3128482"/>
            <a:ext cx="1058290" cy="400111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商品マスタ</a:t>
            </a:r>
            <a:endParaRPr kumimoji="1" lang="en-US" altLang="ja-JP" sz="9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円柱 59">
            <a:extLst>
              <a:ext uri="{FF2B5EF4-FFF2-40B4-BE49-F238E27FC236}">
                <a16:creationId xmlns:a16="http://schemas.microsoft.com/office/drawing/2014/main" id="{3C474A0F-7A35-00D0-CB29-2D0089E68AFC}"/>
              </a:ext>
            </a:extLst>
          </p:cNvPr>
          <p:cNvSpPr/>
          <p:nvPr/>
        </p:nvSpPr>
        <p:spPr>
          <a:xfrm>
            <a:off x="13524844" y="2810859"/>
            <a:ext cx="1058290" cy="400111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JD-NET</a:t>
            </a:r>
            <a:r>
              <a:rPr lang="ja-JP" altLang="en-US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商品マスタ</a:t>
            </a:r>
            <a:endParaRPr kumimoji="1" lang="en-US" altLang="ja-JP" sz="9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円柱 60">
            <a:extLst>
              <a:ext uri="{FF2B5EF4-FFF2-40B4-BE49-F238E27FC236}">
                <a16:creationId xmlns:a16="http://schemas.microsoft.com/office/drawing/2014/main" id="{27DD7D85-7346-5F33-54AA-04D541C8813F}"/>
              </a:ext>
            </a:extLst>
          </p:cNvPr>
          <p:cNvSpPr/>
          <p:nvPr/>
        </p:nvSpPr>
        <p:spPr>
          <a:xfrm>
            <a:off x="13524844" y="2511403"/>
            <a:ext cx="1058290" cy="400111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中分類名称マスタ</a:t>
            </a:r>
            <a:endParaRPr kumimoji="1" lang="en-US" altLang="ja-JP" sz="9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円柱 61">
            <a:extLst>
              <a:ext uri="{FF2B5EF4-FFF2-40B4-BE49-F238E27FC236}">
                <a16:creationId xmlns:a16="http://schemas.microsoft.com/office/drawing/2014/main" id="{45E13652-8240-6697-CD3F-1D490818F49E}"/>
              </a:ext>
            </a:extLst>
          </p:cNvPr>
          <p:cNvSpPr/>
          <p:nvPr/>
        </p:nvSpPr>
        <p:spPr>
          <a:xfrm>
            <a:off x="13524844" y="2199726"/>
            <a:ext cx="1058290" cy="400111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定数分類マスタ</a:t>
            </a:r>
            <a:endParaRPr kumimoji="1" lang="en-US" altLang="ja-JP" sz="9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8FEBF926-C408-0CA0-86A5-CB4FD019B382}"/>
              </a:ext>
            </a:extLst>
          </p:cNvPr>
          <p:cNvCxnSpPr>
            <a:cxnSpLocks/>
          </p:cNvCxnSpPr>
          <p:nvPr/>
        </p:nvCxnSpPr>
        <p:spPr>
          <a:xfrm>
            <a:off x="8687569" y="4682104"/>
            <a:ext cx="67603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CF552A11-FF53-41AF-14E4-16B72CB19A1A}"/>
              </a:ext>
            </a:extLst>
          </p:cNvPr>
          <p:cNvSpPr txBox="1"/>
          <p:nvPr/>
        </p:nvSpPr>
        <p:spPr>
          <a:xfrm>
            <a:off x="6819369" y="4232670"/>
            <a:ext cx="1999627" cy="1331929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&lt;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データ参照</a:t>
            </a:r>
            <a:r>
              <a:rPr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API&gt;</a:t>
            </a:r>
          </a:p>
          <a:p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各テーブル検索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　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↓</a:t>
            </a:r>
            <a:endParaRPr kumimoji="1"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検索</a:t>
            </a:r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結果返却</a:t>
            </a:r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1243DB19-73AD-AF26-D3E3-CF6AC781742E}"/>
              </a:ext>
            </a:extLst>
          </p:cNvPr>
          <p:cNvCxnSpPr>
            <a:cxnSpLocks/>
          </p:cNvCxnSpPr>
          <p:nvPr/>
        </p:nvCxnSpPr>
        <p:spPr>
          <a:xfrm>
            <a:off x="15447925" y="2905363"/>
            <a:ext cx="0" cy="6548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円柱 76">
            <a:extLst>
              <a:ext uri="{FF2B5EF4-FFF2-40B4-BE49-F238E27FC236}">
                <a16:creationId xmlns:a16="http://schemas.microsoft.com/office/drawing/2014/main" id="{8917C637-49FD-5E9A-096E-A77166821B3F}"/>
              </a:ext>
            </a:extLst>
          </p:cNvPr>
          <p:cNvSpPr/>
          <p:nvPr/>
        </p:nvSpPr>
        <p:spPr>
          <a:xfrm>
            <a:off x="14946770" y="2883695"/>
            <a:ext cx="1058290" cy="472549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在庫確保</a:t>
            </a:r>
            <a:endParaRPr lang="en-US" altLang="ja-JP" sz="9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売上指示ボディ</a:t>
            </a:r>
            <a:endParaRPr kumimoji="1" lang="en-US" altLang="ja-JP" sz="9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円柱 78">
            <a:extLst>
              <a:ext uri="{FF2B5EF4-FFF2-40B4-BE49-F238E27FC236}">
                <a16:creationId xmlns:a16="http://schemas.microsoft.com/office/drawing/2014/main" id="{E2CCB5DF-22D4-B85D-AD5E-DDB5BFB1CE5E}"/>
              </a:ext>
            </a:extLst>
          </p:cNvPr>
          <p:cNvSpPr/>
          <p:nvPr/>
        </p:nvSpPr>
        <p:spPr>
          <a:xfrm>
            <a:off x="14946770" y="2536194"/>
            <a:ext cx="1058290" cy="472549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在庫確保</a:t>
            </a:r>
            <a:endParaRPr lang="en-US" altLang="ja-JP" sz="9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売上指示ヘッダー</a:t>
            </a:r>
            <a:endParaRPr kumimoji="1" lang="en-US" altLang="ja-JP" sz="9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8E15AE8A-5260-E6C4-3201-F9267F8A2817}"/>
              </a:ext>
            </a:extLst>
          </p:cNvPr>
          <p:cNvSpPr txBox="1"/>
          <p:nvPr/>
        </p:nvSpPr>
        <p:spPr>
          <a:xfrm>
            <a:off x="2300709" y="5728858"/>
            <a:ext cx="1826829" cy="433405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印刷実行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AEF2F7C1-5B84-F524-020E-51C2ED652CF7}"/>
              </a:ext>
            </a:extLst>
          </p:cNvPr>
          <p:cNvSpPr txBox="1"/>
          <p:nvPr/>
        </p:nvSpPr>
        <p:spPr>
          <a:xfrm>
            <a:off x="3703932" y="6682766"/>
            <a:ext cx="2465391" cy="313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※API</a:t>
            </a:r>
            <a:r>
              <a:rPr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リクエストに印刷情報</a:t>
            </a:r>
            <a:endParaRPr kumimoji="1" lang="ja-JP" altLang="en-US" sz="14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70" name="吹き出し: 線 69">
            <a:extLst>
              <a:ext uri="{FF2B5EF4-FFF2-40B4-BE49-F238E27FC236}">
                <a16:creationId xmlns:a16="http://schemas.microsoft.com/office/drawing/2014/main" id="{9B51D9B2-D198-2D40-F092-9D8AE130C804}"/>
              </a:ext>
            </a:extLst>
          </p:cNvPr>
          <p:cNvSpPr/>
          <p:nvPr/>
        </p:nvSpPr>
        <p:spPr>
          <a:xfrm>
            <a:off x="12719681" y="5347044"/>
            <a:ext cx="3223879" cy="735862"/>
          </a:xfrm>
          <a:prstGeom prst="borderCallout1">
            <a:avLst>
              <a:gd name="adj1" fmla="val -72891"/>
              <a:gd name="adj2" fmla="val 22299"/>
              <a:gd name="adj3" fmla="val -16566"/>
              <a:gd name="adj4" fmla="val 13051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8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現行では商品スキャン時情報ビューにて取得しています</a:t>
            </a:r>
            <a:endParaRPr kumimoji="1" lang="ja-JP" altLang="en-US" sz="1800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7433316"/>
      </p:ext>
    </p:extLst>
  </p:cSld>
  <p:clrMapOvr>
    <a:masterClrMapping/>
  </p:clrMapOvr>
</p:sld>
</file>

<file path=ppt/theme/theme1.xml><?xml version="1.0" encoding="utf-8"?>
<a:theme xmlns:a="http://schemas.openxmlformats.org/drawingml/2006/main" name="Be Original.テーマ">
  <a:themeElements>
    <a:clrScheme name="スタイルガイドライン">
      <a:dk1>
        <a:srgbClr val="59574C"/>
      </a:dk1>
      <a:lt1>
        <a:srgbClr val="FBFAF1"/>
      </a:lt1>
      <a:dk2>
        <a:srgbClr val="44546A"/>
      </a:dk2>
      <a:lt2>
        <a:srgbClr val="E7E6E6"/>
      </a:lt2>
      <a:accent1>
        <a:srgbClr val="7BA6DE"/>
      </a:accent1>
      <a:accent2>
        <a:srgbClr val="D45D00"/>
      </a:accent2>
      <a:accent3>
        <a:srgbClr val="DBDACB"/>
      </a:accent3>
      <a:accent4>
        <a:srgbClr val="FFA300"/>
      </a:accent4>
      <a:accent5>
        <a:srgbClr val="236192"/>
      </a:accent5>
      <a:accent6>
        <a:srgbClr val="035F1D"/>
      </a:accent6>
      <a:hlink>
        <a:srgbClr val="0563C1"/>
      </a:hlink>
      <a:folHlink>
        <a:srgbClr val="954F72"/>
      </a:folHlink>
    </a:clrScheme>
    <a:fontScheme name="スタイルガイドライン準拠">
      <a:majorFont>
        <a:latin typeface="Source Sans Pro"/>
        <a:ea typeface="源ノ角ゴシック JP Medium"/>
        <a:cs typeface=""/>
      </a:majorFont>
      <a:minorFont>
        <a:latin typeface="Source Sans Pro Black"/>
        <a:ea typeface="源ノ角ゴシック JP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59574C"/>
          </a:solidFill>
        </a:ln>
      </a:spPr>
      <a:bodyPr rtlCol="0" anchor="ctr"/>
      <a:lstStyle>
        <a:defPPr algn="ctr">
          <a:defRPr kumimoji="1" dirty="0" smtClean="0">
            <a:solidFill>
              <a:srgbClr val="59574C"/>
            </a:solidFill>
            <a:latin typeface="Source Sans Pro" panose="020B0503030403020204" pitchFamily="34" charset="0"/>
            <a:ea typeface="源ノ角ゴシック JP Regular" panose="020B0500000000000000" pitchFamily="34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z="3200" dirty="0" smtClean="0">
            <a:solidFill>
              <a:schemeClr val="bg1">
                <a:lumMod val="10000"/>
              </a:schemeClr>
            </a:solidFill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CC5DFE86622C54FA415395869D16A8B" ma:contentTypeVersion="11" ma:contentTypeDescription="新しいドキュメントを作成します。" ma:contentTypeScope="" ma:versionID="b3a7fc785f8413af6f238272c885c1f4">
  <xsd:schema xmlns:xsd="http://www.w3.org/2001/XMLSchema" xmlns:xs="http://www.w3.org/2001/XMLSchema" xmlns:p="http://schemas.microsoft.com/office/2006/metadata/properties" xmlns:ns2="3f41c9ba-4722-47dc-944d-e307c247106d" xmlns:ns3="7c4bc140-dba8-4755-bb3f-994b7d16408a" targetNamespace="http://schemas.microsoft.com/office/2006/metadata/properties" ma:root="true" ma:fieldsID="00166112198be06187a0c248e3ae7bfa" ns2:_="" ns3:_="">
    <xsd:import namespace="3f41c9ba-4722-47dc-944d-e307c247106d"/>
    <xsd:import namespace="7c4bc140-dba8-4755-bb3f-994b7d1640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41c9ba-4722-47dc-944d-e307c2471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6de805ed-0ddf-4e5b-915b-481f2a666b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4bc140-dba8-4755-bb3f-994b7d16408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2659d32-2768-4b7a-bd91-11b25cb1b4f1}" ma:internalName="TaxCatchAll" ma:showField="CatchAllData" ma:web="7c4bc140-dba8-4755-bb3f-994b7d1640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c4bc140-dba8-4755-bb3f-994b7d16408a" xsi:nil="true"/>
    <lcf76f155ced4ddcb4097134ff3c332f xmlns="3f41c9ba-4722-47dc-944d-e307c247106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CA27C64-A995-4794-8284-78BAE93F1357}">
  <ds:schemaRefs>
    <ds:schemaRef ds:uri="3f41c9ba-4722-47dc-944d-e307c247106d"/>
    <ds:schemaRef ds:uri="7c4bc140-dba8-4755-bb3f-994b7d1640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D70CFFA-7B27-4DC2-9E93-5F1733FBA6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C52409-3BCD-49A6-9702-299A58502060}">
  <ds:schemaRefs>
    <ds:schemaRef ds:uri="3f41c9ba-4722-47dc-944d-e307c247106d"/>
    <ds:schemaRef ds:uri="http://purl.org/dc/dcmitype/"/>
    <ds:schemaRef ds:uri="http://schemas.openxmlformats.org/package/2006/metadata/core-properties"/>
    <ds:schemaRef ds:uri="http://www.w3.org/XML/1998/namespace"/>
    <ds:schemaRef ds:uri="http://purl.org/dc/elements/1.1/"/>
    <ds:schemaRef ds:uri="7c4bc140-dba8-4755-bb3f-994b7d16408a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4097</TotalTime>
  <Words>944</Words>
  <Application>Microsoft Office PowerPoint</Application>
  <PresentationFormat>ユーザー設定</PresentationFormat>
  <Paragraphs>228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5" baseType="lpstr">
      <vt:lpstr>(日本語用のフォントを使用)</vt:lpstr>
      <vt:lpstr>HGPｺﾞｼｯｸM</vt:lpstr>
      <vt:lpstr>Meiryo UI</vt:lpstr>
      <vt:lpstr>メイリオ</vt:lpstr>
      <vt:lpstr>源ノ角ゴシック JP Regular</vt:lpstr>
      <vt:lpstr>Arial</vt:lpstr>
      <vt:lpstr>Calibri</vt:lpstr>
      <vt:lpstr>Source Sans Pro</vt:lpstr>
      <vt:lpstr>Source Sans Pro Black</vt:lpstr>
      <vt:lpstr>Be Original.テーマ</vt:lpstr>
      <vt:lpstr>PowerPoint プレゼンテーション</vt:lpstr>
      <vt:lpstr>A4帳票出力方式設計</vt:lpstr>
      <vt:lpstr>A4帳票出力方式設計</vt:lpstr>
      <vt:lpstr>A4帳票出力方式設計</vt:lpstr>
      <vt:lpstr>A4帳票出力方式設計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伊藤怜央馬/主任</dc:creator>
  <cp:lastModifiedBy>滝沢砂稚男</cp:lastModifiedBy>
  <cp:revision>88</cp:revision>
  <dcterms:created xsi:type="dcterms:W3CDTF">2022-10-24T00:43:26Z</dcterms:created>
  <dcterms:modified xsi:type="dcterms:W3CDTF">2026-06-29T05:02:39Z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0x010100ACC5DFE86622C54FA415395869D16A8B</vt:lpwstr>
  </property>
  <property fmtid="{D5CDD505-2E9C-101B-9397-08002B2CF9AE}" pid="3" name="Order">
    <vt:r8>16000</vt:r8>
  </property>
  <property fmtid="{D5CDD505-2E9C-101B-9397-08002B2CF9AE}" pid="4" name="MediaServiceImageTags">
    <vt:lpwstr/>
  </property>
</Properties>
</file>