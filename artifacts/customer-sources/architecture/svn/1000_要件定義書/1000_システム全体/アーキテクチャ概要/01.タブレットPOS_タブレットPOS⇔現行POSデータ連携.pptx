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12670" r:id="rId5"/>
    <p:sldId id="12671" r:id="rId6"/>
    <p:sldId id="12691" r:id="rId7"/>
    <p:sldId id="12693" r:id="rId8"/>
    <p:sldId id="12687" r:id="rId9"/>
    <p:sldId id="12694" r:id="rId10"/>
    <p:sldId id="12673" r:id="rId11"/>
  </p:sldIdLst>
  <p:sldSz cx="18288000" cy="10287000"/>
  <p:notesSz cx="6858000" cy="9144000"/>
  <p:defaultTextStyle>
    <a:defPPr>
      <a:defRPr lang="ja-JP"/>
    </a:defPPr>
    <a:lvl1pPr marL="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240">
          <p15:clr>
            <a:srgbClr val="A4A3A4"/>
          </p15:clr>
        </p15:guide>
        <p15:guide id="4" pos="57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FFCC"/>
    <a:srgbClr val="FFFF99"/>
    <a:srgbClr val="CCCCFF"/>
    <a:srgbClr val="0000FF"/>
    <a:srgbClr val="CC99FF"/>
    <a:srgbClr val="FFCCFF"/>
    <a:srgbClr val="CCECFF"/>
    <a:srgbClr val="FFFFC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 autoAdjust="0"/>
    <p:restoredTop sz="96652" autoAdjust="0"/>
  </p:normalViewPr>
  <p:slideViewPr>
    <p:cSldViewPr snapToGrid="0" showGuides="1">
      <p:cViewPr varScale="1">
        <p:scale>
          <a:sx n="49" d="100"/>
          <a:sy n="49" d="100"/>
        </p:scale>
        <p:origin x="604" y="32"/>
      </p:cViewPr>
      <p:guideLst>
        <p:guide orient="horz" pos="2160"/>
        <p:guide pos="3840"/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4" d="100"/>
          <a:sy n="54" d="100"/>
        </p:scale>
        <p:origin x="2631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D1929A-C832-4C51-892B-48BBA387B732}" type="datetimeFigureOut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A8D0B-D510-4154-AB0C-777825F091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1347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7A8D0B-D510-4154-AB0C-777825F0917B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809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7A8D0B-D510-4154-AB0C-777825F0917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4487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C3322-0AC1-1BA0-232C-3708A2626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F9C3F6E-830E-D987-2607-6D1B525EC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97D132B-1FDD-B260-1266-CA6FDEE3D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B2FECD-EDAA-A9BB-0597-0C6E9C3E98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7A8D0B-D510-4154-AB0C-777825F0917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8864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689DC-691E-20F0-682A-43FBB1200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0C757F1-69DA-6F7A-464B-784ABF577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F2E51CE-9E6A-CC50-F3DC-3B0E34378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F757C93-5E0B-9E52-D79B-03C7C3E846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7A8D0B-D510-4154-AB0C-777825F0917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1370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2C5C6-90B1-DC5A-A267-EBD5E072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1109E8-47F8-9FA4-6B49-63766E056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E8ECADB-2D95-E47C-98E8-B2F91A6B3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726166A-B991-9123-120C-B6C766C9AD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7A8D0B-D510-4154-AB0C-777825F0917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6430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2D1C6-1A51-F161-41B8-5E6C44C66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936375E-3DE2-6129-5054-5F21A3D72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8A70B7D-10FC-1F3E-3447-1F67386C1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9691864-0F6C-4A13-570C-5E65D316BC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7A8D0B-D510-4154-AB0C-777825F0917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2663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A8C14-8644-9101-640D-200BAEC12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79F8657-5322-B8F7-1DCD-77A0A8693B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F5C24D5-A70B-4E44-61E5-5AFE7D252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21DA48D-EB0A-476D-725C-B4D977E060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7A8D0B-D510-4154-AB0C-777825F0917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9049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カバーページ１（サブタイトル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7E334F9-60CB-4E77-A4E6-B06957FF28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999" y="973984"/>
            <a:ext cx="2158931" cy="1079466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0" y="3969000"/>
            <a:ext cx="18288000" cy="1512000"/>
          </a:xfrm>
        </p:spPr>
        <p:txBody>
          <a:bodyPr wrap="none" lIns="0" tIns="0" rIns="0" bIns="0" anchor="ctr" anchorCtr="1">
            <a:normAutofit/>
          </a:bodyPr>
          <a:lstStyle>
            <a:lvl1pPr algn="ctr">
              <a:defRPr sz="6600" baseline="0">
                <a:solidFill>
                  <a:srgbClr val="59574C"/>
                </a:solidFill>
                <a:latin typeface="(日本語用のフォントを使用)"/>
                <a:ea typeface="源ノ角ゴシック JP Medium" panose="020B0600000000000000" pitchFamily="34" charset="-128"/>
              </a:defRPr>
            </a:lvl1pPr>
          </a:lstStyle>
          <a:p>
            <a:r>
              <a:rPr kumimoji="1" lang="ja-JP" altLang="en-US" dirty="0"/>
              <a:t>プレゼンテーションタイトル</a:t>
            </a:r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385800"/>
            <a:ext cx="18288000" cy="648000"/>
          </a:xfrm>
        </p:spPr>
        <p:txBody>
          <a:bodyPr lIns="0" tIns="0" rIns="0" bIns="0" anchor="ctr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200" baseline="0">
                <a:latin typeface="(日本語用のフォントを使用)"/>
              </a:defRPr>
            </a:lvl1pPr>
            <a:lvl2pPr marL="685800" indent="0">
              <a:buNone/>
              <a:defRPr/>
            </a:lvl2pPr>
            <a:lvl3pPr marL="1371600" indent="0">
              <a:buNone/>
              <a:defRPr/>
            </a:lvl3pPr>
            <a:lvl4pPr marL="2057400" indent="0">
              <a:buNone/>
              <a:defRPr/>
            </a:lvl4pPr>
            <a:lvl5pPr marL="2743200" indent="0">
              <a:buNone/>
              <a:defRPr/>
            </a:lvl5pPr>
          </a:lstStyle>
          <a:p>
            <a:pPr lvl="0"/>
            <a:r>
              <a:rPr kumimoji="1" lang="ja-JP" altLang="en-US" dirty="0"/>
              <a:t>サブタイトル</a:t>
            </a:r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1" hasCustomPrompt="1"/>
          </p:nvPr>
        </p:nvSpPr>
        <p:spPr>
          <a:xfrm>
            <a:off x="4823999" y="7587000"/>
            <a:ext cx="8640000" cy="432000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2100" baseline="0">
                <a:latin typeface="(日本語用のフォントを使用)"/>
              </a:defRPr>
            </a:lvl1pPr>
          </a:lstStyle>
          <a:p>
            <a:pPr lvl="0"/>
            <a:r>
              <a:rPr kumimoji="1" lang="ja-JP" altLang="en-US" dirty="0"/>
              <a:t>社名</a:t>
            </a:r>
          </a:p>
        </p:txBody>
      </p:sp>
      <p:sp>
        <p:nvSpPr>
          <p:cNvPr id="16" name="テキスト プレースホルダー 15"/>
          <p:cNvSpPr>
            <a:spLocks noGrp="1"/>
          </p:cNvSpPr>
          <p:nvPr>
            <p:ph type="body" sz="quarter" idx="12" hasCustomPrompt="1"/>
          </p:nvPr>
        </p:nvSpPr>
        <p:spPr>
          <a:xfrm>
            <a:off x="4824000" y="8154000"/>
            <a:ext cx="8640000" cy="702000"/>
          </a:xfrm>
        </p:spPr>
        <p:txBody>
          <a:bodyPr anchor="ctr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aseline="0">
                <a:latin typeface="(日本語用のフォントを使用)"/>
              </a:defRPr>
            </a:lvl1pPr>
          </a:lstStyle>
          <a:p>
            <a:pPr lvl="0"/>
            <a:r>
              <a:rPr kumimoji="1" lang="ja-JP" altLang="en-US" dirty="0"/>
              <a:t>本部名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部門名</a:t>
            </a:r>
          </a:p>
        </p:txBody>
      </p:sp>
      <p:sp>
        <p:nvSpPr>
          <p:cNvPr id="11" name="日付プレースホルダー 10"/>
          <p:cNvSpPr>
            <a:spLocks noGrp="1"/>
          </p:cNvSpPr>
          <p:nvPr>
            <p:ph type="dt" sz="half" idx="15"/>
          </p:nvPr>
        </p:nvSpPr>
        <p:spPr>
          <a:xfrm>
            <a:off x="4823999" y="8991000"/>
            <a:ext cx="8640000" cy="432000"/>
          </a:xfrm>
        </p:spPr>
        <p:txBody>
          <a:bodyPr/>
          <a:lstStyle>
            <a:lvl1pPr algn="ctr">
              <a:defRPr sz="2100" baseline="0">
                <a:solidFill>
                  <a:schemeClr val="tx1"/>
                </a:solidFill>
                <a:latin typeface="(日本語用のフォントを使用)"/>
                <a:ea typeface="源ノ角ゴシック JP Regular" panose="020B0500000000000000" pitchFamily="34" charset="-128"/>
              </a:defRPr>
            </a:lvl1pPr>
          </a:lstStyle>
          <a:p>
            <a:fld id="{90DCAEF3-2FE9-4E7A-9654-2F9F5D29C984}" type="datetime1">
              <a:rPr lang="ja-JP" altLang="en-US" smtClean="0">
                <a:latin typeface="源ノ角ゴシック JP Regular" panose="020B0500000000000000" pitchFamily="34" charset="-128"/>
              </a:rPr>
              <a:pPr/>
              <a:t>2026/6/29</a:t>
            </a:fld>
            <a:endParaRPr lang="ja-JP" altLang="en-US" dirty="0">
              <a:latin typeface="源ノ角ゴシック JP Regular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8829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カバーページ２（サブタイトル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0" y="3969000"/>
            <a:ext cx="18288000" cy="1512000"/>
          </a:xfrm>
        </p:spPr>
        <p:txBody>
          <a:bodyPr wrap="none" lIns="0" tIns="0" rIns="0" bIns="0" anchor="ctr" anchorCtr="1">
            <a:normAutofit/>
          </a:bodyPr>
          <a:lstStyle>
            <a:lvl1pPr algn="ctr">
              <a:defRPr sz="6600" baseline="0">
                <a:solidFill>
                  <a:srgbClr val="59574C"/>
                </a:solidFill>
                <a:latin typeface="(日本語用のフォントを使用)"/>
                <a:ea typeface="源ノ角ゴシック JP Medium" panose="020B0600000000000000" pitchFamily="34" charset="-128"/>
              </a:defRPr>
            </a:lvl1pPr>
          </a:lstStyle>
          <a:p>
            <a:r>
              <a:rPr kumimoji="1" lang="ja-JP" altLang="en-US" dirty="0"/>
              <a:t>プレゼンテーションタイトル</a:t>
            </a:r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1" hasCustomPrompt="1"/>
          </p:nvPr>
        </p:nvSpPr>
        <p:spPr>
          <a:xfrm>
            <a:off x="4823999" y="7587000"/>
            <a:ext cx="8640000" cy="432000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2100" baseline="0">
                <a:latin typeface="(日本語用のフォントを使用)"/>
              </a:defRPr>
            </a:lvl1pPr>
          </a:lstStyle>
          <a:p>
            <a:pPr lvl="0"/>
            <a:r>
              <a:rPr kumimoji="1" lang="ja-JP" altLang="en-US" dirty="0"/>
              <a:t>社名</a:t>
            </a:r>
          </a:p>
        </p:txBody>
      </p:sp>
      <p:sp>
        <p:nvSpPr>
          <p:cNvPr id="16" name="テキスト プレースホルダー 15"/>
          <p:cNvSpPr>
            <a:spLocks noGrp="1"/>
          </p:cNvSpPr>
          <p:nvPr>
            <p:ph type="body" sz="quarter" idx="12" hasCustomPrompt="1"/>
          </p:nvPr>
        </p:nvSpPr>
        <p:spPr>
          <a:xfrm>
            <a:off x="4824000" y="8154000"/>
            <a:ext cx="8640000" cy="702000"/>
          </a:xfrm>
        </p:spPr>
        <p:txBody>
          <a:bodyPr anchor="ctr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aseline="0">
                <a:latin typeface="(日本語用のフォントを使用)"/>
              </a:defRPr>
            </a:lvl1pPr>
          </a:lstStyle>
          <a:p>
            <a:pPr lvl="0"/>
            <a:r>
              <a:rPr kumimoji="1" lang="ja-JP" altLang="en-US" dirty="0"/>
              <a:t>本部名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部門名</a:t>
            </a:r>
          </a:p>
        </p:txBody>
      </p:sp>
      <p:sp>
        <p:nvSpPr>
          <p:cNvPr id="11" name="日付プレースホルダー 10"/>
          <p:cNvSpPr>
            <a:spLocks noGrp="1"/>
          </p:cNvSpPr>
          <p:nvPr>
            <p:ph type="dt" sz="half" idx="15"/>
          </p:nvPr>
        </p:nvSpPr>
        <p:spPr>
          <a:xfrm>
            <a:off x="4823999" y="8991000"/>
            <a:ext cx="8640000" cy="432000"/>
          </a:xfrm>
        </p:spPr>
        <p:txBody>
          <a:bodyPr/>
          <a:lstStyle>
            <a:lvl1pPr algn="ctr">
              <a:defRPr sz="2100" baseline="0">
                <a:solidFill>
                  <a:schemeClr val="tx1"/>
                </a:solidFill>
                <a:latin typeface="(日本語用のフォントを使用)"/>
                <a:ea typeface="源ノ角ゴシック JP Regular" panose="020B0500000000000000" pitchFamily="34" charset="-128"/>
              </a:defRPr>
            </a:lvl1pPr>
          </a:lstStyle>
          <a:p>
            <a:fld id="{9082DA5B-CFED-4EA9-A9CF-51D6B7194673}" type="datetime1">
              <a:rPr lang="ja-JP" altLang="en-US" smtClean="0">
                <a:latin typeface="源ノ角ゴシック JP Regular" panose="020B0500000000000000" pitchFamily="34" charset="-128"/>
              </a:rPr>
              <a:pPr/>
              <a:t>2026/6/29</a:t>
            </a:fld>
            <a:endParaRPr lang="ja-JP" altLang="en-US" dirty="0">
              <a:latin typeface="源ノ角ゴシック JP Regular" panose="020B0500000000000000" pitchFamily="34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74C3497D-F957-437C-BA52-9036B28F34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999" y="973984"/>
            <a:ext cx="2158931" cy="107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42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インデックス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/>
            </a:lvl1pPr>
          </a:lstStyle>
          <a:p>
            <a:fld id="{79AB4D3F-2AE4-467C-9678-D47D57DA8B15}" type="datetime1">
              <a:rPr lang="ja-JP" altLang="en-US" smtClean="0"/>
              <a:t>2026/6/29</a:t>
            </a:fld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E37A5-A917-4235-ABF6-8CD72E894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1"/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ja-JP" altLang="en-US" sz="2700" baseline="0"/>
            </a:lvl1pPr>
          </a:lstStyle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13"/>
          </p:nvPr>
        </p:nvSpPr>
        <p:spPr>
          <a:xfrm>
            <a:off x="7349401" y="2764800"/>
            <a:ext cx="7782446" cy="4757400"/>
          </a:xfrm>
        </p:spPr>
        <p:txBody>
          <a:bodyPr anchor="ctr" anchorCtr="0"/>
          <a:lstStyle>
            <a:lvl1pPr marL="771525" indent="-771525">
              <a:buFont typeface="+mj-lt"/>
              <a:buAutoNum type="arabicPeriod"/>
              <a:defRPr baseline="0">
                <a:solidFill>
                  <a:srgbClr val="59574C"/>
                </a:solidFill>
                <a:latin typeface="(日本語用のフォントを使用)"/>
              </a:defRPr>
            </a:lvl1pPr>
            <a:lvl2pPr marL="1371600" indent="-685800">
              <a:buFont typeface="+mj-lt"/>
              <a:buAutoNum type="arabicPeriod"/>
              <a:defRPr baseline="0">
                <a:solidFill>
                  <a:srgbClr val="59574C"/>
                </a:solidFill>
                <a:latin typeface="(日本語用のフォントを使用)"/>
              </a:defRPr>
            </a:lvl2pPr>
            <a:lvl3pPr marL="2057400" indent="-685800">
              <a:buFont typeface="+mj-lt"/>
              <a:buAutoNum type="arabicPeriod"/>
              <a:defRPr baseline="0">
                <a:solidFill>
                  <a:srgbClr val="59574C"/>
                </a:solidFill>
                <a:latin typeface="(日本語用のフォントを使用)"/>
              </a:defRPr>
            </a:lvl3pPr>
            <a:lvl4pPr marL="2571750" indent="-514350">
              <a:buFont typeface="+mj-lt"/>
              <a:buAutoNum type="arabicPeriod"/>
              <a:defRPr baseline="0">
                <a:solidFill>
                  <a:srgbClr val="59574C"/>
                </a:solidFill>
                <a:latin typeface="(日本語用のフォントを使用)"/>
              </a:defRPr>
            </a:lvl4pPr>
            <a:lvl5pPr marL="3257550" indent="-514350">
              <a:buFont typeface="+mj-lt"/>
              <a:buAutoNum type="arabicPeriod"/>
              <a:defRPr baseline="0">
                <a:solidFill>
                  <a:srgbClr val="59574C"/>
                </a:solidFill>
                <a:latin typeface="(日本語用のフォントを使用)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0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  <p:cxnSp>
        <p:nvCxnSpPr>
          <p:cNvPr id="12" name="直線コネクタ 11"/>
          <p:cNvCxnSpPr/>
          <p:nvPr/>
        </p:nvCxnSpPr>
        <p:spPr>
          <a:xfrm>
            <a:off x="376943" y="1092633"/>
            <a:ext cx="17533058" cy="0"/>
          </a:xfrm>
          <a:prstGeom prst="line">
            <a:avLst/>
          </a:prstGeom>
          <a:ln w="19050">
            <a:solidFill>
              <a:srgbClr val="DBDA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図 14">
            <a:extLst>
              <a:ext uri="{FF2B5EF4-FFF2-40B4-BE49-F238E27FC236}">
                <a16:creationId xmlns:a16="http://schemas.microsoft.com/office/drawing/2014/main" id="{AC6B63DF-389A-4A98-8956-5BBF5DFBE8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600" y="240300"/>
            <a:ext cx="1620000" cy="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670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コンテンツ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 lIns="0" tIns="0" rIns="0" bIns="0">
            <a:normAutofit/>
          </a:bodyPr>
          <a:lstStyle>
            <a:lvl1pPr>
              <a:defRPr sz="2700" baseline="0">
                <a:solidFill>
                  <a:srgbClr val="59574C"/>
                </a:solidFill>
                <a:latin typeface="(日本語用のフォントを使用)"/>
                <a:ea typeface="源ノ角ゴシック JP Regular" panose="020B0500000000000000" pitchFamily="34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10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34031DBB-3291-48BB-BC28-17084E3E4F7C}" type="datetime1">
              <a:rPr lang="ja-JP" altLang="en-US" smtClean="0"/>
              <a:t>2026/6/29</a:t>
            </a:fld>
            <a:endParaRPr lang="ja-JP" altLang="en-US"/>
          </a:p>
        </p:txBody>
      </p:sp>
      <p:sp>
        <p:nvSpPr>
          <p:cNvPr id="11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 baseline="0"/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12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ABD4378A-B289-4FC9-ADA8-4EF64E98E7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600" y="240300"/>
            <a:ext cx="1620000" cy="810000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312CBCCE-C37F-4386-8BB6-498ADD1684D3}"/>
              </a:ext>
            </a:extLst>
          </p:cNvPr>
          <p:cNvCxnSpPr/>
          <p:nvPr userDrawn="1"/>
        </p:nvCxnSpPr>
        <p:spPr>
          <a:xfrm>
            <a:off x="376943" y="1092633"/>
            <a:ext cx="17533058" cy="0"/>
          </a:xfrm>
          <a:prstGeom prst="line">
            <a:avLst/>
          </a:prstGeom>
          <a:ln w="19050">
            <a:solidFill>
              <a:srgbClr val="DBDA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094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コンテンツ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ja-JP" altLang="en-US" sz="2700"/>
            </a:lvl1pPr>
          </a:lstStyle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76942" y="1242000"/>
            <a:ext cx="17502458" cy="8656200"/>
          </a:xfrm>
        </p:spPr>
        <p:txBody>
          <a:bodyPr lIns="0" tIns="0" rIns="0" bIns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3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9F6429C1-8E62-4761-9877-E62B2DA92B1C}" type="datetime1">
              <a:rPr lang="ja-JP" altLang="en-US" smtClean="0"/>
              <a:t>2026/6/29</a:t>
            </a:fld>
            <a:endParaRPr lang="ja-JP" altLang="en-US"/>
          </a:p>
        </p:txBody>
      </p:sp>
      <p:sp>
        <p:nvSpPr>
          <p:cNvPr id="14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/>
          <a:p>
            <a:fld id="{2A9E37A5-A917-4235-ABF6-8CD72E894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  <p:cxnSp>
        <p:nvCxnSpPr>
          <p:cNvPr id="17" name="直線コネクタ 16"/>
          <p:cNvCxnSpPr/>
          <p:nvPr/>
        </p:nvCxnSpPr>
        <p:spPr>
          <a:xfrm>
            <a:off x="376943" y="1092633"/>
            <a:ext cx="17533058" cy="0"/>
          </a:xfrm>
          <a:prstGeom prst="line">
            <a:avLst/>
          </a:prstGeom>
          <a:ln w="19050">
            <a:solidFill>
              <a:srgbClr val="DBDA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161F1F23-9698-4103-B3E9-5E4E605E8A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600" y="240300"/>
            <a:ext cx="1620000" cy="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056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コンテンツ_03(2 つのコンテンツ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ja-JP" altLang="en-US" sz="2700"/>
            </a:lvl1pPr>
          </a:lstStyle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378000" y="1242000"/>
            <a:ext cx="8586000" cy="863607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9293400" y="1242000"/>
            <a:ext cx="8586000" cy="86346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1F8B608F-4DEC-4D1D-B141-E614FF5669E8}" type="datetime1">
              <a:rPr lang="ja-JP" altLang="en-US" smtClean="0"/>
              <a:t>2026/6/29</a:t>
            </a:fld>
            <a:endParaRPr lang="ja-JP" altLang="en-US"/>
          </a:p>
        </p:txBody>
      </p:sp>
      <p:sp>
        <p:nvSpPr>
          <p:cNvPr id="12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 baseline="0"/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13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  <p:cxnSp>
        <p:nvCxnSpPr>
          <p:cNvPr id="15" name="直線コネクタ 14"/>
          <p:cNvCxnSpPr/>
          <p:nvPr/>
        </p:nvCxnSpPr>
        <p:spPr>
          <a:xfrm>
            <a:off x="376943" y="1092633"/>
            <a:ext cx="17533058" cy="0"/>
          </a:xfrm>
          <a:prstGeom prst="line">
            <a:avLst/>
          </a:prstGeom>
          <a:ln w="19050">
            <a:solidFill>
              <a:srgbClr val="DBDA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図 16">
            <a:extLst>
              <a:ext uri="{FF2B5EF4-FFF2-40B4-BE49-F238E27FC236}">
                <a16:creationId xmlns:a16="http://schemas.microsoft.com/office/drawing/2014/main" id="{25CCDFE0-FDBF-4B25-8E18-40F619D84A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600" y="240300"/>
            <a:ext cx="1620000" cy="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2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コンテンツ_04(比較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ja-JP" altLang="en-US" sz="2700"/>
            </a:lvl1pPr>
          </a:lstStyle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76941" y="1285877"/>
            <a:ext cx="8586000" cy="1242000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76943" y="2527876"/>
            <a:ext cx="8586000" cy="7316672"/>
          </a:xfrm>
        </p:spPr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258300" y="1285877"/>
            <a:ext cx="8586000" cy="1242000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9258297" y="2527874"/>
            <a:ext cx="8621103" cy="7316672"/>
          </a:xfrm>
        </p:spPr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6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F1A58DF4-246C-48C1-B3B6-DF06CB441F9A}" type="datetime1">
              <a:rPr lang="ja-JP" altLang="en-US" smtClean="0"/>
              <a:t>2026/6/29</a:t>
            </a:fld>
            <a:endParaRPr lang="ja-JP" altLang="en-US"/>
          </a:p>
        </p:txBody>
      </p:sp>
      <p:sp>
        <p:nvSpPr>
          <p:cNvPr id="17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 baseline="0"/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18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0169B903-E552-491B-BCBD-8D3E55AF30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600" y="240300"/>
            <a:ext cx="1620000" cy="810000"/>
          </a:xfrm>
          <a:prstGeom prst="rect">
            <a:avLst/>
          </a:prstGeom>
        </p:spPr>
      </p:pic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C3A5A175-8709-48AA-AEF7-8D4CA06A041E}"/>
              </a:ext>
            </a:extLst>
          </p:cNvPr>
          <p:cNvCxnSpPr/>
          <p:nvPr userDrawn="1"/>
        </p:nvCxnSpPr>
        <p:spPr>
          <a:xfrm>
            <a:off x="376943" y="1092633"/>
            <a:ext cx="17533058" cy="0"/>
          </a:xfrm>
          <a:prstGeom prst="line">
            <a:avLst/>
          </a:prstGeom>
          <a:ln w="19050">
            <a:solidFill>
              <a:srgbClr val="DBDA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013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画面（基本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75D6162-6F61-4AA5-AF9B-79A5B59DCD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800" y="4732241"/>
            <a:ext cx="5576400" cy="82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249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144D8984-AA42-45E4-8983-9A2054881900}" type="datetime1">
              <a:rPr lang="ja-JP" altLang="en-US" smtClean="0"/>
              <a:t>2026/6/29</a:t>
            </a:fld>
            <a:endParaRPr lang="ja-JP" altLang="en-US"/>
          </a:p>
        </p:txBody>
      </p:sp>
      <p:sp>
        <p:nvSpPr>
          <p:cNvPr id="10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 baseline="0"/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11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58615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F68BAD66-5485-4BF5-88CF-01CF8CEDDAD3}" type="datetime1">
              <a:rPr lang="ja-JP" altLang="en-US" smtClean="0"/>
              <a:t>2026/6/29</a:t>
            </a:fld>
            <a:endParaRPr lang="ja-JP" altLang="en-US"/>
          </a:p>
        </p:txBody>
      </p:sp>
      <p:sp>
        <p:nvSpPr>
          <p:cNvPr id="12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 baseline="0"/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13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73433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A6B0F656-4EE4-4163-B9C3-DDD4915C9549}" type="datetime1">
              <a:rPr lang="ja-JP" altLang="en-US" smtClean="0"/>
              <a:t>2026/6/29</a:t>
            </a:fld>
            <a:endParaRPr lang="ja-JP" altLang="en-US"/>
          </a:p>
        </p:txBody>
      </p:sp>
      <p:sp>
        <p:nvSpPr>
          <p:cNvPr id="9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/>
          <a:p>
            <a:fld id="{2A9E37A5-A917-4235-ABF6-8CD72E894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86500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137160" tIns="68580" rIns="137160" bIns="6858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378000" y="9936000"/>
            <a:ext cx="4114800" cy="32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500" baseline="0">
                <a:solidFill>
                  <a:schemeClr val="tx1">
                    <a:tint val="75000"/>
                  </a:schemeClr>
                </a:solidFill>
                <a:latin typeface="(日本語用のフォントを使用)"/>
                <a:ea typeface="源ノ角ゴシック JP Regular" panose="020B0500000000000000" pitchFamily="34" charset="-128"/>
              </a:defRPr>
            </a:lvl1pPr>
          </a:lstStyle>
          <a:p>
            <a:fld id="{C05EB7AA-217B-4EAE-BEC9-43341D9BD9B2}" type="datetime1">
              <a:rPr lang="ja-JP" altLang="en-US" smtClean="0">
                <a:latin typeface="源ノ角ゴシック JP Regular" panose="020B0500000000000000" pitchFamily="34" charset="-128"/>
              </a:rPr>
              <a:pPr/>
              <a:t>2026/6/29</a:t>
            </a:fld>
            <a:endParaRPr lang="ja-JP" altLang="en-US" dirty="0">
              <a:latin typeface="源ノ角ゴシック JP Regular" panose="020B0500000000000000" pitchFamily="34" charset="-128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5449400" y="9936000"/>
            <a:ext cx="1620000" cy="32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lang="en-US" altLang="ja-JP" sz="1500" baseline="0" smtClean="0">
                <a:solidFill>
                  <a:schemeClr val="tx1">
                    <a:tint val="75000"/>
                  </a:schemeClr>
                </a:solidFill>
                <a:latin typeface="(日本語用のフォントを使用)"/>
                <a:ea typeface="源ノ角ゴシック JP Regular" panose="020B0500000000000000" pitchFamily="34" charset="-128"/>
              </a:defRPr>
            </a:lvl1pPr>
          </a:lstStyle>
          <a:p>
            <a:r>
              <a:rPr lang="en-US" dirty="0">
                <a:latin typeface="源ノ角ゴシック JP Regular" panose="020B0500000000000000" pitchFamily="34" charset="-128"/>
              </a:rPr>
              <a:t>Confidential 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069400" y="9936000"/>
            <a:ext cx="810000" cy="32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lang="ja-JP" altLang="en-US" sz="1500" baseline="0" smtClean="0">
                <a:solidFill>
                  <a:schemeClr val="tx1">
                    <a:tint val="75000"/>
                  </a:schemeClr>
                </a:solidFill>
                <a:latin typeface="(日本語用のフォントを使用)"/>
                <a:ea typeface="源ノ角ゴシック JP Regular" panose="020B0500000000000000" pitchFamily="34" charset="-128"/>
              </a:defRPr>
            </a:lvl1pPr>
          </a:lstStyle>
          <a:p>
            <a:fld id="{2A9E37A5-A917-4235-ABF6-8CD72E894915}" type="slidenum">
              <a:rPr lang="en-US" altLang="ja-JP" smtClean="0">
                <a:latin typeface="源ノ角ゴシック JP Regular" panose="020B0500000000000000" pitchFamily="34" charset="-128"/>
              </a:rPr>
              <a:pPr/>
              <a:t>‹#›</a:t>
            </a:fld>
            <a:endParaRPr lang="en-US" altLang="ja-JP" dirty="0">
              <a:latin typeface="源ノ角ゴシック JP Regular" panose="020B0500000000000000" pitchFamily="34" charset="-128"/>
            </a:endParaRPr>
          </a:p>
        </p:txBody>
      </p:sp>
      <p:sp>
        <p:nvSpPr>
          <p:cNvPr id="7" name="フッター プレースホルダー 4"/>
          <p:cNvSpPr txBox="1">
            <a:spLocks/>
          </p:cNvSpPr>
          <p:nvPr userDrawn="1"/>
        </p:nvSpPr>
        <p:spPr>
          <a:xfrm>
            <a:off x="9277200" y="9936001"/>
            <a:ext cx="6172200" cy="378002"/>
          </a:xfrm>
          <a:prstGeom prst="rect">
            <a:avLst/>
          </a:prstGeom>
        </p:spPr>
        <p:txBody>
          <a:bodyPr vert="horz" lIns="137160" tIns="68580" rIns="137160" bIns="6858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62795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55" r:id="rId3"/>
    <p:sldLayoutId id="2147483654" r:id="rId4"/>
    <p:sldLayoutId id="2147483650" r:id="rId5"/>
    <p:sldLayoutId id="2147483652" r:id="rId6"/>
    <p:sldLayoutId id="2147483653" r:id="rId7"/>
    <p:sldLayoutId id="2147483658" r:id="rId8"/>
    <p:sldLayoutId id="2147483660" r:id="rId9"/>
    <p:sldLayoutId id="2147483656" r:id="rId10"/>
    <p:sldLayoutId id="2147483657" r:id="rId11"/>
  </p:sldLayoutIdLst>
  <p:hf hdr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kumimoji="1" sz="3600" kern="1200" baseline="0">
          <a:solidFill>
            <a:srgbClr val="59574C"/>
          </a:solidFill>
          <a:latin typeface="(日本語用のフォントを使用)"/>
          <a:ea typeface="源ノ角ゴシック JP Regular" panose="020B0500000000000000" pitchFamily="34" charset="-128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kumimoji="1" sz="4200" kern="1200" baseline="0">
          <a:solidFill>
            <a:schemeClr val="tx1"/>
          </a:solidFill>
          <a:latin typeface="+mn-lt"/>
          <a:ea typeface="源ノ角ゴシック JP Regular" panose="020B0500000000000000" pitchFamily="34" charset="-128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3600" kern="1200" baseline="0">
          <a:solidFill>
            <a:schemeClr val="tx1"/>
          </a:solidFill>
          <a:latin typeface="+mn-lt"/>
          <a:ea typeface="源ノ角ゴシック JP Regular" panose="020B0500000000000000" pitchFamily="34" charset="-128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3000" kern="1200" baseline="0">
          <a:solidFill>
            <a:schemeClr val="tx1"/>
          </a:solidFill>
          <a:latin typeface="+mn-lt"/>
          <a:ea typeface="源ノ角ゴシック JP Regular" panose="020B0500000000000000" pitchFamily="34" charset="-128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 baseline="0">
          <a:solidFill>
            <a:schemeClr val="tx1"/>
          </a:solidFill>
          <a:latin typeface="+mn-lt"/>
          <a:ea typeface="源ノ角ゴシック JP Regular" panose="020B0500000000000000" pitchFamily="34" charset="-128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 baseline="0">
          <a:solidFill>
            <a:schemeClr val="tx1"/>
          </a:solidFill>
          <a:latin typeface="+mn-lt"/>
          <a:ea typeface="源ノ角ゴシック JP Regular" panose="020B0500000000000000" pitchFamily="34" charset="-128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スライド番号プレースホルダー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E37A5-A917-4235-ABF6-8CD72E894915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7AC65879-7FD1-5159-5240-E3ADC0AF25C0}"/>
              </a:ext>
            </a:extLst>
          </p:cNvPr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57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Arial" panose="020B0604020202020204" pitchFamily="34" charset="0"/>
              </a:rPr>
              <a:t>Copyright © All rights reserved, Sharp Marketing Japan Corporation</a:t>
            </a:r>
            <a:endParaRPr lang="ja-JP" altLang="en-US" sz="1575" dirty="0">
              <a:latin typeface="HGPｺﾞｼｯｸM" panose="020B0600000000000000" pitchFamily="50" charset="-128"/>
              <a:ea typeface="HGPｺﾞｼｯｸM" panose="020B06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5" name="フッター プレースホルダー 8">
            <a:extLst>
              <a:ext uri="{FF2B5EF4-FFF2-40B4-BE49-F238E27FC236}">
                <a16:creationId xmlns:a16="http://schemas.microsoft.com/office/drawing/2014/main" id="{4BFBC7A3-80BB-2E54-1CEC-26AE4427A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lang="en-US" altLang="ja-JP" sz="1650" b="1" dirty="0"/>
              <a:t>Confidential </a:t>
            </a:r>
            <a:endParaRPr lang="ja-JP" altLang="en-US" sz="1650" b="1" dirty="0"/>
          </a:p>
        </p:txBody>
      </p:sp>
      <p:grpSp>
        <p:nvGrpSpPr>
          <p:cNvPr id="8" name="グループ化 22">
            <a:extLst>
              <a:ext uri="{FF2B5EF4-FFF2-40B4-BE49-F238E27FC236}">
                <a16:creationId xmlns:a16="http://schemas.microsoft.com/office/drawing/2014/main" id="{AAF6A984-94EF-49FC-9760-F28BEC404163}"/>
              </a:ext>
            </a:extLst>
          </p:cNvPr>
          <p:cNvGrpSpPr/>
          <p:nvPr/>
        </p:nvGrpSpPr>
        <p:grpSpPr>
          <a:xfrm>
            <a:off x="1415367" y="4759592"/>
            <a:ext cx="16997199" cy="967652"/>
            <a:chOff x="-439385" y="-73503"/>
            <a:chExt cx="9583385" cy="483826"/>
          </a:xfrm>
        </p:grpSpPr>
        <p:sp>
          <p:nvSpPr>
            <p:cNvPr id="9" name="角丸四角形 3">
              <a:extLst>
                <a:ext uri="{FF2B5EF4-FFF2-40B4-BE49-F238E27FC236}">
                  <a16:creationId xmlns:a16="http://schemas.microsoft.com/office/drawing/2014/main" id="{C3F9DEA1-9F8B-4EC4-9D6B-8A097D57D62B}"/>
                </a:ext>
              </a:extLst>
            </p:cNvPr>
            <p:cNvSpPr/>
            <p:nvPr/>
          </p:nvSpPr>
          <p:spPr bwMode="auto">
            <a:xfrm>
              <a:off x="-439385" y="-73503"/>
              <a:ext cx="9144000" cy="383908"/>
            </a:xfrm>
            <a:prstGeom prst="roundRect">
              <a:avLst>
                <a:gd name="adj" fmla="val 0"/>
              </a:avLst>
            </a:prstGeom>
            <a:solidFill>
              <a:srgbClr val="E5E3D4"/>
            </a:solidFill>
            <a:ln>
              <a:noFill/>
            </a:ln>
            <a:effectLst/>
          </p:spPr>
          <p:txBody>
            <a:bodyPr lIns="0" tIns="0" rIns="0" bIns="0" rtlCol="0" anchor="ctr">
              <a:noAutofit/>
            </a:bodyPr>
            <a:lstStyle/>
            <a:p>
              <a:pPr algn="just">
                <a:lnSpc>
                  <a:spcPct val="140000"/>
                </a:lnSpc>
                <a:spcBef>
                  <a:spcPct val="0"/>
                </a:spcBef>
                <a:spcAft>
                  <a:spcPts val="1022"/>
                </a:spcAft>
              </a:pPr>
              <a:endParaRPr lang="ja-JP" altLang="en-US" sz="280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10" name="Line 5">
              <a:extLst>
                <a:ext uri="{FF2B5EF4-FFF2-40B4-BE49-F238E27FC236}">
                  <a16:creationId xmlns:a16="http://schemas.microsoft.com/office/drawing/2014/main" id="{C3A3B830-65E0-4A2E-A9C4-CE4E415EBA7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410323"/>
              <a:ext cx="9144000" cy="0"/>
            </a:xfrm>
            <a:prstGeom prst="line">
              <a:avLst/>
            </a:prstGeom>
            <a:noFill/>
            <a:ln w="12700">
              <a:solidFill>
                <a:srgbClr val="E5E3D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/>
            <a:p>
              <a:endParaRPr lang="ja-JP" altLang="en-US" sz="3600"/>
            </a:p>
          </p:txBody>
        </p:sp>
      </p:grp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5FF97F0-39F2-468F-918B-BFB6B6B3F365}"/>
              </a:ext>
            </a:extLst>
          </p:cNvPr>
          <p:cNvSpPr txBox="1"/>
          <p:nvPr/>
        </p:nvSpPr>
        <p:spPr>
          <a:xfrm>
            <a:off x="1415368" y="4650245"/>
            <a:ext cx="15859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800" b="1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タブレット</a:t>
            </a:r>
            <a:r>
              <a:rPr lang="en-US" altLang="ja-JP" sz="4800" b="1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POS</a:t>
            </a:r>
            <a:r>
              <a:rPr lang="ja-JP" altLang="en-US" sz="4800" b="1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 </a:t>
            </a:r>
            <a:r>
              <a:rPr lang="en-US" altLang="ja-JP" sz="4800" b="1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API</a:t>
            </a:r>
            <a:r>
              <a:rPr lang="ja-JP" altLang="en-US" sz="4800" b="1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データ連携</a:t>
            </a:r>
          </a:p>
        </p:txBody>
      </p:sp>
    </p:spTree>
    <p:extLst>
      <p:ext uri="{BB962C8B-B14F-4D97-AF65-F5344CB8AC3E}">
        <p14:creationId xmlns:p14="http://schemas.microsoft.com/office/powerpoint/2010/main" val="2521110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フッター プレースホルダー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50" b="1" i="0" u="none" strike="noStrike" kern="1200" cap="none" spc="0" normalizeH="0" baseline="0" noProof="0" dirty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t>Confidential </a:t>
            </a:r>
            <a:endParaRPr kumimoji="1" lang="ja-JP" altLang="en-US" sz="1650" b="1" i="0" u="none" strike="noStrike" kern="1200" cap="none" spc="0" normalizeH="0" baseline="0" noProof="0" dirty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10" name="スライド番号プレースホルダー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9E37A5-A917-4235-ABF6-8CD72E894915}" type="slidenum">
              <a:rPr kumimoji="1" lang="en-US" altLang="ja-JP" sz="1500" b="0" i="0" u="none" strike="noStrike" kern="1200" cap="none" spc="0" normalizeH="0" baseline="0" noProof="0" smtClean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ja-JP" altLang="en-US" sz="1500" b="0" i="0" u="none" strike="noStrike" kern="1200" cap="none" spc="0" normalizeH="0" baseline="0" noProof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9AFEE408-19C8-68E6-4983-96BA0A9CA816}"/>
              </a:ext>
            </a:extLst>
          </p:cNvPr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575" b="0" i="0" u="none" strike="noStrike" kern="1200" cap="none" spc="0" normalizeH="0" baseline="0" noProof="0" dirty="0">
                <a:ln>
                  <a:noFill/>
                </a:ln>
                <a:solidFill>
                  <a:srgbClr val="9A9A96"/>
                </a:solidFill>
                <a:effectLst/>
                <a:uLnTx/>
                <a:uFillTx/>
                <a:latin typeface="HGPｺﾞｼｯｸM" panose="020B0600000000000000" pitchFamily="50" charset="-128"/>
                <a:ea typeface="HGPｺﾞｼｯｸM" panose="020B0600000000000000" pitchFamily="50" charset="-128"/>
                <a:cs typeface="Arial" panose="020B0604020202020204" pitchFamily="34" charset="0"/>
              </a:rPr>
              <a:t>Copyright © All rights reserved, Sharp Marketing Japan Corporation</a:t>
            </a:r>
            <a:endParaRPr kumimoji="1" lang="ja-JP" altLang="en-US" sz="1575" b="0" i="0" u="none" strike="noStrike" kern="1200" cap="none" spc="0" normalizeH="0" baseline="0" noProof="0" dirty="0">
              <a:ln>
                <a:noFill/>
              </a:ln>
              <a:solidFill>
                <a:srgbClr val="9A9A96"/>
              </a:solidFill>
              <a:effectLst/>
              <a:uLnTx/>
              <a:uFillTx/>
              <a:latin typeface="HGPｺﾞｼｯｸM" panose="020B0600000000000000" pitchFamily="50" charset="-128"/>
              <a:ea typeface="HGPｺﾞｼｯｸM" panose="020B06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11" name="コンテンツ プレースホルダー 3">
            <a:extLst>
              <a:ext uri="{FF2B5EF4-FFF2-40B4-BE49-F238E27FC236}">
                <a16:creationId xmlns:a16="http://schemas.microsoft.com/office/drawing/2014/main" id="{1816DB91-96ED-40FA-A739-05243431B836}"/>
              </a:ext>
            </a:extLst>
          </p:cNvPr>
          <p:cNvSpPr txBox="1">
            <a:spLocks/>
          </p:cNvSpPr>
          <p:nvPr/>
        </p:nvSpPr>
        <p:spPr>
          <a:xfrm>
            <a:off x="405609" y="-313678"/>
            <a:ext cx="18090000" cy="13157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250000"/>
              </a:lnSpc>
              <a:buNone/>
            </a:pP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タブレット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POS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 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API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データ連携</a:t>
            </a:r>
            <a:endParaRPr kumimoji="1" lang="en-US" altLang="ja-JP" sz="3600" b="1" i="0" u="none" strike="noStrike" kern="1200" cap="none" spc="0" normalizeH="0" baseline="0" noProof="0" dirty="0">
              <a:ln>
                <a:noFill/>
              </a:ln>
              <a:solidFill>
                <a:srgbClr val="59574C"/>
              </a:solidFill>
              <a:effectLst/>
              <a:uLnTx/>
              <a:uFillTx/>
              <a:latin typeface="源ノ角ゴシック JP Medium"/>
              <a:ea typeface="源ノ角ゴシック JP Medium"/>
              <a:cs typeface="+mn-cs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D0EA77F-141D-DB67-E346-2F5CB0187737}"/>
              </a:ext>
            </a:extLst>
          </p:cNvPr>
          <p:cNvSpPr txBox="1"/>
          <p:nvPr/>
        </p:nvSpPr>
        <p:spPr>
          <a:xfrm>
            <a:off x="405609" y="1079510"/>
            <a:ext cx="17473791" cy="64256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データ連携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方針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</a:p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・タブレット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の入力情報登録と実績データ作成を非同期とします。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　⇒データ登録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は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JSON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形式の入力情報をテーブルに登録し、タブレット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にレシート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/A4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帳票印刷データを返します。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テーブルに登録された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JSON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データを元にタブレット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で参照する実績データを作成します。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※JSON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の項目は実績データの項目と同じとします。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・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OCI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に構築する次世代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用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DB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は「セントラル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DB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」とします（略称：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CPOS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）。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　＜セントラル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DB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環境＞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・タブレット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用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DB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⇔現行システムデータのデータ連携を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DataSpider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を使用します。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1BFA381C-26F7-AA63-BAAF-E14F6B9D82BA}"/>
              </a:ext>
            </a:extLst>
          </p:cNvPr>
          <p:cNvGraphicFramePr>
            <a:graphicFrameLocks noGrp="1"/>
          </p:cNvGraphicFramePr>
          <p:nvPr/>
        </p:nvGraphicFramePr>
        <p:xfrm>
          <a:off x="1468582" y="4747260"/>
          <a:ext cx="1219200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3179368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1645998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085915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DB</a:t>
                      </a:r>
                      <a:r>
                        <a:rPr kumimoji="1" lang="ja-JP" altLang="en-US" sz="2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種類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DB</a:t>
                      </a:r>
                      <a:r>
                        <a:rPr kumimoji="1" lang="ja-JP" altLang="en-US" sz="2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バージョン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文字コード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435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AutonomousDB</a:t>
                      </a:r>
                      <a:endParaRPr kumimoji="1" lang="ja-JP" altLang="en-US" sz="2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26ai</a:t>
                      </a:r>
                      <a:endParaRPr kumimoji="1" lang="ja-JP" altLang="en-US" sz="2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AL32UTF8</a:t>
                      </a:r>
                      <a:endParaRPr kumimoji="1" lang="ja-JP" altLang="en-US" sz="2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80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7654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F5F19-F532-A5D1-66DF-04C2AD5C6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74E32516-EF53-CBA0-A7DD-D2A266ED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50" b="1" i="0" u="none" strike="noStrike" kern="1200" cap="none" spc="0" normalizeH="0" baseline="0" noProof="0" dirty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t>Confidential </a:t>
            </a:r>
            <a:endParaRPr kumimoji="1" lang="ja-JP" altLang="en-US" sz="1650" b="1" i="0" u="none" strike="noStrike" kern="1200" cap="none" spc="0" normalizeH="0" baseline="0" noProof="0" dirty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E325D743-1E3A-6648-B7D3-B2E33FF06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9E37A5-A917-4235-ABF6-8CD72E894915}" type="slidenum">
              <a:rPr kumimoji="1" lang="en-US" altLang="ja-JP" sz="1500" b="0" i="0" u="none" strike="noStrike" kern="1200" cap="none" spc="0" normalizeH="0" baseline="0" noProof="0" smtClean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1500" b="0" i="0" u="none" strike="noStrike" kern="1200" cap="none" spc="0" normalizeH="0" baseline="0" noProof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12AE66AB-0BEB-D79B-BD09-85116D23800B}"/>
              </a:ext>
            </a:extLst>
          </p:cNvPr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575" b="0" i="0" u="none" strike="noStrike" kern="1200" cap="none" spc="0" normalizeH="0" baseline="0" noProof="0" dirty="0">
                <a:ln>
                  <a:noFill/>
                </a:ln>
                <a:solidFill>
                  <a:srgbClr val="9A9A96"/>
                </a:solidFill>
                <a:effectLst/>
                <a:uLnTx/>
                <a:uFillTx/>
                <a:latin typeface="HGPｺﾞｼｯｸM" panose="020B0600000000000000" pitchFamily="50" charset="-128"/>
                <a:ea typeface="HGPｺﾞｼｯｸM" panose="020B0600000000000000" pitchFamily="50" charset="-128"/>
                <a:cs typeface="Arial" panose="020B0604020202020204" pitchFamily="34" charset="0"/>
              </a:rPr>
              <a:t>Copyright © All rights reserved, Sharp Marketing Japan Corporation</a:t>
            </a:r>
            <a:endParaRPr kumimoji="1" lang="ja-JP" altLang="en-US" sz="1575" b="0" i="0" u="none" strike="noStrike" kern="1200" cap="none" spc="0" normalizeH="0" baseline="0" noProof="0" dirty="0">
              <a:ln>
                <a:noFill/>
              </a:ln>
              <a:solidFill>
                <a:srgbClr val="9A9A96"/>
              </a:solidFill>
              <a:effectLst/>
              <a:uLnTx/>
              <a:uFillTx/>
              <a:latin typeface="HGPｺﾞｼｯｸM" panose="020B0600000000000000" pitchFamily="50" charset="-128"/>
              <a:ea typeface="HGPｺﾞｼｯｸM" panose="020B06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11" name="コンテンツ プレースホルダー 3">
            <a:extLst>
              <a:ext uri="{FF2B5EF4-FFF2-40B4-BE49-F238E27FC236}">
                <a16:creationId xmlns:a16="http://schemas.microsoft.com/office/drawing/2014/main" id="{53278DD9-86A7-6EA0-0BC7-B084A3ECFF1B}"/>
              </a:ext>
            </a:extLst>
          </p:cNvPr>
          <p:cNvSpPr txBox="1">
            <a:spLocks/>
          </p:cNvSpPr>
          <p:nvPr/>
        </p:nvSpPr>
        <p:spPr>
          <a:xfrm>
            <a:off x="405609" y="-313678"/>
            <a:ext cx="18090000" cy="13157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250000"/>
              </a:lnSpc>
              <a:buNone/>
            </a:pP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タブレット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POS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 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API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データ連携</a:t>
            </a:r>
            <a:endParaRPr kumimoji="1" lang="en-US" altLang="ja-JP" sz="3600" b="1" i="0" u="none" strike="noStrike" kern="1200" cap="none" spc="0" normalizeH="0" baseline="0" noProof="0" dirty="0">
              <a:ln>
                <a:noFill/>
              </a:ln>
              <a:solidFill>
                <a:srgbClr val="59574C"/>
              </a:solidFill>
              <a:effectLst/>
              <a:uLnTx/>
              <a:uFillTx/>
              <a:latin typeface="源ノ角ゴシック JP Medium"/>
              <a:ea typeface="源ノ角ゴシック JP Medium"/>
              <a:cs typeface="+mn-cs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2301AD7-8914-C32D-A17D-FF74ADAE2A00}"/>
              </a:ext>
            </a:extLst>
          </p:cNvPr>
          <p:cNvSpPr txBox="1"/>
          <p:nvPr/>
        </p:nvSpPr>
        <p:spPr>
          <a:xfrm>
            <a:off x="405608" y="1138709"/>
            <a:ext cx="10622261" cy="5652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■データ連携概要：実績データ作成</a:t>
            </a:r>
            <a:r>
              <a:rPr lang="en-US" altLang="ja-JP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タブレット</a:t>
            </a:r>
            <a:r>
              <a:rPr lang="en-US" altLang="ja-JP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⇒現行システム</a:t>
            </a:r>
            <a:r>
              <a:rPr lang="en-US" altLang="ja-JP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D429F93-3650-8EC1-87FB-D3031E93A89D}"/>
              </a:ext>
            </a:extLst>
          </p:cNvPr>
          <p:cNvSpPr/>
          <p:nvPr/>
        </p:nvSpPr>
        <p:spPr>
          <a:xfrm>
            <a:off x="432784" y="4588631"/>
            <a:ext cx="1274490" cy="8743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タブレット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(iPad</a:t>
            </a:r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mini)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B648B69-EF82-6509-174E-737701E3EAF2}"/>
              </a:ext>
            </a:extLst>
          </p:cNvPr>
          <p:cNvSpPr/>
          <p:nvPr/>
        </p:nvSpPr>
        <p:spPr>
          <a:xfrm>
            <a:off x="2113809" y="3752745"/>
            <a:ext cx="14280998" cy="5314639"/>
          </a:xfrm>
          <a:prstGeom prst="rect">
            <a:avLst/>
          </a:prstGeom>
          <a:noFill/>
          <a:ln w="381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kumimoji="1" lang="en-US" altLang="ja-JP" sz="24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endParaRPr kumimoji="1" lang="ja-JP" altLang="en-US" sz="24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8C81A29-09DB-ABFB-C444-416470DD4B94}"/>
              </a:ext>
            </a:extLst>
          </p:cNvPr>
          <p:cNvSpPr/>
          <p:nvPr/>
        </p:nvSpPr>
        <p:spPr>
          <a:xfrm>
            <a:off x="2480282" y="4727970"/>
            <a:ext cx="1183460" cy="5913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データ登録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API</a:t>
            </a:r>
          </a:p>
        </p:txBody>
      </p:sp>
      <p:sp>
        <p:nvSpPr>
          <p:cNvPr id="13" name="円柱 12">
            <a:extLst>
              <a:ext uri="{FF2B5EF4-FFF2-40B4-BE49-F238E27FC236}">
                <a16:creationId xmlns:a16="http://schemas.microsoft.com/office/drawing/2014/main" id="{CFC96692-C4C3-506B-243E-D831E634AE27}"/>
              </a:ext>
            </a:extLst>
          </p:cNvPr>
          <p:cNvSpPr/>
          <p:nvPr/>
        </p:nvSpPr>
        <p:spPr>
          <a:xfrm>
            <a:off x="4092587" y="5164982"/>
            <a:ext cx="1194231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受付台帳</a:t>
            </a:r>
            <a:endParaRPr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(INBOX)</a:t>
            </a:r>
            <a:endParaRPr kumimoji="1" lang="ja-JP" altLang="en-US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円柱 13">
            <a:extLst>
              <a:ext uri="{FF2B5EF4-FFF2-40B4-BE49-F238E27FC236}">
                <a16:creationId xmlns:a16="http://schemas.microsoft.com/office/drawing/2014/main" id="{62FCD0E8-C272-B7AA-EFDF-9B3FA55A0FA6}"/>
              </a:ext>
            </a:extLst>
          </p:cNvPr>
          <p:cNvSpPr/>
          <p:nvPr/>
        </p:nvSpPr>
        <p:spPr>
          <a:xfrm>
            <a:off x="11307805" y="5586668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D81A6311-0C9E-7F13-3C59-EFEFAB7BC443}"/>
              </a:ext>
            </a:extLst>
          </p:cNvPr>
          <p:cNvCxnSpPr>
            <a:cxnSpLocks/>
            <a:stCxn id="161" idx="2"/>
            <a:endCxn id="167" idx="1"/>
          </p:cNvCxnSpPr>
          <p:nvPr/>
        </p:nvCxnSpPr>
        <p:spPr>
          <a:xfrm>
            <a:off x="17338159" y="4904488"/>
            <a:ext cx="228" cy="484594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72791E3-D304-1AC7-4E62-4B89D8759367}"/>
              </a:ext>
            </a:extLst>
          </p:cNvPr>
          <p:cNvSpPr/>
          <p:nvPr/>
        </p:nvSpPr>
        <p:spPr>
          <a:xfrm>
            <a:off x="11132290" y="6516513"/>
            <a:ext cx="4838829" cy="119199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顧客管理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66FE050C-6782-C656-042B-2349038C96DD}"/>
              </a:ext>
            </a:extLst>
          </p:cNvPr>
          <p:cNvSpPr/>
          <p:nvPr/>
        </p:nvSpPr>
        <p:spPr>
          <a:xfrm>
            <a:off x="4112493" y="8385233"/>
            <a:ext cx="1183460" cy="591349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 w="1905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振り分け</a:t>
            </a:r>
            <a:endParaRPr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(Dispatcher)</a:t>
            </a:r>
            <a:endParaRPr kumimoji="1" lang="ja-JP" altLang="en-US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29B1100B-EED4-90D3-162E-1C53ECA7007F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 flipV="1">
            <a:off x="1707274" y="5023645"/>
            <a:ext cx="773008" cy="214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円柱 31">
            <a:extLst>
              <a:ext uri="{FF2B5EF4-FFF2-40B4-BE49-F238E27FC236}">
                <a16:creationId xmlns:a16="http://schemas.microsoft.com/office/drawing/2014/main" id="{BEDD3AC1-E4E0-E262-014D-A8676B1495E5}"/>
              </a:ext>
            </a:extLst>
          </p:cNvPr>
          <p:cNvSpPr/>
          <p:nvPr/>
        </p:nvSpPr>
        <p:spPr>
          <a:xfrm>
            <a:off x="5741078" y="4626942"/>
            <a:ext cx="1194231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JSON</a:t>
            </a:r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(OUTBOX)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1ED8131B-E43B-AF6A-73C4-09608DC9C911}"/>
              </a:ext>
            </a:extLst>
          </p:cNvPr>
          <p:cNvCxnSpPr>
            <a:cxnSpLocks/>
            <a:stCxn id="6" idx="3"/>
            <a:endCxn id="32" idx="2"/>
          </p:cNvCxnSpPr>
          <p:nvPr/>
        </p:nvCxnSpPr>
        <p:spPr>
          <a:xfrm flipV="1">
            <a:off x="3663742" y="4977883"/>
            <a:ext cx="2077336" cy="4576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FA63A166-52AA-D111-EAEA-FD3AF7CBD7B0}"/>
              </a:ext>
            </a:extLst>
          </p:cNvPr>
          <p:cNvCxnSpPr>
            <a:cxnSpLocks/>
            <a:stCxn id="6" idx="3"/>
            <a:endCxn id="13" idx="2"/>
          </p:cNvCxnSpPr>
          <p:nvPr/>
        </p:nvCxnSpPr>
        <p:spPr>
          <a:xfrm>
            <a:off x="3663742" y="5023645"/>
            <a:ext cx="428845" cy="49227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C5F414AD-588F-19F6-C55E-4D8A6A191107}"/>
              </a:ext>
            </a:extLst>
          </p:cNvPr>
          <p:cNvSpPr/>
          <p:nvPr/>
        </p:nvSpPr>
        <p:spPr>
          <a:xfrm>
            <a:off x="5706161" y="8386938"/>
            <a:ext cx="1183460" cy="591349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 w="1905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Streaming</a:t>
            </a:r>
            <a:endParaRPr kumimoji="1" lang="ja-JP" altLang="en-US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矢印: 下カーブ 51">
            <a:extLst>
              <a:ext uri="{FF2B5EF4-FFF2-40B4-BE49-F238E27FC236}">
                <a16:creationId xmlns:a16="http://schemas.microsoft.com/office/drawing/2014/main" id="{D4CB4C53-56D4-2B50-4FC3-D6581DB08BC2}"/>
              </a:ext>
            </a:extLst>
          </p:cNvPr>
          <p:cNvSpPr/>
          <p:nvPr/>
        </p:nvSpPr>
        <p:spPr>
          <a:xfrm>
            <a:off x="6055784" y="5270200"/>
            <a:ext cx="651039" cy="3131714"/>
          </a:xfrm>
          <a:prstGeom prst="curvedDown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FFDEE9FC-299E-A9D3-FE44-252BB2630733}"/>
              </a:ext>
            </a:extLst>
          </p:cNvPr>
          <p:cNvCxnSpPr>
            <a:cxnSpLocks/>
            <a:stCxn id="54" idx="3"/>
            <a:endCxn id="45" idx="1"/>
          </p:cNvCxnSpPr>
          <p:nvPr/>
        </p:nvCxnSpPr>
        <p:spPr>
          <a:xfrm>
            <a:off x="5295953" y="8680908"/>
            <a:ext cx="410208" cy="170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ED29765D-24BF-7CCA-369D-EDE6926600DE}"/>
              </a:ext>
            </a:extLst>
          </p:cNvPr>
          <p:cNvCxnSpPr>
            <a:cxnSpLocks/>
            <a:stCxn id="34" idx="0"/>
            <a:endCxn id="87" idx="3"/>
          </p:cNvCxnSpPr>
          <p:nvPr/>
        </p:nvCxnSpPr>
        <p:spPr>
          <a:xfrm flipH="1" flipV="1">
            <a:off x="7845454" y="7570284"/>
            <a:ext cx="108513" cy="81494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円柱 29">
            <a:extLst>
              <a:ext uri="{FF2B5EF4-FFF2-40B4-BE49-F238E27FC236}">
                <a16:creationId xmlns:a16="http://schemas.microsoft.com/office/drawing/2014/main" id="{518D03C7-F192-C685-D8C0-7CB3263B9297}"/>
              </a:ext>
            </a:extLst>
          </p:cNvPr>
          <p:cNvSpPr/>
          <p:nvPr/>
        </p:nvSpPr>
        <p:spPr>
          <a:xfrm>
            <a:off x="13634653" y="4344492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734360AB-EAC8-C04F-4FB4-AD5F0564ADD8}"/>
              </a:ext>
            </a:extLst>
          </p:cNvPr>
          <p:cNvSpPr/>
          <p:nvPr/>
        </p:nvSpPr>
        <p:spPr>
          <a:xfrm>
            <a:off x="11135652" y="4020087"/>
            <a:ext cx="4835469" cy="119199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マスター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円柱 39">
            <a:extLst>
              <a:ext uri="{FF2B5EF4-FFF2-40B4-BE49-F238E27FC236}">
                <a16:creationId xmlns:a16="http://schemas.microsoft.com/office/drawing/2014/main" id="{8DD95196-4A51-8FFF-CED6-05DC84BB9E93}"/>
              </a:ext>
            </a:extLst>
          </p:cNvPr>
          <p:cNvSpPr/>
          <p:nvPr/>
        </p:nvSpPr>
        <p:spPr>
          <a:xfrm>
            <a:off x="11303617" y="8120016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</a:p>
        </p:txBody>
      </p:sp>
      <p:sp>
        <p:nvSpPr>
          <p:cNvPr id="43" name="円柱 42">
            <a:extLst>
              <a:ext uri="{FF2B5EF4-FFF2-40B4-BE49-F238E27FC236}">
                <a16:creationId xmlns:a16="http://schemas.microsoft.com/office/drawing/2014/main" id="{315ABE36-76D8-F451-1548-36A8D4E6B36F}"/>
              </a:ext>
            </a:extLst>
          </p:cNvPr>
          <p:cNvSpPr/>
          <p:nvPr/>
        </p:nvSpPr>
        <p:spPr>
          <a:xfrm>
            <a:off x="11303617" y="6876960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D9CEAA94-5FCC-B8F5-1A4E-2D1F4A527725}"/>
              </a:ext>
            </a:extLst>
          </p:cNvPr>
          <p:cNvSpPr/>
          <p:nvPr/>
        </p:nvSpPr>
        <p:spPr>
          <a:xfrm>
            <a:off x="11131054" y="5270200"/>
            <a:ext cx="4831146" cy="119199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円柱 46">
            <a:extLst>
              <a:ext uri="{FF2B5EF4-FFF2-40B4-BE49-F238E27FC236}">
                <a16:creationId xmlns:a16="http://schemas.microsoft.com/office/drawing/2014/main" id="{268FD09F-FC2D-25C9-8096-B5F462773393}"/>
              </a:ext>
            </a:extLst>
          </p:cNvPr>
          <p:cNvSpPr/>
          <p:nvPr/>
        </p:nvSpPr>
        <p:spPr>
          <a:xfrm>
            <a:off x="12476679" y="8098115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DC</a:t>
            </a:r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</a:t>
            </a:r>
          </a:p>
        </p:txBody>
      </p:sp>
      <p:sp>
        <p:nvSpPr>
          <p:cNvPr id="48" name="円柱 47">
            <a:extLst>
              <a:ext uri="{FF2B5EF4-FFF2-40B4-BE49-F238E27FC236}">
                <a16:creationId xmlns:a16="http://schemas.microsoft.com/office/drawing/2014/main" id="{52DD8E54-97A4-2AAE-FAF2-16E17815F260}"/>
              </a:ext>
            </a:extLst>
          </p:cNvPr>
          <p:cNvSpPr/>
          <p:nvPr/>
        </p:nvSpPr>
        <p:spPr>
          <a:xfrm>
            <a:off x="14793067" y="6871135"/>
            <a:ext cx="1058290" cy="701882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配送残</a:t>
            </a:r>
          </a:p>
        </p:txBody>
      </p:sp>
      <p:sp>
        <p:nvSpPr>
          <p:cNvPr id="161" name="正方形/長方形 160">
            <a:extLst>
              <a:ext uri="{FF2B5EF4-FFF2-40B4-BE49-F238E27FC236}">
                <a16:creationId xmlns:a16="http://schemas.microsoft.com/office/drawing/2014/main" id="{28D1A1D8-7D4F-524A-2AE1-FAB85B76AFF0}"/>
              </a:ext>
            </a:extLst>
          </p:cNvPr>
          <p:cNvSpPr/>
          <p:nvPr/>
        </p:nvSpPr>
        <p:spPr>
          <a:xfrm>
            <a:off x="16809589" y="4331613"/>
            <a:ext cx="1057140" cy="5728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DataSpider</a:t>
            </a:r>
            <a:endParaRPr kumimoji="1" lang="ja-JP" altLang="en-US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3" name="正方形/長方形 162">
            <a:extLst>
              <a:ext uri="{FF2B5EF4-FFF2-40B4-BE49-F238E27FC236}">
                <a16:creationId xmlns:a16="http://schemas.microsoft.com/office/drawing/2014/main" id="{56C401D4-F360-F93A-E239-35F0ED65842E}"/>
              </a:ext>
            </a:extLst>
          </p:cNvPr>
          <p:cNvSpPr/>
          <p:nvPr/>
        </p:nvSpPr>
        <p:spPr>
          <a:xfrm>
            <a:off x="16699721" y="5084110"/>
            <a:ext cx="1274490" cy="963865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配送業務端末</a:t>
            </a:r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4" name="正方形/長方形 163">
            <a:extLst>
              <a:ext uri="{FF2B5EF4-FFF2-40B4-BE49-F238E27FC236}">
                <a16:creationId xmlns:a16="http://schemas.microsoft.com/office/drawing/2014/main" id="{7CC13082-D1A2-D79C-EA01-80E6A0C21B74}"/>
              </a:ext>
            </a:extLst>
          </p:cNvPr>
          <p:cNvSpPr/>
          <p:nvPr/>
        </p:nvSpPr>
        <p:spPr>
          <a:xfrm>
            <a:off x="16699721" y="6236956"/>
            <a:ext cx="1274490" cy="874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配送</a:t>
            </a:r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業務</a:t>
            </a:r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端末</a:t>
            </a:r>
          </a:p>
        </p:txBody>
      </p:sp>
      <p:sp>
        <p:nvSpPr>
          <p:cNvPr id="165" name="正方形/長方形 164">
            <a:extLst>
              <a:ext uri="{FF2B5EF4-FFF2-40B4-BE49-F238E27FC236}">
                <a16:creationId xmlns:a16="http://schemas.microsoft.com/office/drawing/2014/main" id="{87FA6AE6-7D9E-210A-6845-CDF2E314990C}"/>
              </a:ext>
            </a:extLst>
          </p:cNvPr>
          <p:cNvSpPr/>
          <p:nvPr/>
        </p:nvSpPr>
        <p:spPr>
          <a:xfrm>
            <a:off x="16711801" y="8616296"/>
            <a:ext cx="1274490" cy="874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店内端末</a:t>
            </a:r>
          </a:p>
        </p:txBody>
      </p:sp>
      <p:sp>
        <p:nvSpPr>
          <p:cNvPr id="167" name="円柱 166">
            <a:extLst>
              <a:ext uri="{FF2B5EF4-FFF2-40B4-BE49-F238E27FC236}">
                <a16:creationId xmlns:a16="http://schemas.microsoft.com/office/drawing/2014/main" id="{884F7799-5257-8434-7B4B-A5909F5C6F4E}"/>
              </a:ext>
            </a:extLst>
          </p:cNvPr>
          <p:cNvSpPr/>
          <p:nvPr/>
        </p:nvSpPr>
        <p:spPr>
          <a:xfrm>
            <a:off x="16938490" y="5389082"/>
            <a:ext cx="799793" cy="461962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ja-JP" altLang="en-US" sz="16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A6E47D40-BA21-5940-B392-8EB68988C087}"/>
              </a:ext>
            </a:extLst>
          </p:cNvPr>
          <p:cNvCxnSpPr>
            <a:cxnSpLocks/>
            <a:stCxn id="164" idx="0"/>
            <a:endCxn id="167" idx="3"/>
          </p:cNvCxnSpPr>
          <p:nvPr/>
        </p:nvCxnSpPr>
        <p:spPr>
          <a:xfrm flipV="1">
            <a:off x="17336966" y="5851044"/>
            <a:ext cx="1421" cy="385912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線矢印コネクタ 180">
            <a:extLst>
              <a:ext uri="{FF2B5EF4-FFF2-40B4-BE49-F238E27FC236}">
                <a16:creationId xmlns:a16="http://schemas.microsoft.com/office/drawing/2014/main" id="{ACDE4730-1C88-EB76-9B06-1F71140BF0E5}"/>
              </a:ext>
            </a:extLst>
          </p:cNvPr>
          <p:cNvCxnSpPr>
            <a:cxnSpLocks/>
            <a:stCxn id="31" idx="3"/>
            <a:endCxn id="304" idx="2"/>
          </p:cNvCxnSpPr>
          <p:nvPr/>
        </p:nvCxnSpPr>
        <p:spPr>
          <a:xfrm>
            <a:off x="15971121" y="4616084"/>
            <a:ext cx="980040" cy="3441993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線矢印コネクタ 183">
            <a:extLst>
              <a:ext uri="{FF2B5EF4-FFF2-40B4-BE49-F238E27FC236}">
                <a16:creationId xmlns:a16="http://schemas.microsoft.com/office/drawing/2014/main" id="{3535CC8C-978E-550A-7A5E-FDCE5B4C9923}"/>
              </a:ext>
            </a:extLst>
          </p:cNvPr>
          <p:cNvCxnSpPr>
            <a:cxnSpLocks/>
            <a:stCxn id="18" idx="3"/>
            <a:endCxn id="304" idx="2"/>
          </p:cNvCxnSpPr>
          <p:nvPr/>
        </p:nvCxnSpPr>
        <p:spPr>
          <a:xfrm flipV="1">
            <a:off x="15971121" y="8058077"/>
            <a:ext cx="980040" cy="301667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円柱 189">
            <a:extLst>
              <a:ext uri="{FF2B5EF4-FFF2-40B4-BE49-F238E27FC236}">
                <a16:creationId xmlns:a16="http://schemas.microsoft.com/office/drawing/2014/main" id="{4DB0E137-9157-7C20-CCAC-5447FB10CD27}"/>
              </a:ext>
            </a:extLst>
          </p:cNvPr>
          <p:cNvSpPr/>
          <p:nvPr/>
        </p:nvSpPr>
        <p:spPr>
          <a:xfrm>
            <a:off x="14793067" y="4331613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マスター</a:t>
            </a:r>
          </a:p>
        </p:txBody>
      </p:sp>
      <p:sp>
        <p:nvSpPr>
          <p:cNvPr id="191" name="円柱 190">
            <a:extLst>
              <a:ext uri="{FF2B5EF4-FFF2-40B4-BE49-F238E27FC236}">
                <a16:creationId xmlns:a16="http://schemas.microsoft.com/office/drawing/2014/main" id="{C4BD7CB5-27D0-0E3A-D8EF-0E9D55A3213F}"/>
              </a:ext>
            </a:extLst>
          </p:cNvPr>
          <p:cNvSpPr/>
          <p:nvPr/>
        </p:nvSpPr>
        <p:spPr>
          <a:xfrm>
            <a:off x="13636863" y="8105256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配送工事枠</a:t>
            </a:r>
          </a:p>
        </p:txBody>
      </p:sp>
      <p:sp>
        <p:nvSpPr>
          <p:cNvPr id="218" name="円柱 217">
            <a:extLst>
              <a:ext uri="{FF2B5EF4-FFF2-40B4-BE49-F238E27FC236}">
                <a16:creationId xmlns:a16="http://schemas.microsoft.com/office/drawing/2014/main" id="{AAB84762-1131-C24F-22C5-EDE4C2F8BF69}"/>
              </a:ext>
            </a:extLst>
          </p:cNvPr>
          <p:cNvSpPr/>
          <p:nvPr/>
        </p:nvSpPr>
        <p:spPr>
          <a:xfrm>
            <a:off x="9276547" y="6354977"/>
            <a:ext cx="1058290" cy="701882"/>
          </a:xfrm>
          <a:prstGeom prst="ca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各種実績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次世代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3" name="正方形/長方形 302">
            <a:extLst>
              <a:ext uri="{FF2B5EF4-FFF2-40B4-BE49-F238E27FC236}">
                <a16:creationId xmlns:a16="http://schemas.microsoft.com/office/drawing/2014/main" id="{C13ACBEB-8DFE-207D-3C73-AD1620AF0592}"/>
              </a:ext>
            </a:extLst>
          </p:cNvPr>
          <p:cNvSpPr/>
          <p:nvPr/>
        </p:nvSpPr>
        <p:spPr>
          <a:xfrm>
            <a:off x="16712392" y="7522124"/>
            <a:ext cx="1274490" cy="963865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店内端末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  <a:endParaRPr kumimoji="1" lang="ja-JP" altLang="en-US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4" name="円柱 303">
            <a:extLst>
              <a:ext uri="{FF2B5EF4-FFF2-40B4-BE49-F238E27FC236}">
                <a16:creationId xmlns:a16="http://schemas.microsoft.com/office/drawing/2014/main" id="{16F735DB-6BAD-5199-864E-F31B8A6D4A31}"/>
              </a:ext>
            </a:extLst>
          </p:cNvPr>
          <p:cNvSpPr/>
          <p:nvPr/>
        </p:nvSpPr>
        <p:spPr>
          <a:xfrm>
            <a:off x="16951161" y="7827096"/>
            <a:ext cx="799793" cy="461962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ja-JP" altLang="en-US" sz="16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08" name="直線矢印コネクタ 307">
            <a:extLst>
              <a:ext uri="{FF2B5EF4-FFF2-40B4-BE49-F238E27FC236}">
                <a16:creationId xmlns:a16="http://schemas.microsoft.com/office/drawing/2014/main" id="{722BD325-7D5C-FFCB-59EE-6249B5CC6B18}"/>
              </a:ext>
            </a:extLst>
          </p:cNvPr>
          <p:cNvCxnSpPr>
            <a:cxnSpLocks/>
            <a:stCxn id="165" idx="0"/>
            <a:endCxn id="304" idx="3"/>
          </p:cNvCxnSpPr>
          <p:nvPr/>
        </p:nvCxnSpPr>
        <p:spPr>
          <a:xfrm flipV="1">
            <a:off x="17349046" y="8289058"/>
            <a:ext cx="2012" cy="327238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線矢印コネクタ 317">
            <a:extLst>
              <a:ext uri="{FF2B5EF4-FFF2-40B4-BE49-F238E27FC236}">
                <a16:creationId xmlns:a16="http://schemas.microsoft.com/office/drawing/2014/main" id="{9AF166DE-6863-439A-BBB3-5589743A2022}"/>
              </a:ext>
            </a:extLst>
          </p:cNvPr>
          <p:cNvCxnSpPr>
            <a:cxnSpLocks/>
            <a:stCxn id="24" idx="3"/>
            <a:endCxn id="161" idx="1"/>
          </p:cNvCxnSpPr>
          <p:nvPr/>
        </p:nvCxnSpPr>
        <p:spPr>
          <a:xfrm flipV="1">
            <a:off x="15971119" y="4618051"/>
            <a:ext cx="838470" cy="2494459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直線矢印コネクタ 323">
            <a:extLst>
              <a:ext uri="{FF2B5EF4-FFF2-40B4-BE49-F238E27FC236}">
                <a16:creationId xmlns:a16="http://schemas.microsoft.com/office/drawing/2014/main" id="{B0BD4FE4-8267-148A-7580-E3DA86DB8DE9}"/>
              </a:ext>
            </a:extLst>
          </p:cNvPr>
          <p:cNvCxnSpPr>
            <a:cxnSpLocks/>
            <a:stCxn id="54" idx="0"/>
            <a:endCxn id="13" idx="3"/>
          </p:cNvCxnSpPr>
          <p:nvPr/>
        </p:nvCxnSpPr>
        <p:spPr>
          <a:xfrm flipH="1" flipV="1">
            <a:off x="4689703" y="5866864"/>
            <a:ext cx="14520" cy="2518369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正方形/長方形 331">
            <a:extLst>
              <a:ext uri="{FF2B5EF4-FFF2-40B4-BE49-F238E27FC236}">
                <a16:creationId xmlns:a16="http://schemas.microsoft.com/office/drawing/2014/main" id="{04531666-F0B1-4437-D748-0562982576F9}"/>
              </a:ext>
            </a:extLst>
          </p:cNvPr>
          <p:cNvSpPr/>
          <p:nvPr/>
        </p:nvSpPr>
        <p:spPr>
          <a:xfrm>
            <a:off x="432784" y="5694213"/>
            <a:ext cx="1274490" cy="8743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据置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</a:p>
        </p:txBody>
      </p:sp>
      <p:cxnSp>
        <p:nvCxnSpPr>
          <p:cNvPr id="333" name="直線矢印コネクタ 332">
            <a:extLst>
              <a:ext uri="{FF2B5EF4-FFF2-40B4-BE49-F238E27FC236}">
                <a16:creationId xmlns:a16="http://schemas.microsoft.com/office/drawing/2014/main" id="{6FF678C5-60DA-12B6-C49E-4CC7FFBEC5BE}"/>
              </a:ext>
            </a:extLst>
          </p:cNvPr>
          <p:cNvCxnSpPr>
            <a:cxnSpLocks/>
            <a:stCxn id="332" idx="3"/>
            <a:endCxn id="6" idx="1"/>
          </p:cNvCxnSpPr>
          <p:nvPr/>
        </p:nvCxnSpPr>
        <p:spPr>
          <a:xfrm flipV="1">
            <a:off x="1707274" y="5023645"/>
            <a:ext cx="773008" cy="110773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直線矢印コネクタ 335">
            <a:extLst>
              <a:ext uri="{FF2B5EF4-FFF2-40B4-BE49-F238E27FC236}">
                <a16:creationId xmlns:a16="http://schemas.microsoft.com/office/drawing/2014/main" id="{911B52E4-DE82-A03C-3A8C-435679CED455}"/>
              </a:ext>
            </a:extLst>
          </p:cNvPr>
          <p:cNvCxnSpPr>
            <a:cxnSpLocks/>
            <a:stCxn id="45" idx="0"/>
            <a:endCxn id="13" idx="4"/>
          </p:cNvCxnSpPr>
          <p:nvPr/>
        </p:nvCxnSpPr>
        <p:spPr>
          <a:xfrm flipH="1" flipV="1">
            <a:off x="5286818" y="5515923"/>
            <a:ext cx="1011073" cy="287101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C3A72F8-56ED-CFD8-E4D6-D6C098229BC9}"/>
              </a:ext>
            </a:extLst>
          </p:cNvPr>
          <p:cNvSpPr/>
          <p:nvPr/>
        </p:nvSpPr>
        <p:spPr>
          <a:xfrm>
            <a:off x="11132290" y="7763747"/>
            <a:ext cx="4838831" cy="119199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TC/DC-SV(SJIS)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3DE37B13-62E8-FA49-E8D9-686B5DF52D95}"/>
              </a:ext>
            </a:extLst>
          </p:cNvPr>
          <p:cNvSpPr/>
          <p:nvPr/>
        </p:nvSpPr>
        <p:spPr>
          <a:xfrm>
            <a:off x="3934170" y="4216242"/>
            <a:ext cx="6452514" cy="4031210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セントラル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DB</a:t>
            </a:r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Ver.26ai(AL32UTF8)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8" name="吹き出し: 折線 117">
            <a:extLst>
              <a:ext uri="{FF2B5EF4-FFF2-40B4-BE49-F238E27FC236}">
                <a16:creationId xmlns:a16="http://schemas.microsoft.com/office/drawing/2014/main" id="{33D115EB-78BF-A938-396D-30B0EAEB5D82}"/>
              </a:ext>
            </a:extLst>
          </p:cNvPr>
          <p:cNvSpPr/>
          <p:nvPr/>
        </p:nvSpPr>
        <p:spPr>
          <a:xfrm flipH="1">
            <a:off x="2867386" y="7441661"/>
            <a:ext cx="1383711" cy="51859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10261"/>
              <a:gd name="adj6" fmla="val -232175"/>
            </a:avLst>
          </a:prstGeom>
          <a:solidFill>
            <a:srgbClr val="FFFF99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複数処理を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パラレル実行</a:t>
            </a:r>
          </a:p>
        </p:txBody>
      </p:sp>
      <p:sp>
        <p:nvSpPr>
          <p:cNvPr id="7" name="円柱 6">
            <a:extLst>
              <a:ext uri="{FF2B5EF4-FFF2-40B4-BE49-F238E27FC236}">
                <a16:creationId xmlns:a16="http://schemas.microsoft.com/office/drawing/2014/main" id="{53384238-E0EE-10E5-BA43-CAEE8A007040}"/>
              </a:ext>
            </a:extLst>
          </p:cNvPr>
          <p:cNvSpPr/>
          <p:nvPr/>
        </p:nvSpPr>
        <p:spPr>
          <a:xfrm>
            <a:off x="14777564" y="8105256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ロジ関連</a:t>
            </a:r>
          </a:p>
        </p:txBody>
      </p:sp>
      <p:sp>
        <p:nvSpPr>
          <p:cNvPr id="20" name="円柱 19">
            <a:extLst>
              <a:ext uri="{FF2B5EF4-FFF2-40B4-BE49-F238E27FC236}">
                <a16:creationId xmlns:a16="http://schemas.microsoft.com/office/drawing/2014/main" id="{7F4E721D-ADEC-7DDB-D081-2D83BB4CDA50}"/>
              </a:ext>
            </a:extLst>
          </p:cNvPr>
          <p:cNvSpPr/>
          <p:nvPr/>
        </p:nvSpPr>
        <p:spPr>
          <a:xfrm>
            <a:off x="12482886" y="5578644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各種実績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現行レイアウト</a:t>
            </a:r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円柱 50">
            <a:extLst>
              <a:ext uri="{FF2B5EF4-FFF2-40B4-BE49-F238E27FC236}">
                <a16:creationId xmlns:a16="http://schemas.microsoft.com/office/drawing/2014/main" id="{C1FA2727-663B-D7D0-D59F-FC4F3C03D409}"/>
              </a:ext>
            </a:extLst>
          </p:cNvPr>
          <p:cNvSpPr/>
          <p:nvPr/>
        </p:nvSpPr>
        <p:spPr>
          <a:xfrm>
            <a:off x="12482886" y="6846695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持込修理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出張修理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円柱 67">
            <a:extLst>
              <a:ext uri="{FF2B5EF4-FFF2-40B4-BE49-F238E27FC236}">
                <a16:creationId xmlns:a16="http://schemas.microsoft.com/office/drawing/2014/main" id="{C68A6482-892A-E840-2F34-AB315DFCCF4F}"/>
              </a:ext>
            </a:extLst>
          </p:cNvPr>
          <p:cNvSpPr/>
          <p:nvPr/>
        </p:nvSpPr>
        <p:spPr>
          <a:xfrm>
            <a:off x="13643807" y="6871135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あんしん延長保証</a:t>
            </a:r>
            <a:endParaRPr kumimoji="1" lang="en-US" altLang="ja-JP" sz="10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長期無料保証</a:t>
            </a:r>
            <a:endParaRPr kumimoji="1" lang="ja-JP" altLang="en-US" sz="10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A5BA0A8-E56D-3905-C09E-1BB2608E82BC}"/>
              </a:ext>
            </a:extLst>
          </p:cNvPr>
          <p:cNvSpPr/>
          <p:nvPr/>
        </p:nvSpPr>
        <p:spPr>
          <a:xfrm>
            <a:off x="11099195" y="1211407"/>
            <a:ext cx="4871923" cy="2428219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店舗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C9AC71C-CA81-4E50-73D3-15733ED6A84D}"/>
              </a:ext>
            </a:extLst>
          </p:cNvPr>
          <p:cNvSpPr/>
          <p:nvPr/>
        </p:nvSpPr>
        <p:spPr>
          <a:xfrm>
            <a:off x="16691356" y="1447087"/>
            <a:ext cx="1274490" cy="874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現行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(RZ-A476)</a:t>
            </a:r>
          </a:p>
        </p:txBody>
      </p:sp>
      <p:sp>
        <p:nvSpPr>
          <p:cNvPr id="22" name="円柱 21">
            <a:extLst>
              <a:ext uri="{FF2B5EF4-FFF2-40B4-BE49-F238E27FC236}">
                <a16:creationId xmlns:a16="http://schemas.microsoft.com/office/drawing/2014/main" id="{94160F02-1D38-AACD-DB5D-77CD0AF18D3F}"/>
              </a:ext>
            </a:extLst>
          </p:cNvPr>
          <p:cNvSpPr/>
          <p:nvPr/>
        </p:nvSpPr>
        <p:spPr>
          <a:xfrm>
            <a:off x="13002475" y="1533376"/>
            <a:ext cx="1058290" cy="701882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</a:p>
        </p:txBody>
      </p:sp>
      <p:sp>
        <p:nvSpPr>
          <p:cNvPr id="37" name="フローチャート: 定義済み処理 36">
            <a:extLst>
              <a:ext uri="{FF2B5EF4-FFF2-40B4-BE49-F238E27FC236}">
                <a16:creationId xmlns:a16="http://schemas.microsoft.com/office/drawing/2014/main" id="{44494F70-C3D0-2269-3507-5C1CA2DC3F21}"/>
              </a:ext>
            </a:extLst>
          </p:cNvPr>
          <p:cNvSpPr/>
          <p:nvPr/>
        </p:nvSpPr>
        <p:spPr>
          <a:xfrm>
            <a:off x="11279100" y="1602327"/>
            <a:ext cx="1194231" cy="572874"/>
          </a:xfrm>
          <a:prstGeom prst="flowChartPredefined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トラン取込</a:t>
            </a:r>
            <a:endParaRPr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定期実行</a:t>
            </a:r>
            <a:r>
              <a:rPr kumimoji="1" lang="en-US" altLang="ja-JP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円柱 68">
            <a:extLst>
              <a:ext uri="{FF2B5EF4-FFF2-40B4-BE49-F238E27FC236}">
                <a16:creationId xmlns:a16="http://schemas.microsoft.com/office/drawing/2014/main" id="{B0A6D634-786F-4E7B-DA12-901890CF9DAD}"/>
              </a:ext>
            </a:extLst>
          </p:cNvPr>
          <p:cNvSpPr/>
          <p:nvPr/>
        </p:nvSpPr>
        <p:spPr>
          <a:xfrm>
            <a:off x="11303617" y="4344492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3" name="矢印: 下カーブ 82">
            <a:extLst>
              <a:ext uri="{FF2B5EF4-FFF2-40B4-BE49-F238E27FC236}">
                <a16:creationId xmlns:a16="http://schemas.microsoft.com/office/drawing/2014/main" id="{D70DE0C2-5930-0237-6128-59E2DBE33E26}"/>
              </a:ext>
            </a:extLst>
          </p:cNvPr>
          <p:cNvSpPr/>
          <p:nvPr/>
        </p:nvSpPr>
        <p:spPr>
          <a:xfrm rot="10800000">
            <a:off x="11422402" y="2065610"/>
            <a:ext cx="457529" cy="2335973"/>
          </a:xfrm>
          <a:prstGeom prst="curvedDown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1" name="フローチャート: 定義済み処理 90">
            <a:extLst>
              <a:ext uri="{FF2B5EF4-FFF2-40B4-BE49-F238E27FC236}">
                <a16:creationId xmlns:a16="http://schemas.microsoft.com/office/drawing/2014/main" id="{2FFABE98-08AF-2097-13AE-0596AD747CB0}"/>
              </a:ext>
            </a:extLst>
          </p:cNvPr>
          <p:cNvSpPr/>
          <p:nvPr/>
        </p:nvSpPr>
        <p:spPr>
          <a:xfrm>
            <a:off x="12937716" y="2498420"/>
            <a:ext cx="1194231" cy="459856"/>
          </a:xfrm>
          <a:prstGeom prst="flowChartPredefined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トリガー</a:t>
            </a: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トラン分解</a:t>
            </a:r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94" name="直線矢印コネクタ 93">
            <a:extLst>
              <a:ext uri="{FF2B5EF4-FFF2-40B4-BE49-F238E27FC236}">
                <a16:creationId xmlns:a16="http://schemas.microsoft.com/office/drawing/2014/main" id="{466625B4-7AED-E0A2-FC6A-1C8EDE02FE4F}"/>
              </a:ext>
            </a:extLst>
          </p:cNvPr>
          <p:cNvCxnSpPr>
            <a:cxnSpLocks/>
            <a:stCxn id="22" idx="3"/>
            <a:endCxn id="91" idx="0"/>
          </p:cNvCxnSpPr>
          <p:nvPr/>
        </p:nvCxnSpPr>
        <p:spPr>
          <a:xfrm>
            <a:off x="13531620" y="2235258"/>
            <a:ext cx="3212" cy="26316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59A33FA8-7C7D-F31F-82A4-ED599519AAEA}"/>
              </a:ext>
            </a:extLst>
          </p:cNvPr>
          <p:cNvCxnSpPr>
            <a:cxnSpLocks/>
            <a:stCxn id="91" idx="3"/>
            <a:endCxn id="126" idx="2"/>
          </p:cNvCxnSpPr>
          <p:nvPr/>
        </p:nvCxnSpPr>
        <p:spPr>
          <a:xfrm>
            <a:off x="14131947" y="2728348"/>
            <a:ext cx="547563" cy="55596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円柱 18">
            <a:extLst>
              <a:ext uri="{FF2B5EF4-FFF2-40B4-BE49-F238E27FC236}">
                <a16:creationId xmlns:a16="http://schemas.microsoft.com/office/drawing/2014/main" id="{BF8B53E9-DC78-9B23-8D95-956652F404E0}"/>
              </a:ext>
            </a:extLst>
          </p:cNvPr>
          <p:cNvSpPr/>
          <p:nvPr/>
        </p:nvSpPr>
        <p:spPr>
          <a:xfrm>
            <a:off x="12479752" y="4344492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送信管理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6A8BAA0C-A160-CE9D-44B9-76799E25DEF6}"/>
              </a:ext>
            </a:extLst>
          </p:cNvPr>
          <p:cNvCxnSpPr>
            <a:cxnSpLocks/>
            <a:stCxn id="37" idx="2"/>
            <a:endCxn id="19" idx="1"/>
          </p:cNvCxnSpPr>
          <p:nvPr/>
        </p:nvCxnSpPr>
        <p:spPr>
          <a:xfrm>
            <a:off x="11876216" y="2175201"/>
            <a:ext cx="1132681" cy="2169291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AF525B64-6350-A32D-FF6F-8EBF56F7355D}"/>
              </a:ext>
            </a:extLst>
          </p:cNvPr>
          <p:cNvCxnSpPr>
            <a:cxnSpLocks/>
            <a:stCxn id="37" idx="3"/>
            <a:endCxn id="22" idx="2"/>
          </p:cNvCxnSpPr>
          <p:nvPr/>
        </p:nvCxnSpPr>
        <p:spPr>
          <a:xfrm flipV="1">
            <a:off x="12473331" y="1884317"/>
            <a:ext cx="529144" cy="444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円柱 125">
            <a:extLst>
              <a:ext uri="{FF2B5EF4-FFF2-40B4-BE49-F238E27FC236}">
                <a16:creationId xmlns:a16="http://schemas.microsoft.com/office/drawing/2014/main" id="{A0596DCE-9EC2-8971-7213-C83ACC3200CB}"/>
              </a:ext>
            </a:extLst>
          </p:cNvPr>
          <p:cNvSpPr/>
          <p:nvPr/>
        </p:nvSpPr>
        <p:spPr>
          <a:xfrm>
            <a:off x="14679510" y="2986633"/>
            <a:ext cx="1058290" cy="595357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</a:t>
            </a:r>
          </a:p>
        </p:txBody>
      </p:sp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FD18268F-DC5E-1834-0DA3-BBD969D0E790}"/>
              </a:ext>
            </a:extLst>
          </p:cNvPr>
          <p:cNvCxnSpPr>
            <a:cxnSpLocks/>
            <a:stCxn id="91" idx="3"/>
            <a:endCxn id="41" idx="2"/>
          </p:cNvCxnSpPr>
          <p:nvPr/>
        </p:nvCxnSpPr>
        <p:spPr>
          <a:xfrm flipV="1">
            <a:off x="14131947" y="2686542"/>
            <a:ext cx="554100" cy="4180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401D243A-2062-CB1B-B2CE-411471E1603B}"/>
              </a:ext>
            </a:extLst>
          </p:cNvPr>
          <p:cNvCxnSpPr>
            <a:cxnSpLocks/>
            <a:stCxn id="235" idx="2"/>
            <a:endCxn id="30" idx="1"/>
          </p:cNvCxnSpPr>
          <p:nvPr/>
        </p:nvCxnSpPr>
        <p:spPr>
          <a:xfrm>
            <a:off x="13531620" y="3556956"/>
            <a:ext cx="632178" cy="78753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楕円 328">
            <a:extLst>
              <a:ext uri="{FF2B5EF4-FFF2-40B4-BE49-F238E27FC236}">
                <a16:creationId xmlns:a16="http://schemas.microsoft.com/office/drawing/2014/main" id="{8FA340CD-8245-3AB6-072C-FC02F285FC4A}"/>
              </a:ext>
            </a:extLst>
          </p:cNvPr>
          <p:cNvSpPr/>
          <p:nvPr/>
        </p:nvSpPr>
        <p:spPr>
          <a:xfrm>
            <a:off x="1827036" y="4474927"/>
            <a:ext cx="430053" cy="394209"/>
          </a:xfrm>
          <a:prstGeom prst="ellipse">
            <a:avLst/>
          </a:prstGeom>
          <a:solidFill>
            <a:srgbClr val="FFFF99"/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600" b="1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1</a:t>
            </a:r>
            <a:endParaRPr kumimoji="1" lang="ja-JP" altLang="en-US" sz="1600" b="1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342" name="楕円 341">
            <a:extLst>
              <a:ext uri="{FF2B5EF4-FFF2-40B4-BE49-F238E27FC236}">
                <a16:creationId xmlns:a16="http://schemas.microsoft.com/office/drawing/2014/main" id="{F286C017-A8B9-EEAD-35D4-D9BA5EB9DF12}"/>
              </a:ext>
            </a:extLst>
          </p:cNvPr>
          <p:cNvSpPr/>
          <p:nvPr/>
        </p:nvSpPr>
        <p:spPr>
          <a:xfrm>
            <a:off x="11027869" y="3559474"/>
            <a:ext cx="430053" cy="394209"/>
          </a:xfrm>
          <a:prstGeom prst="ellipse">
            <a:avLst/>
          </a:prstGeom>
          <a:solidFill>
            <a:srgbClr val="FFFF99"/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600" b="1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5</a:t>
            </a:r>
          </a:p>
        </p:txBody>
      </p:sp>
      <p:sp>
        <p:nvSpPr>
          <p:cNvPr id="328" name="楕円 327">
            <a:extLst>
              <a:ext uri="{FF2B5EF4-FFF2-40B4-BE49-F238E27FC236}">
                <a16:creationId xmlns:a16="http://schemas.microsoft.com/office/drawing/2014/main" id="{B16F084B-4C78-657A-FE1D-734B59A3B9E6}"/>
              </a:ext>
            </a:extLst>
          </p:cNvPr>
          <p:cNvSpPr/>
          <p:nvPr/>
        </p:nvSpPr>
        <p:spPr>
          <a:xfrm>
            <a:off x="5149762" y="4558934"/>
            <a:ext cx="430053" cy="394209"/>
          </a:xfrm>
          <a:prstGeom prst="ellipse">
            <a:avLst/>
          </a:prstGeom>
          <a:solidFill>
            <a:srgbClr val="FFFF99"/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600" b="1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2</a:t>
            </a:r>
            <a:endParaRPr kumimoji="1" lang="ja-JP" altLang="en-US" sz="1600" b="1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330" name="楕円 329">
            <a:extLst>
              <a:ext uri="{FF2B5EF4-FFF2-40B4-BE49-F238E27FC236}">
                <a16:creationId xmlns:a16="http://schemas.microsoft.com/office/drawing/2014/main" id="{1B9FD12D-42B4-481B-CE87-8851D6686648}"/>
              </a:ext>
            </a:extLst>
          </p:cNvPr>
          <p:cNvSpPr/>
          <p:nvPr/>
        </p:nvSpPr>
        <p:spPr>
          <a:xfrm>
            <a:off x="6934545" y="7960260"/>
            <a:ext cx="430053" cy="394209"/>
          </a:xfrm>
          <a:prstGeom prst="ellipse">
            <a:avLst/>
          </a:prstGeom>
          <a:solidFill>
            <a:srgbClr val="FFFF99"/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600" b="1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3</a:t>
            </a:r>
            <a:endParaRPr kumimoji="1" lang="ja-JP" altLang="en-US" sz="1600" b="1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cxnSp>
        <p:nvCxnSpPr>
          <p:cNvPr id="200" name="直線矢印コネクタ 199">
            <a:extLst>
              <a:ext uri="{FF2B5EF4-FFF2-40B4-BE49-F238E27FC236}">
                <a16:creationId xmlns:a16="http://schemas.microsoft.com/office/drawing/2014/main" id="{0E67A3E2-F2E0-765F-4C86-1D32EC0B4334}"/>
              </a:ext>
            </a:extLst>
          </p:cNvPr>
          <p:cNvCxnSpPr>
            <a:cxnSpLocks/>
            <a:stCxn id="46" idx="3"/>
            <a:endCxn id="218" idx="2"/>
          </p:cNvCxnSpPr>
          <p:nvPr/>
        </p:nvCxnSpPr>
        <p:spPr>
          <a:xfrm>
            <a:off x="3663742" y="6128865"/>
            <a:ext cx="5612805" cy="577053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D055362-F436-DDDE-140D-2FC171575CDB}"/>
              </a:ext>
            </a:extLst>
          </p:cNvPr>
          <p:cNvSpPr txBox="1"/>
          <p:nvPr/>
        </p:nvSpPr>
        <p:spPr>
          <a:xfrm>
            <a:off x="405608" y="1752712"/>
            <a:ext cx="5738127" cy="1921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①タブレット</a:t>
            </a: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でデータ登録</a:t>
            </a: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を実行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</a:t>
            </a: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JSON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形式で、受付台帳、</a:t>
            </a: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JSON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データに登録し、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タブレット</a:t>
            </a: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にレシート</a:t>
            </a: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/A4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帳票印刷データを返す。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③登録された</a:t>
            </a: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JSON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データを時系列順に各種実績テーブルに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登録する（受付台帳のステータスを登録済みとする）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A358589-1A9A-08FF-F87D-7800331BE770}"/>
              </a:ext>
            </a:extLst>
          </p:cNvPr>
          <p:cNvSpPr txBox="1"/>
          <p:nvPr/>
        </p:nvSpPr>
        <p:spPr>
          <a:xfrm>
            <a:off x="6199436" y="1752712"/>
            <a:ext cx="4846346" cy="1921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④各種実績データから現行のトランを作成し、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各基幹</a:t>
            </a: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DB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に書込（データ種別で書込先を判断）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⑤現行の店舗</a:t>
            </a: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のトラン取込で店舗</a:t>
            </a: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にトラン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書込み（在庫が更新され、マスター</a:t>
            </a: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に連携）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6B715154-C4AA-923F-F457-7C3D9348C67C}"/>
              </a:ext>
            </a:extLst>
          </p:cNvPr>
          <p:cNvCxnSpPr>
            <a:cxnSpLocks/>
            <a:stCxn id="31" idx="3"/>
            <a:endCxn id="161" idx="1"/>
          </p:cNvCxnSpPr>
          <p:nvPr/>
        </p:nvCxnSpPr>
        <p:spPr>
          <a:xfrm>
            <a:off x="15971121" y="4616084"/>
            <a:ext cx="838468" cy="1967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円柱 37">
            <a:extLst>
              <a:ext uri="{FF2B5EF4-FFF2-40B4-BE49-F238E27FC236}">
                <a16:creationId xmlns:a16="http://schemas.microsoft.com/office/drawing/2014/main" id="{E538C77A-8C26-926E-73D3-22F5FA57EA31}"/>
              </a:ext>
            </a:extLst>
          </p:cNvPr>
          <p:cNvSpPr/>
          <p:nvPr/>
        </p:nvSpPr>
        <p:spPr>
          <a:xfrm>
            <a:off x="9025667" y="4687200"/>
            <a:ext cx="1058290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マスター</a:t>
            </a:r>
          </a:p>
        </p:txBody>
      </p:sp>
      <p:sp>
        <p:nvSpPr>
          <p:cNvPr id="75" name="フローチャート: 定義済み処理 74">
            <a:extLst>
              <a:ext uri="{FF2B5EF4-FFF2-40B4-BE49-F238E27FC236}">
                <a16:creationId xmlns:a16="http://schemas.microsoft.com/office/drawing/2014/main" id="{962E6469-E2A3-E5F1-3C86-D7C72E3AB56F}"/>
              </a:ext>
            </a:extLst>
          </p:cNvPr>
          <p:cNvSpPr/>
          <p:nvPr/>
        </p:nvSpPr>
        <p:spPr>
          <a:xfrm>
            <a:off x="8970712" y="9260615"/>
            <a:ext cx="1194231" cy="572874"/>
          </a:xfrm>
          <a:prstGeom prst="flowChartPredefinedProcess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kumimoji="1"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トラン連携</a:t>
            </a:r>
            <a:endParaRPr kumimoji="1"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文字コード変換</a:t>
            </a:r>
            <a:r>
              <a:rPr kumimoji="1" lang="en-US" altLang="ja-JP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8497A0FB-9F01-74DB-76C3-047013AE2C3C}"/>
              </a:ext>
            </a:extLst>
          </p:cNvPr>
          <p:cNvSpPr/>
          <p:nvPr/>
        </p:nvSpPr>
        <p:spPr>
          <a:xfrm>
            <a:off x="7322031" y="9157787"/>
            <a:ext cx="3809023" cy="77821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DataSpider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2" name="矢印: 下カーブ 181">
            <a:extLst>
              <a:ext uri="{FF2B5EF4-FFF2-40B4-BE49-F238E27FC236}">
                <a16:creationId xmlns:a16="http://schemas.microsoft.com/office/drawing/2014/main" id="{FC583C70-0006-037E-2AF3-8458A6E12219}"/>
              </a:ext>
            </a:extLst>
          </p:cNvPr>
          <p:cNvSpPr/>
          <p:nvPr/>
        </p:nvSpPr>
        <p:spPr>
          <a:xfrm>
            <a:off x="9516546" y="7056859"/>
            <a:ext cx="483323" cy="2248350"/>
          </a:xfrm>
          <a:prstGeom prst="curvedDown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83" name="コネクタ: カギ線 182">
            <a:extLst>
              <a:ext uri="{FF2B5EF4-FFF2-40B4-BE49-F238E27FC236}">
                <a16:creationId xmlns:a16="http://schemas.microsoft.com/office/drawing/2014/main" id="{E10F6C2D-946D-90BD-45F2-CD3259C8A979}"/>
              </a:ext>
            </a:extLst>
          </p:cNvPr>
          <p:cNvCxnSpPr>
            <a:cxnSpLocks/>
            <a:stCxn id="75" idx="3"/>
            <a:endCxn id="40" idx="2"/>
          </p:cNvCxnSpPr>
          <p:nvPr/>
        </p:nvCxnSpPr>
        <p:spPr>
          <a:xfrm flipV="1">
            <a:off x="10164943" y="8470957"/>
            <a:ext cx="1138674" cy="1076095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コネクタ: カギ線 186">
            <a:extLst>
              <a:ext uri="{FF2B5EF4-FFF2-40B4-BE49-F238E27FC236}">
                <a16:creationId xmlns:a16="http://schemas.microsoft.com/office/drawing/2014/main" id="{95CFEDB0-AB2F-6E73-D704-078E80A13646}"/>
              </a:ext>
            </a:extLst>
          </p:cNvPr>
          <p:cNvCxnSpPr>
            <a:cxnSpLocks/>
            <a:stCxn id="75" idx="3"/>
            <a:endCxn id="43" idx="2"/>
          </p:cNvCxnSpPr>
          <p:nvPr/>
        </p:nvCxnSpPr>
        <p:spPr>
          <a:xfrm flipV="1">
            <a:off x="10164943" y="7227901"/>
            <a:ext cx="1138674" cy="2319151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FE4FC9D6-5D71-6AC5-E2AD-22A4793BE736}"/>
              </a:ext>
            </a:extLst>
          </p:cNvPr>
          <p:cNvCxnSpPr>
            <a:cxnSpLocks/>
            <a:stCxn id="75" idx="3"/>
            <a:endCxn id="14" idx="2"/>
          </p:cNvCxnSpPr>
          <p:nvPr/>
        </p:nvCxnSpPr>
        <p:spPr>
          <a:xfrm flipV="1">
            <a:off x="10164943" y="5937609"/>
            <a:ext cx="1142862" cy="3609443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コネクタ: カギ線 194">
            <a:extLst>
              <a:ext uri="{FF2B5EF4-FFF2-40B4-BE49-F238E27FC236}">
                <a16:creationId xmlns:a16="http://schemas.microsoft.com/office/drawing/2014/main" id="{410AB5C0-6CF5-BD3C-EDD5-E274CF7B113C}"/>
              </a:ext>
            </a:extLst>
          </p:cNvPr>
          <p:cNvCxnSpPr>
            <a:cxnSpLocks/>
            <a:stCxn id="75" idx="3"/>
            <a:endCxn id="69" idx="2"/>
          </p:cNvCxnSpPr>
          <p:nvPr/>
        </p:nvCxnSpPr>
        <p:spPr>
          <a:xfrm flipV="1">
            <a:off x="10164943" y="4695433"/>
            <a:ext cx="1138674" cy="4851619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フローチャート: 定義済み処理 234">
            <a:extLst>
              <a:ext uri="{FF2B5EF4-FFF2-40B4-BE49-F238E27FC236}">
                <a16:creationId xmlns:a16="http://schemas.microsoft.com/office/drawing/2014/main" id="{26CFDFA0-E02A-1DE3-B1C5-6EB05BBDD630}"/>
              </a:ext>
            </a:extLst>
          </p:cNvPr>
          <p:cNvSpPr/>
          <p:nvPr/>
        </p:nvSpPr>
        <p:spPr>
          <a:xfrm>
            <a:off x="12934504" y="3041164"/>
            <a:ext cx="1194231" cy="515792"/>
          </a:xfrm>
          <a:prstGeom prst="flowChartPredefined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在庫送信</a:t>
            </a:r>
          </a:p>
        </p:txBody>
      </p:sp>
      <p:sp>
        <p:nvSpPr>
          <p:cNvPr id="260" name="矢印: 下カーブ 259">
            <a:extLst>
              <a:ext uri="{FF2B5EF4-FFF2-40B4-BE49-F238E27FC236}">
                <a16:creationId xmlns:a16="http://schemas.microsoft.com/office/drawing/2014/main" id="{049713F2-BDEA-2015-27F4-2298CBD8D631}"/>
              </a:ext>
            </a:extLst>
          </p:cNvPr>
          <p:cNvSpPr/>
          <p:nvPr/>
        </p:nvSpPr>
        <p:spPr>
          <a:xfrm rot="5400000">
            <a:off x="14223534" y="3061502"/>
            <a:ext cx="374226" cy="733833"/>
          </a:xfrm>
          <a:prstGeom prst="curvedDown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2" name="楕円 261">
            <a:extLst>
              <a:ext uri="{FF2B5EF4-FFF2-40B4-BE49-F238E27FC236}">
                <a16:creationId xmlns:a16="http://schemas.microsoft.com/office/drawing/2014/main" id="{26CAA22F-5FFC-5FAD-4E9D-51A1A55CDED7}"/>
              </a:ext>
            </a:extLst>
          </p:cNvPr>
          <p:cNvSpPr/>
          <p:nvPr/>
        </p:nvSpPr>
        <p:spPr>
          <a:xfrm>
            <a:off x="10287455" y="8886036"/>
            <a:ext cx="430053" cy="394209"/>
          </a:xfrm>
          <a:prstGeom prst="ellipse">
            <a:avLst/>
          </a:prstGeom>
          <a:solidFill>
            <a:srgbClr val="FFFF99"/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600" b="1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4</a:t>
            </a:r>
          </a:p>
        </p:txBody>
      </p:sp>
      <p:sp>
        <p:nvSpPr>
          <p:cNvPr id="263" name="吹き出し: 折線 262">
            <a:extLst>
              <a:ext uri="{FF2B5EF4-FFF2-40B4-BE49-F238E27FC236}">
                <a16:creationId xmlns:a16="http://schemas.microsoft.com/office/drawing/2014/main" id="{E679C5EE-8335-91FC-EA02-6B86B2161166}"/>
              </a:ext>
            </a:extLst>
          </p:cNvPr>
          <p:cNvSpPr/>
          <p:nvPr/>
        </p:nvSpPr>
        <p:spPr>
          <a:xfrm>
            <a:off x="11563426" y="9366843"/>
            <a:ext cx="2263550" cy="51859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8029"/>
              <a:gd name="adj6" fmla="val -63268"/>
            </a:avLst>
          </a:prstGeom>
          <a:solidFill>
            <a:srgbClr val="FFFF99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DataSpider</a:t>
            </a:r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を使用することで文字コードを変換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円柱 40">
            <a:extLst>
              <a:ext uri="{FF2B5EF4-FFF2-40B4-BE49-F238E27FC236}">
                <a16:creationId xmlns:a16="http://schemas.microsoft.com/office/drawing/2014/main" id="{CA8534E5-854C-12D4-B14B-65F84E5A1C70}"/>
              </a:ext>
            </a:extLst>
          </p:cNvPr>
          <p:cNvSpPr/>
          <p:nvPr/>
        </p:nvSpPr>
        <p:spPr>
          <a:xfrm>
            <a:off x="14686047" y="2388863"/>
            <a:ext cx="1058290" cy="595357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各種実績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現行レイアウト</a:t>
            </a:r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10" name="直線矢印コネクタ 309">
            <a:extLst>
              <a:ext uri="{FF2B5EF4-FFF2-40B4-BE49-F238E27FC236}">
                <a16:creationId xmlns:a16="http://schemas.microsoft.com/office/drawing/2014/main" id="{EDE1675D-3D24-A77C-82B9-7B4E23635273}"/>
              </a:ext>
            </a:extLst>
          </p:cNvPr>
          <p:cNvCxnSpPr>
            <a:cxnSpLocks/>
            <a:stCxn id="17" idx="1"/>
            <a:endCxn id="22" idx="4"/>
          </p:cNvCxnSpPr>
          <p:nvPr/>
        </p:nvCxnSpPr>
        <p:spPr>
          <a:xfrm flipH="1">
            <a:off x="14060765" y="1884249"/>
            <a:ext cx="2630591" cy="6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円柱 15">
            <a:extLst>
              <a:ext uri="{FF2B5EF4-FFF2-40B4-BE49-F238E27FC236}">
                <a16:creationId xmlns:a16="http://schemas.microsoft.com/office/drawing/2014/main" id="{780FF315-A0B3-7728-6299-9B9C3A76E502}"/>
              </a:ext>
            </a:extLst>
          </p:cNvPr>
          <p:cNvSpPr/>
          <p:nvPr/>
        </p:nvSpPr>
        <p:spPr>
          <a:xfrm>
            <a:off x="7594844" y="4695433"/>
            <a:ext cx="1058290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各種実績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現行レイアウト</a:t>
            </a:r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7301272A-3074-824F-3365-F0A36DACA819}"/>
              </a:ext>
            </a:extLst>
          </p:cNvPr>
          <p:cNvSpPr/>
          <p:nvPr/>
        </p:nvSpPr>
        <p:spPr>
          <a:xfrm>
            <a:off x="2480282" y="5833190"/>
            <a:ext cx="1183460" cy="5913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データ参照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API</a:t>
            </a:r>
          </a:p>
        </p:txBody>
      </p: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5C6F3C5B-C58C-D0D5-594E-262A7FAFCFE6}"/>
              </a:ext>
            </a:extLst>
          </p:cNvPr>
          <p:cNvCxnSpPr>
            <a:cxnSpLocks/>
            <a:stCxn id="2" idx="3"/>
            <a:endCxn id="46" idx="1"/>
          </p:cNvCxnSpPr>
          <p:nvPr/>
        </p:nvCxnSpPr>
        <p:spPr>
          <a:xfrm>
            <a:off x="1707274" y="5025793"/>
            <a:ext cx="773008" cy="110307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7F4219AD-DB99-6BF8-412C-5A1D2303FB4D}"/>
              </a:ext>
            </a:extLst>
          </p:cNvPr>
          <p:cNvCxnSpPr>
            <a:cxnSpLocks/>
            <a:stCxn id="332" idx="3"/>
            <a:endCxn id="46" idx="1"/>
          </p:cNvCxnSpPr>
          <p:nvPr/>
        </p:nvCxnSpPr>
        <p:spPr>
          <a:xfrm flipV="1">
            <a:off x="1707274" y="6128865"/>
            <a:ext cx="773008" cy="251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グループ化 70">
            <a:extLst>
              <a:ext uri="{FF2B5EF4-FFF2-40B4-BE49-F238E27FC236}">
                <a16:creationId xmlns:a16="http://schemas.microsoft.com/office/drawing/2014/main" id="{D55C97D4-6E5C-CA51-0F70-5E57110C63EC}"/>
              </a:ext>
            </a:extLst>
          </p:cNvPr>
          <p:cNvGrpSpPr/>
          <p:nvPr/>
        </p:nvGrpSpPr>
        <p:grpSpPr>
          <a:xfrm>
            <a:off x="99534" y="6839569"/>
            <a:ext cx="1911644" cy="959651"/>
            <a:chOff x="405609" y="9205165"/>
            <a:chExt cx="1911644" cy="959651"/>
          </a:xfrm>
        </p:grpSpPr>
        <p:sp>
          <p:nvSpPr>
            <p:cNvPr id="72" name="テキスト ボックス 71">
              <a:extLst>
                <a:ext uri="{FF2B5EF4-FFF2-40B4-BE49-F238E27FC236}">
                  <a16:creationId xmlns:a16="http://schemas.microsoft.com/office/drawing/2014/main" id="{BDD58854-02D9-8712-A7ED-DF9EC0479FDA}"/>
                </a:ext>
              </a:extLst>
            </p:cNvPr>
            <p:cNvSpPr txBox="1"/>
            <p:nvPr/>
          </p:nvSpPr>
          <p:spPr>
            <a:xfrm>
              <a:off x="405609" y="9205165"/>
              <a:ext cx="1911644" cy="95965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ja-JP"/>
              </a:defPPr>
              <a:lvl1pPr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>
                <a:lnSpc>
                  <a:spcPct val="200000"/>
                </a:lnSpc>
              </a:pP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データの流れ</a:t>
              </a:r>
              <a:endPara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lvl="0">
                <a:lnSpc>
                  <a:spcPct val="200000"/>
                </a:lnSpc>
              </a:pP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データ参照</a:t>
              </a:r>
              <a:endPara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cxnSp>
          <p:nvCxnSpPr>
            <p:cNvPr id="73" name="直線矢印コネクタ 72">
              <a:extLst>
                <a:ext uri="{FF2B5EF4-FFF2-40B4-BE49-F238E27FC236}">
                  <a16:creationId xmlns:a16="http://schemas.microsoft.com/office/drawing/2014/main" id="{0BEF63F4-2FCF-08E3-80C4-C761472FE1DE}"/>
                </a:ext>
              </a:extLst>
            </p:cNvPr>
            <p:cNvCxnSpPr>
              <a:cxnSpLocks/>
            </p:cNvCxnSpPr>
            <p:nvPr/>
          </p:nvCxnSpPr>
          <p:spPr>
            <a:xfrm>
              <a:off x="1635001" y="9936000"/>
              <a:ext cx="57634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矢印コネクタ 73">
              <a:extLst>
                <a:ext uri="{FF2B5EF4-FFF2-40B4-BE49-F238E27FC236}">
                  <a16:creationId xmlns:a16="http://schemas.microsoft.com/office/drawing/2014/main" id="{0FEC4177-68AB-525B-F641-73C8A406314A}"/>
                </a:ext>
              </a:extLst>
            </p:cNvPr>
            <p:cNvCxnSpPr>
              <a:cxnSpLocks/>
            </p:cNvCxnSpPr>
            <p:nvPr/>
          </p:nvCxnSpPr>
          <p:spPr>
            <a:xfrm>
              <a:off x="1635001" y="9490619"/>
              <a:ext cx="60229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1C9348D1-887A-7121-8479-AB243AC54DA3}"/>
              </a:ext>
            </a:extLst>
          </p:cNvPr>
          <p:cNvGrpSpPr/>
          <p:nvPr/>
        </p:nvGrpSpPr>
        <p:grpSpPr>
          <a:xfrm>
            <a:off x="207264" y="9298643"/>
            <a:ext cx="6897429" cy="530640"/>
            <a:chOff x="-1119038" y="9205166"/>
            <a:chExt cx="6897429" cy="530640"/>
          </a:xfrm>
        </p:grpSpPr>
        <p:sp>
          <p:nvSpPr>
            <p:cNvPr id="77" name="テキスト ボックス 76">
              <a:extLst>
                <a:ext uri="{FF2B5EF4-FFF2-40B4-BE49-F238E27FC236}">
                  <a16:creationId xmlns:a16="http://schemas.microsoft.com/office/drawing/2014/main" id="{077F3AF2-A6CD-9364-8717-D73FDE8D7672}"/>
                </a:ext>
              </a:extLst>
            </p:cNvPr>
            <p:cNvSpPr txBox="1"/>
            <p:nvPr/>
          </p:nvSpPr>
          <p:spPr>
            <a:xfrm>
              <a:off x="-1119038" y="9205166"/>
              <a:ext cx="6897429" cy="53064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ja-JP"/>
              </a:defPPr>
              <a:lvl1pPr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>
                <a:lnSpc>
                  <a:spcPct val="200000"/>
                </a:lnSpc>
              </a:pP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　　　　　　　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…SMJ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担当　　　　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…SMJ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、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NSW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様担当　　　　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…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カストマ様担当</a:t>
              </a:r>
              <a:endPara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D210E271-2280-FBB3-934D-604845EB9E24}"/>
                </a:ext>
              </a:extLst>
            </p:cNvPr>
            <p:cNvSpPr/>
            <p:nvPr/>
          </p:nvSpPr>
          <p:spPr>
            <a:xfrm>
              <a:off x="-993723" y="9376272"/>
              <a:ext cx="542821" cy="250839"/>
            </a:xfrm>
            <a:prstGeom prst="rect">
              <a:avLst/>
            </a:prstGeom>
            <a:solidFill>
              <a:schemeClr val="accent6">
                <a:lumMod val="10000"/>
                <a:lumOff val="90000"/>
              </a:schemeClr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79" name="正方形/長方形 78">
              <a:extLst>
                <a:ext uri="{FF2B5EF4-FFF2-40B4-BE49-F238E27FC236}">
                  <a16:creationId xmlns:a16="http://schemas.microsoft.com/office/drawing/2014/main" id="{5848F8D7-EFFB-BFB8-C436-0A996C5DFDBF}"/>
                </a:ext>
              </a:extLst>
            </p:cNvPr>
            <p:cNvSpPr/>
            <p:nvPr/>
          </p:nvSpPr>
          <p:spPr>
            <a:xfrm>
              <a:off x="3552049" y="9355074"/>
              <a:ext cx="542821" cy="260551"/>
            </a:xfrm>
            <a:prstGeom prst="rect">
              <a:avLst/>
            </a:prstGeom>
            <a:solidFill>
              <a:srgbClr val="00B0F0"/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124AF294-7182-F1F7-6476-1158A650B5D5}"/>
                </a:ext>
              </a:extLst>
            </p:cNvPr>
            <p:cNvSpPr/>
            <p:nvPr/>
          </p:nvSpPr>
          <p:spPr>
            <a:xfrm>
              <a:off x="-398132" y="9376272"/>
              <a:ext cx="542821" cy="25083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1" name="正方形/長方形 80">
              <a:extLst>
                <a:ext uri="{FF2B5EF4-FFF2-40B4-BE49-F238E27FC236}">
                  <a16:creationId xmlns:a16="http://schemas.microsoft.com/office/drawing/2014/main" id="{47F6E61B-D149-A51D-1773-BCDB6C2C793D}"/>
                </a:ext>
              </a:extLst>
            </p:cNvPr>
            <p:cNvSpPr/>
            <p:nvPr/>
          </p:nvSpPr>
          <p:spPr>
            <a:xfrm>
              <a:off x="1233895" y="9355074"/>
              <a:ext cx="542821" cy="26055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52910A0D-B504-9DD5-3202-503F7D068A0B}"/>
              </a:ext>
            </a:extLst>
          </p:cNvPr>
          <p:cNvSpPr/>
          <p:nvPr/>
        </p:nvSpPr>
        <p:spPr>
          <a:xfrm>
            <a:off x="7362237" y="8385233"/>
            <a:ext cx="1183460" cy="5913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実績データ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作成処理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1A6B063F-CEB8-A9F7-E913-16CB2C960EBC}"/>
              </a:ext>
            </a:extLst>
          </p:cNvPr>
          <p:cNvCxnSpPr>
            <a:cxnSpLocks/>
            <a:stCxn id="45" idx="3"/>
            <a:endCxn id="34" idx="1"/>
          </p:cNvCxnSpPr>
          <p:nvPr/>
        </p:nvCxnSpPr>
        <p:spPr>
          <a:xfrm flipV="1">
            <a:off x="6889621" y="8680908"/>
            <a:ext cx="472616" cy="170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円柱 86">
            <a:extLst>
              <a:ext uri="{FF2B5EF4-FFF2-40B4-BE49-F238E27FC236}">
                <a16:creationId xmlns:a16="http://schemas.microsoft.com/office/drawing/2014/main" id="{B87637FE-F8AE-37E8-3C50-5CEF2E9ADB8B}"/>
              </a:ext>
            </a:extLst>
          </p:cNvPr>
          <p:cNvSpPr/>
          <p:nvPr/>
        </p:nvSpPr>
        <p:spPr>
          <a:xfrm>
            <a:off x="7316309" y="6868402"/>
            <a:ext cx="1058290" cy="701882"/>
          </a:xfrm>
          <a:prstGeom prst="can">
            <a:avLst/>
          </a:prstGeom>
          <a:solidFill>
            <a:srgbClr val="CCFFCC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次世代⇒現行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キュー</a:t>
            </a:r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テーブル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42906F6B-9356-BED8-5EF9-4F12230B95FF}"/>
              </a:ext>
            </a:extLst>
          </p:cNvPr>
          <p:cNvCxnSpPr>
            <a:cxnSpLocks/>
            <a:stCxn id="75" idx="0"/>
            <a:endCxn id="87" idx="3"/>
          </p:cNvCxnSpPr>
          <p:nvPr/>
        </p:nvCxnSpPr>
        <p:spPr>
          <a:xfrm flipH="1" flipV="1">
            <a:off x="7845454" y="7570284"/>
            <a:ext cx="1722374" cy="1690331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矢印コネクタ 111">
            <a:extLst>
              <a:ext uri="{FF2B5EF4-FFF2-40B4-BE49-F238E27FC236}">
                <a16:creationId xmlns:a16="http://schemas.microsoft.com/office/drawing/2014/main" id="{4702C836-BF89-A22E-4611-F411FFAC0C2C}"/>
              </a:ext>
            </a:extLst>
          </p:cNvPr>
          <p:cNvCxnSpPr>
            <a:cxnSpLocks/>
            <a:stCxn id="34" idx="0"/>
            <a:endCxn id="218" idx="2"/>
          </p:cNvCxnSpPr>
          <p:nvPr/>
        </p:nvCxnSpPr>
        <p:spPr>
          <a:xfrm flipV="1">
            <a:off x="7953967" y="6705918"/>
            <a:ext cx="1322580" cy="167931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3780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5EE6A-E6AE-7DB0-ABFE-D3831EB01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F37C4C53-410B-9141-1751-FED6191C8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50" b="1" i="0" u="none" strike="noStrike" kern="1200" cap="none" spc="0" normalizeH="0" baseline="0" noProof="0" dirty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t>Confidential </a:t>
            </a:r>
            <a:endParaRPr kumimoji="1" lang="ja-JP" altLang="en-US" sz="1650" b="1" i="0" u="none" strike="noStrike" kern="1200" cap="none" spc="0" normalizeH="0" baseline="0" noProof="0" dirty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E7A8AC72-3EE4-B826-6C00-7DD1D50FC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9E37A5-A917-4235-ABF6-8CD72E894915}" type="slidenum">
              <a:rPr kumimoji="1" lang="en-US" altLang="ja-JP" sz="1500" b="0" i="0" u="none" strike="noStrike" kern="1200" cap="none" spc="0" normalizeH="0" baseline="0" noProof="0" smtClean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ja-JP" altLang="en-US" sz="1500" b="0" i="0" u="none" strike="noStrike" kern="1200" cap="none" spc="0" normalizeH="0" baseline="0" noProof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2A2BC3BF-E0D2-0116-7C6B-8D50678A6A60}"/>
              </a:ext>
            </a:extLst>
          </p:cNvPr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575" b="0" i="0" u="none" strike="noStrike" kern="1200" cap="none" spc="0" normalizeH="0" baseline="0" noProof="0" dirty="0">
                <a:ln>
                  <a:noFill/>
                </a:ln>
                <a:solidFill>
                  <a:srgbClr val="9A9A96"/>
                </a:solidFill>
                <a:effectLst/>
                <a:uLnTx/>
                <a:uFillTx/>
                <a:latin typeface="HGPｺﾞｼｯｸM" panose="020B0600000000000000" pitchFamily="50" charset="-128"/>
                <a:ea typeface="HGPｺﾞｼｯｸM" panose="020B0600000000000000" pitchFamily="50" charset="-128"/>
                <a:cs typeface="Arial" panose="020B0604020202020204" pitchFamily="34" charset="0"/>
              </a:rPr>
              <a:t>Copyright © All rights reserved, Sharp Marketing Japan Corporation</a:t>
            </a:r>
            <a:endParaRPr kumimoji="1" lang="ja-JP" altLang="en-US" sz="1575" b="0" i="0" u="none" strike="noStrike" kern="1200" cap="none" spc="0" normalizeH="0" baseline="0" noProof="0" dirty="0">
              <a:ln>
                <a:noFill/>
              </a:ln>
              <a:solidFill>
                <a:srgbClr val="9A9A96"/>
              </a:solidFill>
              <a:effectLst/>
              <a:uLnTx/>
              <a:uFillTx/>
              <a:latin typeface="HGPｺﾞｼｯｸM" panose="020B0600000000000000" pitchFamily="50" charset="-128"/>
              <a:ea typeface="HGPｺﾞｼｯｸM" panose="020B06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11" name="コンテンツ プレースホルダー 3">
            <a:extLst>
              <a:ext uri="{FF2B5EF4-FFF2-40B4-BE49-F238E27FC236}">
                <a16:creationId xmlns:a16="http://schemas.microsoft.com/office/drawing/2014/main" id="{9268085D-1B01-2477-A219-5D1F6B4F8BA3}"/>
              </a:ext>
            </a:extLst>
          </p:cNvPr>
          <p:cNvSpPr txBox="1">
            <a:spLocks/>
          </p:cNvSpPr>
          <p:nvPr/>
        </p:nvSpPr>
        <p:spPr>
          <a:xfrm>
            <a:off x="405609" y="-313678"/>
            <a:ext cx="18090000" cy="13157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250000"/>
              </a:lnSpc>
              <a:buNone/>
            </a:pP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タブレット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POS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 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API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データ連携</a:t>
            </a:r>
            <a:endParaRPr kumimoji="1" lang="en-US" altLang="ja-JP" sz="3600" b="1" i="0" u="none" strike="noStrike" kern="1200" cap="none" spc="0" normalizeH="0" baseline="0" noProof="0" dirty="0">
              <a:ln>
                <a:noFill/>
              </a:ln>
              <a:solidFill>
                <a:srgbClr val="59574C"/>
              </a:solidFill>
              <a:effectLst/>
              <a:uLnTx/>
              <a:uFillTx/>
              <a:latin typeface="源ノ角ゴシック JP Medium"/>
              <a:ea typeface="源ノ角ゴシック JP Medium"/>
              <a:cs typeface="+mn-cs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A9E5C71-1DDD-0282-0A13-094E9E2AB176}"/>
              </a:ext>
            </a:extLst>
          </p:cNvPr>
          <p:cNvSpPr txBox="1"/>
          <p:nvPr/>
        </p:nvSpPr>
        <p:spPr>
          <a:xfrm>
            <a:off x="405608" y="1138709"/>
            <a:ext cx="5882035" cy="8849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lnSpc>
                <a:spcPts val="3100"/>
              </a:lnSpc>
            </a:pP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■シーケンス図</a:t>
            </a:r>
            <a:endParaRPr lang="en-US" altLang="ja-JP" sz="25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ts val="3100"/>
              </a:lnSpc>
            </a:pPr>
            <a:r>
              <a:rPr lang="ja-JP" altLang="en-US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印刷のあるデータ登録</a:t>
            </a:r>
            <a:r>
              <a:rPr lang="en-US" altLang="ja-JP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lang="ja-JP" altLang="en-US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の場合</a:t>
            </a: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C842C037-1591-9C8A-B462-01B0DCF3355D}"/>
              </a:ext>
            </a:extLst>
          </p:cNvPr>
          <p:cNvCxnSpPr>
            <a:cxnSpLocks/>
          </p:cNvCxnSpPr>
          <p:nvPr/>
        </p:nvCxnSpPr>
        <p:spPr>
          <a:xfrm>
            <a:off x="4558116" y="5761851"/>
            <a:ext cx="565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D7E1E211-69E4-1CDD-5CFC-78CABB55171E}"/>
              </a:ext>
            </a:extLst>
          </p:cNvPr>
          <p:cNvCxnSpPr>
            <a:cxnSpLocks/>
          </p:cNvCxnSpPr>
          <p:nvPr/>
        </p:nvCxnSpPr>
        <p:spPr>
          <a:xfrm>
            <a:off x="4558116" y="4516434"/>
            <a:ext cx="565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243499AA-9647-B02C-2132-44DE49B4E1D0}"/>
              </a:ext>
            </a:extLst>
          </p:cNvPr>
          <p:cNvCxnSpPr>
            <a:cxnSpLocks/>
          </p:cNvCxnSpPr>
          <p:nvPr/>
        </p:nvCxnSpPr>
        <p:spPr>
          <a:xfrm>
            <a:off x="4558116" y="4594810"/>
            <a:ext cx="65293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728EF42A-C197-453A-91FD-9FF9C51EEAD1}"/>
              </a:ext>
            </a:extLst>
          </p:cNvPr>
          <p:cNvCxnSpPr/>
          <p:nvPr/>
        </p:nvCxnSpPr>
        <p:spPr>
          <a:xfrm>
            <a:off x="11939588" y="2532663"/>
            <a:ext cx="0" cy="6947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円柱 41">
            <a:extLst>
              <a:ext uri="{FF2B5EF4-FFF2-40B4-BE49-F238E27FC236}">
                <a16:creationId xmlns:a16="http://schemas.microsoft.com/office/drawing/2014/main" id="{6FBB1A4A-99AA-893B-2AE9-540EF37A1980}"/>
              </a:ext>
            </a:extLst>
          </p:cNvPr>
          <p:cNvSpPr/>
          <p:nvPr/>
        </p:nvSpPr>
        <p:spPr>
          <a:xfrm>
            <a:off x="11570814" y="2988718"/>
            <a:ext cx="826159" cy="481659"/>
          </a:xfrm>
          <a:prstGeom prst="ca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en-US" altLang="ja-JP" sz="110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円柱 48">
            <a:extLst>
              <a:ext uri="{FF2B5EF4-FFF2-40B4-BE49-F238E27FC236}">
                <a16:creationId xmlns:a16="http://schemas.microsoft.com/office/drawing/2014/main" id="{3F9C7C69-761A-2E6B-5669-03DF63A64E66}"/>
              </a:ext>
            </a:extLst>
          </p:cNvPr>
          <p:cNvSpPr/>
          <p:nvPr/>
        </p:nvSpPr>
        <p:spPr>
          <a:xfrm>
            <a:off x="11570814" y="2788922"/>
            <a:ext cx="826159" cy="481658"/>
          </a:xfrm>
          <a:prstGeom prst="ca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en-US" altLang="ja-JP" sz="110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333851C8-0292-4EAF-847B-4DE030DE3831}"/>
              </a:ext>
            </a:extLst>
          </p:cNvPr>
          <p:cNvCxnSpPr>
            <a:cxnSpLocks/>
          </p:cNvCxnSpPr>
          <p:nvPr/>
        </p:nvCxnSpPr>
        <p:spPr>
          <a:xfrm>
            <a:off x="4558116" y="3300975"/>
            <a:ext cx="0" cy="61787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21">
            <a:extLst>
              <a:ext uri="{FF2B5EF4-FFF2-40B4-BE49-F238E27FC236}">
                <a16:creationId xmlns:a16="http://schemas.microsoft.com/office/drawing/2014/main" id="{D471EFE3-9D06-3F5A-E1BD-1E8D4064523F}"/>
              </a:ext>
            </a:extLst>
          </p:cNvPr>
          <p:cNvSpPr txBox="1"/>
          <p:nvPr/>
        </p:nvSpPr>
        <p:spPr>
          <a:xfrm>
            <a:off x="464262" y="2228507"/>
            <a:ext cx="19254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タブレット</a:t>
            </a:r>
            <a:r>
              <a:rPr kumimoji="1" lang="en-US" altLang="ja-JP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POS</a:t>
            </a:r>
            <a:endParaRPr kumimoji="1" lang="ja-JP" altLang="en-US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C5154154-C50D-9B5E-E8B4-959D8C2BD5D3}"/>
              </a:ext>
            </a:extLst>
          </p:cNvPr>
          <p:cNvCxnSpPr>
            <a:cxnSpLocks/>
          </p:cNvCxnSpPr>
          <p:nvPr/>
        </p:nvCxnSpPr>
        <p:spPr>
          <a:xfrm>
            <a:off x="9623285" y="6602586"/>
            <a:ext cx="587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4D6EF548-235D-89F0-5B49-3243FB82C553}"/>
              </a:ext>
            </a:extLst>
          </p:cNvPr>
          <p:cNvCxnSpPr>
            <a:cxnSpLocks/>
          </p:cNvCxnSpPr>
          <p:nvPr/>
        </p:nvCxnSpPr>
        <p:spPr>
          <a:xfrm flipH="1">
            <a:off x="1252765" y="3164909"/>
            <a:ext cx="17781" cy="62097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BB078FA4-D3C5-2E0A-BCC2-AE93A0EE1379}"/>
              </a:ext>
            </a:extLst>
          </p:cNvPr>
          <p:cNvCxnSpPr>
            <a:cxnSpLocks/>
          </p:cNvCxnSpPr>
          <p:nvPr/>
        </p:nvCxnSpPr>
        <p:spPr>
          <a:xfrm>
            <a:off x="9206931" y="2532663"/>
            <a:ext cx="0" cy="6947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2843BA7D-9A61-B0EC-5AD8-46F3F2548717}"/>
              </a:ext>
            </a:extLst>
          </p:cNvPr>
          <p:cNvCxnSpPr>
            <a:cxnSpLocks/>
          </p:cNvCxnSpPr>
          <p:nvPr/>
        </p:nvCxnSpPr>
        <p:spPr>
          <a:xfrm>
            <a:off x="11087474" y="2931644"/>
            <a:ext cx="0" cy="65480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円柱 66">
            <a:extLst>
              <a:ext uri="{FF2B5EF4-FFF2-40B4-BE49-F238E27FC236}">
                <a16:creationId xmlns:a16="http://schemas.microsoft.com/office/drawing/2014/main" id="{347F6CE2-E6E3-17B7-0B08-CADCEB67A70D}"/>
              </a:ext>
            </a:extLst>
          </p:cNvPr>
          <p:cNvSpPr/>
          <p:nvPr/>
        </p:nvSpPr>
        <p:spPr>
          <a:xfrm>
            <a:off x="11570814" y="2478948"/>
            <a:ext cx="826159" cy="565254"/>
          </a:xfrm>
          <a:prstGeom prst="ca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320"/>
              </a:lnSpc>
            </a:pP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>
              <a:lnSpc>
                <a:spcPts val="1320"/>
              </a:lnSpc>
            </a:pPr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各種実績</a:t>
            </a: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>
              <a:lnSpc>
                <a:spcPts val="1320"/>
              </a:lnSpc>
            </a:pPr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テーブル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2" name="テキスト ボックス 141">
            <a:extLst>
              <a:ext uri="{FF2B5EF4-FFF2-40B4-BE49-F238E27FC236}">
                <a16:creationId xmlns:a16="http://schemas.microsoft.com/office/drawing/2014/main" id="{A0C20855-6450-CDF2-46F1-982656A8257C}"/>
              </a:ext>
            </a:extLst>
          </p:cNvPr>
          <p:cNvSpPr txBox="1"/>
          <p:nvPr/>
        </p:nvSpPr>
        <p:spPr>
          <a:xfrm>
            <a:off x="731854" y="2719391"/>
            <a:ext cx="1120200" cy="64436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印刷処理</a:t>
            </a:r>
            <a:endParaRPr lang="en-US" altLang="ja-JP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65793AEF-16F4-DBE3-A90B-ECD4A7738267}"/>
              </a:ext>
            </a:extLst>
          </p:cNvPr>
          <p:cNvCxnSpPr>
            <a:cxnSpLocks/>
          </p:cNvCxnSpPr>
          <p:nvPr/>
        </p:nvCxnSpPr>
        <p:spPr>
          <a:xfrm>
            <a:off x="7136486" y="2931644"/>
            <a:ext cx="0" cy="65480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CB3E6400-B895-F598-ECE2-4967F296043F}"/>
              </a:ext>
            </a:extLst>
          </p:cNvPr>
          <p:cNvCxnSpPr>
            <a:cxnSpLocks/>
          </p:cNvCxnSpPr>
          <p:nvPr/>
        </p:nvCxnSpPr>
        <p:spPr>
          <a:xfrm flipH="1">
            <a:off x="6157013" y="2931643"/>
            <a:ext cx="1" cy="65480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171DCB26-BDF6-8473-14A0-DA3981C03EF1}"/>
              </a:ext>
            </a:extLst>
          </p:cNvPr>
          <p:cNvCxnSpPr>
            <a:cxnSpLocks/>
          </p:cNvCxnSpPr>
          <p:nvPr/>
        </p:nvCxnSpPr>
        <p:spPr>
          <a:xfrm>
            <a:off x="4558116" y="5699688"/>
            <a:ext cx="2578370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テキスト ボックス 177">
            <a:extLst>
              <a:ext uri="{FF2B5EF4-FFF2-40B4-BE49-F238E27FC236}">
                <a16:creationId xmlns:a16="http://schemas.microsoft.com/office/drawing/2014/main" id="{79112689-6F35-5271-D029-7456573CB06B}"/>
              </a:ext>
            </a:extLst>
          </p:cNvPr>
          <p:cNvSpPr txBox="1"/>
          <p:nvPr/>
        </p:nvSpPr>
        <p:spPr>
          <a:xfrm>
            <a:off x="5201752" y="5754430"/>
            <a:ext cx="4592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ジャーナルデータ・受付台帳</a:t>
            </a:r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更新</a:t>
            </a:r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1FEF2EC0-67C5-A82F-651D-50B40F90F64F}"/>
              </a:ext>
            </a:extLst>
          </p:cNvPr>
          <p:cNvCxnSpPr>
            <a:cxnSpLocks/>
          </p:cNvCxnSpPr>
          <p:nvPr/>
        </p:nvCxnSpPr>
        <p:spPr>
          <a:xfrm>
            <a:off x="9623285" y="6946102"/>
            <a:ext cx="2316303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円柱 89">
            <a:extLst>
              <a:ext uri="{FF2B5EF4-FFF2-40B4-BE49-F238E27FC236}">
                <a16:creationId xmlns:a16="http://schemas.microsoft.com/office/drawing/2014/main" id="{AF8BB0C2-65D3-7853-CDB5-23FC814DDB56}"/>
              </a:ext>
            </a:extLst>
          </p:cNvPr>
          <p:cNvSpPr/>
          <p:nvPr/>
        </p:nvSpPr>
        <p:spPr>
          <a:xfrm>
            <a:off x="6593733" y="2580702"/>
            <a:ext cx="827253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ジャーナル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92" name="直線矢印コネクタ 91">
            <a:extLst>
              <a:ext uri="{FF2B5EF4-FFF2-40B4-BE49-F238E27FC236}">
                <a16:creationId xmlns:a16="http://schemas.microsoft.com/office/drawing/2014/main" id="{94344776-2395-13E5-AC8E-E1894EF03368}"/>
              </a:ext>
            </a:extLst>
          </p:cNvPr>
          <p:cNvCxnSpPr>
            <a:cxnSpLocks/>
          </p:cNvCxnSpPr>
          <p:nvPr/>
        </p:nvCxnSpPr>
        <p:spPr>
          <a:xfrm>
            <a:off x="4558116" y="5274190"/>
            <a:ext cx="15710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円柱 92">
            <a:extLst>
              <a:ext uri="{FF2B5EF4-FFF2-40B4-BE49-F238E27FC236}">
                <a16:creationId xmlns:a16="http://schemas.microsoft.com/office/drawing/2014/main" id="{BFCD124B-91ED-87CC-E270-FCCB67673C1B}"/>
              </a:ext>
            </a:extLst>
          </p:cNvPr>
          <p:cNvSpPr/>
          <p:nvPr/>
        </p:nvSpPr>
        <p:spPr>
          <a:xfrm>
            <a:off x="10678942" y="2580702"/>
            <a:ext cx="833498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10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JSON</a:t>
            </a:r>
          </a:p>
          <a:p>
            <a:pPr algn="ctr"/>
            <a:r>
              <a:rPr lang="ja-JP" altLang="en-US" sz="110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</a:t>
            </a:r>
            <a:endParaRPr kumimoji="1" lang="en-US" altLang="ja-JP" sz="110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5" name="円柱 94">
            <a:extLst>
              <a:ext uri="{FF2B5EF4-FFF2-40B4-BE49-F238E27FC236}">
                <a16:creationId xmlns:a16="http://schemas.microsoft.com/office/drawing/2014/main" id="{9AD3E5EC-9708-34F2-131B-9002F24DA08E}"/>
              </a:ext>
            </a:extLst>
          </p:cNvPr>
          <p:cNvSpPr/>
          <p:nvPr/>
        </p:nvSpPr>
        <p:spPr>
          <a:xfrm>
            <a:off x="5715493" y="2580702"/>
            <a:ext cx="827253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帳票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フォーマット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6" name="テキスト ボックス 3">
            <a:extLst>
              <a:ext uri="{FF2B5EF4-FFF2-40B4-BE49-F238E27FC236}">
                <a16:creationId xmlns:a16="http://schemas.microsoft.com/office/drawing/2014/main" id="{C843A637-016D-896B-6DE4-787DFA0F4E93}"/>
              </a:ext>
            </a:extLst>
          </p:cNvPr>
          <p:cNvSpPr txBox="1"/>
          <p:nvPr/>
        </p:nvSpPr>
        <p:spPr>
          <a:xfrm>
            <a:off x="3962000" y="2706299"/>
            <a:ext cx="1214527" cy="646330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80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API</a:t>
            </a:r>
            <a:endParaRPr kumimoji="1" lang="ja-JP" altLang="en-US" sz="180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98" name="四角形: 角を丸くする 97">
            <a:extLst>
              <a:ext uri="{FF2B5EF4-FFF2-40B4-BE49-F238E27FC236}">
                <a16:creationId xmlns:a16="http://schemas.microsoft.com/office/drawing/2014/main" id="{9ADC0A1D-30EC-836F-82B3-9C63F35F3DD0}"/>
              </a:ext>
            </a:extLst>
          </p:cNvPr>
          <p:cNvSpPr/>
          <p:nvPr/>
        </p:nvSpPr>
        <p:spPr>
          <a:xfrm>
            <a:off x="513988" y="2123155"/>
            <a:ext cx="2634089" cy="7780160"/>
          </a:xfrm>
          <a:prstGeom prst="roundRect">
            <a:avLst>
              <a:gd name="adj" fmla="val 3105"/>
            </a:avLst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100" name="四角形: 角を丸くする 99">
            <a:extLst>
              <a:ext uri="{FF2B5EF4-FFF2-40B4-BE49-F238E27FC236}">
                <a16:creationId xmlns:a16="http://schemas.microsoft.com/office/drawing/2014/main" id="{EFDA5EC5-4218-9AB5-AB35-0580AE5EBCDF}"/>
              </a:ext>
            </a:extLst>
          </p:cNvPr>
          <p:cNvSpPr/>
          <p:nvPr/>
        </p:nvSpPr>
        <p:spPr>
          <a:xfrm>
            <a:off x="3252616" y="2124854"/>
            <a:ext cx="9320153" cy="7765315"/>
          </a:xfrm>
          <a:prstGeom prst="roundRect">
            <a:avLst>
              <a:gd name="adj" fmla="val 3105"/>
            </a:avLst>
          </a:prstGeom>
          <a:noFill/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103" name="テキスト ボックス 19">
            <a:extLst>
              <a:ext uri="{FF2B5EF4-FFF2-40B4-BE49-F238E27FC236}">
                <a16:creationId xmlns:a16="http://schemas.microsoft.com/office/drawing/2014/main" id="{1D3067B5-D6B3-E2D7-B63D-E9FC8E48B286}"/>
              </a:ext>
            </a:extLst>
          </p:cNvPr>
          <p:cNvSpPr txBox="1"/>
          <p:nvPr/>
        </p:nvSpPr>
        <p:spPr>
          <a:xfrm>
            <a:off x="3111500" y="2171487"/>
            <a:ext cx="1959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600" b="1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OCI</a:t>
            </a:r>
            <a:r>
              <a:rPr lang="ja-JP" altLang="en-US" sz="1600" b="1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環境</a:t>
            </a:r>
            <a:endParaRPr kumimoji="1" lang="ja-JP" altLang="en-US" sz="1600" b="1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104" name="テキスト ボックス 38">
            <a:extLst>
              <a:ext uri="{FF2B5EF4-FFF2-40B4-BE49-F238E27FC236}">
                <a16:creationId xmlns:a16="http://schemas.microsoft.com/office/drawing/2014/main" id="{019FA770-D664-D631-AF36-A61647121F85}"/>
              </a:ext>
            </a:extLst>
          </p:cNvPr>
          <p:cNvSpPr txBox="1"/>
          <p:nvPr/>
        </p:nvSpPr>
        <p:spPr>
          <a:xfrm>
            <a:off x="5253800" y="4905371"/>
            <a:ext cx="4444323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帳票フォーマット </a:t>
            </a:r>
            <a:r>
              <a:rPr kumimoji="1"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or</a:t>
            </a:r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 テンプレート取得</a:t>
            </a:r>
          </a:p>
        </p:txBody>
      </p:sp>
      <p:sp>
        <p:nvSpPr>
          <p:cNvPr id="106" name="テキスト ボックス 41">
            <a:extLst>
              <a:ext uri="{FF2B5EF4-FFF2-40B4-BE49-F238E27FC236}">
                <a16:creationId xmlns:a16="http://schemas.microsoft.com/office/drawing/2014/main" id="{DA5858C4-8F97-DC52-A54A-80D6F2CAB25F}"/>
              </a:ext>
            </a:extLst>
          </p:cNvPr>
          <p:cNvSpPr txBox="1"/>
          <p:nvPr/>
        </p:nvSpPr>
        <p:spPr>
          <a:xfrm>
            <a:off x="9736176" y="6926232"/>
            <a:ext cx="2251142" cy="357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各種実績</a:t>
            </a:r>
            <a:r>
              <a:rPr kumimoji="1"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</a:t>
            </a:r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登録</a:t>
            </a:r>
            <a:endParaRPr kumimoji="1" lang="ja-JP" altLang="en-US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71826F35-8E95-6421-5323-A39FC0EED965}"/>
              </a:ext>
            </a:extLst>
          </p:cNvPr>
          <p:cNvCxnSpPr>
            <a:cxnSpLocks/>
          </p:cNvCxnSpPr>
          <p:nvPr/>
        </p:nvCxnSpPr>
        <p:spPr>
          <a:xfrm>
            <a:off x="10211016" y="2931644"/>
            <a:ext cx="0" cy="65480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円柱 108">
            <a:extLst>
              <a:ext uri="{FF2B5EF4-FFF2-40B4-BE49-F238E27FC236}">
                <a16:creationId xmlns:a16="http://schemas.microsoft.com/office/drawing/2014/main" id="{7AB5459D-9530-143B-D62E-08995CE2FFCA}"/>
              </a:ext>
            </a:extLst>
          </p:cNvPr>
          <p:cNvSpPr/>
          <p:nvPr/>
        </p:nvSpPr>
        <p:spPr>
          <a:xfrm>
            <a:off x="9803927" y="2580702"/>
            <a:ext cx="832406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受付台帳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INBOX</a:t>
            </a:r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0" name="テキスト ボックス 15">
            <a:extLst>
              <a:ext uri="{FF2B5EF4-FFF2-40B4-BE49-F238E27FC236}">
                <a16:creationId xmlns:a16="http://schemas.microsoft.com/office/drawing/2014/main" id="{18719A39-AF68-AF0B-C55B-68CDD6B062EF}"/>
              </a:ext>
            </a:extLst>
          </p:cNvPr>
          <p:cNvSpPr txBox="1"/>
          <p:nvPr/>
        </p:nvSpPr>
        <p:spPr>
          <a:xfrm>
            <a:off x="8664984" y="2518578"/>
            <a:ext cx="1083133" cy="646331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txBody>
          <a:bodyPr wrap="square" rtlCol="0" anchor="ctr">
            <a:no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Streaming</a:t>
            </a:r>
            <a:endParaRPr lang="ja-JP" altLang="en-US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1" name="テキスト ボックス 24">
            <a:extLst>
              <a:ext uri="{FF2B5EF4-FFF2-40B4-BE49-F238E27FC236}">
                <a16:creationId xmlns:a16="http://schemas.microsoft.com/office/drawing/2014/main" id="{A7E9A0A2-B532-58C5-4364-31E4BCD6E69F}"/>
              </a:ext>
            </a:extLst>
          </p:cNvPr>
          <p:cNvSpPr txBox="1"/>
          <p:nvPr/>
        </p:nvSpPr>
        <p:spPr>
          <a:xfrm>
            <a:off x="5323212" y="4189005"/>
            <a:ext cx="4377506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受付台帳・</a:t>
            </a:r>
            <a:r>
              <a:rPr kumimoji="1"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JSON</a:t>
            </a:r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データ参照・登録</a:t>
            </a:r>
          </a:p>
        </p:txBody>
      </p:sp>
      <p:cxnSp>
        <p:nvCxnSpPr>
          <p:cNvPr id="114" name="直線矢印コネクタ 113">
            <a:extLst>
              <a:ext uri="{FF2B5EF4-FFF2-40B4-BE49-F238E27FC236}">
                <a16:creationId xmlns:a16="http://schemas.microsoft.com/office/drawing/2014/main" id="{ADA63E2C-C13C-D49A-92BF-530E68A5A937}"/>
              </a:ext>
            </a:extLst>
          </p:cNvPr>
          <p:cNvCxnSpPr>
            <a:cxnSpLocks/>
          </p:cNvCxnSpPr>
          <p:nvPr/>
        </p:nvCxnSpPr>
        <p:spPr>
          <a:xfrm>
            <a:off x="9623285" y="6673683"/>
            <a:ext cx="14641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テキスト ボックス 81">
            <a:extLst>
              <a:ext uri="{FF2B5EF4-FFF2-40B4-BE49-F238E27FC236}">
                <a16:creationId xmlns:a16="http://schemas.microsoft.com/office/drawing/2014/main" id="{C6B1EDAE-48A3-49B2-5730-1537141A3410}"/>
              </a:ext>
            </a:extLst>
          </p:cNvPr>
          <p:cNvSpPr txBox="1"/>
          <p:nvPr/>
        </p:nvSpPr>
        <p:spPr>
          <a:xfrm>
            <a:off x="8596986" y="6454383"/>
            <a:ext cx="1236306" cy="645946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実績データ</a:t>
            </a:r>
            <a:endParaRPr lang="en-US" altLang="ja-JP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 algn="ctr">
              <a:lnSpc>
                <a:spcPts val="2160"/>
              </a:lnSpc>
            </a:pPr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登録</a:t>
            </a:r>
            <a:endParaRPr kumimoji="1" lang="ja-JP" altLang="en-US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116" name="テキスト ボックス 39">
            <a:extLst>
              <a:ext uri="{FF2B5EF4-FFF2-40B4-BE49-F238E27FC236}">
                <a16:creationId xmlns:a16="http://schemas.microsoft.com/office/drawing/2014/main" id="{9A0D4BA2-5E00-756A-090D-3EC9DFE782F8}"/>
              </a:ext>
            </a:extLst>
          </p:cNvPr>
          <p:cNvSpPr txBox="1"/>
          <p:nvPr/>
        </p:nvSpPr>
        <p:spPr>
          <a:xfrm>
            <a:off x="9880662" y="5917791"/>
            <a:ext cx="2020736" cy="639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60"/>
              </a:lnSpc>
            </a:pPr>
            <a:r>
              <a:rPr kumimoji="1"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受付台帳</a:t>
            </a:r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参照</a:t>
            </a:r>
            <a:endParaRPr kumimoji="1" lang="en-US" altLang="ja-JP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>
              <a:lnSpc>
                <a:spcPts val="2160"/>
              </a:lnSpc>
            </a:pPr>
            <a:r>
              <a:rPr kumimoji="1" lang="en-US" altLang="ja-JP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JSON</a:t>
            </a:r>
            <a:r>
              <a:rPr kumimoji="1"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データ取得</a:t>
            </a:r>
          </a:p>
        </p:txBody>
      </p:sp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49E52691-0B20-4F23-0CC7-8B9DA8155BEF}"/>
              </a:ext>
            </a:extLst>
          </p:cNvPr>
          <p:cNvCxnSpPr>
            <a:cxnSpLocks/>
          </p:cNvCxnSpPr>
          <p:nvPr/>
        </p:nvCxnSpPr>
        <p:spPr>
          <a:xfrm>
            <a:off x="8066811" y="2532663"/>
            <a:ext cx="0" cy="6947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テキスト ボックス 15">
            <a:extLst>
              <a:ext uri="{FF2B5EF4-FFF2-40B4-BE49-F238E27FC236}">
                <a16:creationId xmlns:a16="http://schemas.microsoft.com/office/drawing/2014/main" id="{9F010478-1298-8049-2614-26669A130A92}"/>
              </a:ext>
            </a:extLst>
          </p:cNvPr>
          <p:cNvSpPr txBox="1"/>
          <p:nvPr/>
        </p:nvSpPr>
        <p:spPr>
          <a:xfrm>
            <a:off x="7471095" y="2518578"/>
            <a:ext cx="1135121" cy="660986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 anchor="ctr">
            <a:no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680"/>
              </a:lnSpc>
            </a:pPr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Object</a:t>
            </a:r>
          </a:p>
          <a:p>
            <a:pPr algn="ctr">
              <a:lnSpc>
                <a:spcPts val="1680"/>
              </a:lnSpc>
            </a:pPr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Storage</a:t>
            </a:r>
          </a:p>
        </p:txBody>
      </p:sp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34D1BEEB-3942-656A-D12B-9F0358B7989D}"/>
              </a:ext>
            </a:extLst>
          </p:cNvPr>
          <p:cNvCxnSpPr>
            <a:cxnSpLocks/>
          </p:cNvCxnSpPr>
          <p:nvPr/>
        </p:nvCxnSpPr>
        <p:spPr>
          <a:xfrm>
            <a:off x="5395161" y="5339626"/>
            <a:ext cx="2671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1" name="グループ化 130">
            <a:extLst>
              <a:ext uri="{FF2B5EF4-FFF2-40B4-BE49-F238E27FC236}">
                <a16:creationId xmlns:a16="http://schemas.microsoft.com/office/drawing/2014/main" id="{2F0E52D1-49AA-995B-3037-56DD26168491}"/>
              </a:ext>
            </a:extLst>
          </p:cNvPr>
          <p:cNvGrpSpPr/>
          <p:nvPr/>
        </p:nvGrpSpPr>
        <p:grpSpPr>
          <a:xfrm>
            <a:off x="16376547" y="1270569"/>
            <a:ext cx="1502853" cy="707886"/>
            <a:chOff x="15936659" y="1199225"/>
            <a:chExt cx="1502853" cy="707886"/>
          </a:xfrm>
        </p:grpSpPr>
        <p:sp>
          <p:nvSpPr>
            <p:cNvPr id="124" name="テキスト ボックス 123">
              <a:extLst>
                <a:ext uri="{FF2B5EF4-FFF2-40B4-BE49-F238E27FC236}">
                  <a16:creationId xmlns:a16="http://schemas.microsoft.com/office/drawing/2014/main" id="{41FEAD7A-1169-62BD-2D14-1182AE957AE7}"/>
                </a:ext>
              </a:extLst>
            </p:cNvPr>
            <p:cNvSpPr txBox="1"/>
            <p:nvPr/>
          </p:nvSpPr>
          <p:spPr>
            <a:xfrm>
              <a:off x="15936659" y="1199225"/>
              <a:ext cx="1502853" cy="707886"/>
            </a:xfrm>
            <a:prstGeom prst="rect">
              <a:avLst/>
            </a:prstGeom>
            <a:noFill/>
            <a:ln>
              <a:solidFill>
                <a:schemeClr val="bg1">
                  <a:lumMod val="10000"/>
                </a:schemeClr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ja-JP" altLang="en-US" sz="20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　要求：</a:t>
              </a:r>
              <a:endParaRPr lang="en-US" altLang="ja-JP" sz="2000" dirty="0">
                <a:latin typeface="HGPｺﾞｼｯｸM" panose="020B0600000000000000" pitchFamily="50" charset="-128"/>
                <a:ea typeface="HGPｺﾞｼｯｸM" panose="020B0600000000000000" pitchFamily="50" charset="-128"/>
              </a:endParaRPr>
            </a:p>
            <a:p>
              <a:r>
                <a:rPr lang="ja-JP" altLang="en-US" sz="20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　結果：</a:t>
              </a:r>
            </a:p>
          </p:txBody>
        </p:sp>
        <p:cxnSp>
          <p:nvCxnSpPr>
            <p:cNvPr id="127" name="直線矢印コネクタ 126">
              <a:extLst>
                <a:ext uri="{FF2B5EF4-FFF2-40B4-BE49-F238E27FC236}">
                  <a16:creationId xmlns:a16="http://schemas.microsoft.com/office/drawing/2014/main" id="{DD8AF0FE-0A14-D122-B2A5-F3A58F806C45}"/>
                </a:ext>
              </a:extLst>
            </p:cNvPr>
            <p:cNvCxnSpPr>
              <a:cxnSpLocks/>
            </p:cNvCxnSpPr>
            <p:nvPr/>
          </p:nvCxnSpPr>
          <p:spPr>
            <a:xfrm>
              <a:off x="16842555" y="1421329"/>
              <a:ext cx="442361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矢印コネクタ 127">
              <a:extLst>
                <a:ext uri="{FF2B5EF4-FFF2-40B4-BE49-F238E27FC236}">
                  <a16:creationId xmlns:a16="http://schemas.microsoft.com/office/drawing/2014/main" id="{899359DD-6424-0E64-12A3-B85E4CB9F84F}"/>
                </a:ext>
              </a:extLst>
            </p:cNvPr>
            <p:cNvCxnSpPr>
              <a:cxnSpLocks/>
            </p:cNvCxnSpPr>
            <p:nvPr/>
          </p:nvCxnSpPr>
          <p:spPr>
            <a:xfrm>
              <a:off x="16856995" y="1703950"/>
              <a:ext cx="442361" cy="0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5" name="楕円 134">
            <a:extLst>
              <a:ext uri="{FF2B5EF4-FFF2-40B4-BE49-F238E27FC236}">
                <a16:creationId xmlns:a16="http://schemas.microsoft.com/office/drawing/2014/main" id="{4EBF3D53-60DE-7700-FC78-FCB830032E80}"/>
              </a:ext>
            </a:extLst>
          </p:cNvPr>
          <p:cNvSpPr/>
          <p:nvPr/>
        </p:nvSpPr>
        <p:spPr>
          <a:xfrm>
            <a:off x="9324683" y="3829355"/>
            <a:ext cx="430053" cy="394209"/>
          </a:xfrm>
          <a:prstGeom prst="ellipse">
            <a:avLst/>
          </a:prstGeom>
          <a:solidFill>
            <a:srgbClr val="FFFF99"/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600" b="1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2</a:t>
            </a:r>
            <a:endParaRPr kumimoji="1" lang="ja-JP" altLang="en-US" sz="1600" b="1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136" name="楕円 135">
            <a:extLst>
              <a:ext uri="{FF2B5EF4-FFF2-40B4-BE49-F238E27FC236}">
                <a16:creationId xmlns:a16="http://schemas.microsoft.com/office/drawing/2014/main" id="{203B1F0D-3C29-7430-A07D-CD83E2C4B4BB}"/>
              </a:ext>
            </a:extLst>
          </p:cNvPr>
          <p:cNvSpPr/>
          <p:nvPr/>
        </p:nvSpPr>
        <p:spPr>
          <a:xfrm>
            <a:off x="12037255" y="6509107"/>
            <a:ext cx="430053" cy="394209"/>
          </a:xfrm>
          <a:prstGeom prst="ellipse">
            <a:avLst/>
          </a:prstGeom>
          <a:solidFill>
            <a:srgbClr val="FFFF99"/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600" b="1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3</a:t>
            </a:r>
            <a:endParaRPr kumimoji="1" lang="ja-JP" altLang="en-US" sz="1600" b="1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24F281D-B365-59FD-EAA1-63FEC19118E7}"/>
              </a:ext>
            </a:extLst>
          </p:cNvPr>
          <p:cNvSpPr/>
          <p:nvPr/>
        </p:nvSpPr>
        <p:spPr>
          <a:xfrm>
            <a:off x="14370631" y="2123155"/>
            <a:ext cx="1461989" cy="7780160"/>
          </a:xfrm>
          <a:prstGeom prst="roundRect">
            <a:avLst>
              <a:gd name="adj" fmla="val 3105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7" name="テキスト ボックス 13">
            <a:extLst>
              <a:ext uri="{FF2B5EF4-FFF2-40B4-BE49-F238E27FC236}">
                <a16:creationId xmlns:a16="http://schemas.microsoft.com/office/drawing/2014/main" id="{3C673063-7844-9E44-5BC3-8B6F9D5BBDC3}"/>
              </a:ext>
            </a:extLst>
          </p:cNvPr>
          <p:cNvSpPr txBox="1"/>
          <p:nvPr/>
        </p:nvSpPr>
        <p:spPr>
          <a:xfrm>
            <a:off x="14180568" y="2228507"/>
            <a:ext cx="16244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6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マスター</a:t>
            </a:r>
            <a:r>
              <a:rPr lang="en-US" altLang="ja-JP" sz="16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SV</a:t>
            </a:r>
            <a:endParaRPr kumimoji="1" lang="ja-JP" altLang="en-US" sz="1600" b="1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E685CE7E-88B6-30C2-BE5D-E37E595A87B2}"/>
              </a:ext>
            </a:extLst>
          </p:cNvPr>
          <p:cNvCxnSpPr>
            <a:cxnSpLocks/>
          </p:cNvCxnSpPr>
          <p:nvPr/>
        </p:nvCxnSpPr>
        <p:spPr>
          <a:xfrm>
            <a:off x="14762626" y="2931644"/>
            <a:ext cx="0" cy="65480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円柱 18">
            <a:extLst>
              <a:ext uri="{FF2B5EF4-FFF2-40B4-BE49-F238E27FC236}">
                <a16:creationId xmlns:a16="http://schemas.microsoft.com/office/drawing/2014/main" id="{CED0696F-D3F9-7F30-EB13-5593CC6006F5}"/>
              </a:ext>
            </a:extLst>
          </p:cNvPr>
          <p:cNvSpPr/>
          <p:nvPr/>
        </p:nvSpPr>
        <p:spPr>
          <a:xfrm>
            <a:off x="14420483" y="2580702"/>
            <a:ext cx="671142" cy="689874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ジャーナル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CF07AA1D-E2E9-E832-153F-268AEC0F4527}"/>
              </a:ext>
            </a:extLst>
          </p:cNvPr>
          <p:cNvSpPr/>
          <p:nvPr/>
        </p:nvSpPr>
        <p:spPr>
          <a:xfrm>
            <a:off x="15961964" y="2123155"/>
            <a:ext cx="2050070" cy="7780160"/>
          </a:xfrm>
          <a:prstGeom prst="roundRect">
            <a:avLst>
              <a:gd name="adj" fmla="val 3105"/>
            </a:avLst>
          </a:prstGeom>
          <a:noFill/>
          <a:ln w="254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21" name="テキスト ボックス 13">
            <a:extLst>
              <a:ext uri="{FF2B5EF4-FFF2-40B4-BE49-F238E27FC236}">
                <a16:creationId xmlns:a16="http://schemas.microsoft.com/office/drawing/2014/main" id="{6C7FFD73-DFD9-0885-A4E8-2700E261B0FE}"/>
              </a:ext>
            </a:extLst>
          </p:cNvPr>
          <p:cNvSpPr txBox="1"/>
          <p:nvPr/>
        </p:nvSpPr>
        <p:spPr>
          <a:xfrm>
            <a:off x="15870810" y="2228507"/>
            <a:ext cx="11921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6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店舗</a:t>
            </a:r>
            <a:r>
              <a:rPr lang="en-US" altLang="ja-JP" sz="16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SV</a:t>
            </a:r>
            <a:endParaRPr kumimoji="1" lang="ja-JP" altLang="en-US" sz="1600" b="1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4AC394CF-205B-C5C4-9087-4440B47D519A}"/>
              </a:ext>
            </a:extLst>
          </p:cNvPr>
          <p:cNvSpPr/>
          <p:nvPr/>
        </p:nvSpPr>
        <p:spPr>
          <a:xfrm>
            <a:off x="12725875" y="2123155"/>
            <a:ext cx="1461989" cy="7780160"/>
          </a:xfrm>
          <a:prstGeom prst="roundRect">
            <a:avLst>
              <a:gd name="adj" fmla="val 3105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70746D07-D351-5C3A-E9F7-7733BD74D075}"/>
              </a:ext>
            </a:extLst>
          </p:cNvPr>
          <p:cNvCxnSpPr>
            <a:cxnSpLocks/>
          </p:cNvCxnSpPr>
          <p:nvPr/>
        </p:nvCxnSpPr>
        <p:spPr>
          <a:xfrm>
            <a:off x="13446933" y="2931644"/>
            <a:ext cx="0" cy="65480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13">
            <a:extLst>
              <a:ext uri="{FF2B5EF4-FFF2-40B4-BE49-F238E27FC236}">
                <a16:creationId xmlns:a16="http://schemas.microsoft.com/office/drawing/2014/main" id="{776FD54C-5B85-AD91-18C0-3228456497CF}"/>
              </a:ext>
            </a:extLst>
          </p:cNvPr>
          <p:cNvSpPr txBox="1"/>
          <p:nvPr/>
        </p:nvSpPr>
        <p:spPr>
          <a:xfrm>
            <a:off x="12563374" y="2228507"/>
            <a:ext cx="16244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6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DataSpider</a:t>
            </a:r>
          </a:p>
        </p:txBody>
      </p:sp>
      <p:sp>
        <p:nvSpPr>
          <p:cNvPr id="34" name="フローチャート: 定義済み処理 33">
            <a:extLst>
              <a:ext uri="{FF2B5EF4-FFF2-40B4-BE49-F238E27FC236}">
                <a16:creationId xmlns:a16="http://schemas.microsoft.com/office/drawing/2014/main" id="{3B1FE8DB-7FC9-1092-8CC0-5E8ADF2D30D9}"/>
              </a:ext>
            </a:extLst>
          </p:cNvPr>
          <p:cNvSpPr/>
          <p:nvPr/>
        </p:nvSpPr>
        <p:spPr>
          <a:xfrm>
            <a:off x="12852110" y="2591106"/>
            <a:ext cx="1194231" cy="572874"/>
          </a:xfrm>
          <a:prstGeom prst="flowChartPredefinedProcess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kumimoji="1"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トラン連携</a:t>
            </a:r>
            <a:endParaRPr kumimoji="1"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8651FE70-201D-D103-4B99-4E05FB25F2C2}"/>
              </a:ext>
            </a:extLst>
          </p:cNvPr>
          <p:cNvCxnSpPr>
            <a:cxnSpLocks/>
          </p:cNvCxnSpPr>
          <p:nvPr/>
        </p:nvCxnSpPr>
        <p:spPr>
          <a:xfrm>
            <a:off x="17490910" y="2931644"/>
            <a:ext cx="0" cy="65480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円柱 35">
            <a:extLst>
              <a:ext uri="{FF2B5EF4-FFF2-40B4-BE49-F238E27FC236}">
                <a16:creationId xmlns:a16="http://schemas.microsoft.com/office/drawing/2014/main" id="{F96B0FFB-C7BA-0CA3-C989-FD5379949AB9}"/>
              </a:ext>
            </a:extLst>
          </p:cNvPr>
          <p:cNvSpPr/>
          <p:nvPr/>
        </p:nvSpPr>
        <p:spPr>
          <a:xfrm>
            <a:off x="17095440" y="2580702"/>
            <a:ext cx="833498" cy="701882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ジャーナル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50C13E61-D746-9CC4-2628-32AD7E980426}"/>
              </a:ext>
            </a:extLst>
          </p:cNvPr>
          <p:cNvCxnSpPr>
            <a:cxnSpLocks/>
          </p:cNvCxnSpPr>
          <p:nvPr/>
        </p:nvCxnSpPr>
        <p:spPr>
          <a:xfrm>
            <a:off x="16508466" y="2931644"/>
            <a:ext cx="0" cy="65480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フローチャート: 定義済み処理 37">
            <a:extLst>
              <a:ext uri="{FF2B5EF4-FFF2-40B4-BE49-F238E27FC236}">
                <a16:creationId xmlns:a16="http://schemas.microsoft.com/office/drawing/2014/main" id="{7544CE9F-7D21-1D7C-3832-22EF9CCD912E}"/>
              </a:ext>
            </a:extLst>
          </p:cNvPr>
          <p:cNvSpPr/>
          <p:nvPr/>
        </p:nvSpPr>
        <p:spPr>
          <a:xfrm>
            <a:off x="16058454" y="2591106"/>
            <a:ext cx="940496" cy="572874"/>
          </a:xfrm>
          <a:prstGeom prst="flowChartPredefined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kumimoji="1"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常駐機能</a:t>
            </a:r>
            <a:endParaRPr kumimoji="1"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D0A1B935-661E-DD6E-FB22-2FCF6421889D}"/>
              </a:ext>
            </a:extLst>
          </p:cNvPr>
          <p:cNvGrpSpPr/>
          <p:nvPr/>
        </p:nvGrpSpPr>
        <p:grpSpPr>
          <a:xfrm>
            <a:off x="9345141" y="1374240"/>
            <a:ext cx="6897429" cy="530640"/>
            <a:chOff x="-1119038" y="9205166"/>
            <a:chExt cx="6897429" cy="530640"/>
          </a:xfrm>
        </p:grpSpPr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4364A17B-9C31-F394-6B38-20CA7E5F7A50}"/>
                </a:ext>
              </a:extLst>
            </p:cNvPr>
            <p:cNvSpPr txBox="1"/>
            <p:nvPr/>
          </p:nvSpPr>
          <p:spPr>
            <a:xfrm>
              <a:off x="-1119038" y="9205166"/>
              <a:ext cx="6897429" cy="53064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ja-JP"/>
              </a:defPPr>
              <a:lvl1pPr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>
                <a:lnSpc>
                  <a:spcPct val="200000"/>
                </a:lnSpc>
              </a:pP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　　　　　　　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…SMJ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担当　　　　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…SMJ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、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NSW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様担当　　　　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…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カストマ様担当</a:t>
              </a:r>
              <a:endPara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0DC45BD7-D8DB-1D72-360B-8A46F7963941}"/>
                </a:ext>
              </a:extLst>
            </p:cNvPr>
            <p:cNvSpPr/>
            <p:nvPr/>
          </p:nvSpPr>
          <p:spPr>
            <a:xfrm>
              <a:off x="-993723" y="9376272"/>
              <a:ext cx="542821" cy="250839"/>
            </a:xfrm>
            <a:prstGeom prst="rect">
              <a:avLst/>
            </a:prstGeom>
            <a:solidFill>
              <a:schemeClr val="accent6">
                <a:lumMod val="10000"/>
                <a:lumOff val="90000"/>
              </a:schemeClr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1736FE75-F046-F3C7-65F5-4B74355924A5}"/>
                </a:ext>
              </a:extLst>
            </p:cNvPr>
            <p:cNvSpPr/>
            <p:nvPr/>
          </p:nvSpPr>
          <p:spPr>
            <a:xfrm>
              <a:off x="3552049" y="9355074"/>
              <a:ext cx="542821" cy="260551"/>
            </a:xfrm>
            <a:prstGeom prst="rect">
              <a:avLst/>
            </a:prstGeom>
            <a:solidFill>
              <a:srgbClr val="00B0F0"/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5FF60458-4F96-1EED-0369-D82E9740DC7E}"/>
                </a:ext>
              </a:extLst>
            </p:cNvPr>
            <p:cNvSpPr/>
            <p:nvPr/>
          </p:nvSpPr>
          <p:spPr>
            <a:xfrm>
              <a:off x="-398132" y="9376272"/>
              <a:ext cx="542821" cy="25083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A18B1145-1808-9F2F-19FF-046B8632E9B7}"/>
                </a:ext>
              </a:extLst>
            </p:cNvPr>
            <p:cNvSpPr/>
            <p:nvPr/>
          </p:nvSpPr>
          <p:spPr>
            <a:xfrm>
              <a:off x="1233895" y="9355074"/>
              <a:ext cx="542821" cy="26055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cxnSp>
        <p:nvCxnSpPr>
          <p:cNvPr id="94" name="直線矢印コネクタ 93">
            <a:extLst>
              <a:ext uri="{FF2B5EF4-FFF2-40B4-BE49-F238E27FC236}">
                <a16:creationId xmlns:a16="http://schemas.microsoft.com/office/drawing/2014/main" id="{32708BF0-E232-CFA4-A249-F20E89D56103}"/>
              </a:ext>
            </a:extLst>
          </p:cNvPr>
          <p:cNvCxnSpPr>
            <a:cxnSpLocks/>
          </p:cNvCxnSpPr>
          <p:nvPr/>
        </p:nvCxnSpPr>
        <p:spPr>
          <a:xfrm flipH="1">
            <a:off x="11939588" y="7397225"/>
            <a:ext cx="15073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テキスト ボックス 41">
            <a:extLst>
              <a:ext uri="{FF2B5EF4-FFF2-40B4-BE49-F238E27FC236}">
                <a16:creationId xmlns:a16="http://schemas.microsoft.com/office/drawing/2014/main" id="{7CD94820-DF2C-82B8-EA2E-59A80234A711}"/>
              </a:ext>
            </a:extLst>
          </p:cNvPr>
          <p:cNvSpPr txBox="1"/>
          <p:nvPr/>
        </p:nvSpPr>
        <p:spPr>
          <a:xfrm>
            <a:off x="11178629" y="7433276"/>
            <a:ext cx="2251142" cy="357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各種実績</a:t>
            </a:r>
            <a:r>
              <a:rPr kumimoji="1"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データ参照</a:t>
            </a:r>
          </a:p>
        </p:txBody>
      </p:sp>
      <p:cxnSp>
        <p:nvCxnSpPr>
          <p:cNvPr id="112" name="直線矢印コネクタ 111">
            <a:extLst>
              <a:ext uri="{FF2B5EF4-FFF2-40B4-BE49-F238E27FC236}">
                <a16:creationId xmlns:a16="http://schemas.microsoft.com/office/drawing/2014/main" id="{CFE642C7-D243-93EB-6941-264DFA79E16D}"/>
              </a:ext>
            </a:extLst>
          </p:cNvPr>
          <p:cNvCxnSpPr>
            <a:cxnSpLocks/>
          </p:cNvCxnSpPr>
          <p:nvPr/>
        </p:nvCxnSpPr>
        <p:spPr>
          <a:xfrm>
            <a:off x="13446933" y="7741402"/>
            <a:ext cx="13091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テキスト ボックス 41">
            <a:extLst>
              <a:ext uri="{FF2B5EF4-FFF2-40B4-BE49-F238E27FC236}">
                <a16:creationId xmlns:a16="http://schemas.microsoft.com/office/drawing/2014/main" id="{C13FC11D-C30F-A61C-71E6-AC319F567EDD}"/>
              </a:ext>
            </a:extLst>
          </p:cNvPr>
          <p:cNvSpPr txBox="1"/>
          <p:nvPr/>
        </p:nvSpPr>
        <p:spPr>
          <a:xfrm>
            <a:off x="13514594" y="7806696"/>
            <a:ext cx="1383598" cy="357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トラン連携</a:t>
            </a:r>
            <a:endParaRPr kumimoji="1" lang="ja-JP" altLang="en-US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123" name="楕円 122">
            <a:extLst>
              <a:ext uri="{FF2B5EF4-FFF2-40B4-BE49-F238E27FC236}">
                <a16:creationId xmlns:a16="http://schemas.microsoft.com/office/drawing/2014/main" id="{4ED258B4-3CD5-E7E9-0D86-53F2EFCF13A7}"/>
              </a:ext>
            </a:extLst>
          </p:cNvPr>
          <p:cNvSpPr/>
          <p:nvPr/>
        </p:nvSpPr>
        <p:spPr>
          <a:xfrm>
            <a:off x="13646927" y="6748997"/>
            <a:ext cx="430053" cy="394209"/>
          </a:xfrm>
          <a:prstGeom prst="ellipse">
            <a:avLst/>
          </a:prstGeom>
          <a:solidFill>
            <a:srgbClr val="FFFF99"/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600" b="1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4</a:t>
            </a:r>
          </a:p>
        </p:txBody>
      </p:sp>
      <p:cxnSp>
        <p:nvCxnSpPr>
          <p:cNvPr id="125" name="直線矢印コネクタ 124">
            <a:extLst>
              <a:ext uri="{FF2B5EF4-FFF2-40B4-BE49-F238E27FC236}">
                <a16:creationId xmlns:a16="http://schemas.microsoft.com/office/drawing/2014/main" id="{991932F6-CD2E-C9FA-3E0D-08669C572E05}"/>
              </a:ext>
            </a:extLst>
          </p:cNvPr>
          <p:cNvCxnSpPr>
            <a:cxnSpLocks/>
          </p:cNvCxnSpPr>
          <p:nvPr/>
        </p:nvCxnSpPr>
        <p:spPr>
          <a:xfrm flipH="1">
            <a:off x="15455900" y="8255019"/>
            <a:ext cx="10525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テキスト ボックス 41">
            <a:extLst>
              <a:ext uri="{FF2B5EF4-FFF2-40B4-BE49-F238E27FC236}">
                <a16:creationId xmlns:a16="http://schemas.microsoft.com/office/drawing/2014/main" id="{23816545-7818-9002-124C-237F181EB2C8}"/>
              </a:ext>
            </a:extLst>
          </p:cNvPr>
          <p:cNvSpPr txBox="1"/>
          <p:nvPr/>
        </p:nvSpPr>
        <p:spPr>
          <a:xfrm>
            <a:off x="14340970" y="8393620"/>
            <a:ext cx="1518971" cy="357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トラン取込</a:t>
            </a:r>
            <a:endParaRPr kumimoji="1" lang="ja-JP" altLang="en-US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130" name="直線矢印コネクタ 129">
            <a:extLst>
              <a:ext uri="{FF2B5EF4-FFF2-40B4-BE49-F238E27FC236}">
                <a16:creationId xmlns:a16="http://schemas.microsoft.com/office/drawing/2014/main" id="{12DB8B51-B104-E680-17C4-B9386FF69115}"/>
              </a:ext>
            </a:extLst>
          </p:cNvPr>
          <p:cNvCxnSpPr>
            <a:cxnSpLocks/>
          </p:cNvCxnSpPr>
          <p:nvPr/>
        </p:nvCxnSpPr>
        <p:spPr>
          <a:xfrm>
            <a:off x="16520627" y="8491946"/>
            <a:ext cx="970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テキスト ボックス 41">
            <a:extLst>
              <a:ext uri="{FF2B5EF4-FFF2-40B4-BE49-F238E27FC236}">
                <a16:creationId xmlns:a16="http://schemas.microsoft.com/office/drawing/2014/main" id="{2CE2A5D0-18F7-24CD-B5F5-2C314149CD33}"/>
              </a:ext>
            </a:extLst>
          </p:cNvPr>
          <p:cNvSpPr txBox="1"/>
          <p:nvPr/>
        </p:nvSpPr>
        <p:spPr>
          <a:xfrm>
            <a:off x="16508466" y="8655813"/>
            <a:ext cx="1518971" cy="357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トラン連携</a:t>
            </a:r>
            <a:endParaRPr kumimoji="1" lang="ja-JP" altLang="en-US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139" name="楕円 138">
            <a:extLst>
              <a:ext uri="{FF2B5EF4-FFF2-40B4-BE49-F238E27FC236}">
                <a16:creationId xmlns:a16="http://schemas.microsoft.com/office/drawing/2014/main" id="{E137CAD8-C7D4-E850-5F28-1943EBDCE53B}"/>
              </a:ext>
            </a:extLst>
          </p:cNvPr>
          <p:cNvSpPr/>
          <p:nvPr/>
        </p:nvSpPr>
        <p:spPr>
          <a:xfrm>
            <a:off x="16848062" y="7619684"/>
            <a:ext cx="430053" cy="394209"/>
          </a:xfrm>
          <a:prstGeom prst="ellipse">
            <a:avLst/>
          </a:prstGeom>
          <a:solidFill>
            <a:srgbClr val="FFFF99"/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600" b="1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5</a:t>
            </a:r>
          </a:p>
        </p:txBody>
      </p:sp>
      <p:sp>
        <p:nvSpPr>
          <p:cNvPr id="107" name="吹き出し: 線 106">
            <a:extLst>
              <a:ext uri="{FF2B5EF4-FFF2-40B4-BE49-F238E27FC236}">
                <a16:creationId xmlns:a16="http://schemas.microsoft.com/office/drawing/2014/main" id="{A951149D-B3E1-EF77-C88A-99F28004674E}"/>
              </a:ext>
            </a:extLst>
          </p:cNvPr>
          <p:cNvSpPr/>
          <p:nvPr/>
        </p:nvSpPr>
        <p:spPr>
          <a:xfrm>
            <a:off x="3623650" y="7835761"/>
            <a:ext cx="5125897" cy="877368"/>
          </a:xfrm>
          <a:prstGeom prst="borderCallout1">
            <a:avLst>
              <a:gd name="adj1" fmla="val -73559"/>
              <a:gd name="adj2" fmla="val 101177"/>
              <a:gd name="adj3" fmla="val -10414"/>
              <a:gd name="adj4" fmla="val 94912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60"/>
              </a:lnSpc>
            </a:pPr>
            <a:r>
              <a:rPr kumimoji="1" lang="ja-JP" altLang="en-US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実績テーブルへの登録からデータ連携は</a:t>
            </a:r>
            <a:endParaRPr kumimoji="1" lang="en-US" altLang="ja-JP" sz="1800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  <a:p>
            <a:pPr>
              <a:lnSpc>
                <a:spcPts val="2160"/>
              </a:lnSpc>
            </a:pPr>
            <a:r>
              <a:rPr lang="ja-JP" altLang="en-US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タブレット</a:t>
            </a:r>
            <a:r>
              <a:rPr lang="en-US" altLang="ja-JP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POS</a:t>
            </a:r>
            <a:r>
              <a:rPr lang="ja-JP" altLang="en-US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の動作とは別で処理されます</a:t>
            </a:r>
            <a:endParaRPr kumimoji="1" lang="en-US" altLang="ja-JP" sz="1800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cxnSp>
        <p:nvCxnSpPr>
          <p:cNvPr id="143" name="直線矢印コネクタ 142">
            <a:extLst>
              <a:ext uri="{FF2B5EF4-FFF2-40B4-BE49-F238E27FC236}">
                <a16:creationId xmlns:a16="http://schemas.microsoft.com/office/drawing/2014/main" id="{67CE71F8-0D2E-C1BA-86EF-8FB0082D435B}"/>
              </a:ext>
            </a:extLst>
          </p:cNvPr>
          <p:cNvCxnSpPr>
            <a:cxnSpLocks/>
          </p:cNvCxnSpPr>
          <p:nvPr/>
        </p:nvCxnSpPr>
        <p:spPr>
          <a:xfrm>
            <a:off x="1255652" y="4441972"/>
            <a:ext cx="23867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テキスト ボックス 26">
            <a:extLst>
              <a:ext uri="{FF2B5EF4-FFF2-40B4-BE49-F238E27FC236}">
                <a16:creationId xmlns:a16="http://schemas.microsoft.com/office/drawing/2014/main" id="{04D867DD-29D3-D490-7664-E154C68BB0AB}"/>
              </a:ext>
            </a:extLst>
          </p:cNvPr>
          <p:cNvSpPr txBox="1"/>
          <p:nvPr/>
        </p:nvSpPr>
        <p:spPr>
          <a:xfrm>
            <a:off x="1124096" y="4170317"/>
            <a:ext cx="1813397" cy="306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データ登録</a:t>
            </a:r>
            <a:r>
              <a:rPr kumimoji="1" lang="en-US" altLang="ja-JP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API</a:t>
            </a:r>
            <a:endParaRPr kumimoji="1" lang="ja-JP" altLang="en-US" sz="14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145" name="テキスト ボックス 134">
            <a:extLst>
              <a:ext uri="{FF2B5EF4-FFF2-40B4-BE49-F238E27FC236}">
                <a16:creationId xmlns:a16="http://schemas.microsoft.com/office/drawing/2014/main" id="{BF065653-5936-C1D1-85B1-DEDFCB31B629}"/>
              </a:ext>
            </a:extLst>
          </p:cNvPr>
          <p:cNvSpPr txBox="1"/>
          <p:nvPr/>
        </p:nvSpPr>
        <p:spPr>
          <a:xfrm>
            <a:off x="1141464" y="6255215"/>
            <a:ext cx="2098961" cy="632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kumimoji="1"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レシート印刷データ</a:t>
            </a:r>
            <a:endParaRPr kumimoji="1" lang="en-US" altLang="ja-JP" sz="14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 algn="ctr">
              <a:lnSpc>
                <a:spcPts val="2160"/>
              </a:lnSpc>
            </a:pPr>
            <a:r>
              <a:rPr kumimoji="1" lang="en-US" altLang="ja-JP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or</a:t>
            </a:r>
            <a:r>
              <a:rPr kumimoji="1"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 </a:t>
            </a:r>
            <a:r>
              <a:rPr kumimoji="1" lang="en-US" altLang="ja-JP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A4</a:t>
            </a:r>
            <a:r>
              <a:rPr kumimoji="1"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帳票印刷データ</a:t>
            </a:r>
          </a:p>
        </p:txBody>
      </p:sp>
      <p:sp>
        <p:nvSpPr>
          <p:cNvPr id="146" name="テキスト ボックス 32">
            <a:extLst>
              <a:ext uri="{FF2B5EF4-FFF2-40B4-BE49-F238E27FC236}">
                <a16:creationId xmlns:a16="http://schemas.microsoft.com/office/drawing/2014/main" id="{8AA2F189-D847-399C-BC0F-257D0307FDD2}"/>
              </a:ext>
            </a:extLst>
          </p:cNvPr>
          <p:cNvSpPr txBox="1"/>
          <p:nvPr/>
        </p:nvSpPr>
        <p:spPr>
          <a:xfrm>
            <a:off x="647206" y="3538843"/>
            <a:ext cx="1233839" cy="394209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6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6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発行</a:t>
            </a:r>
            <a:endParaRPr lang="en-US" altLang="ja-JP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147" name="テキスト ボックス 26">
            <a:extLst>
              <a:ext uri="{FF2B5EF4-FFF2-40B4-BE49-F238E27FC236}">
                <a16:creationId xmlns:a16="http://schemas.microsoft.com/office/drawing/2014/main" id="{464AB6BD-49AE-901F-7972-462943730AA0}"/>
              </a:ext>
            </a:extLst>
          </p:cNvPr>
          <p:cNvSpPr txBox="1"/>
          <p:nvPr/>
        </p:nvSpPr>
        <p:spPr>
          <a:xfrm>
            <a:off x="1206715" y="4472595"/>
            <a:ext cx="1855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2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※API</a:t>
            </a:r>
            <a:r>
              <a:rPr lang="ja-JP" altLang="en-US" sz="12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リクエストに</a:t>
            </a:r>
            <a:endParaRPr lang="en-US" altLang="ja-JP" sz="12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 algn="ctr"/>
            <a:r>
              <a:rPr lang="ja-JP" altLang="en-US" sz="12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印刷情報有り</a:t>
            </a:r>
            <a:endParaRPr kumimoji="1" lang="ja-JP" altLang="en-US" sz="12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148" name="楕円 147">
            <a:extLst>
              <a:ext uri="{FF2B5EF4-FFF2-40B4-BE49-F238E27FC236}">
                <a16:creationId xmlns:a16="http://schemas.microsoft.com/office/drawing/2014/main" id="{5A936DFC-53D1-1604-37BD-66EB531FEDEF}"/>
              </a:ext>
            </a:extLst>
          </p:cNvPr>
          <p:cNvSpPr/>
          <p:nvPr/>
        </p:nvSpPr>
        <p:spPr>
          <a:xfrm>
            <a:off x="2642183" y="3800927"/>
            <a:ext cx="430053" cy="394209"/>
          </a:xfrm>
          <a:prstGeom prst="ellipse">
            <a:avLst/>
          </a:prstGeom>
          <a:solidFill>
            <a:srgbClr val="FFFF99"/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600" b="1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1</a:t>
            </a:r>
            <a:endParaRPr kumimoji="1" lang="ja-JP" altLang="en-US" sz="1600" b="1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150" name="テキスト ボックス 70">
            <a:extLst>
              <a:ext uri="{FF2B5EF4-FFF2-40B4-BE49-F238E27FC236}">
                <a16:creationId xmlns:a16="http://schemas.microsoft.com/office/drawing/2014/main" id="{E66CBA2F-5701-EDE0-E6FB-8811E9AAD325}"/>
              </a:ext>
            </a:extLst>
          </p:cNvPr>
          <p:cNvSpPr txBox="1"/>
          <p:nvPr/>
        </p:nvSpPr>
        <p:spPr>
          <a:xfrm>
            <a:off x="647206" y="7606380"/>
            <a:ext cx="1233839" cy="445425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60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印刷実施</a:t>
            </a:r>
            <a:endParaRPr lang="en-US" altLang="ja-JP" sz="160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151" name="直線矢印コネクタ 150">
            <a:extLst>
              <a:ext uri="{FF2B5EF4-FFF2-40B4-BE49-F238E27FC236}">
                <a16:creationId xmlns:a16="http://schemas.microsoft.com/office/drawing/2014/main" id="{9497FBF2-3776-4D72-B68E-88C7E0323B29}"/>
              </a:ext>
            </a:extLst>
          </p:cNvPr>
          <p:cNvCxnSpPr>
            <a:cxnSpLocks/>
          </p:cNvCxnSpPr>
          <p:nvPr/>
        </p:nvCxnSpPr>
        <p:spPr>
          <a:xfrm flipH="1">
            <a:off x="1255652" y="6198532"/>
            <a:ext cx="238679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テキスト ボックス 132">
            <a:extLst>
              <a:ext uri="{FF2B5EF4-FFF2-40B4-BE49-F238E27FC236}">
                <a16:creationId xmlns:a16="http://schemas.microsoft.com/office/drawing/2014/main" id="{D9E3F307-A035-1B1D-ADB0-9B6CF9C88BFB}"/>
              </a:ext>
            </a:extLst>
          </p:cNvPr>
          <p:cNvSpPr txBox="1"/>
          <p:nvPr/>
        </p:nvSpPr>
        <p:spPr>
          <a:xfrm>
            <a:off x="3642447" y="4137824"/>
            <a:ext cx="1857217" cy="2429730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>
            <a:no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60"/>
              </a:lnSpc>
            </a:pPr>
            <a:r>
              <a:rPr lang="en-US" altLang="ja-JP" sz="160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&lt;</a:t>
            </a:r>
            <a:r>
              <a:rPr lang="ja-JP" altLang="en-US" sz="160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データ登録</a:t>
            </a:r>
            <a:r>
              <a:rPr lang="en-US" altLang="ja-JP" sz="160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API&gt;</a:t>
            </a:r>
          </a:p>
          <a:p>
            <a:pPr>
              <a:lnSpc>
                <a:spcPts val="2160"/>
              </a:lnSpc>
            </a:pPr>
            <a:r>
              <a:rPr lang="ja-JP" altLang="en-US" sz="160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 </a:t>
            </a:r>
            <a:r>
              <a:rPr lang="en-US" altLang="ja-JP" sz="160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JSON</a:t>
            </a:r>
            <a:r>
              <a:rPr lang="ja-JP" altLang="en-US" sz="160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データ登録</a:t>
            </a:r>
            <a:endParaRPr lang="en-US" altLang="ja-JP" sz="160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>
              <a:lnSpc>
                <a:spcPts val="2160"/>
              </a:lnSpc>
            </a:pPr>
            <a:r>
              <a:rPr lang="ja-JP" altLang="en-US" sz="160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　↓</a:t>
            </a:r>
            <a:endParaRPr lang="en-US" altLang="ja-JP" sz="160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>
              <a:lnSpc>
                <a:spcPts val="2160"/>
              </a:lnSpc>
            </a:pPr>
            <a:r>
              <a:rPr lang="ja-JP" altLang="en-US" sz="160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 印刷データ作成</a:t>
            </a:r>
            <a:endParaRPr lang="en-US" altLang="ja-JP" sz="160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>
              <a:lnSpc>
                <a:spcPts val="2160"/>
              </a:lnSpc>
            </a:pPr>
            <a:r>
              <a:rPr kumimoji="1" lang="ja-JP" altLang="en-US" sz="160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　</a:t>
            </a:r>
            <a:r>
              <a:rPr lang="ja-JP" altLang="en-US" sz="160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↓</a:t>
            </a:r>
            <a:endParaRPr kumimoji="1" lang="en-US" altLang="ja-JP" sz="160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>
              <a:lnSpc>
                <a:spcPts val="2160"/>
              </a:lnSpc>
            </a:pPr>
            <a:r>
              <a:rPr kumimoji="1" lang="ja-JP" altLang="en-US" sz="160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 ジャーナル</a:t>
            </a:r>
            <a:r>
              <a:rPr lang="ja-JP" altLang="en-US" sz="160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登録</a:t>
            </a:r>
            <a:endParaRPr lang="en-US" altLang="ja-JP" sz="160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>
              <a:lnSpc>
                <a:spcPts val="2160"/>
              </a:lnSpc>
            </a:pPr>
            <a:r>
              <a:rPr kumimoji="1" lang="ja-JP" altLang="en-US" sz="160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　↓</a:t>
            </a:r>
            <a:endParaRPr kumimoji="1" lang="en-US" altLang="ja-JP" sz="160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>
              <a:lnSpc>
                <a:spcPts val="2160"/>
              </a:lnSpc>
            </a:pPr>
            <a:r>
              <a:rPr kumimoji="1" lang="ja-JP" altLang="en-US" sz="160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 処理結果返却</a:t>
            </a:r>
          </a:p>
        </p:txBody>
      </p:sp>
      <p:sp>
        <p:nvSpPr>
          <p:cNvPr id="5" name="テキスト ボックス 81">
            <a:extLst>
              <a:ext uri="{FF2B5EF4-FFF2-40B4-BE49-F238E27FC236}">
                <a16:creationId xmlns:a16="http://schemas.microsoft.com/office/drawing/2014/main" id="{11AFAAC6-B585-D2DB-D21E-B900A1834230}"/>
              </a:ext>
            </a:extLst>
          </p:cNvPr>
          <p:cNvSpPr txBox="1"/>
          <p:nvPr/>
        </p:nvSpPr>
        <p:spPr>
          <a:xfrm>
            <a:off x="12815101" y="7213430"/>
            <a:ext cx="1153514" cy="639278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トラン連携</a:t>
            </a:r>
            <a:endParaRPr lang="en-US" altLang="ja-JP" sz="14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 algn="ctr">
              <a:lnSpc>
                <a:spcPts val="2160"/>
              </a:lnSpc>
            </a:pPr>
            <a:r>
              <a:rPr kumimoji="1"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実施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67CE4766-2C39-BFEB-C427-533DE439A74B}"/>
              </a:ext>
            </a:extLst>
          </p:cNvPr>
          <p:cNvCxnSpPr>
            <a:cxnSpLocks/>
          </p:cNvCxnSpPr>
          <p:nvPr/>
        </p:nvCxnSpPr>
        <p:spPr>
          <a:xfrm>
            <a:off x="15458781" y="2931644"/>
            <a:ext cx="0" cy="65480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円柱 11">
            <a:extLst>
              <a:ext uri="{FF2B5EF4-FFF2-40B4-BE49-F238E27FC236}">
                <a16:creationId xmlns:a16="http://schemas.microsoft.com/office/drawing/2014/main" id="{168F43E7-08FC-7DC8-3643-C9FA426A705E}"/>
              </a:ext>
            </a:extLst>
          </p:cNvPr>
          <p:cNvSpPr/>
          <p:nvPr/>
        </p:nvSpPr>
        <p:spPr>
          <a:xfrm>
            <a:off x="15114111" y="2580702"/>
            <a:ext cx="671142" cy="689874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9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</a:t>
            </a:r>
            <a:endParaRPr lang="en-US" altLang="ja-JP" sz="9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9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ジャーナル</a:t>
            </a:r>
            <a:endParaRPr lang="en-US" altLang="ja-JP" sz="9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9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送信管理</a:t>
            </a:r>
            <a:endParaRPr lang="en-US" altLang="ja-JP" sz="9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B37FF567-5BF9-F8A7-A238-FE12C0A1D8CA}"/>
              </a:ext>
            </a:extLst>
          </p:cNvPr>
          <p:cNvCxnSpPr>
            <a:cxnSpLocks/>
          </p:cNvCxnSpPr>
          <p:nvPr/>
        </p:nvCxnSpPr>
        <p:spPr>
          <a:xfrm flipH="1">
            <a:off x="14756054" y="8346310"/>
            <a:ext cx="17524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81">
            <a:extLst>
              <a:ext uri="{FF2B5EF4-FFF2-40B4-BE49-F238E27FC236}">
                <a16:creationId xmlns:a16="http://schemas.microsoft.com/office/drawing/2014/main" id="{B6E40102-C24A-AD34-326D-6236BA8A0152}"/>
              </a:ext>
            </a:extLst>
          </p:cNvPr>
          <p:cNvSpPr txBox="1"/>
          <p:nvPr/>
        </p:nvSpPr>
        <p:spPr>
          <a:xfrm>
            <a:off x="15898293" y="8081133"/>
            <a:ext cx="1153514" cy="632609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トラン取込</a:t>
            </a:r>
            <a:endParaRPr lang="en-US" altLang="ja-JP" sz="14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 algn="ctr">
              <a:lnSpc>
                <a:spcPts val="2160"/>
              </a:lnSpc>
            </a:pPr>
            <a:r>
              <a:rPr kumimoji="1"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実施</a:t>
            </a:r>
          </a:p>
        </p:txBody>
      </p:sp>
    </p:spTree>
    <p:extLst>
      <p:ext uri="{BB962C8B-B14F-4D97-AF65-F5344CB8AC3E}">
        <p14:creationId xmlns:p14="http://schemas.microsoft.com/office/powerpoint/2010/main" val="1015251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1EEF6-9EA5-1D63-9342-CC7EC0AA2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10793F77-45DF-A8BA-D440-5945806A6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50" b="1" i="0" u="none" strike="noStrike" kern="1200" cap="none" spc="0" normalizeH="0" baseline="0" noProof="0" dirty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t>Confidential </a:t>
            </a:r>
            <a:endParaRPr kumimoji="1" lang="ja-JP" altLang="en-US" sz="1650" b="1" i="0" u="none" strike="noStrike" kern="1200" cap="none" spc="0" normalizeH="0" baseline="0" noProof="0" dirty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BCE7EE27-645B-79E6-EC74-4A7880066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9E37A5-A917-4235-ABF6-8CD72E894915}" type="slidenum">
              <a:rPr kumimoji="1" lang="en-US" altLang="ja-JP" sz="1500" b="0" i="0" u="none" strike="noStrike" kern="1200" cap="none" spc="0" normalizeH="0" baseline="0" noProof="0" smtClean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ja-JP" altLang="en-US" sz="1500" b="0" i="0" u="none" strike="noStrike" kern="1200" cap="none" spc="0" normalizeH="0" baseline="0" noProof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0D696392-F886-B907-9873-3AFB134E1CB1}"/>
              </a:ext>
            </a:extLst>
          </p:cNvPr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575" b="0" i="0" u="none" strike="noStrike" kern="1200" cap="none" spc="0" normalizeH="0" baseline="0" noProof="0" dirty="0">
                <a:ln>
                  <a:noFill/>
                </a:ln>
                <a:solidFill>
                  <a:srgbClr val="9A9A96"/>
                </a:solidFill>
                <a:effectLst/>
                <a:uLnTx/>
                <a:uFillTx/>
                <a:latin typeface="HGPｺﾞｼｯｸM" panose="020B0600000000000000" pitchFamily="50" charset="-128"/>
                <a:ea typeface="HGPｺﾞｼｯｸM" panose="020B0600000000000000" pitchFamily="50" charset="-128"/>
                <a:cs typeface="Arial" panose="020B0604020202020204" pitchFamily="34" charset="0"/>
              </a:rPr>
              <a:t>Copyright © All rights reserved, Sharp Marketing Japan Corporation</a:t>
            </a:r>
            <a:endParaRPr kumimoji="1" lang="ja-JP" altLang="en-US" sz="1575" b="0" i="0" u="none" strike="noStrike" kern="1200" cap="none" spc="0" normalizeH="0" baseline="0" noProof="0" dirty="0">
              <a:ln>
                <a:noFill/>
              </a:ln>
              <a:solidFill>
                <a:srgbClr val="9A9A96"/>
              </a:solidFill>
              <a:effectLst/>
              <a:uLnTx/>
              <a:uFillTx/>
              <a:latin typeface="HGPｺﾞｼｯｸM" panose="020B0600000000000000" pitchFamily="50" charset="-128"/>
              <a:ea typeface="HGPｺﾞｼｯｸM" panose="020B06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11" name="コンテンツ プレースホルダー 3">
            <a:extLst>
              <a:ext uri="{FF2B5EF4-FFF2-40B4-BE49-F238E27FC236}">
                <a16:creationId xmlns:a16="http://schemas.microsoft.com/office/drawing/2014/main" id="{5C15F9C6-4B7D-B592-4BFF-7EBE442673F8}"/>
              </a:ext>
            </a:extLst>
          </p:cNvPr>
          <p:cNvSpPr txBox="1">
            <a:spLocks/>
          </p:cNvSpPr>
          <p:nvPr/>
        </p:nvSpPr>
        <p:spPr>
          <a:xfrm>
            <a:off x="405609" y="-313678"/>
            <a:ext cx="18090000" cy="13157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250000"/>
              </a:lnSpc>
              <a:buNone/>
            </a:pP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タブレット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POS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 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API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データ連携</a:t>
            </a:r>
            <a:endParaRPr kumimoji="1" lang="en-US" altLang="ja-JP" sz="3600" b="1" i="0" u="none" strike="noStrike" kern="1200" cap="none" spc="0" normalizeH="0" baseline="0" noProof="0" dirty="0">
              <a:ln>
                <a:noFill/>
              </a:ln>
              <a:solidFill>
                <a:srgbClr val="59574C"/>
              </a:solidFill>
              <a:effectLst/>
              <a:uLnTx/>
              <a:uFillTx/>
              <a:latin typeface="源ノ角ゴシック JP Medium"/>
              <a:ea typeface="源ノ角ゴシック JP Medium"/>
              <a:cs typeface="+mn-cs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B34DA13-F384-1D67-AD27-E7656BC21278}"/>
              </a:ext>
            </a:extLst>
          </p:cNvPr>
          <p:cNvSpPr txBox="1"/>
          <p:nvPr/>
        </p:nvSpPr>
        <p:spPr>
          <a:xfrm>
            <a:off x="405608" y="1138709"/>
            <a:ext cx="10157101" cy="5652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■データ連携概要：実績データ作成</a:t>
            </a:r>
            <a:r>
              <a:rPr lang="en-US" altLang="ja-JP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現行システム⇒タブレット</a:t>
            </a:r>
            <a:r>
              <a:rPr lang="en-US" altLang="ja-JP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POS)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42A9D50-6FB6-DBC9-B734-9B994D535329}"/>
              </a:ext>
            </a:extLst>
          </p:cNvPr>
          <p:cNvSpPr/>
          <p:nvPr/>
        </p:nvSpPr>
        <p:spPr>
          <a:xfrm>
            <a:off x="2113809" y="3752745"/>
            <a:ext cx="14280998" cy="5314639"/>
          </a:xfrm>
          <a:prstGeom prst="rect">
            <a:avLst/>
          </a:prstGeom>
          <a:noFill/>
          <a:ln w="381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kumimoji="1" lang="en-US" altLang="ja-JP" sz="24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endParaRPr kumimoji="1" lang="ja-JP" altLang="en-US" sz="24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F63D692-B18D-0984-1F47-29FF3EBAA7EF}"/>
              </a:ext>
            </a:extLst>
          </p:cNvPr>
          <p:cNvSpPr/>
          <p:nvPr/>
        </p:nvSpPr>
        <p:spPr>
          <a:xfrm>
            <a:off x="2408861" y="4727970"/>
            <a:ext cx="1326302" cy="5913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データ登録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API</a:t>
            </a:r>
          </a:p>
        </p:txBody>
      </p:sp>
      <p:sp>
        <p:nvSpPr>
          <p:cNvPr id="14" name="円柱 13">
            <a:extLst>
              <a:ext uri="{FF2B5EF4-FFF2-40B4-BE49-F238E27FC236}">
                <a16:creationId xmlns:a16="http://schemas.microsoft.com/office/drawing/2014/main" id="{B6463F55-9432-50DD-25EA-C47A257CE4D8}"/>
              </a:ext>
            </a:extLst>
          </p:cNvPr>
          <p:cNvSpPr/>
          <p:nvPr/>
        </p:nvSpPr>
        <p:spPr>
          <a:xfrm>
            <a:off x="11307805" y="5586668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B89F187E-92BA-40D1-25B1-27C0225A5E06}"/>
              </a:ext>
            </a:extLst>
          </p:cNvPr>
          <p:cNvCxnSpPr>
            <a:cxnSpLocks/>
            <a:stCxn id="161" idx="2"/>
            <a:endCxn id="167" idx="1"/>
          </p:cNvCxnSpPr>
          <p:nvPr/>
        </p:nvCxnSpPr>
        <p:spPr>
          <a:xfrm>
            <a:off x="17338159" y="4904488"/>
            <a:ext cx="228" cy="484594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3421E23-F18F-A3A9-2B0A-8755597C837E}"/>
              </a:ext>
            </a:extLst>
          </p:cNvPr>
          <p:cNvSpPr/>
          <p:nvPr/>
        </p:nvSpPr>
        <p:spPr>
          <a:xfrm>
            <a:off x="11132290" y="6516513"/>
            <a:ext cx="4838829" cy="119199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顧客管理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円柱 29">
            <a:extLst>
              <a:ext uri="{FF2B5EF4-FFF2-40B4-BE49-F238E27FC236}">
                <a16:creationId xmlns:a16="http://schemas.microsoft.com/office/drawing/2014/main" id="{FB247FF9-2457-8C5B-D844-B024D5A00412}"/>
              </a:ext>
            </a:extLst>
          </p:cNvPr>
          <p:cNvSpPr/>
          <p:nvPr/>
        </p:nvSpPr>
        <p:spPr>
          <a:xfrm>
            <a:off x="13634653" y="4344492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A279970C-9942-50B2-47A1-2E25C5190C9E}"/>
              </a:ext>
            </a:extLst>
          </p:cNvPr>
          <p:cNvSpPr/>
          <p:nvPr/>
        </p:nvSpPr>
        <p:spPr>
          <a:xfrm>
            <a:off x="11135652" y="4020087"/>
            <a:ext cx="4835469" cy="119199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マスター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円柱 39">
            <a:extLst>
              <a:ext uri="{FF2B5EF4-FFF2-40B4-BE49-F238E27FC236}">
                <a16:creationId xmlns:a16="http://schemas.microsoft.com/office/drawing/2014/main" id="{9A8D9007-853F-6053-C11D-9139FA3A86AA}"/>
              </a:ext>
            </a:extLst>
          </p:cNvPr>
          <p:cNvSpPr/>
          <p:nvPr/>
        </p:nvSpPr>
        <p:spPr>
          <a:xfrm>
            <a:off x="11303617" y="8120016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</a:p>
        </p:txBody>
      </p:sp>
      <p:sp>
        <p:nvSpPr>
          <p:cNvPr id="43" name="円柱 42">
            <a:extLst>
              <a:ext uri="{FF2B5EF4-FFF2-40B4-BE49-F238E27FC236}">
                <a16:creationId xmlns:a16="http://schemas.microsoft.com/office/drawing/2014/main" id="{2099324F-3739-F47C-6749-98F2E797972B}"/>
              </a:ext>
            </a:extLst>
          </p:cNvPr>
          <p:cNvSpPr/>
          <p:nvPr/>
        </p:nvSpPr>
        <p:spPr>
          <a:xfrm>
            <a:off x="11303617" y="6876960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E43EBBF0-184D-D66E-9BD1-4C649299598E}"/>
              </a:ext>
            </a:extLst>
          </p:cNvPr>
          <p:cNvSpPr/>
          <p:nvPr/>
        </p:nvSpPr>
        <p:spPr>
          <a:xfrm>
            <a:off x="11131054" y="5270200"/>
            <a:ext cx="4831146" cy="119199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円柱 46">
            <a:extLst>
              <a:ext uri="{FF2B5EF4-FFF2-40B4-BE49-F238E27FC236}">
                <a16:creationId xmlns:a16="http://schemas.microsoft.com/office/drawing/2014/main" id="{530F11FA-59F4-5243-1460-F4E266014089}"/>
              </a:ext>
            </a:extLst>
          </p:cNvPr>
          <p:cNvSpPr/>
          <p:nvPr/>
        </p:nvSpPr>
        <p:spPr>
          <a:xfrm>
            <a:off x="12476679" y="8098115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DC</a:t>
            </a:r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</a:t>
            </a:r>
          </a:p>
        </p:txBody>
      </p:sp>
      <p:sp>
        <p:nvSpPr>
          <p:cNvPr id="48" name="円柱 47">
            <a:extLst>
              <a:ext uri="{FF2B5EF4-FFF2-40B4-BE49-F238E27FC236}">
                <a16:creationId xmlns:a16="http://schemas.microsoft.com/office/drawing/2014/main" id="{A4282E5B-FBB3-3368-C671-53C942E59547}"/>
              </a:ext>
            </a:extLst>
          </p:cNvPr>
          <p:cNvSpPr/>
          <p:nvPr/>
        </p:nvSpPr>
        <p:spPr>
          <a:xfrm>
            <a:off x="14793067" y="6871135"/>
            <a:ext cx="1058290" cy="701882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配送残</a:t>
            </a:r>
          </a:p>
        </p:txBody>
      </p:sp>
      <p:sp>
        <p:nvSpPr>
          <p:cNvPr id="161" name="正方形/長方形 160">
            <a:extLst>
              <a:ext uri="{FF2B5EF4-FFF2-40B4-BE49-F238E27FC236}">
                <a16:creationId xmlns:a16="http://schemas.microsoft.com/office/drawing/2014/main" id="{DDC2E87F-2653-D672-76F0-DC869E9670F9}"/>
              </a:ext>
            </a:extLst>
          </p:cNvPr>
          <p:cNvSpPr/>
          <p:nvPr/>
        </p:nvSpPr>
        <p:spPr>
          <a:xfrm>
            <a:off x="16809589" y="4331613"/>
            <a:ext cx="1057140" cy="5728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DataSpider</a:t>
            </a:r>
            <a:endParaRPr kumimoji="1" lang="ja-JP" altLang="en-US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3" name="正方形/長方形 162">
            <a:extLst>
              <a:ext uri="{FF2B5EF4-FFF2-40B4-BE49-F238E27FC236}">
                <a16:creationId xmlns:a16="http://schemas.microsoft.com/office/drawing/2014/main" id="{6F7BFB60-0A79-1B43-0172-761CD74DFB15}"/>
              </a:ext>
            </a:extLst>
          </p:cNvPr>
          <p:cNvSpPr/>
          <p:nvPr/>
        </p:nvSpPr>
        <p:spPr>
          <a:xfrm>
            <a:off x="16699721" y="5084110"/>
            <a:ext cx="1274490" cy="963865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配送業務端末</a:t>
            </a:r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4" name="正方形/長方形 163">
            <a:extLst>
              <a:ext uri="{FF2B5EF4-FFF2-40B4-BE49-F238E27FC236}">
                <a16:creationId xmlns:a16="http://schemas.microsoft.com/office/drawing/2014/main" id="{7D627BA7-2C8B-EF76-403C-76E981F8DBF7}"/>
              </a:ext>
            </a:extLst>
          </p:cNvPr>
          <p:cNvSpPr/>
          <p:nvPr/>
        </p:nvSpPr>
        <p:spPr>
          <a:xfrm>
            <a:off x="16699721" y="6236956"/>
            <a:ext cx="1274490" cy="874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配送</a:t>
            </a:r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業務</a:t>
            </a:r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端末</a:t>
            </a:r>
          </a:p>
        </p:txBody>
      </p:sp>
      <p:sp>
        <p:nvSpPr>
          <p:cNvPr id="165" name="正方形/長方形 164">
            <a:extLst>
              <a:ext uri="{FF2B5EF4-FFF2-40B4-BE49-F238E27FC236}">
                <a16:creationId xmlns:a16="http://schemas.microsoft.com/office/drawing/2014/main" id="{F54BC30C-F483-3DE1-C889-75A92ACF52D2}"/>
              </a:ext>
            </a:extLst>
          </p:cNvPr>
          <p:cNvSpPr/>
          <p:nvPr/>
        </p:nvSpPr>
        <p:spPr>
          <a:xfrm>
            <a:off x="16711801" y="8616296"/>
            <a:ext cx="1274490" cy="874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店内端末</a:t>
            </a:r>
          </a:p>
        </p:txBody>
      </p:sp>
      <p:sp>
        <p:nvSpPr>
          <p:cNvPr id="167" name="円柱 166">
            <a:extLst>
              <a:ext uri="{FF2B5EF4-FFF2-40B4-BE49-F238E27FC236}">
                <a16:creationId xmlns:a16="http://schemas.microsoft.com/office/drawing/2014/main" id="{D042382D-E9B8-0D1B-A373-6D1115E19DC3}"/>
              </a:ext>
            </a:extLst>
          </p:cNvPr>
          <p:cNvSpPr/>
          <p:nvPr/>
        </p:nvSpPr>
        <p:spPr>
          <a:xfrm>
            <a:off x="16938490" y="5389082"/>
            <a:ext cx="799793" cy="461962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ja-JP" altLang="en-US" sz="16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E1E41A14-E18A-D0A7-5F98-89F10B5CE1C0}"/>
              </a:ext>
            </a:extLst>
          </p:cNvPr>
          <p:cNvCxnSpPr>
            <a:cxnSpLocks/>
            <a:stCxn id="164" idx="0"/>
            <a:endCxn id="167" idx="3"/>
          </p:cNvCxnSpPr>
          <p:nvPr/>
        </p:nvCxnSpPr>
        <p:spPr>
          <a:xfrm flipV="1">
            <a:off x="17336966" y="5851044"/>
            <a:ext cx="1421" cy="385912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線矢印コネクタ 180">
            <a:extLst>
              <a:ext uri="{FF2B5EF4-FFF2-40B4-BE49-F238E27FC236}">
                <a16:creationId xmlns:a16="http://schemas.microsoft.com/office/drawing/2014/main" id="{248F0456-7AC0-01F0-C3C8-958019F1EC6C}"/>
              </a:ext>
            </a:extLst>
          </p:cNvPr>
          <p:cNvCxnSpPr>
            <a:cxnSpLocks/>
            <a:stCxn id="31" idx="3"/>
            <a:endCxn id="304" idx="2"/>
          </p:cNvCxnSpPr>
          <p:nvPr/>
        </p:nvCxnSpPr>
        <p:spPr>
          <a:xfrm>
            <a:off x="15971121" y="4616084"/>
            <a:ext cx="980040" cy="3441993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線矢印コネクタ 183">
            <a:extLst>
              <a:ext uri="{FF2B5EF4-FFF2-40B4-BE49-F238E27FC236}">
                <a16:creationId xmlns:a16="http://schemas.microsoft.com/office/drawing/2014/main" id="{9C8ABF73-4678-DEDA-CE6B-91AF020C3EF3}"/>
              </a:ext>
            </a:extLst>
          </p:cNvPr>
          <p:cNvCxnSpPr>
            <a:cxnSpLocks/>
            <a:stCxn id="18" idx="3"/>
            <a:endCxn id="304" idx="2"/>
          </p:cNvCxnSpPr>
          <p:nvPr/>
        </p:nvCxnSpPr>
        <p:spPr>
          <a:xfrm flipV="1">
            <a:off x="15971121" y="8058077"/>
            <a:ext cx="980040" cy="301667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円柱 189">
            <a:extLst>
              <a:ext uri="{FF2B5EF4-FFF2-40B4-BE49-F238E27FC236}">
                <a16:creationId xmlns:a16="http://schemas.microsoft.com/office/drawing/2014/main" id="{E7BA07E5-9B63-48C9-CD08-3D9FFA8FBA71}"/>
              </a:ext>
            </a:extLst>
          </p:cNvPr>
          <p:cNvSpPr/>
          <p:nvPr/>
        </p:nvSpPr>
        <p:spPr>
          <a:xfrm>
            <a:off x="14793067" y="4331613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マスター</a:t>
            </a:r>
          </a:p>
        </p:txBody>
      </p:sp>
      <p:sp>
        <p:nvSpPr>
          <p:cNvPr id="191" name="円柱 190">
            <a:extLst>
              <a:ext uri="{FF2B5EF4-FFF2-40B4-BE49-F238E27FC236}">
                <a16:creationId xmlns:a16="http://schemas.microsoft.com/office/drawing/2014/main" id="{EBB16FBF-775E-4DDD-A877-B2F592C9A4FC}"/>
              </a:ext>
            </a:extLst>
          </p:cNvPr>
          <p:cNvSpPr/>
          <p:nvPr/>
        </p:nvSpPr>
        <p:spPr>
          <a:xfrm>
            <a:off x="13636863" y="8105256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配送工事枠</a:t>
            </a:r>
          </a:p>
        </p:txBody>
      </p:sp>
      <p:sp>
        <p:nvSpPr>
          <p:cNvPr id="218" name="円柱 217">
            <a:extLst>
              <a:ext uri="{FF2B5EF4-FFF2-40B4-BE49-F238E27FC236}">
                <a16:creationId xmlns:a16="http://schemas.microsoft.com/office/drawing/2014/main" id="{3C0B5FE0-AF34-26EC-725F-AB69E4698F52}"/>
              </a:ext>
            </a:extLst>
          </p:cNvPr>
          <p:cNvSpPr/>
          <p:nvPr/>
        </p:nvSpPr>
        <p:spPr>
          <a:xfrm>
            <a:off x="6163979" y="6333424"/>
            <a:ext cx="1058290" cy="701882"/>
          </a:xfrm>
          <a:prstGeom prst="ca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各種実績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次世代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3" name="正方形/長方形 302">
            <a:extLst>
              <a:ext uri="{FF2B5EF4-FFF2-40B4-BE49-F238E27FC236}">
                <a16:creationId xmlns:a16="http://schemas.microsoft.com/office/drawing/2014/main" id="{B3BC4D62-A07E-E08B-5677-201018AC6286}"/>
              </a:ext>
            </a:extLst>
          </p:cNvPr>
          <p:cNvSpPr/>
          <p:nvPr/>
        </p:nvSpPr>
        <p:spPr>
          <a:xfrm>
            <a:off x="16712392" y="7522124"/>
            <a:ext cx="1274490" cy="963865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店内端末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  <a:endParaRPr kumimoji="1" lang="ja-JP" altLang="en-US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4" name="円柱 303">
            <a:extLst>
              <a:ext uri="{FF2B5EF4-FFF2-40B4-BE49-F238E27FC236}">
                <a16:creationId xmlns:a16="http://schemas.microsoft.com/office/drawing/2014/main" id="{8598EE35-8891-16E5-B17C-9DABB3D28DD1}"/>
              </a:ext>
            </a:extLst>
          </p:cNvPr>
          <p:cNvSpPr/>
          <p:nvPr/>
        </p:nvSpPr>
        <p:spPr>
          <a:xfrm>
            <a:off x="16951161" y="7827096"/>
            <a:ext cx="799793" cy="461962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ja-JP" altLang="en-US" sz="16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08" name="直線矢印コネクタ 307">
            <a:extLst>
              <a:ext uri="{FF2B5EF4-FFF2-40B4-BE49-F238E27FC236}">
                <a16:creationId xmlns:a16="http://schemas.microsoft.com/office/drawing/2014/main" id="{F54B0436-3853-A32F-41C4-3B5CC13A7CCD}"/>
              </a:ext>
            </a:extLst>
          </p:cNvPr>
          <p:cNvCxnSpPr>
            <a:cxnSpLocks/>
            <a:stCxn id="165" idx="0"/>
            <a:endCxn id="304" idx="3"/>
          </p:cNvCxnSpPr>
          <p:nvPr/>
        </p:nvCxnSpPr>
        <p:spPr>
          <a:xfrm flipV="1">
            <a:off x="17349046" y="8289058"/>
            <a:ext cx="2012" cy="327238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線矢印コネクタ 317">
            <a:extLst>
              <a:ext uri="{FF2B5EF4-FFF2-40B4-BE49-F238E27FC236}">
                <a16:creationId xmlns:a16="http://schemas.microsoft.com/office/drawing/2014/main" id="{C1AEAE01-9C72-79EF-F374-69CADE605273}"/>
              </a:ext>
            </a:extLst>
          </p:cNvPr>
          <p:cNvCxnSpPr>
            <a:cxnSpLocks/>
            <a:stCxn id="24" idx="3"/>
            <a:endCxn id="161" idx="1"/>
          </p:cNvCxnSpPr>
          <p:nvPr/>
        </p:nvCxnSpPr>
        <p:spPr>
          <a:xfrm flipV="1">
            <a:off x="15971119" y="4618051"/>
            <a:ext cx="838470" cy="2494459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C16CD9B-92A0-C8A6-5E72-29C23F6DBCD3}"/>
              </a:ext>
            </a:extLst>
          </p:cNvPr>
          <p:cNvSpPr/>
          <p:nvPr/>
        </p:nvSpPr>
        <p:spPr>
          <a:xfrm>
            <a:off x="11132290" y="7763747"/>
            <a:ext cx="4838831" cy="119199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TC/DC-SV(SJIS)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51338A94-4866-2F88-BF01-EB165DEEE15D}"/>
              </a:ext>
            </a:extLst>
          </p:cNvPr>
          <p:cNvSpPr/>
          <p:nvPr/>
        </p:nvSpPr>
        <p:spPr>
          <a:xfrm>
            <a:off x="3934170" y="4216242"/>
            <a:ext cx="6452514" cy="4031210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セントラル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DB</a:t>
            </a:r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Ver.26ai(AL32UTF8)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円柱 6">
            <a:extLst>
              <a:ext uri="{FF2B5EF4-FFF2-40B4-BE49-F238E27FC236}">
                <a16:creationId xmlns:a16="http://schemas.microsoft.com/office/drawing/2014/main" id="{41E8E1F7-B9A5-9CDE-78C7-EB08222A491B}"/>
              </a:ext>
            </a:extLst>
          </p:cNvPr>
          <p:cNvSpPr/>
          <p:nvPr/>
        </p:nvSpPr>
        <p:spPr>
          <a:xfrm>
            <a:off x="14777564" y="8105256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ロジ関連</a:t>
            </a:r>
          </a:p>
        </p:txBody>
      </p:sp>
      <p:sp>
        <p:nvSpPr>
          <p:cNvPr id="20" name="円柱 19">
            <a:extLst>
              <a:ext uri="{FF2B5EF4-FFF2-40B4-BE49-F238E27FC236}">
                <a16:creationId xmlns:a16="http://schemas.microsoft.com/office/drawing/2014/main" id="{C756D5F6-F69F-02AC-D7E2-3E6F37112499}"/>
              </a:ext>
            </a:extLst>
          </p:cNvPr>
          <p:cNvSpPr/>
          <p:nvPr/>
        </p:nvSpPr>
        <p:spPr>
          <a:xfrm>
            <a:off x="12507990" y="5546448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各種実績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現行レイアウト</a:t>
            </a:r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円柱 50">
            <a:extLst>
              <a:ext uri="{FF2B5EF4-FFF2-40B4-BE49-F238E27FC236}">
                <a16:creationId xmlns:a16="http://schemas.microsoft.com/office/drawing/2014/main" id="{CFE8467B-1796-25AA-8BA5-6F8810197535}"/>
              </a:ext>
            </a:extLst>
          </p:cNvPr>
          <p:cNvSpPr/>
          <p:nvPr/>
        </p:nvSpPr>
        <p:spPr>
          <a:xfrm>
            <a:off x="12482886" y="6846695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持込修理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出張修理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円柱 67">
            <a:extLst>
              <a:ext uri="{FF2B5EF4-FFF2-40B4-BE49-F238E27FC236}">
                <a16:creationId xmlns:a16="http://schemas.microsoft.com/office/drawing/2014/main" id="{72E9654A-EF9F-7C32-83FB-02C6CC77DD78}"/>
              </a:ext>
            </a:extLst>
          </p:cNvPr>
          <p:cNvSpPr/>
          <p:nvPr/>
        </p:nvSpPr>
        <p:spPr>
          <a:xfrm>
            <a:off x="13643807" y="6871135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あんしん延長保証</a:t>
            </a:r>
            <a:endParaRPr kumimoji="1" lang="en-US" altLang="ja-JP" sz="10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長期無料保証</a:t>
            </a:r>
            <a:endParaRPr kumimoji="1" lang="ja-JP" altLang="en-US" sz="10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円柱 68">
            <a:extLst>
              <a:ext uri="{FF2B5EF4-FFF2-40B4-BE49-F238E27FC236}">
                <a16:creationId xmlns:a16="http://schemas.microsoft.com/office/drawing/2014/main" id="{A202360C-4142-70AA-8575-04B286CC453B}"/>
              </a:ext>
            </a:extLst>
          </p:cNvPr>
          <p:cNvSpPr/>
          <p:nvPr/>
        </p:nvSpPr>
        <p:spPr>
          <a:xfrm>
            <a:off x="11303617" y="4344492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円柱 18">
            <a:extLst>
              <a:ext uri="{FF2B5EF4-FFF2-40B4-BE49-F238E27FC236}">
                <a16:creationId xmlns:a16="http://schemas.microsoft.com/office/drawing/2014/main" id="{664CE3C0-483A-6D9F-82F9-7EECB5D27A34}"/>
              </a:ext>
            </a:extLst>
          </p:cNvPr>
          <p:cNvSpPr/>
          <p:nvPr/>
        </p:nvSpPr>
        <p:spPr>
          <a:xfrm>
            <a:off x="12479752" y="4344492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送信管理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28050720-0457-923A-E60C-3A141AE0D746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13019282" y="3261360"/>
            <a:ext cx="1144516" cy="108313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楕円 328">
            <a:extLst>
              <a:ext uri="{FF2B5EF4-FFF2-40B4-BE49-F238E27FC236}">
                <a16:creationId xmlns:a16="http://schemas.microsoft.com/office/drawing/2014/main" id="{2727F0EB-2854-E6E8-C64D-489ED985A21E}"/>
              </a:ext>
            </a:extLst>
          </p:cNvPr>
          <p:cNvSpPr/>
          <p:nvPr/>
        </p:nvSpPr>
        <p:spPr>
          <a:xfrm>
            <a:off x="14993628" y="1405222"/>
            <a:ext cx="430053" cy="394209"/>
          </a:xfrm>
          <a:prstGeom prst="ellipse">
            <a:avLst/>
          </a:prstGeom>
          <a:solidFill>
            <a:srgbClr val="FFFF99"/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600" b="1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1</a:t>
            </a:r>
            <a:endParaRPr kumimoji="1" lang="ja-JP" altLang="en-US" sz="1600" b="1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340" name="楕円 339">
            <a:extLst>
              <a:ext uri="{FF2B5EF4-FFF2-40B4-BE49-F238E27FC236}">
                <a16:creationId xmlns:a16="http://schemas.microsoft.com/office/drawing/2014/main" id="{9931A4C1-72BA-E311-40BA-719C9AE81E85}"/>
              </a:ext>
            </a:extLst>
          </p:cNvPr>
          <p:cNvSpPr/>
          <p:nvPr/>
        </p:nvSpPr>
        <p:spPr>
          <a:xfrm>
            <a:off x="7238423" y="6016157"/>
            <a:ext cx="430053" cy="394209"/>
          </a:xfrm>
          <a:prstGeom prst="ellipse">
            <a:avLst/>
          </a:prstGeom>
          <a:solidFill>
            <a:srgbClr val="FFFF99"/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600" b="1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4</a:t>
            </a:r>
            <a:endParaRPr kumimoji="1" lang="ja-JP" altLang="en-US" sz="1600" b="1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328" name="楕円 327">
            <a:extLst>
              <a:ext uri="{FF2B5EF4-FFF2-40B4-BE49-F238E27FC236}">
                <a16:creationId xmlns:a16="http://schemas.microsoft.com/office/drawing/2014/main" id="{E00DFF5F-3259-187A-D07B-EDB5A5A78050}"/>
              </a:ext>
            </a:extLst>
          </p:cNvPr>
          <p:cNvSpPr/>
          <p:nvPr/>
        </p:nvSpPr>
        <p:spPr>
          <a:xfrm>
            <a:off x="10378957" y="3196015"/>
            <a:ext cx="430053" cy="394209"/>
          </a:xfrm>
          <a:prstGeom prst="ellipse">
            <a:avLst/>
          </a:prstGeom>
          <a:solidFill>
            <a:srgbClr val="FFFF99"/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600" b="1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2</a:t>
            </a:r>
            <a:endParaRPr kumimoji="1" lang="ja-JP" altLang="en-US" sz="1600" b="1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F6571405-91D8-45B2-7B53-A3630E6EC620}"/>
              </a:ext>
            </a:extLst>
          </p:cNvPr>
          <p:cNvCxnSpPr>
            <a:cxnSpLocks/>
            <a:stCxn id="31" idx="3"/>
            <a:endCxn id="161" idx="1"/>
          </p:cNvCxnSpPr>
          <p:nvPr/>
        </p:nvCxnSpPr>
        <p:spPr>
          <a:xfrm>
            <a:off x="15971121" y="4616084"/>
            <a:ext cx="838468" cy="1967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フローチャート: 定義済み処理 74">
            <a:extLst>
              <a:ext uri="{FF2B5EF4-FFF2-40B4-BE49-F238E27FC236}">
                <a16:creationId xmlns:a16="http://schemas.microsoft.com/office/drawing/2014/main" id="{A8E83C2B-9102-8381-42F4-23D89B6E6235}"/>
              </a:ext>
            </a:extLst>
          </p:cNvPr>
          <p:cNvSpPr/>
          <p:nvPr/>
        </p:nvSpPr>
        <p:spPr>
          <a:xfrm>
            <a:off x="8970712" y="9260615"/>
            <a:ext cx="1194231" cy="572874"/>
          </a:xfrm>
          <a:prstGeom prst="flowChartPredefinedProcess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kumimoji="1"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トラン連携</a:t>
            </a:r>
            <a:endParaRPr kumimoji="1"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文字コード変換</a:t>
            </a:r>
            <a:r>
              <a:rPr kumimoji="1" lang="en-US" altLang="ja-JP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9D64BDE9-E381-FC3D-381D-541E5F892043}"/>
              </a:ext>
            </a:extLst>
          </p:cNvPr>
          <p:cNvSpPr/>
          <p:nvPr/>
        </p:nvSpPr>
        <p:spPr>
          <a:xfrm>
            <a:off x="7322031" y="9157787"/>
            <a:ext cx="3809023" cy="77821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DataSpider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2" name="矢印: 下カーブ 181">
            <a:extLst>
              <a:ext uri="{FF2B5EF4-FFF2-40B4-BE49-F238E27FC236}">
                <a16:creationId xmlns:a16="http://schemas.microsoft.com/office/drawing/2014/main" id="{C1306911-155A-C414-0A3F-18DF289D9697}"/>
              </a:ext>
            </a:extLst>
          </p:cNvPr>
          <p:cNvSpPr/>
          <p:nvPr/>
        </p:nvSpPr>
        <p:spPr>
          <a:xfrm rot="2337650">
            <a:off x="11048046" y="5659195"/>
            <a:ext cx="568153" cy="4231030"/>
          </a:xfrm>
          <a:prstGeom prst="curvedDown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3" name="吹き出し: 折線 262">
            <a:extLst>
              <a:ext uri="{FF2B5EF4-FFF2-40B4-BE49-F238E27FC236}">
                <a16:creationId xmlns:a16="http://schemas.microsoft.com/office/drawing/2014/main" id="{7B01B813-115D-3128-8B7C-602C2A2844A9}"/>
              </a:ext>
            </a:extLst>
          </p:cNvPr>
          <p:cNvSpPr/>
          <p:nvPr/>
        </p:nvSpPr>
        <p:spPr>
          <a:xfrm>
            <a:off x="11563426" y="9366843"/>
            <a:ext cx="2263550" cy="51859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1159"/>
              <a:gd name="adj6" fmla="val -59596"/>
            </a:avLst>
          </a:prstGeom>
          <a:solidFill>
            <a:srgbClr val="FFFF99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DataSpider</a:t>
            </a:r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を使用することで文字コードを変換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87C85006-C953-497B-38F4-85A4BF6460CA}"/>
              </a:ext>
            </a:extLst>
          </p:cNvPr>
          <p:cNvSpPr/>
          <p:nvPr/>
        </p:nvSpPr>
        <p:spPr>
          <a:xfrm>
            <a:off x="11099195" y="1211407"/>
            <a:ext cx="4871923" cy="2428219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店舗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ED8EAB54-46A4-39DD-668E-BC169E37ACA0}"/>
              </a:ext>
            </a:extLst>
          </p:cNvPr>
          <p:cNvSpPr/>
          <p:nvPr/>
        </p:nvSpPr>
        <p:spPr>
          <a:xfrm>
            <a:off x="16691356" y="1447087"/>
            <a:ext cx="1274490" cy="874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現行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(RZ-A476)</a:t>
            </a:r>
          </a:p>
        </p:txBody>
      </p:sp>
      <p:sp>
        <p:nvSpPr>
          <p:cNvPr id="60" name="円柱 59">
            <a:extLst>
              <a:ext uri="{FF2B5EF4-FFF2-40B4-BE49-F238E27FC236}">
                <a16:creationId xmlns:a16="http://schemas.microsoft.com/office/drawing/2014/main" id="{A3E0CAD3-B950-F980-D169-8BFB3F5E5D94}"/>
              </a:ext>
            </a:extLst>
          </p:cNvPr>
          <p:cNvSpPr/>
          <p:nvPr/>
        </p:nvSpPr>
        <p:spPr>
          <a:xfrm>
            <a:off x="13002475" y="1533376"/>
            <a:ext cx="1058290" cy="701882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</a:p>
        </p:txBody>
      </p:sp>
      <p:sp>
        <p:nvSpPr>
          <p:cNvPr id="61" name="フローチャート: 定義済み処理 60">
            <a:extLst>
              <a:ext uri="{FF2B5EF4-FFF2-40B4-BE49-F238E27FC236}">
                <a16:creationId xmlns:a16="http://schemas.microsoft.com/office/drawing/2014/main" id="{CE94AC85-797A-C105-E0BE-2CD6DF3F3117}"/>
              </a:ext>
            </a:extLst>
          </p:cNvPr>
          <p:cNvSpPr/>
          <p:nvPr/>
        </p:nvSpPr>
        <p:spPr>
          <a:xfrm>
            <a:off x="11279100" y="1602327"/>
            <a:ext cx="1194231" cy="572874"/>
          </a:xfrm>
          <a:prstGeom prst="flowChartPredefined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トラン取込</a:t>
            </a:r>
            <a:endParaRPr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定期実行</a:t>
            </a:r>
            <a:r>
              <a:rPr kumimoji="1" lang="en-US" altLang="ja-JP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フローチャート: 定義済み処理 61">
            <a:extLst>
              <a:ext uri="{FF2B5EF4-FFF2-40B4-BE49-F238E27FC236}">
                <a16:creationId xmlns:a16="http://schemas.microsoft.com/office/drawing/2014/main" id="{187A2410-3535-820E-7799-37AC826BC1B1}"/>
              </a:ext>
            </a:extLst>
          </p:cNvPr>
          <p:cNvSpPr/>
          <p:nvPr/>
        </p:nvSpPr>
        <p:spPr>
          <a:xfrm>
            <a:off x="12937716" y="2498420"/>
            <a:ext cx="1194231" cy="459856"/>
          </a:xfrm>
          <a:prstGeom prst="flowChartPredefined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トリガー</a:t>
            </a: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トラン分解</a:t>
            </a:r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1964EA4A-ECC3-5452-EB09-E9EFE51EF875}"/>
              </a:ext>
            </a:extLst>
          </p:cNvPr>
          <p:cNvCxnSpPr>
            <a:cxnSpLocks/>
            <a:stCxn id="60" idx="3"/>
            <a:endCxn id="62" idx="0"/>
          </p:cNvCxnSpPr>
          <p:nvPr/>
        </p:nvCxnSpPr>
        <p:spPr>
          <a:xfrm>
            <a:off x="13531620" y="2235258"/>
            <a:ext cx="3212" cy="26316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B0471F08-F465-95D9-BD2F-A26AC0E1F2F6}"/>
              </a:ext>
            </a:extLst>
          </p:cNvPr>
          <p:cNvCxnSpPr>
            <a:cxnSpLocks/>
            <a:stCxn id="62" idx="3"/>
            <a:endCxn id="66" idx="2"/>
          </p:cNvCxnSpPr>
          <p:nvPr/>
        </p:nvCxnSpPr>
        <p:spPr>
          <a:xfrm>
            <a:off x="14131947" y="2728348"/>
            <a:ext cx="547563" cy="55596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円柱 65">
            <a:extLst>
              <a:ext uri="{FF2B5EF4-FFF2-40B4-BE49-F238E27FC236}">
                <a16:creationId xmlns:a16="http://schemas.microsoft.com/office/drawing/2014/main" id="{0204800A-4323-B441-BD9F-171DDD16BF86}"/>
              </a:ext>
            </a:extLst>
          </p:cNvPr>
          <p:cNvSpPr/>
          <p:nvPr/>
        </p:nvSpPr>
        <p:spPr>
          <a:xfrm>
            <a:off x="14679510" y="2986633"/>
            <a:ext cx="1058290" cy="595357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</a:t>
            </a: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81AF533A-EE00-7FF7-569E-1DDDAC9429A1}"/>
              </a:ext>
            </a:extLst>
          </p:cNvPr>
          <p:cNvCxnSpPr>
            <a:cxnSpLocks/>
            <a:stCxn id="62" idx="3"/>
            <a:endCxn id="73" idx="2"/>
          </p:cNvCxnSpPr>
          <p:nvPr/>
        </p:nvCxnSpPr>
        <p:spPr>
          <a:xfrm flipV="1">
            <a:off x="14131947" y="2686542"/>
            <a:ext cx="554100" cy="4180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フローチャート: 定義済み処理 70">
            <a:extLst>
              <a:ext uri="{FF2B5EF4-FFF2-40B4-BE49-F238E27FC236}">
                <a16:creationId xmlns:a16="http://schemas.microsoft.com/office/drawing/2014/main" id="{542A8254-F45B-72E3-8D5B-B699307B4D5A}"/>
              </a:ext>
            </a:extLst>
          </p:cNvPr>
          <p:cNvSpPr/>
          <p:nvPr/>
        </p:nvSpPr>
        <p:spPr>
          <a:xfrm>
            <a:off x="12934504" y="3041164"/>
            <a:ext cx="1194231" cy="515792"/>
          </a:xfrm>
          <a:prstGeom prst="flowChartPredefined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在庫送信</a:t>
            </a:r>
          </a:p>
        </p:txBody>
      </p:sp>
      <p:sp>
        <p:nvSpPr>
          <p:cNvPr id="72" name="矢印: 下カーブ 71">
            <a:extLst>
              <a:ext uri="{FF2B5EF4-FFF2-40B4-BE49-F238E27FC236}">
                <a16:creationId xmlns:a16="http://schemas.microsoft.com/office/drawing/2014/main" id="{E856FF42-788F-A747-1F5C-073B7A462F9A}"/>
              </a:ext>
            </a:extLst>
          </p:cNvPr>
          <p:cNvSpPr/>
          <p:nvPr/>
        </p:nvSpPr>
        <p:spPr>
          <a:xfrm rot="5400000">
            <a:off x="14223534" y="3061502"/>
            <a:ext cx="374226" cy="733833"/>
          </a:xfrm>
          <a:prstGeom prst="curvedDown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円柱 72">
            <a:extLst>
              <a:ext uri="{FF2B5EF4-FFF2-40B4-BE49-F238E27FC236}">
                <a16:creationId xmlns:a16="http://schemas.microsoft.com/office/drawing/2014/main" id="{06F8239C-ED54-92F3-1612-00C14C6CE64A}"/>
              </a:ext>
            </a:extLst>
          </p:cNvPr>
          <p:cNvSpPr/>
          <p:nvPr/>
        </p:nvSpPr>
        <p:spPr>
          <a:xfrm>
            <a:off x="14686047" y="2388863"/>
            <a:ext cx="1058290" cy="595357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各種実績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現行レイアウト</a:t>
            </a:r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8BC7EADB-D1A9-6A1D-C2B2-D81E69BEDEB5}"/>
              </a:ext>
            </a:extLst>
          </p:cNvPr>
          <p:cNvCxnSpPr>
            <a:cxnSpLocks/>
            <a:stCxn id="58" idx="1"/>
            <a:endCxn id="60" idx="4"/>
          </p:cNvCxnSpPr>
          <p:nvPr/>
        </p:nvCxnSpPr>
        <p:spPr>
          <a:xfrm flipH="1">
            <a:off x="14060765" y="1884249"/>
            <a:ext cx="2630591" cy="6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フローチャート: 定義済み処理 80">
            <a:extLst>
              <a:ext uri="{FF2B5EF4-FFF2-40B4-BE49-F238E27FC236}">
                <a16:creationId xmlns:a16="http://schemas.microsoft.com/office/drawing/2014/main" id="{B5986411-50B3-B866-9873-E50F360BF1E0}"/>
              </a:ext>
            </a:extLst>
          </p:cNvPr>
          <p:cNvSpPr/>
          <p:nvPr/>
        </p:nvSpPr>
        <p:spPr>
          <a:xfrm>
            <a:off x="11279100" y="2953414"/>
            <a:ext cx="1194231" cy="572874"/>
          </a:xfrm>
          <a:prstGeom prst="flowChartPredefined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トラン送信</a:t>
            </a:r>
            <a:endParaRPr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定期実行</a:t>
            </a:r>
            <a:r>
              <a:rPr kumimoji="1" lang="en-US" altLang="ja-JP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4" name="矢印: 下カーブ 83">
            <a:extLst>
              <a:ext uri="{FF2B5EF4-FFF2-40B4-BE49-F238E27FC236}">
                <a16:creationId xmlns:a16="http://schemas.microsoft.com/office/drawing/2014/main" id="{704596F8-8995-FF02-AC82-02326D47D018}"/>
              </a:ext>
            </a:extLst>
          </p:cNvPr>
          <p:cNvSpPr/>
          <p:nvPr/>
        </p:nvSpPr>
        <p:spPr>
          <a:xfrm rot="2381078">
            <a:off x="12582438" y="1961061"/>
            <a:ext cx="374226" cy="1225800"/>
          </a:xfrm>
          <a:prstGeom prst="curvedDown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D7DCE066-A153-78B8-8609-5F88208B19C9}"/>
              </a:ext>
            </a:extLst>
          </p:cNvPr>
          <p:cNvSpPr txBox="1"/>
          <p:nvPr/>
        </p:nvSpPr>
        <p:spPr>
          <a:xfrm>
            <a:off x="5795158" y="1941178"/>
            <a:ext cx="5065947" cy="1579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④現行レイアウトの実績データを次世代用の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実績テーブルに登録する。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B7B6B1BB-0C26-D352-01F3-E457F826192B}"/>
              </a:ext>
            </a:extLst>
          </p:cNvPr>
          <p:cNvSpPr txBox="1"/>
          <p:nvPr/>
        </p:nvSpPr>
        <p:spPr>
          <a:xfrm>
            <a:off x="459767" y="1941178"/>
            <a:ext cx="5240389" cy="1579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①現行</a:t>
            </a: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の入力情報を店舗</a:t>
            </a: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へ送信（現状と同じ）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②店舗</a:t>
            </a: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からトラン</a:t>
            </a: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へトランを送信（現状と同じ）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③トラン</a:t>
            </a: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から現行レイアウトの実績データを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次世代用</a:t>
            </a: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DB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に登録する。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7" name="コネクタ: カギ線 86">
            <a:extLst>
              <a:ext uri="{FF2B5EF4-FFF2-40B4-BE49-F238E27FC236}">
                <a16:creationId xmlns:a16="http://schemas.microsoft.com/office/drawing/2014/main" id="{913FD1D6-6F8C-D89E-79A1-99AF2D4080B2}"/>
              </a:ext>
            </a:extLst>
          </p:cNvPr>
          <p:cNvCxnSpPr>
            <a:cxnSpLocks/>
            <a:stCxn id="81" idx="1"/>
            <a:endCxn id="14" idx="1"/>
          </p:cNvCxnSpPr>
          <p:nvPr/>
        </p:nvCxnSpPr>
        <p:spPr>
          <a:xfrm rot="10800000" flipH="1" flipV="1">
            <a:off x="11279100" y="3239850"/>
            <a:ext cx="557850" cy="2346817"/>
          </a:xfrm>
          <a:prstGeom prst="bentConnector4">
            <a:avLst>
              <a:gd name="adj1" fmla="val -77918"/>
              <a:gd name="adj2" fmla="val 92323"/>
            </a:avLst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7845CAB6-74FA-BA20-5209-DCF7F79906FD}"/>
              </a:ext>
            </a:extLst>
          </p:cNvPr>
          <p:cNvCxnSpPr>
            <a:cxnSpLocks/>
            <a:stCxn id="75" idx="0"/>
            <a:endCxn id="27" idx="3"/>
          </p:cNvCxnSpPr>
          <p:nvPr/>
        </p:nvCxnSpPr>
        <p:spPr>
          <a:xfrm flipH="1" flipV="1">
            <a:off x="9563324" y="7035306"/>
            <a:ext cx="4504" cy="222530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楕円 329">
            <a:extLst>
              <a:ext uri="{FF2B5EF4-FFF2-40B4-BE49-F238E27FC236}">
                <a16:creationId xmlns:a16="http://schemas.microsoft.com/office/drawing/2014/main" id="{ED00625A-9A47-58B3-D768-F52F0F7BF6CC}"/>
              </a:ext>
            </a:extLst>
          </p:cNvPr>
          <p:cNvSpPr/>
          <p:nvPr/>
        </p:nvSpPr>
        <p:spPr>
          <a:xfrm>
            <a:off x="9631083" y="8479094"/>
            <a:ext cx="430053" cy="394209"/>
          </a:xfrm>
          <a:prstGeom prst="ellipse">
            <a:avLst/>
          </a:prstGeom>
          <a:solidFill>
            <a:srgbClr val="FFFF99"/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600" b="1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3</a:t>
            </a:r>
            <a:endParaRPr kumimoji="1" lang="ja-JP" altLang="en-US" sz="1600" b="1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27" name="円柱 26">
            <a:extLst>
              <a:ext uri="{FF2B5EF4-FFF2-40B4-BE49-F238E27FC236}">
                <a16:creationId xmlns:a16="http://schemas.microsoft.com/office/drawing/2014/main" id="{497CB79B-31D0-27B9-960E-05CEDCF824D9}"/>
              </a:ext>
            </a:extLst>
          </p:cNvPr>
          <p:cNvSpPr/>
          <p:nvPr/>
        </p:nvSpPr>
        <p:spPr>
          <a:xfrm>
            <a:off x="9034179" y="6333424"/>
            <a:ext cx="1058290" cy="701882"/>
          </a:xfrm>
          <a:prstGeom prst="ca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各種実績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現行レイアウト</a:t>
            </a:r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フローチャート: 定義済み処理 27">
            <a:extLst>
              <a:ext uri="{FF2B5EF4-FFF2-40B4-BE49-F238E27FC236}">
                <a16:creationId xmlns:a16="http://schemas.microsoft.com/office/drawing/2014/main" id="{70C6182D-1095-EDE3-BEEA-630FE3D71211}"/>
              </a:ext>
            </a:extLst>
          </p:cNvPr>
          <p:cNvSpPr/>
          <p:nvPr/>
        </p:nvSpPr>
        <p:spPr>
          <a:xfrm>
            <a:off x="7542250" y="6399916"/>
            <a:ext cx="1194231" cy="572874"/>
          </a:xfrm>
          <a:prstGeom prst="flowChartPredefined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次世代用実績</a:t>
            </a:r>
            <a:endParaRPr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作成</a:t>
            </a:r>
            <a:endParaRPr kumimoji="1" lang="ja-JP" altLang="en-US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6922A8D5-7CDB-AB27-B486-8B49C6078AE0}"/>
              </a:ext>
            </a:extLst>
          </p:cNvPr>
          <p:cNvCxnSpPr>
            <a:cxnSpLocks/>
            <a:stCxn id="28" idx="1"/>
            <a:endCxn id="218" idx="4"/>
          </p:cNvCxnSpPr>
          <p:nvPr/>
        </p:nvCxnSpPr>
        <p:spPr>
          <a:xfrm flipH="1" flipV="1">
            <a:off x="7222269" y="6684365"/>
            <a:ext cx="319981" cy="198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矢印: 下カーブ 41">
            <a:extLst>
              <a:ext uri="{FF2B5EF4-FFF2-40B4-BE49-F238E27FC236}">
                <a16:creationId xmlns:a16="http://schemas.microsoft.com/office/drawing/2014/main" id="{34C3E016-147D-5E0B-3852-B9CF95696CF1}"/>
              </a:ext>
            </a:extLst>
          </p:cNvPr>
          <p:cNvSpPr/>
          <p:nvPr/>
        </p:nvSpPr>
        <p:spPr>
          <a:xfrm rot="5400000">
            <a:off x="8705903" y="6452094"/>
            <a:ext cx="374226" cy="501968"/>
          </a:xfrm>
          <a:prstGeom prst="curvedDown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円柱 15">
            <a:extLst>
              <a:ext uri="{FF2B5EF4-FFF2-40B4-BE49-F238E27FC236}">
                <a16:creationId xmlns:a16="http://schemas.microsoft.com/office/drawing/2014/main" id="{2CE67A7E-1AF6-B107-8F18-88C9A9F015E7}"/>
              </a:ext>
            </a:extLst>
          </p:cNvPr>
          <p:cNvSpPr/>
          <p:nvPr/>
        </p:nvSpPr>
        <p:spPr>
          <a:xfrm>
            <a:off x="9025667" y="4687200"/>
            <a:ext cx="1058290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マスター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0E4DC02C-3424-5C17-35E4-946DBDEBCE05}"/>
              </a:ext>
            </a:extLst>
          </p:cNvPr>
          <p:cNvSpPr/>
          <p:nvPr/>
        </p:nvSpPr>
        <p:spPr>
          <a:xfrm>
            <a:off x="432784" y="4588631"/>
            <a:ext cx="1274490" cy="8743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タブレット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(iPad</a:t>
            </a:r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mini)</a:t>
            </a:r>
          </a:p>
        </p:txBody>
      </p: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7B35E702-8D08-E547-1973-7860FD1AA92F}"/>
              </a:ext>
            </a:extLst>
          </p:cNvPr>
          <p:cNvCxnSpPr>
            <a:cxnSpLocks/>
            <a:stCxn id="50" idx="3"/>
            <a:endCxn id="6" idx="1"/>
          </p:cNvCxnSpPr>
          <p:nvPr/>
        </p:nvCxnSpPr>
        <p:spPr>
          <a:xfrm flipV="1">
            <a:off x="1707274" y="5023645"/>
            <a:ext cx="701587" cy="214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BA8F5A9A-5172-02E3-89D3-FFE1FB7D8A0A}"/>
              </a:ext>
            </a:extLst>
          </p:cNvPr>
          <p:cNvSpPr/>
          <p:nvPr/>
        </p:nvSpPr>
        <p:spPr>
          <a:xfrm>
            <a:off x="432784" y="5694213"/>
            <a:ext cx="1274490" cy="8743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据置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C254FA30-C96E-2ECE-92F3-83DE152093CC}"/>
              </a:ext>
            </a:extLst>
          </p:cNvPr>
          <p:cNvCxnSpPr>
            <a:cxnSpLocks/>
            <a:stCxn id="53" idx="3"/>
            <a:endCxn id="6" idx="1"/>
          </p:cNvCxnSpPr>
          <p:nvPr/>
        </p:nvCxnSpPr>
        <p:spPr>
          <a:xfrm flipV="1">
            <a:off x="1707274" y="5023645"/>
            <a:ext cx="701587" cy="110773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0D891833-059B-C0C8-4C1C-597D447E2E65}"/>
              </a:ext>
            </a:extLst>
          </p:cNvPr>
          <p:cNvCxnSpPr>
            <a:cxnSpLocks/>
            <a:stCxn id="59" idx="3"/>
            <a:endCxn id="218" idx="2"/>
          </p:cNvCxnSpPr>
          <p:nvPr/>
        </p:nvCxnSpPr>
        <p:spPr>
          <a:xfrm>
            <a:off x="3735163" y="6128865"/>
            <a:ext cx="2428816" cy="555500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800BE775-66BA-7AB4-FEA5-1F116CFB056E}"/>
              </a:ext>
            </a:extLst>
          </p:cNvPr>
          <p:cNvSpPr/>
          <p:nvPr/>
        </p:nvSpPr>
        <p:spPr>
          <a:xfrm>
            <a:off x="2408861" y="5833190"/>
            <a:ext cx="1326302" cy="5913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データ参照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API</a:t>
            </a:r>
          </a:p>
        </p:txBody>
      </p: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8077AD90-0869-8C31-7EE1-1E2A88A2702E}"/>
              </a:ext>
            </a:extLst>
          </p:cNvPr>
          <p:cNvCxnSpPr>
            <a:cxnSpLocks/>
            <a:stCxn id="50" idx="3"/>
            <a:endCxn id="59" idx="1"/>
          </p:cNvCxnSpPr>
          <p:nvPr/>
        </p:nvCxnSpPr>
        <p:spPr>
          <a:xfrm>
            <a:off x="1707274" y="5025793"/>
            <a:ext cx="701587" cy="110307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D3132018-1B5A-AF00-B4DC-EE4995F830E6}"/>
              </a:ext>
            </a:extLst>
          </p:cNvPr>
          <p:cNvCxnSpPr>
            <a:cxnSpLocks/>
            <a:stCxn id="53" idx="3"/>
            <a:endCxn id="59" idx="1"/>
          </p:cNvCxnSpPr>
          <p:nvPr/>
        </p:nvCxnSpPr>
        <p:spPr>
          <a:xfrm flipV="1">
            <a:off x="1707274" y="6128865"/>
            <a:ext cx="701587" cy="251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グループ化 79">
            <a:extLst>
              <a:ext uri="{FF2B5EF4-FFF2-40B4-BE49-F238E27FC236}">
                <a16:creationId xmlns:a16="http://schemas.microsoft.com/office/drawing/2014/main" id="{DAA3E1AF-5EA7-8F83-51DE-D1FFF15F5E81}"/>
              </a:ext>
            </a:extLst>
          </p:cNvPr>
          <p:cNvGrpSpPr/>
          <p:nvPr/>
        </p:nvGrpSpPr>
        <p:grpSpPr>
          <a:xfrm>
            <a:off x="99534" y="6839569"/>
            <a:ext cx="1911644" cy="959651"/>
            <a:chOff x="405609" y="9205165"/>
            <a:chExt cx="1911644" cy="959651"/>
          </a:xfrm>
        </p:grpSpPr>
        <p:sp>
          <p:nvSpPr>
            <p:cNvPr id="82" name="テキスト ボックス 81">
              <a:extLst>
                <a:ext uri="{FF2B5EF4-FFF2-40B4-BE49-F238E27FC236}">
                  <a16:creationId xmlns:a16="http://schemas.microsoft.com/office/drawing/2014/main" id="{9177E739-2F15-DE3C-E809-9FAFE0246D0F}"/>
                </a:ext>
              </a:extLst>
            </p:cNvPr>
            <p:cNvSpPr txBox="1"/>
            <p:nvPr/>
          </p:nvSpPr>
          <p:spPr>
            <a:xfrm>
              <a:off x="405609" y="9205165"/>
              <a:ext cx="1911644" cy="95965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ja-JP"/>
              </a:defPPr>
              <a:lvl1pPr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>
                <a:lnSpc>
                  <a:spcPct val="200000"/>
                </a:lnSpc>
              </a:pP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データの流れ</a:t>
              </a:r>
              <a:endPara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lvl="0">
                <a:lnSpc>
                  <a:spcPct val="200000"/>
                </a:lnSpc>
              </a:pP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データ参照</a:t>
              </a:r>
              <a:endPara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cxnSp>
          <p:nvCxnSpPr>
            <p:cNvPr id="83" name="直線矢印コネクタ 82">
              <a:extLst>
                <a:ext uri="{FF2B5EF4-FFF2-40B4-BE49-F238E27FC236}">
                  <a16:creationId xmlns:a16="http://schemas.microsoft.com/office/drawing/2014/main" id="{392DA4F7-271E-9FBF-B8A9-773FEDFB2F3C}"/>
                </a:ext>
              </a:extLst>
            </p:cNvPr>
            <p:cNvCxnSpPr>
              <a:cxnSpLocks/>
            </p:cNvCxnSpPr>
            <p:nvPr/>
          </p:nvCxnSpPr>
          <p:spPr>
            <a:xfrm>
              <a:off x="1635001" y="9936000"/>
              <a:ext cx="57634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矢印コネクタ 87">
              <a:extLst>
                <a:ext uri="{FF2B5EF4-FFF2-40B4-BE49-F238E27FC236}">
                  <a16:creationId xmlns:a16="http://schemas.microsoft.com/office/drawing/2014/main" id="{A9616FC5-2901-7858-E14A-63D9EEA12A73}"/>
                </a:ext>
              </a:extLst>
            </p:cNvPr>
            <p:cNvCxnSpPr>
              <a:cxnSpLocks/>
            </p:cNvCxnSpPr>
            <p:nvPr/>
          </p:nvCxnSpPr>
          <p:spPr>
            <a:xfrm>
              <a:off x="1635001" y="9490619"/>
              <a:ext cx="60229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グループ化 88">
            <a:extLst>
              <a:ext uri="{FF2B5EF4-FFF2-40B4-BE49-F238E27FC236}">
                <a16:creationId xmlns:a16="http://schemas.microsoft.com/office/drawing/2014/main" id="{7EF13AC8-B7D4-DF80-4EC0-E03518B2047E}"/>
              </a:ext>
            </a:extLst>
          </p:cNvPr>
          <p:cNvGrpSpPr/>
          <p:nvPr/>
        </p:nvGrpSpPr>
        <p:grpSpPr>
          <a:xfrm>
            <a:off x="207264" y="9298643"/>
            <a:ext cx="6897429" cy="530640"/>
            <a:chOff x="-1119038" y="9205166"/>
            <a:chExt cx="6897429" cy="530640"/>
          </a:xfrm>
        </p:grpSpPr>
        <p:sp>
          <p:nvSpPr>
            <p:cNvPr id="90" name="テキスト ボックス 89">
              <a:extLst>
                <a:ext uri="{FF2B5EF4-FFF2-40B4-BE49-F238E27FC236}">
                  <a16:creationId xmlns:a16="http://schemas.microsoft.com/office/drawing/2014/main" id="{3307B4C1-0964-041A-DDDA-3AA8B6F1CB6E}"/>
                </a:ext>
              </a:extLst>
            </p:cNvPr>
            <p:cNvSpPr txBox="1"/>
            <p:nvPr/>
          </p:nvSpPr>
          <p:spPr>
            <a:xfrm>
              <a:off x="-1119038" y="9205166"/>
              <a:ext cx="6897429" cy="53064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ja-JP"/>
              </a:defPPr>
              <a:lvl1pPr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>
                <a:lnSpc>
                  <a:spcPct val="200000"/>
                </a:lnSpc>
              </a:pP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　　　　　　　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…SMJ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担当　　　　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…SMJ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、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NSW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様担当　　　　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…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カストマ様担当</a:t>
              </a:r>
              <a:endPara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57719F5B-7FC5-F059-9A03-5C255A5EFF41}"/>
                </a:ext>
              </a:extLst>
            </p:cNvPr>
            <p:cNvSpPr/>
            <p:nvPr/>
          </p:nvSpPr>
          <p:spPr>
            <a:xfrm>
              <a:off x="-993723" y="9376272"/>
              <a:ext cx="542821" cy="250839"/>
            </a:xfrm>
            <a:prstGeom prst="rect">
              <a:avLst/>
            </a:prstGeom>
            <a:solidFill>
              <a:schemeClr val="accent6">
                <a:lumMod val="10000"/>
                <a:lumOff val="90000"/>
              </a:schemeClr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id="{02840069-8A1F-3170-9C37-BBE5D0AE2474}"/>
                </a:ext>
              </a:extLst>
            </p:cNvPr>
            <p:cNvSpPr/>
            <p:nvPr/>
          </p:nvSpPr>
          <p:spPr>
            <a:xfrm>
              <a:off x="3552049" y="9355074"/>
              <a:ext cx="542821" cy="260551"/>
            </a:xfrm>
            <a:prstGeom prst="rect">
              <a:avLst/>
            </a:prstGeom>
            <a:solidFill>
              <a:srgbClr val="00B0F0"/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3" name="正方形/長方形 92">
              <a:extLst>
                <a:ext uri="{FF2B5EF4-FFF2-40B4-BE49-F238E27FC236}">
                  <a16:creationId xmlns:a16="http://schemas.microsoft.com/office/drawing/2014/main" id="{EE418A88-B292-F441-9B5F-585193CBD4D9}"/>
                </a:ext>
              </a:extLst>
            </p:cNvPr>
            <p:cNvSpPr/>
            <p:nvPr/>
          </p:nvSpPr>
          <p:spPr>
            <a:xfrm>
              <a:off x="-398132" y="9376272"/>
              <a:ext cx="542821" cy="25083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4" name="正方形/長方形 93">
              <a:extLst>
                <a:ext uri="{FF2B5EF4-FFF2-40B4-BE49-F238E27FC236}">
                  <a16:creationId xmlns:a16="http://schemas.microsoft.com/office/drawing/2014/main" id="{949E0836-3E02-9319-6F63-352151A384C7}"/>
                </a:ext>
              </a:extLst>
            </p:cNvPr>
            <p:cNvSpPr/>
            <p:nvPr/>
          </p:nvSpPr>
          <p:spPr>
            <a:xfrm>
              <a:off x="1233895" y="9355074"/>
              <a:ext cx="542821" cy="26055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2" name="円柱 1">
            <a:extLst>
              <a:ext uri="{FF2B5EF4-FFF2-40B4-BE49-F238E27FC236}">
                <a16:creationId xmlns:a16="http://schemas.microsoft.com/office/drawing/2014/main" id="{2042E429-D6F1-1E33-5178-22D867EB2E04}"/>
              </a:ext>
            </a:extLst>
          </p:cNvPr>
          <p:cNvSpPr/>
          <p:nvPr/>
        </p:nvSpPr>
        <p:spPr>
          <a:xfrm>
            <a:off x="4092587" y="5248514"/>
            <a:ext cx="1194231" cy="860056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受付台帳</a:t>
            </a:r>
            <a:endParaRPr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(INBOX)</a:t>
            </a:r>
            <a:endParaRPr kumimoji="1" lang="ja-JP" altLang="en-US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円柱 3">
            <a:extLst>
              <a:ext uri="{FF2B5EF4-FFF2-40B4-BE49-F238E27FC236}">
                <a16:creationId xmlns:a16="http://schemas.microsoft.com/office/drawing/2014/main" id="{8107C6BA-CC62-A045-42A7-8B8D9108EED0}"/>
              </a:ext>
            </a:extLst>
          </p:cNvPr>
          <p:cNvSpPr/>
          <p:nvPr/>
        </p:nvSpPr>
        <p:spPr>
          <a:xfrm>
            <a:off x="5884729" y="4626942"/>
            <a:ext cx="1194231" cy="860056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JSON</a:t>
            </a:r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(OUTBOX)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円柱 21">
            <a:extLst>
              <a:ext uri="{FF2B5EF4-FFF2-40B4-BE49-F238E27FC236}">
                <a16:creationId xmlns:a16="http://schemas.microsoft.com/office/drawing/2014/main" id="{50A31776-0061-D3BD-444C-2507C4872143}"/>
              </a:ext>
            </a:extLst>
          </p:cNvPr>
          <p:cNvSpPr/>
          <p:nvPr/>
        </p:nvSpPr>
        <p:spPr>
          <a:xfrm>
            <a:off x="7610220" y="7362995"/>
            <a:ext cx="1058290" cy="701882"/>
          </a:xfrm>
          <a:prstGeom prst="can">
            <a:avLst/>
          </a:prstGeom>
          <a:solidFill>
            <a:srgbClr val="CCFFCC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現行⇒次世代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キュー</a:t>
            </a:r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テーブル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984F3DB0-28C8-0F66-12A9-A1E4B154ABCF}"/>
              </a:ext>
            </a:extLst>
          </p:cNvPr>
          <p:cNvCxnSpPr>
            <a:cxnSpLocks/>
            <a:stCxn id="75" idx="0"/>
            <a:endCxn id="22" idx="3"/>
          </p:cNvCxnSpPr>
          <p:nvPr/>
        </p:nvCxnSpPr>
        <p:spPr>
          <a:xfrm flipH="1" flipV="1">
            <a:off x="8139365" y="8064877"/>
            <a:ext cx="1428463" cy="119573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DE1F2FD7-5A59-E0A1-C05B-7C8DE22B4BCB}"/>
              </a:ext>
            </a:extLst>
          </p:cNvPr>
          <p:cNvCxnSpPr>
            <a:cxnSpLocks/>
            <a:stCxn id="28" idx="2"/>
            <a:endCxn id="22" idx="1"/>
          </p:cNvCxnSpPr>
          <p:nvPr/>
        </p:nvCxnSpPr>
        <p:spPr>
          <a:xfrm flipH="1">
            <a:off x="8139365" y="6972790"/>
            <a:ext cx="1" cy="390205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B81D502B-F764-A6E5-C4A0-35F267B79C4E}"/>
              </a:ext>
            </a:extLst>
          </p:cNvPr>
          <p:cNvSpPr/>
          <p:nvPr/>
        </p:nvSpPr>
        <p:spPr>
          <a:xfrm>
            <a:off x="4112493" y="8385233"/>
            <a:ext cx="1183460" cy="591349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 w="1905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振り分け</a:t>
            </a:r>
            <a:endParaRPr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(Dispatcher)</a:t>
            </a:r>
            <a:endParaRPr kumimoji="1" lang="ja-JP" altLang="en-US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22C3EDAE-35C5-8EDF-CD55-8D140CFA039F}"/>
              </a:ext>
            </a:extLst>
          </p:cNvPr>
          <p:cNvSpPr/>
          <p:nvPr/>
        </p:nvSpPr>
        <p:spPr>
          <a:xfrm>
            <a:off x="5706161" y="8386938"/>
            <a:ext cx="1183460" cy="591349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 w="1905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Streaming</a:t>
            </a:r>
            <a:endParaRPr kumimoji="1" lang="ja-JP" altLang="en-US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85295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AAE45-B718-6BF2-DB60-1C52BFDE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57A07059-FB15-B083-092B-F0098D164B64}"/>
              </a:ext>
            </a:extLst>
          </p:cNvPr>
          <p:cNvCxnSpPr>
            <a:cxnSpLocks/>
          </p:cNvCxnSpPr>
          <p:nvPr/>
        </p:nvCxnSpPr>
        <p:spPr>
          <a:xfrm>
            <a:off x="15401834" y="2931644"/>
            <a:ext cx="0" cy="65480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E7667037-2066-BEF8-ABB1-B0C438B4A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50" b="1" i="0" u="none" strike="noStrike" kern="1200" cap="none" spc="0" normalizeH="0" baseline="0" noProof="0" dirty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t>Confidential </a:t>
            </a:r>
            <a:endParaRPr kumimoji="1" lang="ja-JP" altLang="en-US" sz="1650" b="1" i="0" u="none" strike="noStrike" kern="1200" cap="none" spc="0" normalizeH="0" baseline="0" noProof="0" dirty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B01209F3-E125-C38A-2DDC-23FDFA5C3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9E37A5-A917-4235-ABF6-8CD72E894915}" type="slidenum">
              <a:rPr kumimoji="1" lang="en-US" altLang="ja-JP" sz="1500" b="0" i="0" u="none" strike="noStrike" kern="1200" cap="none" spc="0" normalizeH="0" baseline="0" noProof="0" smtClean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ja-JP" altLang="en-US" sz="1500" b="0" i="0" u="none" strike="noStrike" kern="1200" cap="none" spc="0" normalizeH="0" baseline="0" noProof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99C41D5C-4668-8828-C393-422B21821784}"/>
              </a:ext>
            </a:extLst>
          </p:cNvPr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575" b="0" i="0" u="none" strike="noStrike" kern="1200" cap="none" spc="0" normalizeH="0" baseline="0" noProof="0" dirty="0">
                <a:ln>
                  <a:noFill/>
                </a:ln>
                <a:solidFill>
                  <a:srgbClr val="9A9A96"/>
                </a:solidFill>
                <a:effectLst/>
                <a:uLnTx/>
                <a:uFillTx/>
                <a:latin typeface="HGPｺﾞｼｯｸM" panose="020B0600000000000000" pitchFamily="50" charset="-128"/>
                <a:ea typeface="HGPｺﾞｼｯｸM" panose="020B0600000000000000" pitchFamily="50" charset="-128"/>
                <a:cs typeface="Arial" panose="020B0604020202020204" pitchFamily="34" charset="0"/>
              </a:rPr>
              <a:t>Copyright © All rights reserved, Sharp Marketing Japan Corporation</a:t>
            </a:r>
            <a:endParaRPr kumimoji="1" lang="ja-JP" altLang="en-US" sz="1575" b="0" i="0" u="none" strike="noStrike" kern="1200" cap="none" spc="0" normalizeH="0" baseline="0" noProof="0" dirty="0">
              <a:ln>
                <a:noFill/>
              </a:ln>
              <a:solidFill>
                <a:srgbClr val="9A9A96"/>
              </a:solidFill>
              <a:effectLst/>
              <a:uLnTx/>
              <a:uFillTx/>
              <a:latin typeface="HGPｺﾞｼｯｸM" panose="020B0600000000000000" pitchFamily="50" charset="-128"/>
              <a:ea typeface="HGPｺﾞｼｯｸM" panose="020B06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11" name="コンテンツ プレースホルダー 3">
            <a:extLst>
              <a:ext uri="{FF2B5EF4-FFF2-40B4-BE49-F238E27FC236}">
                <a16:creationId xmlns:a16="http://schemas.microsoft.com/office/drawing/2014/main" id="{9DF2248A-2EEB-2088-5CF3-5B608B0361AF}"/>
              </a:ext>
            </a:extLst>
          </p:cNvPr>
          <p:cNvSpPr txBox="1">
            <a:spLocks/>
          </p:cNvSpPr>
          <p:nvPr/>
        </p:nvSpPr>
        <p:spPr>
          <a:xfrm>
            <a:off x="405609" y="-313678"/>
            <a:ext cx="18090000" cy="13157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250000"/>
              </a:lnSpc>
              <a:buNone/>
            </a:pP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タブレット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POS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 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API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データ連携</a:t>
            </a:r>
            <a:endParaRPr kumimoji="1" lang="en-US" altLang="ja-JP" sz="3600" b="1" i="0" u="none" strike="noStrike" kern="1200" cap="none" spc="0" normalizeH="0" baseline="0" noProof="0" dirty="0">
              <a:ln>
                <a:noFill/>
              </a:ln>
              <a:solidFill>
                <a:srgbClr val="59574C"/>
              </a:solidFill>
              <a:effectLst/>
              <a:uLnTx/>
              <a:uFillTx/>
              <a:latin typeface="源ノ角ゴシック JP Medium"/>
              <a:ea typeface="源ノ角ゴシック JP Medium"/>
              <a:cs typeface="+mn-cs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A393403-F6BE-776A-4A51-F420C5728F0F}"/>
              </a:ext>
            </a:extLst>
          </p:cNvPr>
          <p:cNvSpPr txBox="1"/>
          <p:nvPr/>
        </p:nvSpPr>
        <p:spPr>
          <a:xfrm>
            <a:off x="405608" y="1138709"/>
            <a:ext cx="2807855" cy="5994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lnSpc>
                <a:spcPts val="3100"/>
              </a:lnSpc>
            </a:pP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■シーケンス図</a:t>
            </a:r>
            <a:endParaRPr lang="en-US" altLang="ja-JP" sz="25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92B11864-B1AA-6130-2877-F12D4BD8A296}"/>
              </a:ext>
            </a:extLst>
          </p:cNvPr>
          <p:cNvCxnSpPr/>
          <p:nvPr/>
        </p:nvCxnSpPr>
        <p:spPr>
          <a:xfrm>
            <a:off x="9793824" y="2532663"/>
            <a:ext cx="0" cy="6947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円柱 41">
            <a:extLst>
              <a:ext uri="{FF2B5EF4-FFF2-40B4-BE49-F238E27FC236}">
                <a16:creationId xmlns:a16="http://schemas.microsoft.com/office/drawing/2014/main" id="{23D1E525-8AC4-F1E9-04EB-C095B340D919}"/>
              </a:ext>
            </a:extLst>
          </p:cNvPr>
          <p:cNvSpPr/>
          <p:nvPr/>
        </p:nvSpPr>
        <p:spPr>
          <a:xfrm>
            <a:off x="9425050" y="2988718"/>
            <a:ext cx="826159" cy="481659"/>
          </a:xfrm>
          <a:prstGeom prst="ca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en-US" altLang="ja-JP" sz="110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円柱 48">
            <a:extLst>
              <a:ext uri="{FF2B5EF4-FFF2-40B4-BE49-F238E27FC236}">
                <a16:creationId xmlns:a16="http://schemas.microsoft.com/office/drawing/2014/main" id="{9A3099D3-E0A5-DFBB-2BC4-B52206CF1A0D}"/>
              </a:ext>
            </a:extLst>
          </p:cNvPr>
          <p:cNvSpPr/>
          <p:nvPr/>
        </p:nvSpPr>
        <p:spPr>
          <a:xfrm>
            <a:off x="9425050" y="2788922"/>
            <a:ext cx="826159" cy="481658"/>
          </a:xfrm>
          <a:prstGeom prst="ca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en-US" altLang="ja-JP" sz="110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34DE7D7A-1F26-2DEA-D91B-D8933645F05E}"/>
              </a:ext>
            </a:extLst>
          </p:cNvPr>
          <p:cNvCxnSpPr>
            <a:cxnSpLocks/>
          </p:cNvCxnSpPr>
          <p:nvPr/>
        </p:nvCxnSpPr>
        <p:spPr>
          <a:xfrm>
            <a:off x="3649220" y="3300975"/>
            <a:ext cx="0" cy="61787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21">
            <a:extLst>
              <a:ext uri="{FF2B5EF4-FFF2-40B4-BE49-F238E27FC236}">
                <a16:creationId xmlns:a16="http://schemas.microsoft.com/office/drawing/2014/main" id="{CADD3B0C-5757-FE62-68DD-95CF665C40B9}"/>
              </a:ext>
            </a:extLst>
          </p:cNvPr>
          <p:cNvSpPr txBox="1"/>
          <p:nvPr/>
        </p:nvSpPr>
        <p:spPr>
          <a:xfrm>
            <a:off x="464262" y="2228507"/>
            <a:ext cx="19254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タブレット</a:t>
            </a:r>
            <a:r>
              <a:rPr kumimoji="1" lang="en-US" altLang="ja-JP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POS</a:t>
            </a:r>
            <a:endParaRPr kumimoji="1" lang="ja-JP" altLang="en-US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2A6F49D3-167A-6711-D85A-A862C5C57FDB}"/>
              </a:ext>
            </a:extLst>
          </p:cNvPr>
          <p:cNvCxnSpPr>
            <a:cxnSpLocks/>
          </p:cNvCxnSpPr>
          <p:nvPr/>
        </p:nvCxnSpPr>
        <p:spPr>
          <a:xfrm flipH="1">
            <a:off x="1252765" y="3164909"/>
            <a:ext cx="17781" cy="62097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BFE7F878-65FD-5B00-0186-A06A644ABA8B}"/>
              </a:ext>
            </a:extLst>
          </p:cNvPr>
          <p:cNvCxnSpPr>
            <a:cxnSpLocks/>
          </p:cNvCxnSpPr>
          <p:nvPr/>
        </p:nvCxnSpPr>
        <p:spPr>
          <a:xfrm>
            <a:off x="7515540" y="2841174"/>
            <a:ext cx="0" cy="66385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9E429355-8360-1455-AA45-ED3A2A8817DA}"/>
              </a:ext>
            </a:extLst>
          </p:cNvPr>
          <p:cNvCxnSpPr>
            <a:cxnSpLocks/>
          </p:cNvCxnSpPr>
          <p:nvPr/>
        </p:nvCxnSpPr>
        <p:spPr>
          <a:xfrm>
            <a:off x="8788496" y="2931644"/>
            <a:ext cx="0" cy="65480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円柱 66">
            <a:extLst>
              <a:ext uri="{FF2B5EF4-FFF2-40B4-BE49-F238E27FC236}">
                <a16:creationId xmlns:a16="http://schemas.microsoft.com/office/drawing/2014/main" id="{2BF57943-84D2-EDF7-E1C5-6757781839EF}"/>
              </a:ext>
            </a:extLst>
          </p:cNvPr>
          <p:cNvSpPr/>
          <p:nvPr/>
        </p:nvSpPr>
        <p:spPr>
          <a:xfrm>
            <a:off x="9425050" y="2478948"/>
            <a:ext cx="826159" cy="565254"/>
          </a:xfrm>
          <a:prstGeom prst="ca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320"/>
              </a:lnSpc>
            </a:pP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>
              <a:lnSpc>
                <a:spcPts val="1320"/>
              </a:lnSpc>
            </a:pPr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各種実績</a:t>
            </a: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>
              <a:lnSpc>
                <a:spcPts val="1320"/>
              </a:lnSpc>
            </a:pPr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（現行）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0" name="テキスト ボックス 70">
            <a:extLst>
              <a:ext uri="{FF2B5EF4-FFF2-40B4-BE49-F238E27FC236}">
                <a16:creationId xmlns:a16="http://schemas.microsoft.com/office/drawing/2014/main" id="{3AAE2978-2B47-CC99-6CBD-4BAAAF195679}"/>
              </a:ext>
            </a:extLst>
          </p:cNvPr>
          <p:cNvSpPr txBox="1"/>
          <p:nvPr/>
        </p:nvSpPr>
        <p:spPr>
          <a:xfrm>
            <a:off x="660122" y="8438899"/>
            <a:ext cx="1233839" cy="445425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画面表示</a:t>
            </a:r>
            <a:endParaRPr lang="en-US" altLang="ja-JP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82" name="テキスト ボックス 141">
            <a:extLst>
              <a:ext uri="{FF2B5EF4-FFF2-40B4-BE49-F238E27FC236}">
                <a16:creationId xmlns:a16="http://schemas.microsoft.com/office/drawing/2014/main" id="{8189A39C-C9D8-EE71-B92B-4D34940E018F}"/>
              </a:ext>
            </a:extLst>
          </p:cNvPr>
          <p:cNvSpPr txBox="1"/>
          <p:nvPr/>
        </p:nvSpPr>
        <p:spPr>
          <a:xfrm>
            <a:off x="711712" y="2719391"/>
            <a:ext cx="1120200" cy="64436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POS</a:t>
            </a:r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機能</a:t>
            </a:r>
            <a:endParaRPr lang="en-US" altLang="ja-JP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086F9E5B-A59A-F651-B66C-A24EF80DF9B6}"/>
              </a:ext>
            </a:extLst>
          </p:cNvPr>
          <p:cNvCxnSpPr>
            <a:cxnSpLocks/>
          </p:cNvCxnSpPr>
          <p:nvPr/>
        </p:nvCxnSpPr>
        <p:spPr>
          <a:xfrm>
            <a:off x="5430756" y="2931644"/>
            <a:ext cx="0" cy="65480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CA88F67F-BAC7-5A6D-59C3-FE36ACACEE30}"/>
              </a:ext>
            </a:extLst>
          </p:cNvPr>
          <p:cNvCxnSpPr>
            <a:cxnSpLocks/>
          </p:cNvCxnSpPr>
          <p:nvPr/>
        </p:nvCxnSpPr>
        <p:spPr>
          <a:xfrm flipH="1">
            <a:off x="5456613" y="5836076"/>
            <a:ext cx="1455500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円柱 92">
            <a:extLst>
              <a:ext uri="{FF2B5EF4-FFF2-40B4-BE49-F238E27FC236}">
                <a16:creationId xmlns:a16="http://schemas.microsoft.com/office/drawing/2014/main" id="{D74FBB45-652C-8563-6263-D7F11C83158C}"/>
              </a:ext>
            </a:extLst>
          </p:cNvPr>
          <p:cNvSpPr/>
          <p:nvPr/>
        </p:nvSpPr>
        <p:spPr>
          <a:xfrm>
            <a:off x="8379964" y="2580702"/>
            <a:ext cx="833498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キュー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テーブル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6" name="テキスト ボックス 3">
            <a:extLst>
              <a:ext uri="{FF2B5EF4-FFF2-40B4-BE49-F238E27FC236}">
                <a16:creationId xmlns:a16="http://schemas.microsoft.com/office/drawing/2014/main" id="{B5D90811-5EFE-992A-DEB6-9EF727CDFD1D}"/>
              </a:ext>
            </a:extLst>
          </p:cNvPr>
          <p:cNvSpPr txBox="1"/>
          <p:nvPr/>
        </p:nvSpPr>
        <p:spPr>
          <a:xfrm>
            <a:off x="3053104" y="2706299"/>
            <a:ext cx="1214527" cy="646330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80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API</a:t>
            </a:r>
            <a:endParaRPr kumimoji="1" lang="ja-JP" altLang="en-US" sz="180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98" name="四角形: 角を丸くする 97">
            <a:extLst>
              <a:ext uri="{FF2B5EF4-FFF2-40B4-BE49-F238E27FC236}">
                <a16:creationId xmlns:a16="http://schemas.microsoft.com/office/drawing/2014/main" id="{A1C1D9A5-D246-A322-5244-0EC2483470C0}"/>
              </a:ext>
            </a:extLst>
          </p:cNvPr>
          <p:cNvSpPr/>
          <p:nvPr/>
        </p:nvSpPr>
        <p:spPr>
          <a:xfrm>
            <a:off x="513988" y="2123155"/>
            <a:ext cx="1756185" cy="7780160"/>
          </a:xfrm>
          <a:prstGeom prst="roundRect">
            <a:avLst>
              <a:gd name="adj" fmla="val 3105"/>
            </a:avLst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100" name="四角形: 角を丸くする 99">
            <a:extLst>
              <a:ext uri="{FF2B5EF4-FFF2-40B4-BE49-F238E27FC236}">
                <a16:creationId xmlns:a16="http://schemas.microsoft.com/office/drawing/2014/main" id="{9FCE55E6-0F83-F068-BD26-4A16F1271C6C}"/>
              </a:ext>
            </a:extLst>
          </p:cNvPr>
          <p:cNvSpPr/>
          <p:nvPr/>
        </p:nvSpPr>
        <p:spPr>
          <a:xfrm>
            <a:off x="2343720" y="2124854"/>
            <a:ext cx="8122295" cy="7765315"/>
          </a:xfrm>
          <a:prstGeom prst="roundRect">
            <a:avLst>
              <a:gd name="adj" fmla="val 3105"/>
            </a:avLst>
          </a:prstGeom>
          <a:noFill/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103" name="テキスト ボックス 19">
            <a:extLst>
              <a:ext uri="{FF2B5EF4-FFF2-40B4-BE49-F238E27FC236}">
                <a16:creationId xmlns:a16="http://schemas.microsoft.com/office/drawing/2014/main" id="{D709F998-F0CD-86A8-0796-E34BA9FFFABC}"/>
              </a:ext>
            </a:extLst>
          </p:cNvPr>
          <p:cNvSpPr txBox="1"/>
          <p:nvPr/>
        </p:nvSpPr>
        <p:spPr>
          <a:xfrm>
            <a:off x="2202604" y="2171487"/>
            <a:ext cx="1959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600" b="1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OCI</a:t>
            </a:r>
            <a:r>
              <a:rPr lang="ja-JP" altLang="en-US" sz="1600" b="1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環境</a:t>
            </a:r>
            <a:endParaRPr kumimoji="1" lang="ja-JP" altLang="en-US" sz="1600" b="1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106" name="テキスト ボックス 41">
            <a:extLst>
              <a:ext uri="{FF2B5EF4-FFF2-40B4-BE49-F238E27FC236}">
                <a16:creationId xmlns:a16="http://schemas.microsoft.com/office/drawing/2014/main" id="{B147607F-0E05-7427-6116-25D42DC40F9D}"/>
              </a:ext>
            </a:extLst>
          </p:cNvPr>
          <p:cNvSpPr txBox="1"/>
          <p:nvPr/>
        </p:nvSpPr>
        <p:spPr>
          <a:xfrm>
            <a:off x="5457949" y="5836377"/>
            <a:ext cx="1433923" cy="639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各種実績</a:t>
            </a:r>
            <a:endParaRPr lang="en-US" altLang="ja-JP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 algn="ctr">
              <a:lnSpc>
                <a:spcPts val="2160"/>
              </a:lnSpc>
            </a:pPr>
            <a:r>
              <a:rPr kumimoji="1"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</a:t>
            </a:r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登録</a:t>
            </a:r>
            <a:endParaRPr kumimoji="1" lang="ja-JP" altLang="en-US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114" name="直線矢印コネクタ 113">
            <a:extLst>
              <a:ext uri="{FF2B5EF4-FFF2-40B4-BE49-F238E27FC236}">
                <a16:creationId xmlns:a16="http://schemas.microsoft.com/office/drawing/2014/main" id="{8F1F2AA8-082A-3580-9CCC-0E07EA1E5611}"/>
              </a:ext>
            </a:extLst>
          </p:cNvPr>
          <p:cNvCxnSpPr>
            <a:cxnSpLocks/>
          </p:cNvCxnSpPr>
          <p:nvPr/>
        </p:nvCxnSpPr>
        <p:spPr>
          <a:xfrm>
            <a:off x="8153518" y="5579175"/>
            <a:ext cx="6349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テキスト ボックス 39">
            <a:extLst>
              <a:ext uri="{FF2B5EF4-FFF2-40B4-BE49-F238E27FC236}">
                <a16:creationId xmlns:a16="http://schemas.microsoft.com/office/drawing/2014/main" id="{8A626B1A-271F-4502-C81C-B3D82CAA7878}"/>
              </a:ext>
            </a:extLst>
          </p:cNvPr>
          <p:cNvSpPr txBox="1"/>
          <p:nvPr/>
        </p:nvSpPr>
        <p:spPr>
          <a:xfrm>
            <a:off x="8193741" y="5591036"/>
            <a:ext cx="1692340" cy="357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60"/>
              </a:lnSpc>
            </a:pPr>
            <a:r>
              <a:rPr kumimoji="1"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現行データ参照</a:t>
            </a:r>
          </a:p>
        </p:txBody>
      </p:sp>
      <p:grpSp>
        <p:nvGrpSpPr>
          <p:cNvPr id="131" name="グループ化 130">
            <a:extLst>
              <a:ext uri="{FF2B5EF4-FFF2-40B4-BE49-F238E27FC236}">
                <a16:creationId xmlns:a16="http://schemas.microsoft.com/office/drawing/2014/main" id="{960A3795-5EDB-876C-AA86-4433DF58FAC1}"/>
              </a:ext>
            </a:extLst>
          </p:cNvPr>
          <p:cNvGrpSpPr/>
          <p:nvPr/>
        </p:nvGrpSpPr>
        <p:grpSpPr>
          <a:xfrm>
            <a:off x="16376547" y="1270569"/>
            <a:ext cx="1502853" cy="707886"/>
            <a:chOff x="15936659" y="1199225"/>
            <a:chExt cx="1502853" cy="707886"/>
          </a:xfrm>
        </p:grpSpPr>
        <p:sp>
          <p:nvSpPr>
            <p:cNvPr id="124" name="テキスト ボックス 123">
              <a:extLst>
                <a:ext uri="{FF2B5EF4-FFF2-40B4-BE49-F238E27FC236}">
                  <a16:creationId xmlns:a16="http://schemas.microsoft.com/office/drawing/2014/main" id="{2A35C5DE-290D-6139-11D7-87BAB6F5DACD}"/>
                </a:ext>
              </a:extLst>
            </p:cNvPr>
            <p:cNvSpPr txBox="1"/>
            <p:nvPr/>
          </p:nvSpPr>
          <p:spPr>
            <a:xfrm>
              <a:off x="15936659" y="1199225"/>
              <a:ext cx="1502853" cy="707886"/>
            </a:xfrm>
            <a:prstGeom prst="rect">
              <a:avLst/>
            </a:prstGeom>
            <a:noFill/>
            <a:ln>
              <a:solidFill>
                <a:schemeClr val="bg1">
                  <a:lumMod val="10000"/>
                </a:schemeClr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ja-JP" altLang="en-US" sz="20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　要求：</a:t>
              </a:r>
              <a:endParaRPr lang="en-US" altLang="ja-JP" sz="2000" dirty="0">
                <a:latin typeface="HGPｺﾞｼｯｸM" panose="020B0600000000000000" pitchFamily="50" charset="-128"/>
                <a:ea typeface="HGPｺﾞｼｯｸM" panose="020B0600000000000000" pitchFamily="50" charset="-128"/>
              </a:endParaRPr>
            </a:p>
            <a:p>
              <a:r>
                <a:rPr lang="ja-JP" altLang="en-US" sz="20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　結果：</a:t>
              </a:r>
            </a:p>
          </p:txBody>
        </p:sp>
        <p:cxnSp>
          <p:nvCxnSpPr>
            <p:cNvPr id="127" name="直線矢印コネクタ 126">
              <a:extLst>
                <a:ext uri="{FF2B5EF4-FFF2-40B4-BE49-F238E27FC236}">
                  <a16:creationId xmlns:a16="http://schemas.microsoft.com/office/drawing/2014/main" id="{CF161CAE-D52F-B839-3B2C-E97013644924}"/>
                </a:ext>
              </a:extLst>
            </p:cNvPr>
            <p:cNvCxnSpPr>
              <a:cxnSpLocks/>
            </p:cNvCxnSpPr>
            <p:nvPr/>
          </p:nvCxnSpPr>
          <p:spPr>
            <a:xfrm>
              <a:off x="16842555" y="1421329"/>
              <a:ext cx="442361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矢印コネクタ 127">
              <a:extLst>
                <a:ext uri="{FF2B5EF4-FFF2-40B4-BE49-F238E27FC236}">
                  <a16:creationId xmlns:a16="http://schemas.microsoft.com/office/drawing/2014/main" id="{E81498DC-A419-9B2D-4EA8-73CB3268DD46}"/>
                </a:ext>
              </a:extLst>
            </p:cNvPr>
            <p:cNvCxnSpPr>
              <a:cxnSpLocks/>
            </p:cNvCxnSpPr>
            <p:nvPr/>
          </p:nvCxnSpPr>
          <p:spPr>
            <a:xfrm>
              <a:off x="16856995" y="1703950"/>
              <a:ext cx="442361" cy="0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5" name="楕円 134">
            <a:extLst>
              <a:ext uri="{FF2B5EF4-FFF2-40B4-BE49-F238E27FC236}">
                <a16:creationId xmlns:a16="http://schemas.microsoft.com/office/drawing/2014/main" id="{18AA8065-9EAC-6FCA-BC5E-D9422ABF5563}"/>
              </a:ext>
            </a:extLst>
          </p:cNvPr>
          <p:cNvSpPr/>
          <p:nvPr/>
        </p:nvSpPr>
        <p:spPr>
          <a:xfrm>
            <a:off x="14059656" y="4003475"/>
            <a:ext cx="430053" cy="394209"/>
          </a:xfrm>
          <a:prstGeom prst="ellipse">
            <a:avLst/>
          </a:prstGeom>
          <a:solidFill>
            <a:srgbClr val="FFFF99"/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600" b="1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2</a:t>
            </a:r>
            <a:endParaRPr kumimoji="1" lang="ja-JP" altLang="en-US" sz="1600" b="1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37E490D2-3927-5C8F-CE66-6166B5CDB6BF}"/>
              </a:ext>
            </a:extLst>
          </p:cNvPr>
          <p:cNvSpPr/>
          <p:nvPr/>
        </p:nvSpPr>
        <p:spPr>
          <a:xfrm>
            <a:off x="12076828" y="2123155"/>
            <a:ext cx="2607609" cy="7780160"/>
          </a:xfrm>
          <a:prstGeom prst="roundRect">
            <a:avLst>
              <a:gd name="adj" fmla="val 3105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7" name="テキスト ボックス 13">
            <a:extLst>
              <a:ext uri="{FF2B5EF4-FFF2-40B4-BE49-F238E27FC236}">
                <a16:creationId xmlns:a16="http://schemas.microsoft.com/office/drawing/2014/main" id="{C320519A-A11A-89F4-E88F-04F5AFFCF015}"/>
              </a:ext>
            </a:extLst>
          </p:cNvPr>
          <p:cNvSpPr txBox="1"/>
          <p:nvPr/>
        </p:nvSpPr>
        <p:spPr>
          <a:xfrm>
            <a:off x="11886765" y="2228507"/>
            <a:ext cx="16244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6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トラン</a:t>
            </a:r>
            <a:r>
              <a:rPr lang="en-US" altLang="ja-JP" sz="16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SV</a:t>
            </a:r>
            <a:endParaRPr kumimoji="1" lang="ja-JP" altLang="en-US" sz="1600" b="1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665C8E0-F6B4-CD12-CAF4-A55862810A69}"/>
              </a:ext>
            </a:extLst>
          </p:cNvPr>
          <p:cNvCxnSpPr>
            <a:cxnSpLocks/>
          </p:cNvCxnSpPr>
          <p:nvPr/>
        </p:nvCxnSpPr>
        <p:spPr>
          <a:xfrm>
            <a:off x="13966584" y="2931644"/>
            <a:ext cx="0" cy="65480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円柱 18">
            <a:extLst>
              <a:ext uri="{FF2B5EF4-FFF2-40B4-BE49-F238E27FC236}">
                <a16:creationId xmlns:a16="http://schemas.microsoft.com/office/drawing/2014/main" id="{C2547C45-560C-F63C-488B-CFA6CB63D2AF}"/>
              </a:ext>
            </a:extLst>
          </p:cNvPr>
          <p:cNvSpPr/>
          <p:nvPr/>
        </p:nvSpPr>
        <p:spPr>
          <a:xfrm>
            <a:off x="13571114" y="2580702"/>
            <a:ext cx="833498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ジャーナル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1A4FF327-5D79-0E9E-72DB-D6A2D82620D7}"/>
              </a:ext>
            </a:extLst>
          </p:cNvPr>
          <p:cNvSpPr/>
          <p:nvPr/>
        </p:nvSpPr>
        <p:spPr>
          <a:xfrm>
            <a:off x="14794220" y="2123155"/>
            <a:ext cx="2120266" cy="7780160"/>
          </a:xfrm>
          <a:prstGeom prst="roundRect">
            <a:avLst>
              <a:gd name="adj" fmla="val 3105"/>
            </a:avLst>
          </a:prstGeom>
          <a:noFill/>
          <a:ln w="254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21" name="テキスト ボックス 13">
            <a:extLst>
              <a:ext uri="{FF2B5EF4-FFF2-40B4-BE49-F238E27FC236}">
                <a16:creationId xmlns:a16="http://schemas.microsoft.com/office/drawing/2014/main" id="{CC803BD9-ECFA-5A2D-E7D3-6781B98230EC}"/>
              </a:ext>
            </a:extLst>
          </p:cNvPr>
          <p:cNvSpPr txBox="1"/>
          <p:nvPr/>
        </p:nvSpPr>
        <p:spPr>
          <a:xfrm>
            <a:off x="14690173" y="2228507"/>
            <a:ext cx="11921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6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店舗</a:t>
            </a:r>
            <a:r>
              <a:rPr lang="en-US" altLang="ja-JP" sz="16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SV</a:t>
            </a:r>
            <a:endParaRPr kumimoji="1" lang="ja-JP" altLang="en-US" sz="1600" b="1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4FBC1F4F-C12D-8A70-8613-BF66D057FFAC}"/>
              </a:ext>
            </a:extLst>
          </p:cNvPr>
          <p:cNvSpPr/>
          <p:nvPr/>
        </p:nvSpPr>
        <p:spPr>
          <a:xfrm>
            <a:off x="10549639" y="2123155"/>
            <a:ext cx="1461989" cy="7780160"/>
          </a:xfrm>
          <a:prstGeom prst="roundRect">
            <a:avLst>
              <a:gd name="adj" fmla="val 3105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0D4B68A8-5610-46CB-F98B-D31496E0C29F}"/>
              </a:ext>
            </a:extLst>
          </p:cNvPr>
          <p:cNvCxnSpPr>
            <a:cxnSpLocks/>
          </p:cNvCxnSpPr>
          <p:nvPr/>
        </p:nvCxnSpPr>
        <p:spPr>
          <a:xfrm>
            <a:off x="11270697" y="2931644"/>
            <a:ext cx="0" cy="65480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13">
            <a:extLst>
              <a:ext uri="{FF2B5EF4-FFF2-40B4-BE49-F238E27FC236}">
                <a16:creationId xmlns:a16="http://schemas.microsoft.com/office/drawing/2014/main" id="{B3E8EAE3-5906-4301-ACB6-4718038D6A66}"/>
              </a:ext>
            </a:extLst>
          </p:cNvPr>
          <p:cNvSpPr txBox="1"/>
          <p:nvPr/>
        </p:nvSpPr>
        <p:spPr>
          <a:xfrm>
            <a:off x="10387138" y="2228507"/>
            <a:ext cx="16244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6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DataSpider</a:t>
            </a:r>
          </a:p>
        </p:txBody>
      </p:sp>
      <p:sp>
        <p:nvSpPr>
          <p:cNvPr id="34" name="フローチャート: 定義済み処理 33">
            <a:extLst>
              <a:ext uri="{FF2B5EF4-FFF2-40B4-BE49-F238E27FC236}">
                <a16:creationId xmlns:a16="http://schemas.microsoft.com/office/drawing/2014/main" id="{FC33D149-70DB-05E1-8EDC-DE0AE6453103}"/>
              </a:ext>
            </a:extLst>
          </p:cNvPr>
          <p:cNvSpPr/>
          <p:nvPr/>
        </p:nvSpPr>
        <p:spPr>
          <a:xfrm>
            <a:off x="10675874" y="2591106"/>
            <a:ext cx="1194231" cy="572874"/>
          </a:xfrm>
          <a:prstGeom prst="flowChartPredefinedProcess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データ連携</a:t>
            </a:r>
            <a:endParaRPr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66D3CE82-9DAE-5DCD-9083-4E9413E59939}"/>
              </a:ext>
            </a:extLst>
          </p:cNvPr>
          <p:cNvCxnSpPr>
            <a:cxnSpLocks/>
          </p:cNvCxnSpPr>
          <p:nvPr/>
        </p:nvCxnSpPr>
        <p:spPr>
          <a:xfrm>
            <a:off x="16384278" y="2931644"/>
            <a:ext cx="0" cy="65480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円柱 35">
            <a:extLst>
              <a:ext uri="{FF2B5EF4-FFF2-40B4-BE49-F238E27FC236}">
                <a16:creationId xmlns:a16="http://schemas.microsoft.com/office/drawing/2014/main" id="{63F8B2D6-686E-3D3E-A534-1D3E9AC7664D}"/>
              </a:ext>
            </a:extLst>
          </p:cNvPr>
          <p:cNvSpPr/>
          <p:nvPr/>
        </p:nvSpPr>
        <p:spPr>
          <a:xfrm>
            <a:off x="15988808" y="2580702"/>
            <a:ext cx="833498" cy="701882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ジャーナル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フローチャート: 定義済み処理 37">
            <a:extLst>
              <a:ext uri="{FF2B5EF4-FFF2-40B4-BE49-F238E27FC236}">
                <a16:creationId xmlns:a16="http://schemas.microsoft.com/office/drawing/2014/main" id="{5C781AA1-8747-AB01-1D42-FB6263951C5E}"/>
              </a:ext>
            </a:extLst>
          </p:cNvPr>
          <p:cNvSpPr/>
          <p:nvPr/>
        </p:nvSpPr>
        <p:spPr>
          <a:xfrm>
            <a:off x="14951822" y="2591106"/>
            <a:ext cx="940496" cy="572874"/>
          </a:xfrm>
          <a:prstGeom prst="flowChartPredefined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kumimoji="1"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常駐機能</a:t>
            </a:r>
            <a:endParaRPr kumimoji="1"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108E5EA7-0D04-7EF1-DF26-E5ED75FB35AA}"/>
              </a:ext>
            </a:extLst>
          </p:cNvPr>
          <p:cNvGrpSpPr/>
          <p:nvPr/>
        </p:nvGrpSpPr>
        <p:grpSpPr>
          <a:xfrm>
            <a:off x="9345141" y="1269628"/>
            <a:ext cx="6897429" cy="530640"/>
            <a:chOff x="-1119038" y="9205166"/>
            <a:chExt cx="6897429" cy="530640"/>
          </a:xfrm>
        </p:grpSpPr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15F97598-78B9-0086-AB4F-114111210963}"/>
                </a:ext>
              </a:extLst>
            </p:cNvPr>
            <p:cNvSpPr txBox="1"/>
            <p:nvPr/>
          </p:nvSpPr>
          <p:spPr>
            <a:xfrm>
              <a:off x="-1119038" y="9205166"/>
              <a:ext cx="6897429" cy="53064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ja-JP"/>
              </a:defPPr>
              <a:lvl1pPr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>
                <a:lnSpc>
                  <a:spcPct val="200000"/>
                </a:lnSpc>
              </a:pP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　　　　　　　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…SMJ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担当　　　　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…SMJ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、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NSW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様担当　　　　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…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カストマ様担当</a:t>
              </a:r>
              <a:endPara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5D76C3F5-E9FC-9451-F30A-8BFDB714FE37}"/>
                </a:ext>
              </a:extLst>
            </p:cNvPr>
            <p:cNvSpPr/>
            <p:nvPr/>
          </p:nvSpPr>
          <p:spPr>
            <a:xfrm>
              <a:off x="-993723" y="9376272"/>
              <a:ext cx="542821" cy="250839"/>
            </a:xfrm>
            <a:prstGeom prst="rect">
              <a:avLst/>
            </a:prstGeom>
            <a:solidFill>
              <a:schemeClr val="accent6">
                <a:lumMod val="10000"/>
                <a:lumOff val="90000"/>
              </a:schemeClr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B5BFE1F0-9478-2348-BF0A-D437B0931839}"/>
                </a:ext>
              </a:extLst>
            </p:cNvPr>
            <p:cNvSpPr/>
            <p:nvPr/>
          </p:nvSpPr>
          <p:spPr>
            <a:xfrm>
              <a:off x="3552049" y="9355074"/>
              <a:ext cx="542821" cy="260551"/>
            </a:xfrm>
            <a:prstGeom prst="rect">
              <a:avLst/>
            </a:prstGeom>
            <a:solidFill>
              <a:srgbClr val="00B0F0"/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D5F346B5-A9EE-4627-6C4D-F7B31BAAC5A7}"/>
                </a:ext>
              </a:extLst>
            </p:cNvPr>
            <p:cNvSpPr/>
            <p:nvPr/>
          </p:nvSpPr>
          <p:spPr>
            <a:xfrm>
              <a:off x="-398132" y="9376272"/>
              <a:ext cx="542821" cy="25083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F7597A64-F016-E626-31B3-52BA88273D27}"/>
                </a:ext>
              </a:extLst>
            </p:cNvPr>
            <p:cNvSpPr/>
            <p:nvPr/>
          </p:nvSpPr>
          <p:spPr>
            <a:xfrm>
              <a:off x="1233895" y="9355074"/>
              <a:ext cx="542821" cy="26055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cxnSp>
        <p:nvCxnSpPr>
          <p:cNvPr id="94" name="直線矢印コネクタ 93">
            <a:extLst>
              <a:ext uri="{FF2B5EF4-FFF2-40B4-BE49-F238E27FC236}">
                <a16:creationId xmlns:a16="http://schemas.microsoft.com/office/drawing/2014/main" id="{99D8CD6E-DDCA-649A-C051-84EA7209DD6D}"/>
              </a:ext>
            </a:extLst>
          </p:cNvPr>
          <p:cNvCxnSpPr>
            <a:cxnSpLocks/>
          </p:cNvCxnSpPr>
          <p:nvPr/>
        </p:nvCxnSpPr>
        <p:spPr>
          <a:xfrm flipH="1">
            <a:off x="9882724" y="5143500"/>
            <a:ext cx="13879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矢印コネクタ 111">
            <a:extLst>
              <a:ext uri="{FF2B5EF4-FFF2-40B4-BE49-F238E27FC236}">
                <a16:creationId xmlns:a16="http://schemas.microsoft.com/office/drawing/2014/main" id="{F1AF72BE-56EA-1648-E57D-D2807455051E}"/>
              </a:ext>
            </a:extLst>
          </p:cNvPr>
          <p:cNvCxnSpPr>
            <a:cxnSpLocks/>
          </p:cNvCxnSpPr>
          <p:nvPr/>
        </p:nvCxnSpPr>
        <p:spPr>
          <a:xfrm>
            <a:off x="11270697" y="4955629"/>
            <a:ext cx="1486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テキスト ボックス 41">
            <a:extLst>
              <a:ext uri="{FF2B5EF4-FFF2-40B4-BE49-F238E27FC236}">
                <a16:creationId xmlns:a16="http://schemas.microsoft.com/office/drawing/2014/main" id="{A5A30EA1-C9F6-7B9C-582B-FB06E02B19E9}"/>
              </a:ext>
            </a:extLst>
          </p:cNvPr>
          <p:cNvSpPr txBox="1"/>
          <p:nvPr/>
        </p:nvSpPr>
        <p:spPr>
          <a:xfrm>
            <a:off x="11655401" y="5034851"/>
            <a:ext cx="1383598" cy="639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各種実績</a:t>
            </a:r>
            <a:endParaRPr lang="en-US" altLang="ja-JP" sz="14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 algn="ctr">
              <a:lnSpc>
                <a:spcPts val="2160"/>
              </a:lnSpc>
            </a:pPr>
            <a:r>
              <a:rPr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データ参照</a:t>
            </a:r>
          </a:p>
        </p:txBody>
      </p:sp>
      <p:sp>
        <p:nvSpPr>
          <p:cNvPr id="123" name="楕円 122">
            <a:extLst>
              <a:ext uri="{FF2B5EF4-FFF2-40B4-BE49-F238E27FC236}">
                <a16:creationId xmlns:a16="http://schemas.microsoft.com/office/drawing/2014/main" id="{7C509483-51DA-0252-03C1-A508364770B5}"/>
              </a:ext>
            </a:extLst>
          </p:cNvPr>
          <p:cNvSpPr/>
          <p:nvPr/>
        </p:nvSpPr>
        <p:spPr>
          <a:xfrm>
            <a:off x="6404693" y="5297266"/>
            <a:ext cx="430053" cy="394209"/>
          </a:xfrm>
          <a:prstGeom prst="ellipse">
            <a:avLst/>
          </a:prstGeom>
          <a:solidFill>
            <a:srgbClr val="FFFF99"/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600" b="1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4</a:t>
            </a:r>
          </a:p>
        </p:txBody>
      </p:sp>
      <p:cxnSp>
        <p:nvCxnSpPr>
          <p:cNvPr id="125" name="直線矢印コネクタ 124">
            <a:extLst>
              <a:ext uri="{FF2B5EF4-FFF2-40B4-BE49-F238E27FC236}">
                <a16:creationId xmlns:a16="http://schemas.microsoft.com/office/drawing/2014/main" id="{9474222F-8322-A5F4-5482-2853A3500DE4}"/>
              </a:ext>
            </a:extLst>
          </p:cNvPr>
          <p:cNvCxnSpPr>
            <a:cxnSpLocks/>
          </p:cNvCxnSpPr>
          <p:nvPr/>
        </p:nvCxnSpPr>
        <p:spPr>
          <a:xfrm flipH="1">
            <a:off x="13975916" y="4499023"/>
            <a:ext cx="14298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テキスト ボックス 41">
            <a:extLst>
              <a:ext uri="{FF2B5EF4-FFF2-40B4-BE49-F238E27FC236}">
                <a16:creationId xmlns:a16="http://schemas.microsoft.com/office/drawing/2014/main" id="{3475EE33-097C-30D2-3C77-D2A8C1F948C6}"/>
              </a:ext>
            </a:extLst>
          </p:cNvPr>
          <p:cNvSpPr txBox="1"/>
          <p:nvPr/>
        </p:nvSpPr>
        <p:spPr>
          <a:xfrm>
            <a:off x="12811714" y="4557965"/>
            <a:ext cx="1895419" cy="357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トラン送信・分解</a:t>
            </a:r>
            <a:endParaRPr kumimoji="1" lang="ja-JP" altLang="en-US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130" name="直線矢印コネクタ 129">
            <a:extLst>
              <a:ext uri="{FF2B5EF4-FFF2-40B4-BE49-F238E27FC236}">
                <a16:creationId xmlns:a16="http://schemas.microsoft.com/office/drawing/2014/main" id="{EE66DD01-E62E-7AA5-2224-ABC72F650D3F}"/>
              </a:ext>
            </a:extLst>
          </p:cNvPr>
          <p:cNvCxnSpPr>
            <a:cxnSpLocks/>
          </p:cNvCxnSpPr>
          <p:nvPr/>
        </p:nvCxnSpPr>
        <p:spPr>
          <a:xfrm>
            <a:off x="15413995" y="4390119"/>
            <a:ext cx="970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テキスト ボックス 41">
            <a:extLst>
              <a:ext uri="{FF2B5EF4-FFF2-40B4-BE49-F238E27FC236}">
                <a16:creationId xmlns:a16="http://schemas.microsoft.com/office/drawing/2014/main" id="{E3027569-8937-1A4F-AEEA-94997462240F}"/>
              </a:ext>
            </a:extLst>
          </p:cNvPr>
          <p:cNvSpPr txBox="1"/>
          <p:nvPr/>
        </p:nvSpPr>
        <p:spPr>
          <a:xfrm>
            <a:off x="15516264" y="4433279"/>
            <a:ext cx="1518971" cy="357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参照</a:t>
            </a:r>
            <a:endParaRPr kumimoji="1" lang="ja-JP" altLang="en-US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F6B9B390-7732-D541-2BF9-F49DC4B36084}"/>
              </a:ext>
            </a:extLst>
          </p:cNvPr>
          <p:cNvSpPr/>
          <p:nvPr/>
        </p:nvSpPr>
        <p:spPr>
          <a:xfrm>
            <a:off x="17010976" y="2123155"/>
            <a:ext cx="1102332" cy="7780160"/>
          </a:xfrm>
          <a:prstGeom prst="roundRect">
            <a:avLst>
              <a:gd name="adj" fmla="val 3105"/>
            </a:avLst>
          </a:prstGeom>
          <a:noFill/>
          <a:ln w="254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12" name="テキスト ボックス 13">
            <a:extLst>
              <a:ext uri="{FF2B5EF4-FFF2-40B4-BE49-F238E27FC236}">
                <a16:creationId xmlns:a16="http://schemas.microsoft.com/office/drawing/2014/main" id="{72338BE8-886D-D5DF-A444-9F670F1228D9}"/>
              </a:ext>
            </a:extLst>
          </p:cNvPr>
          <p:cNvSpPr txBox="1"/>
          <p:nvPr/>
        </p:nvSpPr>
        <p:spPr>
          <a:xfrm>
            <a:off x="16892920" y="2228507"/>
            <a:ext cx="11921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6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現行</a:t>
            </a:r>
            <a:r>
              <a:rPr lang="en-US" altLang="ja-JP" sz="16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POS</a:t>
            </a:r>
            <a:endParaRPr kumimoji="1" lang="ja-JP" altLang="en-US" sz="1600" b="1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52B4565-43A2-DA59-00AB-EFBD6E74E907}"/>
              </a:ext>
            </a:extLst>
          </p:cNvPr>
          <p:cNvCxnSpPr>
            <a:cxnSpLocks/>
          </p:cNvCxnSpPr>
          <p:nvPr/>
        </p:nvCxnSpPr>
        <p:spPr>
          <a:xfrm>
            <a:off x="17528994" y="2931644"/>
            <a:ext cx="0" cy="65480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1">
            <a:extLst>
              <a:ext uri="{FF2B5EF4-FFF2-40B4-BE49-F238E27FC236}">
                <a16:creationId xmlns:a16="http://schemas.microsoft.com/office/drawing/2014/main" id="{88873D12-A86E-FC12-EF2C-3B3F0A706F2D}"/>
              </a:ext>
            </a:extLst>
          </p:cNvPr>
          <p:cNvSpPr txBox="1"/>
          <p:nvPr/>
        </p:nvSpPr>
        <p:spPr>
          <a:xfrm>
            <a:off x="17103138" y="2649346"/>
            <a:ext cx="907271" cy="633238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</a:t>
            </a:r>
            <a:endParaRPr lang="en-US" altLang="ja-JP" sz="14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 algn="ctr"/>
            <a:r>
              <a:rPr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登録処理</a:t>
            </a:r>
            <a:endParaRPr lang="en-US" altLang="ja-JP" sz="14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22" name="テキスト ボックス 41">
            <a:extLst>
              <a:ext uri="{FF2B5EF4-FFF2-40B4-BE49-F238E27FC236}">
                <a16:creationId xmlns:a16="http://schemas.microsoft.com/office/drawing/2014/main" id="{4D062F43-C182-27FB-2EC5-815E93C98A52}"/>
              </a:ext>
            </a:extLst>
          </p:cNvPr>
          <p:cNvSpPr txBox="1"/>
          <p:nvPr/>
        </p:nvSpPr>
        <p:spPr>
          <a:xfrm>
            <a:off x="16335043" y="3879503"/>
            <a:ext cx="833499" cy="357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登録</a:t>
            </a:r>
            <a:endParaRPr kumimoji="1" lang="ja-JP" altLang="en-US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0FA60201-6916-8294-9470-AC660929E314}"/>
              </a:ext>
            </a:extLst>
          </p:cNvPr>
          <p:cNvCxnSpPr>
            <a:cxnSpLocks/>
          </p:cNvCxnSpPr>
          <p:nvPr/>
        </p:nvCxnSpPr>
        <p:spPr>
          <a:xfrm flipH="1">
            <a:off x="16387542" y="3871077"/>
            <a:ext cx="11565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7757D361-2B6C-83F6-3391-F1A129DB7DB2}"/>
              </a:ext>
            </a:extLst>
          </p:cNvPr>
          <p:cNvCxnSpPr>
            <a:cxnSpLocks/>
          </p:cNvCxnSpPr>
          <p:nvPr/>
        </p:nvCxnSpPr>
        <p:spPr>
          <a:xfrm>
            <a:off x="12756897" y="2988718"/>
            <a:ext cx="0" cy="64910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円柱 30">
            <a:extLst>
              <a:ext uri="{FF2B5EF4-FFF2-40B4-BE49-F238E27FC236}">
                <a16:creationId xmlns:a16="http://schemas.microsoft.com/office/drawing/2014/main" id="{550B7F83-A46B-6499-7773-3F71BA3F0EE3}"/>
              </a:ext>
            </a:extLst>
          </p:cNvPr>
          <p:cNvSpPr/>
          <p:nvPr/>
        </p:nvSpPr>
        <p:spPr>
          <a:xfrm>
            <a:off x="12388123" y="2988718"/>
            <a:ext cx="826159" cy="481659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en-US" altLang="ja-JP" sz="110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円柱 38">
            <a:extLst>
              <a:ext uri="{FF2B5EF4-FFF2-40B4-BE49-F238E27FC236}">
                <a16:creationId xmlns:a16="http://schemas.microsoft.com/office/drawing/2014/main" id="{5E0917E8-D713-EAF5-61D0-F75D92C6079E}"/>
              </a:ext>
            </a:extLst>
          </p:cNvPr>
          <p:cNvSpPr/>
          <p:nvPr/>
        </p:nvSpPr>
        <p:spPr>
          <a:xfrm>
            <a:off x="12388123" y="2841174"/>
            <a:ext cx="826159" cy="481658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en-US" altLang="ja-JP" sz="110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円柱 46">
            <a:extLst>
              <a:ext uri="{FF2B5EF4-FFF2-40B4-BE49-F238E27FC236}">
                <a16:creationId xmlns:a16="http://schemas.microsoft.com/office/drawing/2014/main" id="{8FE43BDD-A544-6D3F-B26A-474775B5AC39}"/>
              </a:ext>
            </a:extLst>
          </p:cNvPr>
          <p:cNvSpPr/>
          <p:nvPr/>
        </p:nvSpPr>
        <p:spPr>
          <a:xfrm>
            <a:off x="12388123" y="2580702"/>
            <a:ext cx="826159" cy="568004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320"/>
              </a:lnSpc>
            </a:pP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>
              <a:lnSpc>
                <a:spcPts val="1320"/>
              </a:lnSpc>
            </a:pPr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各種実績</a:t>
            </a: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>
              <a:lnSpc>
                <a:spcPts val="1320"/>
              </a:lnSpc>
            </a:pPr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テーブル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D19A221C-B152-BBB5-9905-CD6C9B2B5AB9}"/>
              </a:ext>
            </a:extLst>
          </p:cNvPr>
          <p:cNvCxnSpPr>
            <a:cxnSpLocks/>
          </p:cNvCxnSpPr>
          <p:nvPr/>
        </p:nvCxnSpPr>
        <p:spPr>
          <a:xfrm flipH="1">
            <a:off x="12769597" y="4499023"/>
            <a:ext cx="12080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テキスト ボックス 41">
            <a:extLst>
              <a:ext uri="{FF2B5EF4-FFF2-40B4-BE49-F238E27FC236}">
                <a16:creationId xmlns:a16="http://schemas.microsoft.com/office/drawing/2014/main" id="{B7E2E28E-94CD-3928-0A24-1D289A6125FC}"/>
              </a:ext>
            </a:extLst>
          </p:cNvPr>
          <p:cNvSpPr txBox="1"/>
          <p:nvPr/>
        </p:nvSpPr>
        <p:spPr>
          <a:xfrm>
            <a:off x="9800534" y="5343297"/>
            <a:ext cx="1383598" cy="639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各種実績</a:t>
            </a:r>
            <a:endParaRPr lang="en-US" altLang="ja-JP" sz="14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 algn="ctr">
              <a:lnSpc>
                <a:spcPts val="2160"/>
              </a:lnSpc>
            </a:pPr>
            <a:r>
              <a:rPr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データ登録</a:t>
            </a:r>
          </a:p>
        </p:txBody>
      </p: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C6E8C058-C1C3-4C3F-4001-2F4D38963835}"/>
              </a:ext>
            </a:extLst>
          </p:cNvPr>
          <p:cNvCxnSpPr>
            <a:cxnSpLocks/>
          </p:cNvCxnSpPr>
          <p:nvPr/>
        </p:nvCxnSpPr>
        <p:spPr>
          <a:xfrm flipH="1">
            <a:off x="8885613" y="5200135"/>
            <a:ext cx="23850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フローチャート: 定義済み処理 70">
            <a:extLst>
              <a:ext uri="{FF2B5EF4-FFF2-40B4-BE49-F238E27FC236}">
                <a16:creationId xmlns:a16="http://schemas.microsoft.com/office/drawing/2014/main" id="{2F46D54A-D104-F6D7-76B5-714746F8D269}"/>
              </a:ext>
            </a:extLst>
          </p:cNvPr>
          <p:cNvSpPr/>
          <p:nvPr/>
        </p:nvSpPr>
        <p:spPr>
          <a:xfrm>
            <a:off x="6912085" y="2591106"/>
            <a:ext cx="1194231" cy="572874"/>
          </a:xfrm>
          <a:prstGeom prst="flowChartPredefined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kumimoji="1" lang="zh-TW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次世代用</a:t>
            </a:r>
          </a:p>
          <a:p>
            <a:pPr algn="ctr"/>
            <a:r>
              <a:rPr kumimoji="1" lang="zh-TW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実績作成</a:t>
            </a:r>
          </a:p>
        </p:txBody>
      </p:sp>
      <p:sp>
        <p:nvSpPr>
          <p:cNvPr id="74" name="円柱 73">
            <a:extLst>
              <a:ext uri="{FF2B5EF4-FFF2-40B4-BE49-F238E27FC236}">
                <a16:creationId xmlns:a16="http://schemas.microsoft.com/office/drawing/2014/main" id="{2CF08677-A78A-A35C-BDA5-F8A4CE9CF955}"/>
              </a:ext>
            </a:extLst>
          </p:cNvPr>
          <p:cNvSpPr/>
          <p:nvPr/>
        </p:nvSpPr>
        <p:spPr>
          <a:xfrm>
            <a:off x="5043534" y="2988718"/>
            <a:ext cx="826159" cy="481659"/>
          </a:xfrm>
          <a:prstGeom prst="ca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en-US" altLang="ja-JP" sz="110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5" name="円柱 74">
            <a:extLst>
              <a:ext uri="{FF2B5EF4-FFF2-40B4-BE49-F238E27FC236}">
                <a16:creationId xmlns:a16="http://schemas.microsoft.com/office/drawing/2014/main" id="{F0BA84AF-2E05-D647-66FC-F93C00B10B03}"/>
              </a:ext>
            </a:extLst>
          </p:cNvPr>
          <p:cNvSpPr/>
          <p:nvPr/>
        </p:nvSpPr>
        <p:spPr>
          <a:xfrm>
            <a:off x="5043534" y="2788922"/>
            <a:ext cx="826159" cy="481658"/>
          </a:xfrm>
          <a:prstGeom prst="ca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en-US" altLang="ja-JP" sz="110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6" name="円柱 75">
            <a:extLst>
              <a:ext uri="{FF2B5EF4-FFF2-40B4-BE49-F238E27FC236}">
                <a16:creationId xmlns:a16="http://schemas.microsoft.com/office/drawing/2014/main" id="{86A3D9B2-3544-59B2-357E-13D0AFE8C676}"/>
              </a:ext>
            </a:extLst>
          </p:cNvPr>
          <p:cNvSpPr/>
          <p:nvPr/>
        </p:nvSpPr>
        <p:spPr>
          <a:xfrm>
            <a:off x="5043534" y="2478948"/>
            <a:ext cx="826159" cy="565254"/>
          </a:xfrm>
          <a:prstGeom prst="ca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320"/>
              </a:lnSpc>
            </a:pP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>
              <a:lnSpc>
                <a:spcPts val="1320"/>
              </a:lnSpc>
            </a:pPr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各種実績</a:t>
            </a: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>
              <a:lnSpc>
                <a:spcPts val="1320"/>
              </a:lnSpc>
            </a:pPr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テーブル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78" name="直線矢印コネクタ 77">
            <a:extLst>
              <a:ext uri="{FF2B5EF4-FFF2-40B4-BE49-F238E27FC236}">
                <a16:creationId xmlns:a16="http://schemas.microsoft.com/office/drawing/2014/main" id="{AC98981F-BAED-98B2-1E20-FB4ED923D5A9}"/>
              </a:ext>
            </a:extLst>
          </p:cNvPr>
          <p:cNvCxnSpPr>
            <a:cxnSpLocks/>
          </p:cNvCxnSpPr>
          <p:nvPr/>
        </p:nvCxnSpPr>
        <p:spPr>
          <a:xfrm>
            <a:off x="7917555" y="5580642"/>
            <a:ext cx="18762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テキスト ボックス 81">
            <a:extLst>
              <a:ext uri="{FF2B5EF4-FFF2-40B4-BE49-F238E27FC236}">
                <a16:creationId xmlns:a16="http://schemas.microsoft.com/office/drawing/2014/main" id="{B009690A-FEFC-7AC5-BC1F-DFD4AFF03FA4}"/>
              </a:ext>
            </a:extLst>
          </p:cNvPr>
          <p:cNvSpPr txBox="1"/>
          <p:nvPr/>
        </p:nvSpPr>
        <p:spPr>
          <a:xfrm>
            <a:off x="6904800" y="5390430"/>
            <a:ext cx="1236306" cy="645946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実績データ</a:t>
            </a:r>
            <a:endParaRPr lang="en-US" altLang="ja-JP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 algn="ctr">
              <a:lnSpc>
                <a:spcPts val="2160"/>
              </a:lnSpc>
            </a:pPr>
            <a:r>
              <a:rPr kumimoji="1"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作成</a:t>
            </a:r>
          </a:p>
        </p:txBody>
      </p: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CAF12411-F1B9-341E-C690-CA347861157E}"/>
              </a:ext>
            </a:extLst>
          </p:cNvPr>
          <p:cNvCxnSpPr>
            <a:cxnSpLocks/>
          </p:cNvCxnSpPr>
          <p:nvPr/>
        </p:nvCxnSpPr>
        <p:spPr>
          <a:xfrm>
            <a:off x="1268573" y="7028706"/>
            <a:ext cx="14343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テキスト ボックス 41">
            <a:extLst>
              <a:ext uri="{FF2B5EF4-FFF2-40B4-BE49-F238E27FC236}">
                <a16:creationId xmlns:a16="http://schemas.microsoft.com/office/drawing/2014/main" id="{5E7EAF48-426B-CF56-3C08-D271FDAFF63E}"/>
              </a:ext>
            </a:extLst>
          </p:cNvPr>
          <p:cNvSpPr txBox="1"/>
          <p:nvPr/>
        </p:nvSpPr>
        <p:spPr>
          <a:xfrm>
            <a:off x="1201214" y="6697311"/>
            <a:ext cx="1518971" cy="357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データ参照</a:t>
            </a:r>
            <a:endParaRPr kumimoji="1" lang="ja-JP" altLang="en-US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97" name="テキスト ボックス 132">
            <a:extLst>
              <a:ext uri="{FF2B5EF4-FFF2-40B4-BE49-F238E27FC236}">
                <a16:creationId xmlns:a16="http://schemas.microsoft.com/office/drawing/2014/main" id="{EF5E02C9-1093-1DDE-D30D-3848AD713CDD}"/>
              </a:ext>
            </a:extLst>
          </p:cNvPr>
          <p:cNvSpPr txBox="1"/>
          <p:nvPr/>
        </p:nvSpPr>
        <p:spPr>
          <a:xfrm>
            <a:off x="2702878" y="6759135"/>
            <a:ext cx="1857217" cy="1300972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>
            <a:no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60"/>
              </a:lnSpc>
            </a:pPr>
            <a:r>
              <a:rPr lang="en-US" altLang="ja-JP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&lt;</a:t>
            </a:r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データ参照</a:t>
            </a:r>
            <a:r>
              <a:rPr lang="en-US" altLang="ja-JP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API&gt;</a:t>
            </a:r>
          </a:p>
          <a:p>
            <a:pPr>
              <a:lnSpc>
                <a:spcPts val="2160"/>
              </a:lnSpc>
            </a:pPr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 実績データ参照</a:t>
            </a:r>
            <a:endParaRPr lang="en-US" altLang="ja-JP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>
              <a:lnSpc>
                <a:spcPts val="2160"/>
              </a:lnSpc>
            </a:pPr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　↓</a:t>
            </a:r>
            <a:endParaRPr lang="en-US" altLang="ja-JP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>
              <a:lnSpc>
                <a:spcPts val="2160"/>
              </a:lnSpc>
            </a:pPr>
            <a:r>
              <a:rPr kumimoji="1"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参照結果返却</a:t>
            </a:r>
          </a:p>
        </p:txBody>
      </p: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5BC6D7E7-1667-2F8A-B00C-EA45109820C9}"/>
              </a:ext>
            </a:extLst>
          </p:cNvPr>
          <p:cNvCxnSpPr>
            <a:cxnSpLocks/>
          </p:cNvCxnSpPr>
          <p:nvPr/>
        </p:nvCxnSpPr>
        <p:spPr>
          <a:xfrm flipH="1">
            <a:off x="1252765" y="7794428"/>
            <a:ext cx="1450113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B1D4A503-F864-4373-5713-291FD9F51FDE}"/>
              </a:ext>
            </a:extLst>
          </p:cNvPr>
          <p:cNvCxnSpPr>
            <a:cxnSpLocks/>
          </p:cNvCxnSpPr>
          <p:nvPr/>
        </p:nvCxnSpPr>
        <p:spPr>
          <a:xfrm>
            <a:off x="4560095" y="7224649"/>
            <a:ext cx="8706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テキスト ボックス 41">
            <a:extLst>
              <a:ext uri="{FF2B5EF4-FFF2-40B4-BE49-F238E27FC236}">
                <a16:creationId xmlns:a16="http://schemas.microsoft.com/office/drawing/2014/main" id="{3D91784F-EBB7-1A23-389D-F4A08FA0F9BB}"/>
              </a:ext>
            </a:extLst>
          </p:cNvPr>
          <p:cNvSpPr txBox="1"/>
          <p:nvPr/>
        </p:nvSpPr>
        <p:spPr>
          <a:xfrm>
            <a:off x="4512453" y="7288789"/>
            <a:ext cx="2160694" cy="357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各種実績</a:t>
            </a:r>
            <a:r>
              <a:rPr kumimoji="1"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データ参照</a:t>
            </a:r>
          </a:p>
        </p:txBody>
      </p:sp>
      <p:sp>
        <p:nvSpPr>
          <p:cNvPr id="14" name="テキスト ボックス 41">
            <a:extLst>
              <a:ext uri="{FF2B5EF4-FFF2-40B4-BE49-F238E27FC236}">
                <a16:creationId xmlns:a16="http://schemas.microsoft.com/office/drawing/2014/main" id="{86BAD5B8-1BC9-AAF0-5420-E8D2C12F2BC1}"/>
              </a:ext>
            </a:extLst>
          </p:cNvPr>
          <p:cNvSpPr txBox="1"/>
          <p:nvPr/>
        </p:nvSpPr>
        <p:spPr>
          <a:xfrm>
            <a:off x="1201214" y="7835797"/>
            <a:ext cx="1518971" cy="357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参照結果</a:t>
            </a:r>
            <a:endParaRPr kumimoji="1" lang="ja-JP" altLang="en-US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5" name="テキスト ボックス 81">
            <a:extLst>
              <a:ext uri="{FF2B5EF4-FFF2-40B4-BE49-F238E27FC236}">
                <a16:creationId xmlns:a16="http://schemas.microsoft.com/office/drawing/2014/main" id="{3396B22E-BFA4-41DA-695F-4D29970D1803}"/>
              </a:ext>
            </a:extLst>
          </p:cNvPr>
          <p:cNvSpPr txBox="1"/>
          <p:nvPr/>
        </p:nvSpPr>
        <p:spPr>
          <a:xfrm>
            <a:off x="14904724" y="4155198"/>
            <a:ext cx="1084083" cy="645946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実績データ</a:t>
            </a:r>
            <a:endParaRPr lang="en-US" altLang="ja-JP" sz="14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 algn="ctr">
              <a:lnSpc>
                <a:spcPts val="2160"/>
              </a:lnSpc>
            </a:pPr>
            <a:r>
              <a:rPr kumimoji="1"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作成</a:t>
            </a:r>
          </a:p>
        </p:txBody>
      </p:sp>
      <p:sp>
        <p:nvSpPr>
          <p:cNvPr id="17" name="テキスト ボックス 141">
            <a:extLst>
              <a:ext uri="{FF2B5EF4-FFF2-40B4-BE49-F238E27FC236}">
                <a16:creationId xmlns:a16="http://schemas.microsoft.com/office/drawing/2014/main" id="{CCCD2DDC-BEF2-24B3-DF87-922BF5C03F9D}"/>
              </a:ext>
            </a:extLst>
          </p:cNvPr>
          <p:cNvSpPr txBox="1"/>
          <p:nvPr/>
        </p:nvSpPr>
        <p:spPr>
          <a:xfrm>
            <a:off x="17103138" y="3612438"/>
            <a:ext cx="907271" cy="633238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トラン</a:t>
            </a:r>
            <a:endParaRPr lang="en-US" altLang="ja-JP" sz="14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 algn="ctr"/>
            <a:r>
              <a:rPr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発行</a:t>
            </a:r>
            <a:endParaRPr lang="en-US" altLang="ja-JP" sz="14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6097B98C-C17D-7D96-6154-B234E4D6B505}"/>
              </a:ext>
            </a:extLst>
          </p:cNvPr>
          <p:cNvSpPr/>
          <p:nvPr/>
        </p:nvSpPr>
        <p:spPr>
          <a:xfrm>
            <a:off x="17810534" y="3229547"/>
            <a:ext cx="430053" cy="394209"/>
          </a:xfrm>
          <a:prstGeom prst="ellipse">
            <a:avLst/>
          </a:prstGeom>
          <a:solidFill>
            <a:srgbClr val="FFFF99"/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600" b="1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1</a:t>
            </a:r>
            <a:endParaRPr kumimoji="1" lang="ja-JP" altLang="en-US" sz="1600" b="1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23" name="テキスト ボックス 81">
            <a:extLst>
              <a:ext uri="{FF2B5EF4-FFF2-40B4-BE49-F238E27FC236}">
                <a16:creationId xmlns:a16="http://schemas.microsoft.com/office/drawing/2014/main" id="{C7B9E591-8116-B3CE-7333-D8ACE3A7E21A}"/>
              </a:ext>
            </a:extLst>
          </p:cNvPr>
          <p:cNvSpPr txBox="1"/>
          <p:nvPr/>
        </p:nvSpPr>
        <p:spPr>
          <a:xfrm>
            <a:off x="10751351" y="4729335"/>
            <a:ext cx="1084083" cy="645946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>
            <a:spAutoFit/>
          </a:bodyPr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実績データ</a:t>
            </a:r>
            <a:endParaRPr lang="en-US" altLang="ja-JP" sz="14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 algn="ctr">
              <a:lnSpc>
                <a:spcPts val="2160"/>
              </a:lnSpc>
            </a:pPr>
            <a:r>
              <a:rPr kumimoji="1"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作成</a:t>
            </a:r>
          </a:p>
        </p:txBody>
      </p:sp>
      <p:sp>
        <p:nvSpPr>
          <p:cNvPr id="136" name="楕円 135">
            <a:extLst>
              <a:ext uri="{FF2B5EF4-FFF2-40B4-BE49-F238E27FC236}">
                <a16:creationId xmlns:a16="http://schemas.microsoft.com/office/drawing/2014/main" id="{4958244A-02CF-01F0-DC21-89A966D36170}"/>
              </a:ext>
            </a:extLst>
          </p:cNvPr>
          <p:cNvSpPr/>
          <p:nvPr/>
        </p:nvSpPr>
        <p:spPr>
          <a:xfrm>
            <a:off x="10307903" y="4509752"/>
            <a:ext cx="430053" cy="394209"/>
          </a:xfrm>
          <a:prstGeom prst="ellipse">
            <a:avLst/>
          </a:prstGeom>
          <a:solidFill>
            <a:srgbClr val="FFFF99"/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600" b="1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3</a:t>
            </a:r>
            <a:endParaRPr kumimoji="1" lang="ja-JP" altLang="en-US" sz="1600" b="1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92222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33991-65A8-8770-1756-59AE65C8D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E9F8F4C0-B88C-91CC-F970-2195E23BF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50" b="1" i="0" u="none" strike="noStrike" kern="1200" cap="none" spc="0" normalizeH="0" baseline="0" noProof="0" dirty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t>Confidential </a:t>
            </a:r>
            <a:endParaRPr kumimoji="1" lang="ja-JP" altLang="en-US" sz="1650" b="1" i="0" u="none" strike="noStrike" kern="1200" cap="none" spc="0" normalizeH="0" baseline="0" noProof="0" dirty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DD643D63-1EAF-903C-B55A-D155AB86A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9E37A5-A917-4235-ABF6-8CD72E894915}" type="slidenum">
              <a:rPr kumimoji="1" lang="en-US" altLang="ja-JP" sz="1500" b="0" i="0" u="none" strike="noStrike" kern="1200" cap="none" spc="0" normalizeH="0" baseline="0" noProof="0" smtClean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ja-JP" altLang="en-US" sz="1500" b="0" i="0" u="none" strike="noStrike" kern="1200" cap="none" spc="0" normalizeH="0" baseline="0" noProof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22D4FF81-9F87-3410-92F7-44BC4BBB5998}"/>
              </a:ext>
            </a:extLst>
          </p:cNvPr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575" b="0" i="0" u="none" strike="noStrike" kern="1200" cap="none" spc="0" normalizeH="0" baseline="0" noProof="0" dirty="0">
                <a:ln>
                  <a:noFill/>
                </a:ln>
                <a:solidFill>
                  <a:srgbClr val="9A9A96"/>
                </a:solidFill>
                <a:effectLst/>
                <a:uLnTx/>
                <a:uFillTx/>
                <a:latin typeface="HGPｺﾞｼｯｸM" panose="020B0600000000000000" pitchFamily="50" charset="-128"/>
                <a:ea typeface="HGPｺﾞｼｯｸM" panose="020B0600000000000000" pitchFamily="50" charset="-128"/>
                <a:cs typeface="Arial" panose="020B0604020202020204" pitchFamily="34" charset="0"/>
              </a:rPr>
              <a:t>Copyright © All rights reserved, Sharp Marketing Japan Corporation</a:t>
            </a:r>
            <a:endParaRPr kumimoji="1" lang="ja-JP" altLang="en-US" sz="1575" b="0" i="0" u="none" strike="noStrike" kern="1200" cap="none" spc="0" normalizeH="0" baseline="0" noProof="0" dirty="0">
              <a:ln>
                <a:noFill/>
              </a:ln>
              <a:solidFill>
                <a:srgbClr val="9A9A96"/>
              </a:solidFill>
              <a:effectLst/>
              <a:uLnTx/>
              <a:uFillTx/>
              <a:latin typeface="HGPｺﾞｼｯｸM" panose="020B0600000000000000" pitchFamily="50" charset="-128"/>
              <a:ea typeface="HGPｺﾞｼｯｸM" panose="020B06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11" name="コンテンツ プレースホルダー 3">
            <a:extLst>
              <a:ext uri="{FF2B5EF4-FFF2-40B4-BE49-F238E27FC236}">
                <a16:creationId xmlns:a16="http://schemas.microsoft.com/office/drawing/2014/main" id="{42C0CC1E-E409-9CEA-42EC-0C819A6ED734}"/>
              </a:ext>
            </a:extLst>
          </p:cNvPr>
          <p:cNvSpPr txBox="1">
            <a:spLocks/>
          </p:cNvSpPr>
          <p:nvPr/>
        </p:nvSpPr>
        <p:spPr>
          <a:xfrm>
            <a:off x="405609" y="-313678"/>
            <a:ext cx="18090000" cy="13157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250000"/>
              </a:lnSpc>
              <a:buNone/>
            </a:pP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タブレット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POS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 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API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データ連携</a:t>
            </a:r>
            <a:endParaRPr kumimoji="1" lang="en-US" altLang="ja-JP" sz="3600" b="1" i="0" u="none" strike="noStrike" kern="1200" cap="none" spc="0" normalizeH="0" baseline="0" noProof="0" dirty="0">
              <a:ln>
                <a:noFill/>
              </a:ln>
              <a:solidFill>
                <a:srgbClr val="59574C"/>
              </a:solidFill>
              <a:effectLst/>
              <a:uLnTx/>
              <a:uFillTx/>
              <a:latin typeface="源ノ角ゴシック JP Medium"/>
              <a:ea typeface="源ノ角ゴシック JP Medium"/>
              <a:cs typeface="+mn-cs"/>
            </a:endParaRP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96339C3D-6D2D-DFBF-D7D3-A7D754AF24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263" b="58560"/>
          <a:stretch/>
        </p:blipFill>
        <p:spPr>
          <a:xfrm>
            <a:off x="405608" y="1914786"/>
            <a:ext cx="17359801" cy="6027313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904C792-172F-030A-866F-3B741CD76249}"/>
              </a:ext>
            </a:extLst>
          </p:cNvPr>
          <p:cNvSpPr txBox="1"/>
          <p:nvPr/>
        </p:nvSpPr>
        <p:spPr>
          <a:xfrm>
            <a:off x="405609" y="1138709"/>
            <a:ext cx="9408092" cy="5652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■参考</a:t>
            </a:r>
            <a:endParaRPr lang="en-US" altLang="ja-JP" sz="25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83588689"/>
      </p:ext>
    </p:extLst>
  </p:cSld>
  <p:clrMapOvr>
    <a:masterClrMapping/>
  </p:clrMapOvr>
</p:sld>
</file>

<file path=ppt/theme/theme1.xml><?xml version="1.0" encoding="utf-8"?>
<a:theme xmlns:a="http://schemas.openxmlformats.org/drawingml/2006/main" name="Be Original.テーマ">
  <a:themeElements>
    <a:clrScheme name="スタイルガイドライン">
      <a:dk1>
        <a:srgbClr val="59574C"/>
      </a:dk1>
      <a:lt1>
        <a:srgbClr val="FBFAF1"/>
      </a:lt1>
      <a:dk2>
        <a:srgbClr val="44546A"/>
      </a:dk2>
      <a:lt2>
        <a:srgbClr val="E7E6E6"/>
      </a:lt2>
      <a:accent1>
        <a:srgbClr val="7BA6DE"/>
      </a:accent1>
      <a:accent2>
        <a:srgbClr val="D45D00"/>
      </a:accent2>
      <a:accent3>
        <a:srgbClr val="DBDACB"/>
      </a:accent3>
      <a:accent4>
        <a:srgbClr val="FFA300"/>
      </a:accent4>
      <a:accent5>
        <a:srgbClr val="236192"/>
      </a:accent5>
      <a:accent6>
        <a:srgbClr val="035F1D"/>
      </a:accent6>
      <a:hlink>
        <a:srgbClr val="0563C1"/>
      </a:hlink>
      <a:folHlink>
        <a:srgbClr val="954F72"/>
      </a:folHlink>
    </a:clrScheme>
    <a:fontScheme name="スタイルガイドライン準拠">
      <a:majorFont>
        <a:latin typeface="Source Sans Pro"/>
        <a:ea typeface="源ノ角ゴシック JP Medium"/>
        <a:cs typeface=""/>
      </a:majorFont>
      <a:minorFont>
        <a:latin typeface="Source Sans Pro Black"/>
        <a:ea typeface="源ノ角ゴシック JP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59574C"/>
          </a:solidFill>
        </a:ln>
      </a:spPr>
      <a:bodyPr rtlCol="0" anchor="ctr"/>
      <a:lstStyle>
        <a:defPPr algn="ctr">
          <a:defRPr kumimoji="1" dirty="0">
            <a:solidFill>
              <a:srgbClr val="59574C"/>
            </a:solidFill>
            <a:latin typeface="Source Sans Pro" panose="020B0503030403020204" pitchFamily="34" charset="0"/>
            <a:ea typeface="源ノ角ゴシック JP Regular" panose="020B0500000000000000" pitchFamily="34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dirty="0" smtClean="0">
            <a:latin typeface="源ノ角ゴシック JP Regular" panose="020B0500000000000000" pitchFamily="34" charset="-128"/>
            <a:ea typeface="源ノ角ゴシック JP Regular" panose="020B0500000000000000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4252ADF01DD7E24B8A2CE02D84BF14B0" ma:contentTypeVersion="13" ma:contentTypeDescription="新しいドキュメントを作成します。" ma:contentTypeScope="" ma:versionID="e8cf3120104eb1c36739bff5e7475b3b">
  <xsd:schema xmlns:xsd="http://www.w3.org/2001/XMLSchema" xmlns:xs="http://www.w3.org/2001/XMLSchema" xmlns:p="http://schemas.microsoft.com/office/2006/metadata/properties" xmlns:ns2="ae393f60-dcb5-4a7b-b196-5d1bc9c4d29e" xmlns:ns3="ceaad874-2a3b-43d4-b11e-bb73ac2d83e2" targetNamespace="http://schemas.microsoft.com/office/2006/metadata/properties" ma:root="true" ma:fieldsID="cc5373842b9c7d8354851abd2f3d9e35" ns2:_="" ns3:_="">
    <xsd:import namespace="ae393f60-dcb5-4a7b-b196-5d1bc9c4d29e"/>
    <xsd:import namespace="ceaad874-2a3b-43d4-b11e-bb73ac2d83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393f60-dcb5-4a7b-b196-5d1bc9c4d2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6de805ed-0ddf-4e5b-915b-481f2a666b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aad874-2a3b-43d4-b11e-bb73ac2d83e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1c47161-6668-4911-aa52-aa15117e2215}" ma:internalName="TaxCatchAll" ma:showField="CatchAllData" ma:web="ceaad874-2a3b-43d4-b11e-bb73ac2d83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aad874-2a3b-43d4-b11e-bb73ac2d83e2" xsi:nil="true"/>
    <lcf76f155ced4ddcb4097134ff3c332f xmlns="ae393f60-dcb5-4a7b-b196-5d1bc9c4d29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AAE0F37-57F7-4B3B-8F85-52718A866C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e393f60-dcb5-4a7b-b196-5d1bc9c4d29e"/>
    <ds:schemaRef ds:uri="ceaad874-2a3b-43d4-b11e-bb73ac2d83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2862A6B-AA44-4E75-A2F2-1F918159344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5D8AC76-C1D8-4390-84DD-2B4B2B7BA12C}">
  <ds:schemaRefs>
    <ds:schemaRef ds:uri="http://schemas.microsoft.com/office/2006/metadata/properties"/>
    <ds:schemaRef ds:uri="http://schemas.microsoft.com/office/infopath/2007/PartnerControls"/>
    <ds:schemaRef ds:uri="ceaad874-2a3b-43d4-b11e-bb73ac2d83e2"/>
    <ds:schemaRef ds:uri="ae393f60-dcb5-4a7b-b196-5d1bc9c4d29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4583</TotalTime>
  <Words>1217</Words>
  <Application>Microsoft Office PowerPoint</Application>
  <PresentationFormat>ユーザー設定</PresentationFormat>
  <Paragraphs>364</Paragraphs>
  <Slides>7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8" baseType="lpstr">
      <vt:lpstr>(日本語用のフォントを使用)</vt:lpstr>
      <vt:lpstr>HGPｺﾞｼｯｸM</vt:lpstr>
      <vt:lpstr>Meiryo UI</vt:lpstr>
      <vt:lpstr>メイリオ</vt:lpstr>
      <vt:lpstr>源ノ角ゴシック JP Medium</vt:lpstr>
      <vt:lpstr>源ノ角ゴシック JP Regular</vt:lpstr>
      <vt:lpstr>Arial</vt:lpstr>
      <vt:lpstr>Calibri</vt:lpstr>
      <vt:lpstr>Source Sans Pro</vt:lpstr>
      <vt:lpstr>Source Sans Pro Black</vt:lpstr>
      <vt:lpstr>Be Original.テーマ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SMJ様サポート用PC02（駅南事務所）</dc:creator>
  <cp:lastModifiedBy>滝沢砂稚男</cp:lastModifiedBy>
  <cp:revision>530</cp:revision>
  <dcterms:created xsi:type="dcterms:W3CDTF">2022-10-24T00:43:26Z</dcterms:created>
  <dcterms:modified xsi:type="dcterms:W3CDTF">2026-06-29T07:15:40Z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0x0101004252ADF01DD7E24B8A2CE02D84BF14B0</vt:lpwstr>
  </property>
</Properties>
</file>