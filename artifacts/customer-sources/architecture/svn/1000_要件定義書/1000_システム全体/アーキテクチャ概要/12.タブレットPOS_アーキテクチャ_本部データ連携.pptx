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12670" r:id="rId5"/>
    <p:sldId id="12671" r:id="rId6"/>
    <p:sldId id="12962" r:id="rId7"/>
    <p:sldId id="12687" r:id="rId8"/>
  </p:sldIdLst>
  <p:sldSz cx="18288000" cy="10287000"/>
  <p:notesSz cx="6858000" cy="9144000"/>
  <p:defaultTextStyle>
    <a:defPPr>
      <a:defRPr lang="ja-JP"/>
    </a:defPPr>
    <a:lvl1pPr marL="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0">
          <p15:clr>
            <a:srgbClr val="A4A3A4"/>
          </p15:clr>
        </p15:guide>
        <p15:guide id="4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FF99"/>
    <a:srgbClr val="CCCCFF"/>
    <a:srgbClr val="0000FF"/>
    <a:srgbClr val="CC99FF"/>
    <a:srgbClr val="FFCCFF"/>
    <a:srgbClr val="CCECFF"/>
    <a:srgbClr val="FFFFCC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6652" autoAdjust="0"/>
  </p:normalViewPr>
  <p:slideViewPr>
    <p:cSldViewPr snapToGrid="0" showGuides="1">
      <p:cViewPr varScale="1">
        <p:scale>
          <a:sx n="81" d="100"/>
          <a:sy n="81" d="100"/>
        </p:scale>
        <p:origin x="516" y="84"/>
      </p:cViewPr>
      <p:guideLst>
        <p:guide orient="horz" pos="2160"/>
        <p:guide pos="3840"/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4" d="100"/>
          <a:sy n="54" d="100"/>
        </p:scale>
        <p:origin x="2631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1929A-C832-4C51-892B-48BBA387B73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A8D0B-D510-4154-AB0C-777825F091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34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A8D0B-D510-4154-AB0C-777825F0917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809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4487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02FB-1743-386C-793E-EF36BD6F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F933795-08B6-DE5B-6906-216532EE8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CD82D3A-CD11-3CD1-522A-5B3CEE622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720CEF-7695-77A9-B87F-A5F3907FE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0982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2C5C6-90B1-DC5A-A267-EBD5E072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1109E8-47F8-9FA4-6B49-63766E056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E8ECADB-2D95-E47C-98E8-B2F91A6B3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26166A-B991-9123-120C-B6C766C9A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430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バーページ１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7E334F9-60CB-4E77-A4E6-B06957FF2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99" y="973984"/>
            <a:ext cx="2158931" cy="1079466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969000"/>
            <a:ext cx="18288000" cy="1512000"/>
          </a:xfrm>
        </p:spPr>
        <p:txBody>
          <a:bodyPr wrap="none" lIns="0" tIns="0" rIns="0" bIns="0" anchor="ctr" anchorCtr="1">
            <a:normAutofit/>
          </a:bodyPr>
          <a:lstStyle>
            <a:lvl1pPr algn="ctr">
              <a:defRPr sz="6600" baseline="0">
                <a:solidFill>
                  <a:srgbClr val="59574C"/>
                </a:solidFill>
                <a:latin typeface="(日本語用のフォントを使用)"/>
                <a:ea typeface="源ノ角ゴシック JP Medium" panose="020B0600000000000000" pitchFamily="34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385800"/>
            <a:ext cx="18288000" cy="648000"/>
          </a:xfrm>
        </p:spPr>
        <p:txBody>
          <a:bodyPr lIns="0" tIns="0" rIns="0" bIns="0"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aseline="0">
                <a:latin typeface="(日本語用のフォントを使用)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1" hasCustomPrompt="1"/>
          </p:nvPr>
        </p:nvSpPr>
        <p:spPr>
          <a:xfrm>
            <a:off x="4823999" y="7587000"/>
            <a:ext cx="8640000" cy="432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社名</a:t>
            </a: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2" hasCustomPrompt="1"/>
          </p:nvPr>
        </p:nvSpPr>
        <p:spPr>
          <a:xfrm>
            <a:off x="4824000" y="8154000"/>
            <a:ext cx="8640000" cy="702000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本部名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部門名</a:t>
            </a:r>
          </a:p>
        </p:txBody>
      </p:sp>
      <p:sp>
        <p:nvSpPr>
          <p:cNvPr id="11" name="日付プレースホルダー 10"/>
          <p:cNvSpPr>
            <a:spLocks noGrp="1"/>
          </p:cNvSpPr>
          <p:nvPr>
            <p:ph type="dt" sz="half" idx="15"/>
          </p:nvPr>
        </p:nvSpPr>
        <p:spPr>
          <a:xfrm>
            <a:off x="4823999" y="8991000"/>
            <a:ext cx="8640000" cy="432000"/>
          </a:xfrm>
        </p:spPr>
        <p:txBody>
          <a:bodyPr/>
          <a:lstStyle>
            <a:lvl1pPr algn="ctr">
              <a:defRPr sz="2100" baseline="0">
                <a:solidFill>
                  <a:schemeClr val="tx1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90DCAEF3-2FE9-4E7A-9654-2F9F5D29C984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2026/7/30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829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バーページ２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969000"/>
            <a:ext cx="18288000" cy="1512000"/>
          </a:xfrm>
        </p:spPr>
        <p:txBody>
          <a:bodyPr wrap="none" lIns="0" tIns="0" rIns="0" bIns="0" anchor="ctr" anchorCtr="1">
            <a:normAutofit/>
          </a:bodyPr>
          <a:lstStyle>
            <a:lvl1pPr algn="ctr">
              <a:defRPr sz="6600" baseline="0">
                <a:solidFill>
                  <a:srgbClr val="59574C"/>
                </a:solidFill>
                <a:latin typeface="(日本語用のフォントを使用)"/>
                <a:ea typeface="源ノ角ゴシック JP Medium" panose="020B0600000000000000" pitchFamily="34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1" hasCustomPrompt="1"/>
          </p:nvPr>
        </p:nvSpPr>
        <p:spPr>
          <a:xfrm>
            <a:off x="4823999" y="7587000"/>
            <a:ext cx="8640000" cy="432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社名</a:t>
            </a: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2" hasCustomPrompt="1"/>
          </p:nvPr>
        </p:nvSpPr>
        <p:spPr>
          <a:xfrm>
            <a:off x="4824000" y="8154000"/>
            <a:ext cx="8640000" cy="702000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本部名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部門名</a:t>
            </a:r>
          </a:p>
        </p:txBody>
      </p:sp>
      <p:sp>
        <p:nvSpPr>
          <p:cNvPr id="11" name="日付プレースホルダー 10"/>
          <p:cNvSpPr>
            <a:spLocks noGrp="1"/>
          </p:cNvSpPr>
          <p:nvPr>
            <p:ph type="dt" sz="half" idx="15"/>
          </p:nvPr>
        </p:nvSpPr>
        <p:spPr>
          <a:xfrm>
            <a:off x="4823999" y="8991000"/>
            <a:ext cx="8640000" cy="432000"/>
          </a:xfrm>
        </p:spPr>
        <p:txBody>
          <a:bodyPr/>
          <a:lstStyle>
            <a:lvl1pPr algn="ctr">
              <a:defRPr sz="2100" baseline="0">
                <a:solidFill>
                  <a:schemeClr val="tx1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9082DA5B-CFED-4EA9-A9CF-51D6B7194673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2026/7/30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4C3497D-F957-437C-BA52-9036B28F34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99" y="973984"/>
            <a:ext cx="2158931" cy="107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2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ンデックス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/>
            </a:lvl1pPr>
          </a:lstStyle>
          <a:p>
            <a:fld id="{79AB4D3F-2AE4-467C-9678-D47D57DA8B15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 baseline="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3"/>
          </p:nvPr>
        </p:nvSpPr>
        <p:spPr>
          <a:xfrm>
            <a:off x="7349401" y="2764800"/>
            <a:ext cx="7782446" cy="4757400"/>
          </a:xfrm>
        </p:spPr>
        <p:txBody>
          <a:bodyPr anchor="ctr" anchorCtr="0"/>
          <a:lstStyle>
            <a:lvl1pPr marL="771525" indent="-771525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1pPr>
            <a:lvl2pPr marL="1371600" indent="-68580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2pPr>
            <a:lvl3pPr marL="2057400" indent="-68580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3pPr>
            <a:lvl4pPr marL="2571750" indent="-51435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4pPr>
            <a:lvl5pPr marL="3257550" indent="-51435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図 14">
            <a:extLst>
              <a:ext uri="{FF2B5EF4-FFF2-40B4-BE49-F238E27FC236}">
                <a16:creationId xmlns:a16="http://schemas.microsoft.com/office/drawing/2014/main" id="{AC6B63DF-389A-4A98-8956-5BBF5DFBE8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7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コンテンツ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lIns="0" tIns="0" rIns="0" bIns="0">
            <a:normAutofit/>
          </a:bodyPr>
          <a:lstStyle>
            <a:lvl1pPr>
              <a:defRPr sz="2700" baseline="0">
                <a:solidFill>
                  <a:srgbClr val="59574C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0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34031DBB-3291-48BB-BC28-17084E3E4F7C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1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2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ABD4378A-B289-4FC9-ADA8-4EF64E98E7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12CBCCE-C37F-4386-8BB6-498ADD1684D3}"/>
              </a:ext>
            </a:extLst>
          </p:cNvPr>
          <p:cNvCxnSpPr/>
          <p:nvPr userDrawn="1"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09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76942" y="1242000"/>
            <a:ext cx="17502458" cy="8656200"/>
          </a:xfrm>
        </p:spPr>
        <p:txBody>
          <a:bodyPr lIns="0" tIns="0" rIns="0" bIns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3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9F6429C1-8E62-4761-9877-E62B2DA92B1C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7" name="直線コネクタ 16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61F1F23-9698-4103-B3E9-5E4E605E8A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5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コンテンツ_03(2 つのコンテン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78000" y="1242000"/>
            <a:ext cx="8586000" cy="863607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9293400" y="1242000"/>
            <a:ext cx="8586000" cy="86346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1F8B608F-4DEC-4D1D-B141-E614FF5669E8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2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5" name="直線コネクタ 14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図 16">
            <a:extLst>
              <a:ext uri="{FF2B5EF4-FFF2-40B4-BE49-F238E27FC236}">
                <a16:creationId xmlns:a16="http://schemas.microsoft.com/office/drawing/2014/main" id="{25CCDFE0-FDBF-4B25-8E18-40F619D84A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コンテンツ_04(比較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76941" y="1285877"/>
            <a:ext cx="8586000" cy="1242000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76943" y="2527876"/>
            <a:ext cx="8586000" cy="7316672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258300" y="1285877"/>
            <a:ext cx="8586000" cy="1242000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9258297" y="2527874"/>
            <a:ext cx="8621103" cy="7316672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6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F1A58DF4-246C-48C1-B3B6-DF06CB441F9A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8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0169B903-E552-491B-BCBD-8D3E55AF30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3A5A175-8709-48AA-AEF7-8D4CA06A041E}"/>
              </a:ext>
            </a:extLst>
          </p:cNvPr>
          <p:cNvCxnSpPr/>
          <p:nvPr userDrawn="1"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01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画面（基本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75D6162-6F61-4AA5-AF9B-79A5B59DCD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800" y="4732241"/>
            <a:ext cx="5576400" cy="82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4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144D8984-AA42-45E4-8983-9A2054881900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0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8615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F68BAD66-5485-4BF5-88CF-01CF8CEDDAD3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2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7343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A6B0F656-4EE4-4163-B9C3-DDD4915C9549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9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650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378000" y="9936000"/>
            <a:ext cx="41148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C05EB7AA-217B-4EAE-BEC9-43341D9BD9B2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2026/7/30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5449400" y="9936000"/>
            <a:ext cx="1620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en-US" altLang="ja-JP" sz="1500" baseline="0" smtClean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r>
              <a:rPr lang="en-US" dirty="0">
                <a:latin typeface="源ノ角ゴシック JP Regular" panose="020B0500000000000000" pitchFamily="34" charset="-128"/>
              </a:rPr>
              <a:t>Confidential 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069400" y="9936000"/>
            <a:ext cx="810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ja-JP" altLang="en-US" sz="1500" baseline="0" smtClean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2A9E37A5-A917-4235-ABF6-8CD72E894915}" type="slidenum">
              <a:rPr lang="en-US" altLang="ja-JP" smtClean="0">
                <a:latin typeface="源ノ角ゴシック JP Regular" panose="020B0500000000000000" pitchFamily="34" charset="-128"/>
              </a:rPr>
              <a:pPr/>
              <a:t>‹#›</a:t>
            </a:fld>
            <a:endParaRPr lang="en-US" altLang="ja-JP" dirty="0">
              <a:latin typeface="源ノ角ゴシック JP Regular" panose="020B0500000000000000" pitchFamily="34" charset="-128"/>
            </a:endParaRPr>
          </a:p>
        </p:txBody>
      </p:sp>
      <p:sp>
        <p:nvSpPr>
          <p:cNvPr id="7" name="フッター プレースホルダー 4"/>
          <p:cNvSpPr txBox="1">
            <a:spLocks/>
          </p:cNvSpPr>
          <p:nvPr userDrawn="1"/>
        </p:nvSpPr>
        <p:spPr>
          <a:xfrm>
            <a:off x="9277200" y="9936001"/>
            <a:ext cx="6172200" cy="378002"/>
          </a:xfrm>
          <a:prstGeom prst="rect">
            <a:avLst/>
          </a:prstGeom>
        </p:spPr>
        <p:txBody>
          <a:bodyPr vert="horz" lIns="137160" tIns="68580" rIns="137160" bIns="6858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279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5" r:id="rId3"/>
    <p:sldLayoutId id="2147483654" r:id="rId4"/>
    <p:sldLayoutId id="2147483650" r:id="rId5"/>
    <p:sldLayoutId id="2147483652" r:id="rId6"/>
    <p:sldLayoutId id="2147483653" r:id="rId7"/>
    <p:sldLayoutId id="2147483658" r:id="rId8"/>
    <p:sldLayoutId id="2147483660" r:id="rId9"/>
    <p:sldLayoutId id="2147483656" r:id="rId10"/>
    <p:sldLayoutId id="2147483657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kumimoji="1" sz="3600" kern="1200" baseline="0">
          <a:solidFill>
            <a:srgbClr val="59574C"/>
          </a:solidFill>
          <a:latin typeface="(日本語用のフォントを使用)"/>
          <a:ea typeface="源ノ角ゴシック JP Regular" panose="020B0500000000000000" pitchFamily="34" charset="-128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kumimoji="1" sz="42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36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30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スライド番号プレースホルダー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7AC65879-7FD1-5159-5240-E3ADC0AF25C0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57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lang="ja-JP" altLang="en-US" sz="1575" dirty="0"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5" name="フッター プレースホルダー 8">
            <a:extLst>
              <a:ext uri="{FF2B5EF4-FFF2-40B4-BE49-F238E27FC236}">
                <a16:creationId xmlns:a16="http://schemas.microsoft.com/office/drawing/2014/main" id="{4BFBC7A3-80BB-2E54-1CEC-26AE4427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lang="en-US" altLang="ja-JP" sz="1650" b="1" dirty="0"/>
              <a:t>Confidential </a:t>
            </a:r>
            <a:endParaRPr lang="ja-JP" altLang="en-US" sz="1650" b="1" dirty="0"/>
          </a:p>
        </p:txBody>
      </p:sp>
      <p:grpSp>
        <p:nvGrpSpPr>
          <p:cNvPr id="8" name="グループ化 22">
            <a:extLst>
              <a:ext uri="{FF2B5EF4-FFF2-40B4-BE49-F238E27FC236}">
                <a16:creationId xmlns:a16="http://schemas.microsoft.com/office/drawing/2014/main" id="{AAF6A984-94EF-49FC-9760-F28BEC404163}"/>
              </a:ext>
            </a:extLst>
          </p:cNvPr>
          <p:cNvGrpSpPr/>
          <p:nvPr/>
        </p:nvGrpSpPr>
        <p:grpSpPr>
          <a:xfrm>
            <a:off x="1415367" y="4759592"/>
            <a:ext cx="16997199" cy="967652"/>
            <a:chOff x="-439385" y="-73503"/>
            <a:chExt cx="9583385" cy="483826"/>
          </a:xfrm>
        </p:grpSpPr>
        <p:sp>
          <p:nvSpPr>
            <p:cNvPr id="9" name="角丸四角形 3">
              <a:extLst>
                <a:ext uri="{FF2B5EF4-FFF2-40B4-BE49-F238E27FC236}">
                  <a16:creationId xmlns:a16="http://schemas.microsoft.com/office/drawing/2014/main" id="{C3F9DEA1-9F8B-4EC4-9D6B-8A097D57D62B}"/>
                </a:ext>
              </a:extLst>
            </p:cNvPr>
            <p:cNvSpPr/>
            <p:nvPr/>
          </p:nvSpPr>
          <p:spPr bwMode="auto">
            <a:xfrm>
              <a:off x="-439385" y="-73503"/>
              <a:ext cx="9144000" cy="383908"/>
            </a:xfrm>
            <a:prstGeom prst="roundRect">
              <a:avLst>
                <a:gd name="adj" fmla="val 0"/>
              </a:avLst>
            </a:prstGeom>
            <a:solidFill>
              <a:srgbClr val="E5E3D4"/>
            </a:solidFill>
            <a:ln>
              <a:noFill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1022"/>
                </a:spcAft>
              </a:pPr>
              <a:endParaRPr lang="ja-JP" altLang="en-US" sz="280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C3A3B830-65E0-4A2E-A9C4-CE4E415EBA7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410323"/>
              <a:ext cx="9144000" cy="0"/>
            </a:xfrm>
            <a:prstGeom prst="line">
              <a:avLst/>
            </a:prstGeom>
            <a:noFill/>
            <a:ln w="12700">
              <a:solidFill>
                <a:srgbClr val="E5E3D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ja-JP" altLang="en-US" sz="3600"/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FF97F0-39F2-468F-918B-BFB6B6B3F365}"/>
              </a:ext>
            </a:extLst>
          </p:cNvPr>
          <p:cNvSpPr txBox="1"/>
          <p:nvPr/>
        </p:nvSpPr>
        <p:spPr>
          <a:xfrm>
            <a:off x="1415368" y="4650245"/>
            <a:ext cx="15859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タブレット</a:t>
            </a:r>
            <a:r>
              <a:rPr lang="en-US" altLang="ja-JP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POS</a:t>
            </a:r>
            <a:r>
              <a:rPr lang="ja-JP" altLang="en-US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 本部データ連携</a:t>
            </a:r>
          </a:p>
        </p:txBody>
      </p:sp>
    </p:spTree>
    <p:extLst>
      <p:ext uri="{BB962C8B-B14F-4D97-AF65-F5344CB8AC3E}">
        <p14:creationId xmlns:p14="http://schemas.microsoft.com/office/powerpoint/2010/main" val="252111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9AFEE408-19C8-68E6-4983-96BA0A9CA816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1816DB91-96ED-40FA-A739-05243431B836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0EA77F-141D-DB67-E346-2F5CB0187737}"/>
              </a:ext>
            </a:extLst>
          </p:cNvPr>
          <p:cNvSpPr txBox="1"/>
          <p:nvPr/>
        </p:nvSpPr>
        <p:spPr>
          <a:xfrm>
            <a:off x="405609" y="1079510"/>
            <a:ext cx="17473791" cy="44781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■本部データ連携</a:t>
            </a:r>
            <a:endParaRPr lang="en-US" altLang="ja-JP" sz="2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・本部指示、</a:t>
            </a:r>
            <a:r>
              <a:rPr lang="en-US" altLang="ja-JP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BPF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、ロジからのデータについて、トラン</a:t>
            </a:r>
            <a:r>
              <a:rPr lang="en-US" altLang="ja-JP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</a:t>
            </a:r>
            <a:r>
              <a:rPr lang="en-US" altLang="ja-JP" sz="240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DataSpider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でセントラル</a:t>
            </a:r>
            <a:r>
              <a:rPr lang="en-US" altLang="ja-JP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に連携します。</a:t>
            </a:r>
            <a:endParaRPr lang="en-US" altLang="ja-JP" sz="2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次ページの図を参照</a:t>
            </a:r>
            <a:endParaRPr lang="en-US" altLang="ja-JP" sz="2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→現行</a:t>
            </a:r>
            <a:r>
              <a:rPr lang="en-US" altLang="ja-JP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で発生したトランをトラン</a:t>
            </a:r>
            <a:r>
              <a:rPr lang="en-US" altLang="ja-JP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</a:t>
            </a:r>
            <a:r>
              <a:rPr lang="en-US" altLang="ja-JP" sz="240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DataSpider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を経由してセントラル</a:t>
            </a:r>
            <a:r>
              <a:rPr lang="en-US" altLang="ja-JP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へ連携する</a:t>
            </a:r>
            <a:endParaRPr lang="en-US" altLang="ja-JP" sz="2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ルートを使用します。</a:t>
            </a:r>
            <a:endParaRPr lang="en-US" altLang="ja-JP" sz="2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endParaRPr lang="en-US" altLang="ja-JP" sz="2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＜確認事項＞</a:t>
            </a:r>
            <a:endParaRPr lang="en-US" altLang="ja-JP" sz="2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本部データ連携は次ページの図で問題ないでしょう</a:t>
            </a:r>
            <a:r>
              <a:rPr lang="ja-JP" altLang="en-US" sz="2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か。</a:t>
            </a:r>
            <a:endParaRPr lang="en-US" altLang="ja-JP" sz="2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7654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A9207-8289-1B91-ED97-3448FA437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7AAAF344-86E2-F437-B89F-4C7C3BAA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05FCBF9-FDAD-788F-A090-B4173AA6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1A756B96-F961-C40B-C2E7-09AFA9DC0EA3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AE8C70E8-9DD2-11D6-D24B-DFBAA931EC30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8579B7-4054-5137-5C73-9829389D7AE1}"/>
              </a:ext>
            </a:extLst>
          </p:cNvPr>
          <p:cNvSpPr txBox="1"/>
          <p:nvPr/>
        </p:nvSpPr>
        <p:spPr>
          <a:xfrm>
            <a:off x="405608" y="1138709"/>
            <a:ext cx="10622261" cy="56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■データ連携概要</a:t>
            </a:r>
            <a:endParaRPr lang="en-US" altLang="ja-JP" sz="25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31139FD-4170-2A65-5434-E4481F485CF6}"/>
              </a:ext>
            </a:extLst>
          </p:cNvPr>
          <p:cNvSpPr/>
          <p:nvPr/>
        </p:nvSpPr>
        <p:spPr>
          <a:xfrm>
            <a:off x="2721622" y="2985046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(iPad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mini)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525A1BA-80A3-5E94-ABCF-B59687240C7C}"/>
              </a:ext>
            </a:extLst>
          </p:cNvPr>
          <p:cNvSpPr/>
          <p:nvPr/>
        </p:nvSpPr>
        <p:spPr>
          <a:xfrm>
            <a:off x="2176690" y="4662206"/>
            <a:ext cx="12118041" cy="4294855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en-US" altLang="ja-JP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kumimoji="1" lang="ja-JP" altLang="en-US" sz="24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FEA9327D-A8F1-6195-90CD-8FD50DFFC0B7}"/>
              </a:ext>
            </a:extLst>
          </p:cNvPr>
          <p:cNvSpPr/>
          <p:nvPr/>
        </p:nvSpPr>
        <p:spPr>
          <a:xfrm>
            <a:off x="4369568" y="2992453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据置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</p:txBody>
      </p:sp>
      <p:cxnSp>
        <p:nvCxnSpPr>
          <p:cNvPr id="333" name="直線矢印コネクタ 332">
            <a:extLst>
              <a:ext uri="{FF2B5EF4-FFF2-40B4-BE49-F238E27FC236}">
                <a16:creationId xmlns:a16="http://schemas.microsoft.com/office/drawing/2014/main" id="{B9077DDD-E236-529D-36BA-AA12317B641C}"/>
              </a:ext>
            </a:extLst>
          </p:cNvPr>
          <p:cNvCxnSpPr>
            <a:cxnSpLocks/>
            <a:stCxn id="332" idx="2"/>
            <a:endCxn id="38" idx="1"/>
          </p:cNvCxnSpPr>
          <p:nvPr/>
        </p:nvCxnSpPr>
        <p:spPr>
          <a:xfrm flipH="1">
            <a:off x="4980023" y="3866776"/>
            <a:ext cx="26790" cy="243072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20E53E1B-BAD6-F51A-7CF2-618051722C0E}"/>
              </a:ext>
            </a:extLst>
          </p:cNvPr>
          <p:cNvSpPr/>
          <p:nvPr/>
        </p:nvSpPr>
        <p:spPr>
          <a:xfrm>
            <a:off x="2526313" y="5593278"/>
            <a:ext cx="7209112" cy="2381869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Ver.26ai(AL32UTF8)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DCAB8317-4980-8FC8-491F-BBF615DE08F6}"/>
              </a:ext>
            </a:extLst>
          </p:cNvPr>
          <p:cNvCxnSpPr>
            <a:cxnSpLocks/>
            <a:stCxn id="2" idx="2"/>
            <a:endCxn id="38" idx="1"/>
          </p:cNvCxnSpPr>
          <p:nvPr/>
        </p:nvCxnSpPr>
        <p:spPr>
          <a:xfrm>
            <a:off x="3358867" y="3859369"/>
            <a:ext cx="1621156" cy="2438130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B2FC5E2-7A8C-3A28-D1FB-CFED9CFDCD79}"/>
              </a:ext>
            </a:extLst>
          </p:cNvPr>
          <p:cNvSpPr/>
          <p:nvPr/>
        </p:nvSpPr>
        <p:spPr>
          <a:xfrm>
            <a:off x="2176690" y="2375890"/>
            <a:ext cx="12118041" cy="2002403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ja-JP" altLang="en-US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店舗Ａ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2918CA9-5217-1CE9-E3DB-4F32FB76BC45}"/>
              </a:ext>
            </a:extLst>
          </p:cNvPr>
          <p:cNvSpPr txBox="1"/>
          <p:nvPr/>
        </p:nvSpPr>
        <p:spPr>
          <a:xfrm>
            <a:off x="405609" y="1770608"/>
            <a:ext cx="17032385" cy="457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（１）タブレット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</a:p>
        </p:txBody>
      </p:sp>
      <p:sp>
        <p:nvSpPr>
          <p:cNvPr id="38" name="円柱 37">
            <a:extLst>
              <a:ext uri="{FF2B5EF4-FFF2-40B4-BE49-F238E27FC236}">
                <a16:creationId xmlns:a16="http://schemas.microsoft.com/office/drawing/2014/main" id="{7767364C-287E-2CE9-C56C-E5AD98F1235D}"/>
              </a:ext>
            </a:extLst>
          </p:cNvPr>
          <p:cNvSpPr/>
          <p:nvPr/>
        </p:nvSpPr>
        <p:spPr>
          <a:xfrm>
            <a:off x="4297960" y="6297499"/>
            <a:ext cx="1364125" cy="701882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（次世代用）</a:t>
            </a:r>
          </a:p>
        </p:txBody>
      </p:sp>
      <p:sp>
        <p:nvSpPr>
          <p:cNvPr id="69" name="円柱 68">
            <a:extLst>
              <a:ext uri="{FF2B5EF4-FFF2-40B4-BE49-F238E27FC236}">
                <a16:creationId xmlns:a16="http://schemas.microsoft.com/office/drawing/2014/main" id="{95651D7A-22A3-7A9A-9B33-2C71D78E3F29}"/>
              </a:ext>
            </a:extLst>
          </p:cNvPr>
          <p:cNvSpPr/>
          <p:nvPr/>
        </p:nvSpPr>
        <p:spPr>
          <a:xfrm>
            <a:off x="8039532" y="6287823"/>
            <a:ext cx="1364125" cy="701882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7DEB52A2-1974-7163-41F3-3AFC00F5CF16}"/>
              </a:ext>
            </a:extLst>
          </p:cNvPr>
          <p:cNvSpPr/>
          <p:nvPr/>
        </p:nvSpPr>
        <p:spPr>
          <a:xfrm>
            <a:off x="5200581" y="9069822"/>
            <a:ext cx="4534843" cy="8334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ja-JP" sz="1800" b="1" dirty="0" err="1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フローチャート: 定義済み処理 84">
            <a:extLst>
              <a:ext uri="{FF2B5EF4-FFF2-40B4-BE49-F238E27FC236}">
                <a16:creationId xmlns:a16="http://schemas.microsoft.com/office/drawing/2014/main" id="{EA697656-13E2-9BFB-47F0-65D115844A1F}"/>
              </a:ext>
            </a:extLst>
          </p:cNvPr>
          <p:cNvSpPr/>
          <p:nvPr/>
        </p:nvSpPr>
        <p:spPr>
          <a:xfrm>
            <a:off x="8131784" y="9217680"/>
            <a:ext cx="1194231" cy="572874"/>
          </a:xfrm>
          <a:prstGeom prst="flowChartPredefinedProcess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トラン連携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85369C6A-EA88-A9C7-8D03-5958F18FA23F}"/>
              </a:ext>
            </a:extLst>
          </p:cNvPr>
          <p:cNvCxnSpPr>
            <a:cxnSpLocks/>
            <a:stCxn id="85" idx="0"/>
            <a:endCxn id="69" idx="3"/>
          </p:cNvCxnSpPr>
          <p:nvPr/>
        </p:nvCxnSpPr>
        <p:spPr>
          <a:xfrm flipH="1" flipV="1">
            <a:off x="8721595" y="6989705"/>
            <a:ext cx="7305" cy="2227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フローチャート: 定義済み処理 105">
            <a:extLst>
              <a:ext uri="{FF2B5EF4-FFF2-40B4-BE49-F238E27FC236}">
                <a16:creationId xmlns:a16="http://schemas.microsoft.com/office/drawing/2014/main" id="{354B4035-CD31-E07B-AC58-ABC1F865FCBE}"/>
              </a:ext>
            </a:extLst>
          </p:cNvPr>
          <p:cNvSpPr/>
          <p:nvPr/>
        </p:nvSpPr>
        <p:spPr>
          <a:xfrm>
            <a:off x="6202059" y="6351130"/>
            <a:ext cx="1194231" cy="572874"/>
          </a:xfrm>
          <a:prstGeom prst="flowChartPredefined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次世代用実績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作成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87730358-9878-5151-0E44-6535849983E7}"/>
              </a:ext>
            </a:extLst>
          </p:cNvPr>
          <p:cNvCxnSpPr>
            <a:cxnSpLocks/>
            <a:stCxn id="69" idx="2"/>
            <a:endCxn id="106" idx="3"/>
          </p:cNvCxnSpPr>
          <p:nvPr/>
        </p:nvCxnSpPr>
        <p:spPr>
          <a:xfrm flipH="1" flipV="1">
            <a:off x="7396290" y="6637567"/>
            <a:ext cx="643242" cy="119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31E88F2B-50A2-DDFF-C0CC-40D338620B4F}"/>
              </a:ext>
            </a:extLst>
          </p:cNvPr>
          <p:cNvSpPr/>
          <p:nvPr/>
        </p:nvSpPr>
        <p:spPr>
          <a:xfrm>
            <a:off x="9914204" y="7470687"/>
            <a:ext cx="3955784" cy="118604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TC/DC-SV(SJIS)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円柱 50">
            <a:extLst>
              <a:ext uri="{FF2B5EF4-FFF2-40B4-BE49-F238E27FC236}">
                <a16:creationId xmlns:a16="http://schemas.microsoft.com/office/drawing/2014/main" id="{3D61BE21-6850-F762-D136-5AED6BE9F05A}"/>
              </a:ext>
            </a:extLst>
          </p:cNvPr>
          <p:cNvSpPr/>
          <p:nvPr/>
        </p:nvSpPr>
        <p:spPr>
          <a:xfrm>
            <a:off x="12062323" y="7796127"/>
            <a:ext cx="1364125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リンケージテーブル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C89F7838-2EEA-2F00-5241-5948AB9E269F}"/>
              </a:ext>
            </a:extLst>
          </p:cNvPr>
          <p:cNvCxnSpPr>
            <a:cxnSpLocks/>
            <a:stCxn id="337" idx="2"/>
            <a:endCxn id="85" idx="3"/>
          </p:cNvCxnSpPr>
          <p:nvPr/>
        </p:nvCxnSpPr>
        <p:spPr>
          <a:xfrm flipH="1">
            <a:off x="9326015" y="5502322"/>
            <a:ext cx="1010902" cy="400179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0F0B3912-A49A-4A3B-BAB8-B2C794813AB0}"/>
              </a:ext>
            </a:extLst>
          </p:cNvPr>
          <p:cNvSpPr/>
          <p:nvPr/>
        </p:nvSpPr>
        <p:spPr>
          <a:xfrm>
            <a:off x="9914204" y="6122490"/>
            <a:ext cx="3955784" cy="118604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円柱 64">
            <a:extLst>
              <a:ext uri="{FF2B5EF4-FFF2-40B4-BE49-F238E27FC236}">
                <a16:creationId xmlns:a16="http://schemas.microsoft.com/office/drawing/2014/main" id="{216FD8D0-61BA-D152-D990-DA2B576DAEA8}"/>
              </a:ext>
            </a:extLst>
          </p:cNvPr>
          <p:cNvSpPr/>
          <p:nvPr/>
        </p:nvSpPr>
        <p:spPr>
          <a:xfrm>
            <a:off x="12062323" y="6455310"/>
            <a:ext cx="1364125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E4578D5-FD7C-60E9-26C2-9EF7EBE499BD}"/>
              </a:ext>
            </a:extLst>
          </p:cNvPr>
          <p:cNvCxnSpPr>
            <a:cxnSpLocks/>
            <a:stCxn id="51" idx="1"/>
            <a:endCxn id="65" idx="3"/>
          </p:cNvCxnSpPr>
          <p:nvPr/>
        </p:nvCxnSpPr>
        <p:spPr>
          <a:xfrm flipV="1">
            <a:off x="12744386" y="7157192"/>
            <a:ext cx="0" cy="63893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7E69566-E62F-5621-FCE2-14F63BED5DAD}"/>
              </a:ext>
            </a:extLst>
          </p:cNvPr>
          <p:cNvSpPr/>
          <p:nvPr/>
        </p:nvSpPr>
        <p:spPr>
          <a:xfrm>
            <a:off x="14620269" y="2375890"/>
            <a:ext cx="2825230" cy="2002403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ja-JP" altLang="en-US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本部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80DF08D-72FC-A4AD-9270-7879868C06CE}"/>
              </a:ext>
            </a:extLst>
          </p:cNvPr>
          <p:cNvSpPr/>
          <p:nvPr/>
        </p:nvSpPr>
        <p:spPr>
          <a:xfrm>
            <a:off x="14620269" y="4659320"/>
            <a:ext cx="2825230" cy="2002403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ja-JP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BPF</a:t>
            </a:r>
            <a:endParaRPr kumimoji="1" lang="ja-JP" altLang="en-US" sz="24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5DBE914-B29D-39C2-4F52-964A21646E13}"/>
              </a:ext>
            </a:extLst>
          </p:cNvPr>
          <p:cNvSpPr/>
          <p:nvPr/>
        </p:nvSpPr>
        <p:spPr>
          <a:xfrm>
            <a:off x="14620269" y="6954658"/>
            <a:ext cx="2825230" cy="2002403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ja-JP" altLang="en-US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ロジ</a:t>
            </a:r>
          </a:p>
        </p:txBody>
      </p:sp>
      <p:sp>
        <p:nvSpPr>
          <p:cNvPr id="20" name="フローチャート: 定義済み処理 19">
            <a:extLst>
              <a:ext uri="{FF2B5EF4-FFF2-40B4-BE49-F238E27FC236}">
                <a16:creationId xmlns:a16="http://schemas.microsoft.com/office/drawing/2014/main" id="{677B266A-F2D0-79EC-8F75-AFE60DB357A2}"/>
              </a:ext>
            </a:extLst>
          </p:cNvPr>
          <p:cNvSpPr/>
          <p:nvPr/>
        </p:nvSpPr>
        <p:spPr>
          <a:xfrm>
            <a:off x="15442687" y="7574194"/>
            <a:ext cx="1194231" cy="572874"/>
          </a:xfrm>
          <a:prstGeom prst="flowChartPredefinedProcess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E1CA37A1-894D-A0A8-6318-F9D279DC493A}"/>
              </a:ext>
            </a:extLst>
          </p:cNvPr>
          <p:cNvCxnSpPr>
            <a:cxnSpLocks/>
            <a:stCxn id="20" idx="1"/>
            <a:endCxn id="51" idx="4"/>
          </p:cNvCxnSpPr>
          <p:nvPr/>
        </p:nvCxnSpPr>
        <p:spPr>
          <a:xfrm flipH="1">
            <a:off x="13426448" y="7860631"/>
            <a:ext cx="2016239" cy="28643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フローチャート: 定義済み処理 24">
            <a:extLst>
              <a:ext uri="{FF2B5EF4-FFF2-40B4-BE49-F238E27FC236}">
                <a16:creationId xmlns:a16="http://schemas.microsoft.com/office/drawing/2014/main" id="{75E5A720-6574-7435-923E-E12B5D310CEB}"/>
              </a:ext>
            </a:extLst>
          </p:cNvPr>
          <p:cNvSpPr/>
          <p:nvPr/>
        </p:nvSpPr>
        <p:spPr>
          <a:xfrm>
            <a:off x="15442687" y="5423933"/>
            <a:ext cx="1194231" cy="572874"/>
          </a:xfrm>
          <a:prstGeom prst="flowChartPredefinedProcess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F3790D0-90A1-E0EC-C320-2875075554D1}"/>
              </a:ext>
            </a:extLst>
          </p:cNvPr>
          <p:cNvSpPr/>
          <p:nvPr/>
        </p:nvSpPr>
        <p:spPr>
          <a:xfrm>
            <a:off x="15424021" y="2894849"/>
            <a:ext cx="1274490" cy="874323"/>
          </a:xfrm>
          <a:prstGeom prst="rect">
            <a:avLst/>
          </a:prstGeom>
          <a:solidFill>
            <a:srgbClr val="00B0F0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PC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19A6A56B-0B1A-89FD-8D74-09F7FAF21A7B}"/>
              </a:ext>
            </a:extLst>
          </p:cNvPr>
          <p:cNvCxnSpPr>
            <a:cxnSpLocks/>
            <a:stCxn id="25" idx="1"/>
            <a:endCxn id="65" idx="4"/>
          </p:cNvCxnSpPr>
          <p:nvPr/>
        </p:nvCxnSpPr>
        <p:spPr>
          <a:xfrm flipH="1">
            <a:off x="13426448" y="5710370"/>
            <a:ext cx="2016239" cy="109588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AC200065-7C08-4600-D0EC-40FDBF1EEB5D}"/>
              </a:ext>
            </a:extLst>
          </p:cNvPr>
          <p:cNvCxnSpPr>
            <a:cxnSpLocks/>
            <a:stCxn id="30" idx="1"/>
            <a:endCxn id="65" idx="4"/>
          </p:cNvCxnSpPr>
          <p:nvPr/>
        </p:nvCxnSpPr>
        <p:spPr>
          <a:xfrm flipH="1">
            <a:off x="13426448" y="3332011"/>
            <a:ext cx="1997573" cy="347424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9D03DBFC-1746-AE6B-4BE0-0F0FAF990A9F}"/>
              </a:ext>
            </a:extLst>
          </p:cNvPr>
          <p:cNvCxnSpPr>
            <a:cxnSpLocks/>
            <a:stCxn id="106" idx="1"/>
            <a:endCxn id="38" idx="4"/>
          </p:cNvCxnSpPr>
          <p:nvPr/>
        </p:nvCxnSpPr>
        <p:spPr>
          <a:xfrm flipH="1">
            <a:off x="5662085" y="6637567"/>
            <a:ext cx="539974" cy="10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5F8CC18E-E86B-27D0-8F2C-CAEC7BD8EC17}"/>
              </a:ext>
            </a:extLst>
          </p:cNvPr>
          <p:cNvSpPr/>
          <p:nvPr/>
        </p:nvSpPr>
        <p:spPr>
          <a:xfrm>
            <a:off x="9914204" y="4802219"/>
            <a:ext cx="3955784" cy="118604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2" name="円柱 321">
            <a:extLst>
              <a:ext uri="{FF2B5EF4-FFF2-40B4-BE49-F238E27FC236}">
                <a16:creationId xmlns:a16="http://schemas.microsoft.com/office/drawing/2014/main" id="{14981175-04E7-272F-579C-F1F1F5B68AEB}"/>
              </a:ext>
            </a:extLst>
          </p:cNvPr>
          <p:cNvSpPr/>
          <p:nvPr/>
        </p:nvSpPr>
        <p:spPr>
          <a:xfrm>
            <a:off x="12062323" y="5151381"/>
            <a:ext cx="1364125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324" name="直線矢印コネクタ 323">
            <a:extLst>
              <a:ext uri="{FF2B5EF4-FFF2-40B4-BE49-F238E27FC236}">
                <a16:creationId xmlns:a16="http://schemas.microsoft.com/office/drawing/2014/main" id="{67CEA7DE-9056-3D00-EF07-E1C2282B2E5A}"/>
              </a:ext>
            </a:extLst>
          </p:cNvPr>
          <p:cNvCxnSpPr>
            <a:cxnSpLocks/>
            <a:stCxn id="65" idx="1"/>
            <a:endCxn id="322" idx="3"/>
          </p:cNvCxnSpPr>
          <p:nvPr/>
        </p:nvCxnSpPr>
        <p:spPr>
          <a:xfrm flipV="1">
            <a:off x="12744386" y="5853263"/>
            <a:ext cx="0" cy="60204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円柱 336">
            <a:extLst>
              <a:ext uri="{FF2B5EF4-FFF2-40B4-BE49-F238E27FC236}">
                <a16:creationId xmlns:a16="http://schemas.microsoft.com/office/drawing/2014/main" id="{C2F9D968-E0CF-11D6-A0E2-1A0DC912C8F1}"/>
              </a:ext>
            </a:extLst>
          </p:cNvPr>
          <p:cNvSpPr/>
          <p:nvPr/>
        </p:nvSpPr>
        <p:spPr>
          <a:xfrm>
            <a:off x="10336917" y="5151381"/>
            <a:ext cx="1364125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39" name="直線矢印コネクタ 338">
            <a:extLst>
              <a:ext uri="{FF2B5EF4-FFF2-40B4-BE49-F238E27FC236}">
                <a16:creationId xmlns:a16="http://schemas.microsoft.com/office/drawing/2014/main" id="{38C97208-CB09-E8CC-ACFE-C6222A392FFB}"/>
              </a:ext>
            </a:extLst>
          </p:cNvPr>
          <p:cNvCxnSpPr>
            <a:cxnSpLocks/>
            <a:stCxn id="322" idx="2"/>
            <a:endCxn id="337" idx="4"/>
          </p:cNvCxnSpPr>
          <p:nvPr/>
        </p:nvCxnSpPr>
        <p:spPr>
          <a:xfrm flipH="1">
            <a:off x="11701042" y="5502322"/>
            <a:ext cx="3612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柱 12">
            <a:extLst>
              <a:ext uri="{FF2B5EF4-FFF2-40B4-BE49-F238E27FC236}">
                <a16:creationId xmlns:a16="http://schemas.microsoft.com/office/drawing/2014/main" id="{FC22318D-4C39-C1AC-42E1-673AD2EA6836}"/>
              </a:ext>
            </a:extLst>
          </p:cNvPr>
          <p:cNvSpPr/>
          <p:nvPr/>
        </p:nvSpPr>
        <p:spPr>
          <a:xfrm>
            <a:off x="7023743" y="7098634"/>
            <a:ext cx="1364125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現行⇒次世代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キューテーブル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7455F34-3A19-0A09-B6AE-0176EB9C7638}"/>
              </a:ext>
            </a:extLst>
          </p:cNvPr>
          <p:cNvCxnSpPr>
            <a:cxnSpLocks/>
            <a:stCxn id="85" idx="0"/>
            <a:endCxn id="13" idx="3"/>
          </p:cNvCxnSpPr>
          <p:nvPr/>
        </p:nvCxnSpPr>
        <p:spPr>
          <a:xfrm flipH="1" flipV="1">
            <a:off x="7705806" y="7800516"/>
            <a:ext cx="1023094" cy="141716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1D7178F0-B985-6F4C-CDCB-C3673243C857}"/>
              </a:ext>
            </a:extLst>
          </p:cNvPr>
          <p:cNvGrpSpPr/>
          <p:nvPr/>
        </p:nvGrpSpPr>
        <p:grpSpPr>
          <a:xfrm>
            <a:off x="10520246" y="9096737"/>
            <a:ext cx="6897429" cy="530640"/>
            <a:chOff x="-1119038" y="9205166"/>
            <a:chExt cx="6897429" cy="530640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BB8077C-D99D-96FC-4589-6A378259E940}"/>
                </a:ext>
              </a:extLst>
            </p:cNvPr>
            <p:cNvSpPr txBox="1"/>
            <p:nvPr/>
          </p:nvSpPr>
          <p:spPr>
            <a:xfrm>
              <a:off x="-1119038" y="9205166"/>
              <a:ext cx="6897429" cy="53064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　　　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、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NSW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様担当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カストマ様担当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79C84BC0-65A1-BEF0-5E9F-FB4889AB047A}"/>
                </a:ext>
              </a:extLst>
            </p:cNvPr>
            <p:cNvSpPr/>
            <p:nvPr/>
          </p:nvSpPr>
          <p:spPr>
            <a:xfrm>
              <a:off x="-993723" y="9376272"/>
              <a:ext cx="542821" cy="250839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F5B02208-D9A4-06D2-0812-0C041E05CCA5}"/>
                </a:ext>
              </a:extLst>
            </p:cNvPr>
            <p:cNvSpPr/>
            <p:nvPr/>
          </p:nvSpPr>
          <p:spPr>
            <a:xfrm>
              <a:off x="3552049" y="9355074"/>
              <a:ext cx="542821" cy="260551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A0E33018-2872-2B11-8609-83AAFB46C21B}"/>
                </a:ext>
              </a:extLst>
            </p:cNvPr>
            <p:cNvSpPr/>
            <p:nvPr/>
          </p:nvSpPr>
          <p:spPr>
            <a:xfrm>
              <a:off x="-398132" y="9376272"/>
              <a:ext cx="542821" cy="2508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8E2AF142-5665-CED7-AFE0-AEA10660CFF0}"/>
                </a:ext>
              </a:extLst>
            </p:cNvPr>
            <p:cNvSpPr/>
            <p:nvPr/>
          </p:nvSpPr>
          <p:spPr>
            <a:xfrm>
              <a:off x="1233895" y="9355074"/>
              <a:ext cx="542821" cy="26055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8D66C57-B5D0-0780-1A3F-40C635E1F6DB}"/>
              </a:ext>
            </a:extLst>
          </p:cNvPr>
          <p:cNvCxnSpPr>
            <a:cxnSpLocks/>
            <a:stCxn id="106" idx="2"/>
            <a:endCxn id="13" idx="1"/>
          </p:cNvCxnSpPr>
          <p:nvPr/>
        </p:nvCxnSpPr>
        <p:spPr>
          <a:xfrm>
            <a:off x="6799175" y="6924004"/>
            <a:ext cx="906631" cy="174630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52CA4A36-BDB2-E2F7-C50A-B3ACFE6B1968}"/>
              </a:ext>
            </a:extLst>
          </p:cNvPr>
          <p:cNvGrpSpPr/>
          <p:nvPr/>
        </p:nvGrpSpPr>
        <p:grpSpPr>
          <a:xfrm>
            <a:off x="99534" y="4750719"/>
            <a:ext cx="1911644" cy="959651"/>
            <a:chOff x="405609" y="9205165"/>
            <a:chExt cx="1911644" cy="959651"/>
          </a:xfrm>
        </p:grpSpPr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654FA39E-C833-8115-CC51-0CE44E496B52}"/>
                </a:ext>
              </a:extLst>
            </p:cNvPr>
            <p:cNvSpPr txBox="1"/>
            <p:nvPr/>
          </p:nvSpPr>
          <p:spPr>
            <a:xfrm>
              <a:off x="405609" y="9205165"/>
              <a:ext cx="1911644" cy="95965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データの流れ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データ参照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DC4AB0DB-00D9-8835-FB98-568087430B89}"/>
                </a:ext>
              </a:extLst>
            </p:cNvPr>
            <p:cNvCxnSpPr>
              <a:cxnSpLocks/>
            </p:cNvCxnSpPr>
            <p:nvPr/>
          </p:nvCxnSpPr>
          <p:spPr>
            <a:xfrm>
              <a:off x="1635001" y="9936000"/>
              <a:ext cx="57634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996A2769-F795-D860-7CB7-1083CBE626E1}"/>
                </a:ext>
              </a:extLst>
            </p:cNvPr>
            <p:cNvCxnSpPr>
              <a:cxnSpLocks/>
            </p:cNvCxnSpPr>
            <p:nvPr/>
          </p:nvCxnSpPr>
          <p:spPr>
            <a:xfrm>
              <a:off x="1635001" y="9490619"/>
              <a:ext cx="60229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9260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1EEF6-9EA5-1D63-9342-CC7EC0AA2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10793F77-45DF-A8BA-D440-5945806A6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BCE7EE27-645B-79E6-EC74-4A788006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0D696392-F886-B907-9873-3AFB134E1CB1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5C15F9C6-4B7D-B592-4BFF-7EBE442673F8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34DA13-F384-1D67-AD27-E7656BC21278}"/>
              </a:ext>
            </a:extLst>
          </p:cNvPr>
          <p:cNvSpPr txBox="1"/>
          <p:nvPr/>
        </p:nvSpPr>
        <p:spPr>
          <a:xfrm>
            <a:off x="405608" y="1138709"/>
            <a:ext cx="10157101" cy="56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■参考：実績データ作成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現行システム⇒タブレット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42A9D50-6FB6-DBC9-B734-9B994D535329}"/>
              </a:ext>
            </a:extLst>
          </p:cNvPr>
          <p:cNvSpPr/>
          <p:nvPr/>
        </p:nvSpPr>
        <p:spPr>
          <a:xfrm>
            <a:off x="2113809" y="3752745"/>
            <a:ext cx="14280998" cy="5314639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kumimoji="1" lang="en-US" altLang="ja-JP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kumimoji="1" lang="ja-JP" altLang="en-US" sz="24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F63D692-B18D-0984-1F47-29FF3EBAA7EF}"/>
              </a:ext>
            </a:extLst>
          </p:cNvPr>
          <p:cNvSpPr/>
          <p:nvPr/>
        </p:nvSpPr>
        <p:spPr>
          <a:xfrm>
            <a:off x="2408861" y="4727970"/>
            <a:ext cx="1326302" cy="5913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データ登録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sp>
        <p:nvSpPr>
          <p:cNvPr id="14" name="円柱 13">
            <a:extLst>
              <a:ext uri="{FF2B5EF4-FFF2-40B4-BE49-F238E27FC236}">
                <a16:creationId xmlns:a16="http://schemas.microsoft.com/office/drawing/2014/main" id="{B6463F55-9432-50DD-25EA-C47A257CE4D8}"/>
              </a:ext>
            </a:extLst>
          </p:cNvPr>
          <p:cNvSpPr/>
          <p:nvPr/>
        </p:nvSpPr>
        <p:spPr>
          <a:xfrm>
            <a:off x="11307805" y="5586668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89F187E-92BA-40D1-25B1-27C0225A5E06}"/>
              </a:ext>
            </a:extLst>
          </p:cNvPr>
          <p:cNvCxnSpPr>
            <a:cxnSpLocks/>
            <a:stCxn id="161" idx="2"/>
            <a:endCxn id="167" idx="1"/>
          </p:cNvCxnSpPr>
          <p:nvPr/>
        </p:nvCxnSpPr>
        <p:spPr>
          <a:xfrm>
            <a:off x="17338159" y="4904488"/>
            <a:ext cx="228" cy="48459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3421E23-F18F-A3A9-2B0A-8755597C837E}"/>
              </a:ext>
            </a:extLst>
          </p:cNvPr>
          <p:cNvSpPr/>
          <p:nvPr/>
        </p:nvSpPr>
        <p:spPr>
          <a:xfrm>
            <a:off x="11132290" y="6516513"/>
            <a:ext cx="4838829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顧客管理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円柱 29">
            <a:extLst>
              <a:ext uri="{FF2B5EF4-FFF2-40B4-BE49-F238E27FC236}">
                <a16:creationId xmlns:a16="http://schemas.microsoft.com/office/drawing/2014/main" id="{FB247FF9-2457-8C5B-D844-B024D5A00412}"/>
              </a:ext>
            </a:extLst>
          </p:cNvPr>
          <p:cNvSpPr/>
          <p:nvPr/>
        </p:nvSpPr>
        <p:spPr>
          <a:xfrm>
            <a:off x="13634653" y="4344492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279970C-9942-50B2-47A1-2E25C5190C9E}"/>
              </a:ext>
            </a:extLst>
          </p:cNvPr>
          <p:cNvSpPr/>
          <p:nvPr/>
        </p:nvSpPr>
        <p:spPr>
          <a:xfrm>
            <a:off x="11135652" y="4020087"/>
            <a:ext cx="4835469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円柱 39">
            <a:extLst>
              <a:ext uri="{FF2B5EF4-FFF2-40B4-BE49-F238E27FC236}">
                <a16:creationId xmlns:a16="http://schemas.microsoft.com/office/drawing/2014/main" id="{9A8D9007-853F-6053-C11D-9139FA3A86AA}"/>
              </a:ext>
            </a:extLst>
          </p:cNvPr>
          <p:cNvSpPr/>
          <p:nvPr/>
        </p:nvSpPr>
        <p:spPr>
          <a:xfrm>
            <a:off x="11303617" y="8120016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sp>
        <p:nvSpPr>
          <p:cNvPr id="43" name="円柱 42">
            <a:extLst>
              <a:ext uri="{FF2B5EF4-FFF2-40B4-BE49-F238E27FC236}">
                <a16:creationId xmlns:a16="http://schemas.microsoft.com/office/drawing/2014/main" id="{2099324F-3739-F47C-6749-98F2E797972B}"/>
              </a:ext>
            </a:extLst>
          </p:cNvPr>
          <p:cNvSpPr/>
          <p:nvPr/>
        </p:nvSpPr>
        <p:spPr>
          <a:xfrm>
            <a:off x="11303617" y="6876960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E43EBBF0-184D-D66E-9BD1-4C649299598E}"/>
              </a:ext>
            </a:extLst>
          </p:cNvPr>
          <p:cNvSpPr/>
          <p:nvPr/>
        </p:nvSpPr>
        <p:spPr>
          <a:xfrm>
            <a:off x="11131054" y="5270200"/>
            <a:ext cx="4831146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円柱 46">
            <a:extLst>
              <a:ext uri="{FF2B5EF4-FFF2-40B4-BE49-F238E27FC236}">
                <a16:creationId xmlns:a16="http://schemas.microsoft.com/office/drawing/2014/main" id="{530F11FA-59F4-5243-1460-F4E266014089}"/>
              </a:ext>
            </a:extLst>
          </p:cNvPr>
          <p:cNvSpPr/>
          <p:nvPr/>
        </p:nvSpPr>
        <p:spPr>
          <a:xfrm>
            <a:off x="12476679" y="8098115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DC</a:t>
            </a: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</a:t>
            </a:r>
          </a:p>
        </p:txBody>
      </p:sp>
      <p:sp>
        <p:nvSpPr>
          <p:cNvPr id="48" name="円柱 47">
            <a:extLst>
              <a:ext uri="{FF2B5EF4-FFF2-40B4-BE49-F238E27FC236}">
                <a16:creationId xmlns:a16="http://schemas.microsoft.com/office/drawing/2014/main" id="{A4282E5B-FBB3-3368-C671-53C942E59547}"/>
              </a:ext>
            </a:extLst>
          </p:cNvPr>
          <p:cNvSpPr/>
          <p:nvPr/>
        </p:nvSpPr>
        <p:spPr>
          <a:xfrm>
            <a:off x="14793067" y="6871135"/>
            <a:ext cx="1058290" cy="70188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配送残</a:t>
            </a:r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DDC2E87F-2653-D672-76F0-DC869E9670F9}"/>
              </a:ext>
            </a:extLst>
          </p:cNvPr>
          <p:cNvSpPr/>
          <p:nvPr/>
        </p:nvSpPr>
        <p:spPr>
          <a:xfrm>
            <a:off x="16809589" y="4331613"/>
            <a:ext cx="1057140" cy="572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 err="1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6F7BFB60-0A79-1B43-0172-761CD74DFB15}"/>
              </a:ext>
            </a:extLst>
          </p:cNvPr>
          <p:cNvSpPr/>
          <p:nvPr/>
        </p:nvSpPr>
        <p:spPr>
          <a:xfrm>
            <a:off x="16699721" y="5084110"/>
            <a:ext cx="1274490" cy="963865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配送業務端末</a:t>
            </a:r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7D627BA7-2C8B-EF76-403C-76E981F8DBF7}"/>
              </a:ext>
            </a:extLst>
          </p:cNvPr>
          <p:cNvSpPr/>
          <p:nvPr/>
        </p:nvSpPr>
        <p:spPr>
          <a:xfrm>
            <a:off x="16699721" y="6236956"/>
            <a:ext cx="1274490" cy="874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端末</a:t>
            </a:r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F54BC30C-F483-3DE1-C889-75A92ACF52D2}"/>
              </a:ext>
            </a:extLst>
          </p:cNvPr>
          <p:cNvSpPr/>
          <p:nvPr/>
        </p:nvSpPr>
        <p:spPr>
          <a:xfrm>
            <a:off x="16711801" y="8616296"/>
            <a:ext cx="1274490" cy="874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店内端末</a:t>
            </a:r>
          </a:p>
        </p:txBody>
      </p:sp>
      <p:sp>
        <p:nvSpPr>
          <p:cNvPr id="167" name="円柱 166">
            <a:extLst>
              <a:ext uri="{FF2B5EF4-FFF2-40B4-BE49-F238E27FC236}">
                <a16:creationId xmlns:a16="http://schemas.microsoft.com/office/drawing/2014/main" id="{D042382D-E9B8-0D1B-A373-6D1115E19DC3}"/>
              </a:ext>
            </a:extLst>
          </p:cNvPr>
          <p:cNvSpPr/>
          <p:nvPr/>
        </p:nvSpPr>
        <p:spPr>
          <a:xfrm>
            <a:off x="16938490" y="5389082"/>
            <a:ext cx="799793" cy="46196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16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E1E41A14-E18A-D0A7-5F98-89F10B5CE1C0}"/>
              </a:ext>
            </a:extLst>
          </p:cNvPr>
          <p:cNvCxnSpPr>
            <a:cxnSpLocks/>
            <a:stCxn id="164" idx="0"/>
            <a:endCxn id="167" idx="3"/>
          </p:cNvCxnSpPr>
          <p:nvPr/>
        </p:nvCxnSpPr>
        <p:spPr>
          <a:xfrm flipV="1">
            <a:off x="17336966" y="5851044"/>
            <a:ext cx="1421" cy="385912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矢印コネクタ 180">
            <a:extLst>
              <a:ext uri="{FF2B5EF4-FFF2-40B4-BE49-F238E27FC236}">
                <a16:creationId xmlns:a16="http://schemas.microsoft.com/office/drawing/2014/main" id="{248F0456-7AC0-01F0-C3C8-958019F1EC6C}"/>
              </a:ext>
            </a:extLst>
          </p:cNvPr>
          <p:cNvCxnSpPr>
            <a:cxnSpLocks/>
            <a:stCxn id="31" idx="3"/>
            <a:endCxn id="304" idx="2"/>
          </p:cNvCxnSpPr>
          <p:nvPr/>
        </p:nvCxnSpPr>
        <p:spPr>
          <a:xfrm>
            <a:off x="15971121" y="4616084"/>
            <a:ext cx="980040" cy="3441993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矢印コネクタ 183">
            <a:extLst>
              <a:ext uri="{FF2B5EF4-FFF2-40B4-BE49-F238E27FC236}">
                <a16:creationId xmlns:a16="http://schemas.microsoft.com/office/drawing/2014/main" id="{9C8ABF73-4678-DEDA-CE6B-91AF020C3EF3}"/>
              </a:ext>
            </a:extLst>
          </p:cNvPr>
          <p:cNvCxnSpPr>
            <a:cxnSpLocks/>
            <a:stCxn id="18" idx="3"/>
            <a:endCxn id="304" idx="2"/>
          </p:cNvCxnSpPr>
          <p:nvPr/>
        </p:nvCxnSpPr>
        <p:spPr>
          <a:xfrm flipV="1">
            <a:off x="15971121" y="8058077"/>
            <a:ext cx="980040" cy="301667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円柱 189">
            <a:extLst>
              <a:ext uri="{FF2B5EF4-FFF2-40B4-BE49-F238E27FC236}">
                <a16:creationId xmlns:a16="http://schemas.microsoft.com/office/drawing/2014/main" id="{E7BA07E5-9B63-48C9-CD08-3D9FFA8FBA71}"/>
              </a:ext>
            </a:extLst>
          </p:cNvPr>
          <p:cNvSpPr/>
          <p:nvPr/>
        </p:nvSpPr>
        <p:spPr>
          <a:xfrm>
            <a:off x="14793067" y="4331613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</a:p>
        </p:txBody>
      </p:sp>
      <p:sp>
        <p:nvSpPr>
          <p:cNvPr id="191" name="円柱 190">
            <a:extLst>
              <a:ext uri="{FF2B5EF4-FFF2-40B4-BE49-F238E27FC236}">
                <a16:creationId xmlns:a16="http://schemas.microsoft.com/office/drawing/2014/main" id="{EBB16FBF-775E-4DDD-A877-B2F592C9A4FC}"/>
              </a:ext>
            </a:extLst>
          </p:cNvPr>
          <p:cNvSpPr/>
          <p:nvPr/>
        </p:nvSpPr>
        <p:spPr>
          <a:xfrm>
            <a:off x="13636863" y="8105256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配送工事枠</a:t>
            </a:r>
          </a:p>
        </p:txBody>
      </p:sp>
      <p:sp>
        <p:nvSpPr>
          <p:cNvPr id="218" name="円柱 217">
            <a:extLst>
              <a:ext uri="{FF2B5EF4-FFF2-40B4-BE49-F238E27FC236}">
                <a16:creationId xmlns:a16="http://schemas.microsoft.com/office/drawing/2014/main" id="{3C0B5FE0-AF34-26EC-725F-AB69E4698F52}"/>
              </a:ext>
            </a:extLst>
          </p:cNvPr>
          <p:cNvSpPr/>
          <p:nvPr/>
        </p:nvSpPr>
        <p:spPr>
          <a:xfrm>
            <a:off x="6163979" y="6333424"/>
            <a:ext cx="1058290" cy="701882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次世代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B3BC4D62-A07E-E08B-5677-201018AC6286}"/>
              </a:ext>
            </a:extLst>
          </p:cNvPr>
          <p:cNvSpPr/>
          <p:nvPr/>
        </p:nvSpPr>
        <p:spPr>
          <a:xfrm>
            <a:off x="16712392" y="7522124"/>
            <a:ext cx="1274490" cy="963865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店内端末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4" name="円柱 303">
            <a:extLst>
              <a:ext uri="{FF2B5EF4-FFF2-40B4-BE49-F238E27FC236}">
                <a16:creationId xmlns:a16="http://schemas.microsoft.com/office/drawing/2014/main" id="{8598EE35-8891-16E5-B17C-9DABB3D28DD1}"/>
              </a:ext>
            </a:extLst>
          </p:cNvPr>
          <p:cNvSpPr/>
          <p:nvPr/>
        </p:nvSpPr>
        <p:spPr>
          <a:xfrm>
            <a:off x="16951161" y="7827096"/>
            <a:ext cx="799793" cy="46196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16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08" name="直線矢印コネクタ 307">
            <a:extLst>
              <a:ext uri="{FF2B5EF4-FFF2-40B4-BE49-F238E27FC236}">
                <a16:creationId xmlns:a16="http://schemas.microsoft.com/office/drawing/2014/main" id="{F54B0436-3853-A32F-41C4-3B5CC13A7CCD}"/>
              </a:ext>
            </a:extLst>
          </p:cNvPr>
          <p:cNvCxnSpPr>
            <a:cxnSpLocks/>
            <a:stCxn id="165" idx="0"/>
            <a:endCxn id="304" idx="3"/>
          </p:cNvCxnSpPr>
          <p:nvPr/>
        </p:nvCxnSpPr>
        <p:spPr>
          <a:xfrm flipV="1">
            <a:off x="17349046" y="8289058"/>
            <a:ext cx="2012" cy="32723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線矢印コネクタ 317">
            <a:extLst>
              <a:ext uri="{FF2B5EF4-FFF2-40B4-BE49-F238E27FC236}">
                <a16:creationId xmlns:a16="http://schemas.microsoft.com/office/drawing/2014/main" id="{C1AEAE01-9C72-79EF-F374-69CADE605273}"/>
              </a:ext>
            </a:extLst>
          </p:cNvPr>
          <p:cNvCxnSpPr>
            <a:cxnSpLocks/>
            <a:stCxn id="24" idx="3"/>
            <a:endCxn id="161" idx="1"/>
          </p:cNvCxnSpPr>
          <p:nvPr/>
        </p:nvCxnSpPr>
        <p:spPr>
          <a:xfrm flipV="1">
            <a:off x="15971119" y="4618051"/>
            <a:ext cx="838470" cy="2494459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C16CD9B-92A0-C8A6-5E72-29C23F6DBCD3}"/>
              </a:ext>
            </a:extLst>
          </p:cNvPr>
          <p:cNvSpPr/>
          <p:nvPr/>
        </p:nvSpPr>
        <p:spPr>
          <a:xfrm>
            <a:off x="11132290" y="7763747"/>
            <a:ext cx="4838831" cy="11919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TC/DC-SV(SJIS)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51338A94-4866-2F88-BF01-EB165DEEE15D}"/>
              </a:ext>
            </a:extLst>
          </p:cNvPr>
          <p:cNvSpPr/>
          <p:nvPr/>
        </p:nvSpPr>
        <p:spPr>
          <a:xfrm>
            <a:off x="3934170" y="4216242"/>
            <a:ext cx="6452514" cy="4031210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Ver.26ai(AL32UTF8)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円柱 6">
            <a:extLst>
              <a:ext uri="{FF2B5EF4-FFF2-40B4-BE49-F238E27FC236}">
                <a16:creationId xmlns:a16="http://schemas.microsoft.com/office/drawing/2014/main" id="{41E8E1F7-B9A5-9CDE-78C7-EB08222A491B}"/>
              </a:ext>
            </a:extLst>
          </p:cNvPr>
          <p:cNvSpPr/>
          <p:nvPr/>
        </p:nvSpPr>
        <p:spPr>
          <a:xfrm>
            <a:off x="14777564" y="8105256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ロジ関連</a:t>
            </a:r>
          </a:p>
        </p:txBody>
      </p:sp>
      <p:sp>
        <p:nvSpPr>
          <p:cNvPr id="20" name="円柱 19">
            <a:extLst>
              <a:ext uri="{FF2B5EF4-FFF2-40B4-BE49-F238E27FC236}">
                <a16:creationId xmlns:a16="http://schemas.microsoft.com/office/drawing/2014/main" id="{C756D5F6-F69F-02AC-D7E2-3E6F37112499}"/>
              </a:ext>
            </a:extLst>
          </p:cNvPr>
          <p:cNvSpPr/>
          <p:nvPr/>
        </p:nvSpPr>
        <p:spPr>
          <a:xfrm>
            <a:off x="12507990" y="5546448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円柱 50">
            <a:extLst>
              <a:ext uri="{FF2B5EF4-FFF2-40B4-BE49-F238E27FC236}">
                <a16:creationId xmlns:a16="http://schemas.microsoft.com/office/drawing/2014/main" id="{CFE8467B-1796-25AA-8BA5-6F8810197535}"/>
              </a:ext>
            </a:extLst>
          </p:cNvPr>
          <p:cNvSpPr/>
          <p:nvPr/>
        </p:nvSpPr>
        <p:spPr>
          <a:xfrm>
            <a:off x="12482886" y="6846695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持込修理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出張修理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円柱 67">
            <a:extLst>
              <a:ext uri="{FF2B5EF4-FFF2-40B4-BE49-F238E27FC236}">
                <a16:creationId xmlns:a16="http://schemas.microsoft.com/office/drawing/2014/main" id="{72E9654A-EF9F-7C32-83FB-02C6CC77DD78}"/>
              </a:ext>
            </a:extLst>
          </p:cNvPr>
          <p:cNvSpPr/>
          <p:nvPr/>
        </p:nvSpPr>
        <p:spPr>
          <a:xfrm>
            <a:off x="13643807" y="6871135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あんしん延長保証</a:t>
            </a:r>
            <a:endParaRPr kumimoji="1" lang="en-US" altLang="ja-JP" sz="10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長期無料保証</a:t>
            </a:r>
            <a:endParaRPr kumimoji="1" lang="ja-JP" altLang="en-US" sz="10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円柱 68">
            <a:extLst>
              <a:ext uri="{FF2B5EF4-FFF2-40B4-BE49-F238E27FC236}">
                <a16:creationId xmlns:a16="http://schemas.microsoft.com/office/drawing/2014/main" id="{A202360C-4142-70AA-8575-04B286CC453B}"/>
              </a:ext>
            </a:extLst>
          </p:cNvPr>
          <p:cNvSpPr/>
          <p:nvPr/>
        </p:nvSpPr>
        <p:spPr>
          <a:xfrm>
            <a:off x="11303617" y="4344492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円柱 18">
            <a:extLst>
              <a:ext uri="{FF2B5EF4-FFF2-40B4-BE49-F238E27FC236}">
                <a16:creationId xmlns:a16="http://schemas.microsoft.com/office/drawing/2014/main" id="{664CE3C0-483A-6D9F-82F9-7EECB5D27A34}"/>
              </a:ext>
            </a:extLst>
          </p:cNvPr>
          <p:cNvSpPr/>
          <p:nvPr/>
        </p:nvSpPr>
        <p:spPr>
          <a:xfrm>
            <a:off x="12479752" y="4344492"/>
            <a:ext cx="1058290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送信管理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28050720-0457-923A-E60C-3A141AE0D746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13019282" y="3261360"/>
            <a:ext cx="1144516" cy="108313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楕円 328">
            <a:extLst>
              <a:ext uri="{FF2B5EF4-FFF2-40B4-BE49-F238E27FC236}">
                <a16:creationId xmlns:a16="http://schemas.microsoft.com/office/drawing/2014/main" id="{2727F0EB-2854-E6E8-C64D-489ED985A21E}"/>
              </a:ext>
            </a:extLst>
          </p:cNvPr>
          <p:cNvSpPr/>
          <p:nvPr/>
        </p:nvSpPr>
        <p:spPr>
          <a:xfrm>
            <a:off x="14993628" y="1405222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1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340" name="楕円 339">
            <a:extLst>
              <a:ext uri="{FF2B5EF4-FFF2-40B4-BE49-F238E27FC236}">
                <a16:creationId xmlns:a16="http://schemas.microsoft.com/office/drawing/2014/main" id="{9931A4C1-72BA-E311-40BA-719C9AE81E85}"/>
              </a:ext>
            </a:extLst>
          </p:cNvPr>
          <p:cNvSpPr/>
          <p:nvPr/>
        </p:nvSpPr>
        <p:spPr>
          <a:xfrm>
            <a:off x="7238423" y="6016157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4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328" name="楕円 327">
            <a:extLst>
              <a:ext uri="{FF2B5EF4-FFF2-40B4-BE49-F238E27FC236}">
                <a16:creationId xmlns:a16="http://schemas.microsoft.com/office/drawing/2014/main" id="{E00DFF5F-3259-187A-D07B-EDB5A5A78050}"/>
              </a:ext>
            </a:extLst>
          </p:cNvPr>
          <p:cNvSpPr/>
          <p:nvPr/>
        </p:nvSpPr>
        <p:spPr>
          <a:xfrm>
            <a:off x="10378957" y="3196015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2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F6571405-91D8-45B2-7B53-A3630E6EC620}"/>
              </a:ext>
            </a:extLst>
          </p:cNvPr>
          <p:cNvCxnSpPr>
            <a:cxnSpLocks/>
            <a:stCxn id="31" idx="3"/>
            <a:endCxn id="161" idx="1"/>
          </p:cNvCxnSpPr>
          <p:nvPr/>
        </p:nvCxnSpPr>
        <p:spPr>
          <a:xfrm>
            <a:off x="15971121" y="4616084"/>
            <a:ext cx="838468" cy="1967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フローチャート: 定義済み処理 74">
            <a:extLst>
              <a:ext uri="{FF2B5EF4-FFF2-40B4-BE49-F238E27FC236}">
                <a16:creationId xmlns:a16="http://schemas.microsoft.com/office/drawing/2014/main" id="{A8E83C2B-9102-8381-42F4-23D89B6E6235}"/>
              </a:ext>
            </a:extLst>
          </p:cNvPr>
          <p:cNvSpPr/>
          <p:nvPr/>
        </p:nvSpPr>
        <p:spPr>
          <a:xfrm>
            <a:off x="8970712" y="9260615"/>
            <a:ext cx="1194231" cy="572874"/>
          </a:xfrm>
          <a:prstGeom prst="flowChartPredefinedProcess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トラン連携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文字コード変換</a:t>
            </a:r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9D64BDE9-E381-FC3D-381D-541E5F892043}"/>
              </a:ext>
            </a:extLst>
          </p:cNvPr>
          <p:cNvSpPr/>
          <p:nvPr/>
        </p:nvSpPr>
        <p:spPr>
          <a:xfrm>
            <a:off x="7322031" y="9157787"/>
            <a:ext cx="3809023" cy="77821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ja-JP" sz="1800" b="1" dirty="0" err="1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2" name="矢印: 下カーブ 181">
            <a:extLst>
              <a:ext uri="{FF2B5EF4-FFF2-40B4-BE49-F238E27FC236}">
                <a16:creationId xmlns:a16="http://schemas.microsoft.com/office/drawing/2014/main" id="{C1306911-155A-C414-0A3F-18DF289D9697}"/>
              </a:ext>
            </a:extLst>
          </p:cNvPr>
          <p:cNvSpPr/>
          <p:nvPr/>
        </p:nvSpPr>
        <p:spPr>
          <a:xfrm rot="2337650">
            <a:off x="11048046" y="5659195"/>
            <a:ext cx="568153" cy="4231030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3" name="吹き出し: 折線 262">
            <a:extLst>
              <a:ext uri="{FF2B5EF4-FFF2-40B4-BE49-F238E27FC236}">
                <a16:creationId xmlns:a16="http://schemas.microsoft.com/office/drawing/2014/main" id="{7B01B813-115D-3128-8B7C-602C2A2844A9}"/>
              </a:ext>
            </a:extLst>
          </p:cNvPr>
          <p:cNvSpPr/>
          <p:nvPr/>
        </p:nvSpPr>
        <p:spPr>
          <a:xfrm>
            <a:off x="11563426" y="9366843"/>
            <a:ext cx="2263550" cy="51859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1159"/>
              <a:gd name="adj6" fmla="val -59596"/>
            </a:avLst>
          </a:prstGeom>
          <a:solidFill>
            <a:srgbClr val="FFFF99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 err="1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を使用することで文字コードを変換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87C85006-C953-497B-38F4-85A4BF6460CA}"/>
              </a:ext>
            </a:extLst>
          </p:cNvPr>
          <p:cNvSpPr/>
          <p:nvPr/>
        </p:nvSpPr>
        <p:spPr>
          <a:xfrm>
            <a:off x="11099195" y="1211407"/>
            <a:ext cx="4871923" cy="2428219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ED8EAB54-46A4-39DD-668E-BC169E37ACA0}"/>
              </a:ext>
            </a:extLst>
          </p:cNvPr>
          <p:cNvSpPr/>
          <p:nvPr/>
        </p:nvSpPr>
        <p:spPr>
          <a:xfrm>
            <a:off x="16691356" y="1447087"/>
            <a:ext cx="1274490" cy="874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(RZ-A476)</a:t>
            </a:r>
          </a:p>
        </p:txBody>
      </p:sp>
      <p:sp>
        <p:nvSpPr>
          <p:cNvPr id="60" name="円柱 59">
            <a:extLst>
              <a:ext uri="{FF2B5EF4-FFF2-40B4-BE49-F238E27FC236}">
                <a16:creationId xmlns:a16="http://schemas.microsoft.com/office/drawing/2014/main" id="{A3E0CAD3-B950-F980-D169-8BFB3F5E5D94}"/>
              </a:ext>
            </a:extLst>
          </p:cNvPr>
          <p:cNvSpPr/>
          <p:nvPr/>
        </p:nvSpPr>
        <p:spPr>
          <a:xfrm>
            <a:off x="13002475" y="1533376"/>
            <a:ext cx="1058290" cy="70188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sp>
        <p:nvSpPr>
          <p:cNvPr id="61" name="フローチャート: 定義済み処理 60">
            <a:extLst>
              <a:ext uri="{FF2B5EF4-FFF2-40B4-BE49-F238E27FC236}">
                <a16:creationId xmlns:a16="http://schemas.microsoft.com/office/drawing/2014/main" id="{CE94AC85-797A-C105-E0BE-2CD6DF3F3117}"/>
              </a:ext>
            </a:extLst>
          </p:cNvPr>
          <p:cNvSpPr/>
          <p:nvPr/>
        </p:nvSpPr>
        <p:spPr>
          <a:xfrm>
            <a:off x="11279100" y="1602327"/>
            <a:ext cx="1194231" cy="572874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トラン取込</a:t>
            </a:r>
            <a:endParaRPr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定期実行</a:t>
            </a:r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フローチャート: 定義済み処理 61">
            <a:extLst>
              <a:ext uri="{FF2B5EF4-FFF2-40B4-BE49-F238E27FC236}">
                <a16:creationId xmlns:a16="http://schemas.microsoft.com/office/drawing/2014/main" id="{187A2410-3535-820E-7799-37AC826BC1B1}"/>
              </a:ext>
            </a:extLst>
          </p:cNvPr>
          <p:cNvSpPr/>
          <p:nvPr/>
        </p:nvSpPr>
        <p:spPr>
          <a:xfrm>
            <a:off x="12937716" y="2498420"/>
            <a:ext cx="1194231" cy="459856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トリガー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トラン分解</a:t>
            </a:r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1964EA4A-ECC3-5452-EB09-E9EFE51EF875}"/>
              </a:ext>
            </a:extLst>
          </p:cNvPr>
          <p:cNvCxnSpPr>
            <a:cxnSpLocks/>
            <a:stCxn id="60" idx="3"/>
            <a:endCxn id="62" idx="0"/>
          </p:cNvCxnSpPr>
          <p:nvPr/>
        </p:nvCxnSpPr>
        <p:spPr>
          <a:xfrm>
            <a:off x="13531620" y="2235258"/>
            <a:ext cx="3212" cy="26316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B0471F08-F465-95D9-BD2F-A26AC0E1F2F6}"/>
              </a:ext>
            </a:extLst>
          </p:cNvPr>
          <p:cNvCxnSpPr>
            <a:cxnSpLocks/>
            <a:stCxn id="62" idx="3"/>
            <a:endCxn id="66" idx="2"/>
          </p:cNvCxnSpPr>
          <p:nvPr/>
        </p:nvCxnSpPr>
        <p:spPr>
          <a:xfrm>
            <a:off x="14131947" y="2728348"/>
            <a:ext cx="547563" cy="55596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円柱 65">
            <a:extLst>
              <a:ext uri="{FF2B5EF4-FFF2-40B4-BE49-F238E27FC236}">
                <a16:creationId xmlns:a16="http://schemas.microsoft.com/office/drawing/2014/main" id="{0204800A-4323-B441-BD9F-171DDD16BF86}"/>
              </a:ext>
            </a:extLst>
          </p:cNvPr>
          <p:cNvSpPr/>
          <p:nvPr/>
        </p:nvSpPr>
        <p:spPr>
          <a:xfrm>
            <a:off x="14679510" y="2986633"/>
            <a:ext cx="1058290" cy="595357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</a:t>
            </a: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81AF533A-EE00-7FF7-569E-1DDDAC9429A1}"/>
              </a:ext>
            </a:extLst>
          </p:cNvPr>
          <p:cNvCxnSpPr>
            <a:cxnSpLocks/>
            <a:stCxn id="62" idx="3"/>
            <a:endCxn id="73" idx="2"/>
          </p:cNvCxnSpPr>
          <p:nvPr/>
        </p:nvCxnSpPr>
        <p:spPr>
          <a:xfrm flipV="1">
            <a:off x="14131947" y="2686542"/>
            <a:ext cx="554100" cy="4180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フローチャート: 定義済み処理 70">
            <a:extLst>
              <a:ext uri="{FF2B5EF4-FFF2-40B4-BE49-F238E27FC236}">
                <a16:creationId xmlns:a16="http://schemas.microsoft.com/office/drawing/2014/main" id="{542A8254-F45B-72E3-8D5B-B699307B4D5A}"/>
              </a:ext>
            </a:extLst>
          </p:cNvPr>
          <p:cNvSpPr/>
          <p:nvPr/>
        </p:nvSpPr>
        <p:spPr>
          <a:xfrm>
            <a:off x="12934504" y="3041164"/>
            <a:ext cx="1194231" cy="515792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在庫送信</a:t>
            </a:r>
          </a:p>
        </p:txBody>
      </p:sp>
      <p:sp>
        <p:nvSpPr>
          <p:cNvPr id="72" name="矢印: 下カーブ 71">
            <a:extLst>
              <a:ext uri="{FF2B5EF4-FFF2-40B4-BE49-F238E27FC236}">
                <a16:creationId xmlns:a16="http://schemas.microsoft.com/office/drawing/2014/main" id="{E856FF42-788F-A747-1F5C-073B7A462F9A}"/>
              </a:ext>
            </a:extLst>
          </p:cNvPr>
          <p:cNvSpPr/>
          <p:nvPr/>
        </p:nvSpPr>
        <p:spPr>
          <a:xfrm rot="5400000">
            <a:off x="14223534" y="3061502"/>
            <a:ext cx="374226" cy="733833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円柱 72">
            <a:extLst>
              <a:ext uri="{FF2B5EF4-FFF2-40B4-BE49-F238E27FC236}">
                <a16:creationId xmlns:a16="http://schemas.microsoft.com/office/drawing/2014/main" id="{06F8239C-ED54-92F3-1612-00C14C6CE64A}"/>
              </a:ext>
            </a:extLst>
          </p:cNvPr>
          <p:cNvSpPr/>
          <p:nvPr/>
        </p:nvSpPr>
        <p:spPr>
          <a:xfrm>
            <a:off x="14686047" y="2388863"/>
            <a:ext cx="1058290" cy="595357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8BC7EADB-D1A9-6A1D-C2B2-D81E69BEDEB5}"/>
              </a:ext>
            </a:extLst>
          </p:cNvPr>
          <p:cNvCxnSpPr>
            <a:cxnSpLocks/>
            <a:stCxn id="58" idx="1"/>
            <a:endCxn id="60" idx="4"/>
          </p:cNvCxnSpPr>
          <p:nvPr/>
        </p:nvCxnSpPr>
        <p:spPr>
          <a:xfrm flipH="1">
            <a:off x="14060765" y="1884249"/>
            <a:ext cx="2630591" cy="6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フローチャート: 定義済み処理 80">
            <a:extLst>
              <a:ext uri="{FF2B5EF4-FFF2-40B4-BE49-F238E27FC236}">
                <a16:creationId xmlns:a16="http://schemas.microsoft.com/office/drawing/2014/main" id="{B5986411-50B3-B866-9873-E50F360BF1E0}"/>
              </a:ext>
            </a:extLst>
          </p:cNvPr>
          <p:cNvSpPr/>
          <p:nvPr/>
        </p:nvSpPr>
        <p:spPr>
          <a:xfrm>
            <a:off x="11279100" y="2953414"/>
            <a:ext cx="1194231" cy="572874"/>
          </a:xfrm>
          <a:prstGeom prst="flowChartPredefined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トラン送信</a:t>
            </a:r>
            <a:endParaRPr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定期実行</a:t>
            </a:r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矢印: 下カーブ 83">
            <a:extLst>
              <a:ext uri="{FF2B5EF4-FFF2-40B4-BE49-F238E27FC236}">
                <a16:creationId xmlns:a16="http://schemas.microsoft.com/office/drawing/2014/main" id="{704596F8-8995-FF02-AC82-02326D47D018}"/>
              </a:ext>
            </a:extLst>
          </p:cNvPr>
          <p:cNvSpPr/>
          <p:nvPr/>
        </p:nvSpPr>
        <p:spPr>
          <a:xfrm rot="2381078">
            <a:off x="12582438" y="1961061"/>
            <a:ext cx="374226" cy="1225800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7DCE066-A153-78B8-8609-5F88208B19C9}"/>
              </a:ext>
            </a:extLst>
          </p:cNvPr>
          <p:cNvSpPr txBox="1"/>
          <p:nvPr/>
        </p:nvSpPr>
        <p:spPr>
          <a:xfrm>
            <a:off x="5795158" y="1941178"/>
            <a:ext cx="5065947" cy="1579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④現行レイアウトの実績データを次世代用の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実績テーブルに登録する。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B7B6B1BB-0C26-D352-01F3-E457F826192B}"/>
              </a:ext>
            </a:extLst>
          </p:cNvPr>
          <p:cNvSpPr txBox="1"/>
          <p:nvPr/>
        </p:nvSpPr>
        <p:spPr>
          <a:xfrm>
            <a:off x="459767" y="1941178"/>
            <a:ext cx="5240389" cy="1579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①現行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の入力情報を店舗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へ送信（現状と同じ）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②店舗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からトラン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へトランを送信（現状と同じ）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③トラン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から現行レイアウトの実績データを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次世代用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に登録する。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913FD1D6-6F8C-D89E-79A1-99AF2D4080B2}"/>
              </a:ext>
            </a:extLst>
          </p:cNvPr>
          <p:cNvCxnSpPr>
            <a:cxnSpLocks/>
            <a:stCxn id="81" idx="1"/>
            <a:endCxn id="14" idx="1"/>
          </p:cNvCxnSpPr>
          <p:nvPr/>
        </p:nvCxnSpPr>
        <p:spPr>
          <a:xfrm rot="10800000" flipH="1" flipV="1">
            <a:off x="11279100" y="3239850"/>
            <a:ext cx="557850" cy="2346817"/>
          </a:xfrm>
          <a:prstGeom prst="bentConnector4">
            <a:avLst>
              <a:gd name="adj1" fmla="val -77918"/>
              <a:gd name="adj2" fmla="val 92323"/>
            </a:avLst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45CAB6-74FA-BA20-5209-DCF7F79906FD}"/>
              </a:ext>
            </a:extLst>
          </p:cNvPr>
          <p:cNvCxnSpPr>
            <a:cxnSpLocks/>
            <a:stCxn id="75" idx="0"/>
            <a:endCxn id="27" idx="3"/>
          </p:cNvCxnSpPr>
          <p:nvPr/>
        </p:nvCxnSpPr>
        <p:spPr>
          <a:xfrm flipH="1" flipV="1">
            <a:off x="9563324" y="7035306"/>
            <a:ext cx="4504" cy="22253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楕円 329">
            <a:extLst>
              <a:ext uri="{FF2B5EF4-FFF2-40B4-BE49-F238E27FC236}">
                <a16:creationId xmlns:a16="http://schemas.microsoft.com/office/drawing/2014/main" id="{ED00625A-9A47-58B3-D768-F52F0F7BF6CC}"/>
              </a:ext>
            </a:extLst>
          </p:cNvPr>
          <p:cNvSpPr/>
          <p:nvPr/>
        </p:nvSpPr>
        <p:spPr>
          <a:xfrm>
            <a:off x="9631083" y="8479094"/>
            <a:ext cx="430053" cy="394209"/>
          </a:xfrm>
          <a:prstGeom prst="ellipse">
            <a:avLst/>
          </a:prstGeom>
          <a:solidFill>
            <a:srgbClr val="FFFF99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600" b="1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3</a:t>
            </a:r>
            <a:endParaRPr kumimoji="1" lang="ja-JP" altLang="en-US" sz="1600" b="1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7" name="円柱 26">
            <a:extLst>
              <a:ext uri="{FF2B5EF4-FFF2-40B4-BE49-F238E27FC236}">
                <a16:creationId xmlns:a16="http://schemas.microsoft.com/office/drawing/2014/main" id="{497CB79B-31D0-27B9-960E-05CEDCF824D9}"/>
              </a:ext>
            </a:extLst>
          </p:cNvPr>
          <p:cNvSpPr/>
          <p:nvPr/>
        </p:nvSpPr>
        <p:spPr>
          <a:xfrm>
            <a:off x="9034179" y="6333424"/>
            <a:ext cx="1058290" cy="701882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フローチャート: 定義済み処理 27">
            <a:extLst>
              <a:ext uri="{FF2B5EF4-FFF2-40B4-BE49-F238E27FC236}">
                <a16:creationId xmlns:a16="http://schemas.microsoft.com/office/drawing/2014/main" id="{70C6182D-1095-EDE3-BEEA-630FE3D71211}"/>
              </a:ext>
            </a:extLst>
          </p:cNvPr>
          <p:cNvSpPr/>
          <p:nvPr/>
        </p:nvSpPr>
        <p:spPr>
          <a:xfrm>
            <a:off x="7542250" y="6399916"/>
            <a:ext cx="1194231" cy="572874"/>
          </a:xfrm>
          <a:prstGeom prst="flowChartPredefined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次世代用実績</a:t>
            </a:r>
            <a:endParaRPr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作成</a:t>
            </a:r>
            <a:endParaRPr kumimoji="1" lang="ja-JP" altLang="en-US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6922A8D5-7CDB-AB27-B486-8B49C6078AE0}"/>
              </a:ext>
            </a:extLst>
          </p:cNvPr>
          <p:cNvCxnSpPr>
            <a:cxnSpLocks/>
            <a:stCxn id="28" idx="1"/>
            <a:endCxn id="218" idx="4"/>
          </p:cNvCxnSpPr>
          <p:nvPr/>
        </p:nvCxnSpPr>
        <p:spPr>
          <a:xfrm flipH="1" flipV="1">
            <a:off x="7222269" y="6684365"/>
            <a:ext cx="319981" cy="198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矢印: 下カーブ 41">
            <a:extLst>
              <a:ext uri="{FF2B5EF4-FFF2-40B4-BE49-F238E27FC236}">
                <a16:creationId xmlns:a16="http://schemas.microsoft.com/office/drawing/2014/main" id="{34C3E016-147D-5E0B-3852-B9CF95696CF1}"/>
              </a:ext>
            </a:extLst>
          </p:cNvPr>
          <p:cNvSpPr/>
          <p:nvPr/>
        </p:nvSpPr>
        <p:spPr>
          <a:xfrm rot="5400000">
            <a:off x="8705903" y="6452094"/>
            <a:ext cx="374226" cy="501968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円柱 15">
            <a:extLst>
              <a:ext uri="{FF2B5EF4-FFF2-40B4-BE49-F238E27FC236}">
                <a16:creationId xmlns:a16="http://schemas.microsoft.com/office/drawing/2014/main" id="{2CE67A7E-1AF6-B107-8F18-88C9A9F015E7}"/>
              </a:ext>
            </a:extLst>
          </p:cNvPr>
          <p:cNvSpPr/>
          <p:nvPr/>
        </p:nvSpPr>
        <p:spPr>
          <a:xfrm>
            <a:off x="9025667" y="4687200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E4DC02C-3424-5C17-35E4-946DBDEBCE05}"/>
              </a:ext>
            </a:extLst>
          </p:cNvPr>
          <p:cNvSpPr/>
          <p:nvPr/>
        </p:nvSpPr>
        <p:spPr>
          <a:xfrm>
            <a:off x="432784" y="4588631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(iPad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mini)</a:t>
            </a:r>
          </a:p>
        </p:txBody>
      </p: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7B35E702-8D08-E547-1973-7860FD1AA92F}"/>
              </a:ext>
            </a:extLst>
          </p:cNvPr>
          <p:cNvCxnSpPr>
            <a:cxnSpLocks/>
            <a:stCxn id="50" idx="3"/>
            <a:endCxn id="6" idx="1"/>
          </p:cNvCxnSpPr>
          <p:nvPr/>
        </p:nvCxnSpPr>
        <p:spPr>
          <a:xfrm flipV="1">
            <a:off x="1707274" y="5023645"/>
            <a:ext cx="701587" cy="214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A8F5A9A-5172-02E3-89D3-FFE1FB7D8A0A}"/>
              </a:ext>
            </a:extLst>
          </p:cNvPr>
          <p:cNvSpPr/>
          <p:nvPr/>
        </p:nvSpPr>
        <p:spPr>
          <a:xfrm>
            <a:off x="432784" y="5694213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据置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C254FA30-C96E-2ECE-92F3-83DE152093CC}"/>
              </a:ext>
            </a:extLst>
          </p:cNvPr>
          <p:cNvCxnSpPr>
            <a:cxnSpLocks/>
            <a:stCxn id="53" idx="3"/>
            <a:endCxn id="6" idx="1"/>
          </p:cNvCxnSpPr>
          <p:nvPr/>
        </p:nvCxnSpPr>
        <p:spPr>
          <a:xfrm flipV="1">
            <a:off x="1707274" y="5023645"/>
            <a:ext cx="701587" cy="110773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0D891833-059B-C0C8-4C1C-597D447E2E65}"/>
              </a:ext>
            </a:extLst>
          </p:cNvPr>
          <p:cNvCxnSpPr>
            <a:cxnSpLocks/>
            <a:stCxn id="59" idx="3"/>
            <a:endCxn id="218" idx="2"/>
          </p:cNvCxnSpPr>
          <p:nvPr/>
        </p:nvCxnSpPr>
        <p:spPr>
          <a:xfrm>
            <a:off x="3735163" y="6128865"/>
            <a:ext cx="2428816" cy="555500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800BE775-66BA-7AB4-FEA5-1F116CFB056E}"/>
              </a:ext>
            </a:extLst>
          </p:cNvPr>
          <p:cNvSpPr/>
          <p:nvPr/>
        </p:nvSpPr>
        <p:spPr>
          <a:xfrm>
            <a:off x="2408861" y="5833190"/>
            <a:ext cx="1326302" cy="5913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データ参照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8077AD90-0869-8C31-7EE1-1E2A88A2702E}"/>
              </a:ext>
            </a:extLst>
          </p:cNvPr>
          <p:cNvCxnSpPr>
            <a:cxnSpLocks/>
            <a:stCxn id="50" idx="3"/>
            <a:endCxn id="59" idx="1"/>
          </p:cNvCxnSpPr>
          <p:nvPr/>
        </p:nvCxnSpPr>
        <p:spPr>
          <a:xfrm>
            <a:off x="1707274" y="5025793"/>
            <a:ext cx="701587" cy="110307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D3132018-1B5A-AF00-B4DC-EE4995F830E6}"/>
              </a:ext>
            </a:extLst>
          </p:cNvPr>
          <p:cNvCxnSpPr>
            <a:cxnSpLocks/>
            <a:stCxn id="53" idx="3"/>
            <a:endCxn id="59" idx="1"/>
          </p:cNvCxnSpPr>
          <p:nvPr/>
        </p:nvCxnSpPr>
        <p:spPr>
          <a:xfrm flipV="1">
            <a:off x="1707274" y="6128865"/>
            <a:ext cx="701587" cy="251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DAA3E1AF-5EA7-8F83-51DE-D1FFF15F5E81}"/>
              </a:ext>
            </a:extLst>
          </p:cNvPr>
          <p:cNvGrpSpPr/>
          <p:nvPr/>
        </p:nvGrpSpPr>
        <p:grpSpPr>
          <a:xfrm>
            <a:off x="99534" y="6839569"/>
            <a:ext cx="1911644" cy="959651"/>
            <a:chOff x="405609" y="9205165"/>
            <a:chExt cx="1911644" cy="959651"/>
          </a:xfrm>
        </p:grpSpPr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9177E739-2F15-DE3C-E809-9FAFE0246D0F}"/>
                </a:ext>
              </a:extLst>
            </p:cNvPr>
            <p:cNvSpPr txBox="1"/>
            <p:nvPr/>
          </p:nvSpPr>
          <p:spPr>
            <a:xfrm>
              <a:off x="405609" y="9205165"/>
              <a:ext cx="1911644" cy="95965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データの流れ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データ参照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83" name="直線矢印コネクタ 82">
              <a:extLst>
                <a:ext uri="{FF2B5EF4-FFF2-40B4-BE49-F238E27FC236}">
                  <a16:creationId xmlns:a16="http://schemas.microsoft.com/office/drawing/2014/main" id="{392DA4F7-271E-9FBF-B8A9-773FEDFB2F3C}"/>
                </a:ext>
              </a:extLst>
            </p:cNvPr>
            <p:cNvCxnSpPr>
              <a:cxnSpLocks/>
            </p:cNvCxnSpPr>
            <p:nvPr/>
          </p:nvCxnSpPr>
          <p:spPr>
            <a:xfrm>
              <a:off x="1635001" y="9936000"/>
              <a:ext cx="57634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A9616FC5-2901-7858-E14A-63D9EEA12A73}"/>
                </a:ext>
              </a:extLst>
            </p:cNvPr>
            <p:cNvCxnSpPr>
              <a:cxnSpLocks/>
            </p:cNvCxnSpPr>
            <p:nvPr/>
          </p:nvCxnSpPr>
          <p:spPr>
            <a:xfrm>
              <a:off x="1635001" y="9490619"/>
              <a:ext cx="60229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7EF13AC8-B7D4-DF80-4EC0-E03518B2047E}"/>
              </a:ext>
            </a:extLst>
          </p:cNvPr>
          <p:cNvGrpSpPr/>
          <p:nvPr/>
        </p:nvGrpSpPr>
        <p:grpSpPr>
          <a:xfrm>
            <a:off x="207264" y="9298643"/>
            <a:ext cx="6897429" cy="530640"/>
            <a:chOff x="-1119038" y="9205166"/>
            <a:chExt cx="6897429" cy="530640"/>
          </a:xfrm>
        </p:grpSpPr>
        <p:sp>
          <p:nvSpPr>
            <p:cNvPr id="90" name="テキスト ボックス 89">
              <a:extLst>
                <a:ext uri="{FF2B5EF4-FFF2-40B4-BE49-F238E27FC236}">
                  <a16:creationId xmlns:a16="http://schemas.microsoft.com/office/drawing/2014/main" id="{3307B4C1-0964-041A-DDDA-3AA8B6F1CB6E}"/>
                </a:ext>
              </a:extLst>
            </p:cNvPr>
            <p:cNvSpPr txBox="1"/>
            <p:nvPr/>
          </p:nvSpPr>
          <p:spPr>
            <a:xfrm>
              <a:off x="-1119038" y="9205166"/>
              <a:ext cx="6897429" cy="53064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　　　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、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NSW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様担当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カストマ様担当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57719F5B-7FC5-F059-9A03-5C255A5EFF41}"/>
                </a:ext>
              </a:extLst>
            </p:cNvPr>
            <p:cNvSpPr/>
            <p:nvPr/>
          </p:nvSpPr>
          <p:spPr>
            <a:xfrm>
              <a:off x="-993723" y="9376272"/>
              <a:ext cx="542821" cy="250839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02840069-8A1F-3170-9C37-BBE5D0AE2474}"/>
                </a:ext>
              </a:extLst>
            </p:cNvPr>
            <p:cNvSpPr/>
            <p:nvPr/>
          </p:nvSpPr>
          <p:spPr>
            <a:xfrm>
              <a:off x="3552049" y="9355074"/>
              <a:ext cx="542821" cy="260551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EE418A88-B292-F441-9B5F-585193CBD4D9}"/>
                </a:ext>
              </a:extLst>
            </p:cNvPr>
            <p:cNvSpPr/>
            <p:nvPr/>
          </p:nvSpPr>
          <p:spPr>
            <a:xfrm>
              <a:off x="-398132" y="9376272"/>
              <a:ext cx="542821" cy="2508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949E0836-3E02-9319-6F63-352151A384C7}"/>
                </a:ext>
              </a:extLst>
            </p:cNvPr>
            <p:cNvSpPr/>
            <p:nvPr/>
          </p:nvSpPr>
          <p:spPr>
            <a:xfrm>
              <a:off x="1233895" y="9355074"/>
              <a:ext cx="542821" cy="26055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円柱 1">
            <a:extLst>
              <a:ext uri="{FF2B5EF4-FFF2-40B4-BE49-F238E27FC236}">
                <a16:creationId xmlns:a16="http://schemas.microsoft.com/office/drawing/2014/main" id="{2042E429-D6F1-1E33-5178-22D867EB2E04}"/>
              </a:ext>
            </a:extLst>
          </p:cNvPr>
          <p:cNvSpPr/>
          <p:nvPr/>
        </p:nvSpPr>
        <p:spPr>
          <a:xfrm>
            <a:off x="4092587" y="5248514"/>
            <a:ext cx="1194231" cy="860056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受付台帳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(INBOX)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8107C6BA-CC62-A045-42A7-8B8D9108EED0}"/>
              </a:ext>
            </a:extLst>
          </p:cNvPr>
          <p:cNvSpPr/>
          <p:nvPr/>
        </p:nvSpPr>
        <p:spPr>
          <a:xfrm>
            <a:off x="5884729" y="4626942"/>
            <a:ext cx="1194231" cy="860056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JSON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(OUTBOX)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円柱 21">
            <a:extLst>
              <a:ext uri="{FF2B5EF4-FFF2-40B4-BE49-F238E27FC236}">
                <a16:creationId xmlns:a16="http://schemas.microsoft.com/office/drawing/2014/main" id="{50A31776-0061-D3BD-444C-2507C4872143}"/>
              </a:ext>
            </a:extLst>
          </p:cNvPr>
          <p:cNvSpPr/>
          <p:nvPr/>
        </p:nvSpPr>
        <p:spPr>
          <a:xfrm>
            <a:off x="7610220" y="7362995"/>
            <a:ext cx="1058290" cy="701882"/>
          </a:xfrm>
          <a:prstGeom prst="can">
            <a:avLst/>
          </a:prstGeom>
          <a:solidFill>
            <a:srgbClr val="CCFFCC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現行⇒次世代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キュー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テーブル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984F3DB0-28C8-0F66-12A9-A1E4B154ABCF}"/>
              </a:ext>
            </a:extLst>
          </p:cNvPr>
          <p:cNvCxnSpPr>
            <a:cxnSpLocks/>
            <a:stCxn id="75" idx="0"/>
            <a:endCxn id="22" idx="3"/>
          </p:cNvCxnSpPr>
          <p:nvPr/>
        </p:nvCxnSpPr>
        <p:spPr>
          <a:xfrm flipH="1" flipV="1">
            <a:off x="8139365" y="8064877"/>
            <a:ext cx="1428463" cy="119573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DE1F2FD7-5A59-E0A1-C05B-7C8DE22B4BCB}"/>
              </a:ext>
            </a:extLst>
          </p:cNvPr>
          <p:cNvCxnSpPr>
            <a:cxnSpLocks/>
            <a:stCxn id="28" idx="2"/>
            <a:endCxn id="22" idx="1"/>
          </p:cNvCxnSpPr>
          <p:nvPr/>
        </p:nvCxnSpPr>
        <p:spPr>
          <a:xfrm flipH="1">
            <a:off x="8139365" y="6972790"/>
            <a:ext cx="1" cy="390205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81D502B-F764-A6E5-C4A0-35F267B79C4E}"/>
              </a:ext>
            </a:extLst>
          </p:cNvPr>
          <p:cNvSpPr/>
          <p:nvPr/>
        </p:nvSpPr>
        <p:spPr>
          <a:xfrm>
            <a:off x="4112493" y="8385233"/>
            <a:ext cx="1183460" cy="591349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振り分け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(Dispatcher)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2C3EDAE-35C5-8EDF-CD55-8D140CFA039F}"/>
              </a:ext>
            </a:extLst>
          </p:cNvPr>
          <p:cNvSpPr/>
          <p:nvPr/>
        </p:nvSpPr>
        <p:spPr>
          <a:xfrm>
            <a:off x="5706161" y="8386938"/>
            <a:ext cx="1183460" cy="591349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  <a:endParaRPr kumimoji="1"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5295594"/>
      </p:ext>
    </p:extLst>
  </p:cSld>
  <p:clrMapOvr>
    <a:masterClrMapping/>
  </p:clrMapOvr>
</p:sld>
</file>

<file path=ppt/theme/theme1.xml><?xml version="1.0" encoding="utf-8"?>
<a:theme xmlns:a="http://schemas.openxmlformats.org/drawingml/2006/main" name="Be Original.テーマ">
  <a:themeElements>
    <a:clrScheme name="スタイルガイドライン">
      <a:dk1>
        <a:srgbClr val="59574C"/>
      </a:dk1>
      <a:lt1>
        <a:srgbClr val="FBFAF1"/>
      </a:lt1>
      <a:dk2>
        <a:srgbClr val="44546A"/>
      </a:dk2>
      <a:lt2>
        <a:srgbClr val="E7E6E6"/>
      </a:lt2>
      <a:accent1>
        <a:srgbClr val="7BA6DE"/>
      </a:accent1>
      <a:accent2>
        <a:srgbClr val="D45D00"/>
      </a:accent2>
      <a:accent3>
        <a:srgbClr val="DBDACB"/>
      </a:accent3>
      <a:accent4>
        <a:srgbClr val="FFA300"/>
      </a:accent4>
      <a:accent5>
        <a:srgbClr val="236192"/>
      </a:accent5>
      <a:accent6>
        <a:srgbClr val="035F1D"/>
      </a:accent6>
      <a:hlink>
        <a:srgbClr val="0563C1"/>
      </a:hlink>
      <a:folHlink>
        <a:srgbClr val="954F72"/>
      </a:folHlink>
    </a:clrScheme>
    <a:fontScheme name="スタイルガイドライン準拠">
      <a:majorFont>
        <a:latin typeface="Source Sans Pro"/>
        <a:ea typeface="源ノ角ゴシック JP Medium"/>
        <a:cs typeface=""/>
      </a:majorFont>
      <a:minorFont>
        <a:latin typeface="Source Sans Pro Black"/>
        <a:ea typeface="源ノ角ゴシック JP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59574C"/>
          </a:solidFill>
        </a:ln>
      </a:spPr>
      <a:bodyPr rtlCol="0" anchor="ctr"/>
      <a:lstStyle>
        <a:defPPr algn="ctr">
          <a:defRPr kumimoji="1" dirty="0">
            <a:solidFill>
              <a:srgbClr val="59574C"/>
            </a:solidFill>
            <a:latin typeface="Source Sans Pro" panose="020B0503030403020204" pitchFamily="34" charset="0"/>
            <a:ea typeface="源ノ角ゴシック JP Regular" panose="020B0500000000000000" pitchFamily="34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源ノ角ゴシック JP Regular" panose="020B0500000000000000" pitchFamily="34" charset="-128"/>
            <a:ea typeface="源ノ角ゴシック JP Regular" panose="020B05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252ADF01DD7E24B8A2CE02D84BF14B0" ma:contentTypeVersion="13" ma:contentTypeDescription="新しいドキュメントを作成します。" ma:contentTypeScope="" ma:versionID="e8cf3120104eb1c36739bff5e7475b3b">
  <xsd:schema xmlns:xsd="http://www.w3.org/2001/XMLSchema" xmlns:xs="http://www.w3.org/2001/XMLSchema" xmlns:p="http://schemas.microsoft.com/office/2006/metadata/properties" xmlns:ns2="ae393f60-dcb5-4a7b-b196-5d1bc9c4d29e" xmlns:ns3="ceaad874-2a3b-43d4-b11e-bb73ac2d83e2" targetNamespace="http://schemas.microsoft.com/office/2006/metadata/properties" ma:root="true" ma:fieldsID="cc5373842b9c7d8354851abd2f3d9e35" ns2:_="" ns3:_="">
    <xsd:import namespace="ae393f60-dcb5-4a7b-b196-5d1bc9c4d29e"/>
    <xsd:import namespace="ceaad874-2a3b-43d4-b11e-bb73ac2d83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393f60-dcb5-4a7b-b196-5d1bc9c4d2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6de805ed-0ddf-4e5b-915b-481f2a666b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aad874-2a3b-43d4-b11e-bb73ac2d83e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1c47161-6668-4911-aa52-aa15117e2215}" ma:internalName="TaxCatchAll" ma:showField="CatchAllData" ma:web="ceaad874-2a3b-43d4-b11e-bb73ac2d83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aad874-2a3b-43d4-b11e-bb73ac2d83e2" xsi:nil="true"/>
    <lcf76f155ced4ddcb4097134ff3c332f xmlns="ae393f60-dcb5-4a7b-b196-5d1bc9c4d29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AE0F37-57F7-4B3B-8F85-52718A866C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393f60-dcb5-4a7b-b196-5d1bc9c4d29e"/>
    <ds:schemaRef ds:uri="ceaad874-2a3b-43d4-b11e-bb73ac2d83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862A6B-AA44-4E75-A2F2-1F91815934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D8AC76-C1D8-4390-84DD-2B4B2B7BA12C}">
  <ds:schemaRefs>
    <ds:schemaRef ds:uri="http://schemas.microsoft.com/office/2006/metadata/properties"/>
    <ds:schemaRef ds:uri="http://schemas.microsoft.com/office/infopath/2007/PartnerControls"/>
    <ds:schemaRef ds:uri="ceaad874-2a3b-43d4-b11e-bb73ac2d83e2"/>
    <ds:schemaRef ds:uri="ae393f60-dcb5-4a7b-b196-5d1bc9c4d29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4145</TotalTime>
  <Words>547</Words>
  <Application>Microsoft Office PowerPoint</Application>
  <PresentationFormat>ユーザー設定</PresentationFormat>
  <Paragraphs>146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5" baseType="lpstr">
      <vt:lpstr>(日本語用のフォントを使用)</vt:lpstr>
      <vt:lpstr>HGPｺﾞｼｯｸM</vt:lpstr>
      <vt:lpstr>Meiryo UI</vt:lpstr>
      <vt:lpstr>メイリオ</vt:lpstr>
      <vt:lpstr>源ノ角ゴシック JP Medium</vt:lpstr>
      <vt:lpstr>源ノ角ゴシック JP Regular</vt:lpstr>
      <vt:lpstr>Arial</vt:lpstr>
      <vt:lpstr>Calibri</vt:lpstr>
      <vt:lpstr>Source Sans Pro</vt:lpstr>
      <vt:lpstr>Source Sans Pro Black</vt:lpstr>
      <vt:lpstr>Be Original.テーマ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SMJ様サポート用PC02（駅南事務所）</dc:creator>
  <cp:lastModifiedBy>小松卓/主任</cp:lastModifiedBy>
  <cp:revision>555</cp:revision>
  <dcterms:created xsi:type="dcterms:W3CDTF">2022-10-24T00:43:26Z</dcterms:created>
  <dcterms:modified xsi:type="dcterms:W3CDTF">2026-07-30T11:31:20Z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0x0101004252ADF01DD7E24B8A2CE02D84BF14B0</vt:lpwstr>
  </property>
</Properties>
</file>