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2"/>
  </p:notesMasterIdLst>
  <p:sldIdLst>
    <p:sldId id="274" r:id="rId5"/>
    <p:sldId id="12327" r:id="rId6"/>
    <p:sldId id="12411" r:id="rId7"/>
    <p:sldId id="12420" r:id="rId8"/>
    <p:sldId id="12426" r:id="rId9"/>
    <p:sldId id="324" r:id="rId10"/>
    <p:sldId id="12397" r:id="rId11"/>
    <p:sldId id="12351" r:id="rId12"/>
    <p:sldId id="12283" r:id="rId13"/>
    <p:sldId id="12357" r:id="rId14"/>
    <p:sldId id="12396" r:id="rId15"/>
    <p:sldId id="12393" r:id="rId16"/>
    <p:sldId id="12409" r:id="rId17"/>
    <p:sldId id="12410" r:id="rId18"/>
    <p:sldId id="12315" r:id="rId19"/>
    <p:sldId id="12408" r:id="rId20"/>
    <p:sldId id="12417" r:id="rId21"/>
    <p:sldId id="12412" r:id="rId22"/>
    <p:sldId id="12413" r:id="rId23"/>
    <p:sldId id="12394" r:id="rId24"/>
    <p:sldId id="12296" r:id="rId25"/>
    <p:sldId id="12317" r:id="rId26"/>
    <p:sldId id="12382" r:id="rId27"/>
    <p:sldId id="12385" r:id="rId28"/>
    <p:sldId id="12375" r:id="rId29"/>
    <p:sldId id="12373" r:id="rId30"/>
    <p:sldId id="12406" r:id="rId31"/>
    <p:sldId id="12407" r:id="rId32"/>
    <p:sldId id="12405" r:id="rId33"/>
    <p:sldId id="12398" r:id="rId34"/>
    <p:sldId id="12305" r:id="rId35"/>
    <p:sldId id="12272" r:id="rId36"/>
    <p:sldId id="12430" r:id="rId37"/>
    <p:sldId id="12429" r:id="rId38"/>
    <p:sldId id="12307" r:id="rId39"/>
    <p:sldId id="12404" r:id="rId40"/>
    <p:sldId id="12414" r:id="rId41"/>
    <p:sldId id="12423" r:id="rId42"/>
    <p:sldId id="12359" r:id="rId43"/>
    <p:sldId id="12422" r:id="rId44"/>
    <p:sldId id="12424" r:id="rId45"/>
    <p:sldId id="12425" r:id="rId46"/>
    <p:sldId id="12360" r:id="rId47"/>
    <p:sldId id="12362" r:id="rId48"/>
    <p:sldId id="12363" r:id="rId49"/>
    <p:sldId id="12355" r:id="rId50"/>
    <p:sldId id="12418" r:id="rId51"/>
    <p:sldId id="12419" r:id="rId52"/>
    <p:sldId id="12400" r:id="rId53"/>
    <p:sldId id="12344" r:id="rId54"/>
    <p:sldId id="12365" r:id="rId55"/>
    <p:sldId id="12366" r:id="rId56"/>
    <p:sldId id="12416" r:id="rId57"/>
    <p:sldId id="12251" r:id="rId58"/>
    <p:sldId id="12402" r:id="rId59"/>
    <p:sldId id="12379" r:id="rId60"/>
    <p:sldId id="263" r:id="rId61"/>
  </p:sldIdLst>
  <p:sldSz cx="18288000" cy="10287000"/>
  <p:notesSz cx="6858000" cy="9144000"/>
  <p:defaultTextStyle>
    <a:defPPr>
      <a:defRPr lang="ja-JP"/>
    </a:defPPr>
    <a:lvl1pPr marL="0" algn="l" defTabSz="1371600" rtl="0" eaLnBrk="1" latinLnBrk="0" hangingPunct="1">
      <a:defRPr kumimoji="1" sz="2700" kern="1200">
        <a:solidFill>
          <a:schemeClr val="tx1"/>
        </a:solidFill>
        <a:latin typeface="+mn-lt"/>
        <a:ea typeface="+mn-ea"/>
        <a:cs typeface="+mn-cs"/>
      </a:defRPr>
    </a:lvl1pPr>
    <a:lvl2pPr marL="685800" algn="l" defTabSz="1371600" rtl="0" eaLnBrk="1" latinLnBrk="0" hangingPunct="1">
      <a:defRPr kumimoji="1" sz="2700" kern="1200">
        <a:solidFill>
          <a:schemeClr val="tx1"/>
        </a:solidFill>
        <a:latin typeface="+mn-lt"/>
        <a:ea typeface="+mn-ea"/>
        <a:cs typeface="+mn-cs"/>
      </a:defRPr>
    </a:lvl2pPr>
    <a:lvl3pPr marL="1371600" algn="l" defTabSz="1371600" rtl="0" eaLnBrk="1" latinLnBrk="0" hangingPunct="1">
      <a:defRPr kumimoji="1" sz="2700" kern="1200">
        <a:solidFill>
          <a:schemeClr val="tx1"/>
        </a:solidFill>
        <a:latin typeface="+mn-lt"/>
        <a:ea typeface="+mn-ea"/>
        <a:cs typeface="+mn-cs"/>
      </a:defRPr>
    </a:lvl3pPr>
    <a:lvl4pPr marL="2057400" algn="l" defTabSz="1371600" rtl="0" eaLnBrk="1" latinLnBrk="0" hangingPunct="1">
      <a:defRPr kumimoji="1" sz="2700" kern="1200">
        <a:solidFill>
          <a:schemeClr val="tx1"/>
        </a:solidFill>
        <a:latin typeface="+mn-lt"/>
        <a:ea typeface="+mn-ea"/>
        <a:cs typeface="+mn-cs"/>
      </a:defRPr>
    </a:lvl4pPr>
    <a:lvl5pPr marL="2743200" algn="l" defTabSz="1371600" rtl="0" eaLnBrk="1" latinLnBrk="0" hangingPunct="1">
      <a:defRPr kumimoji="1" sz="2700" kern="1200">
        <a:solidFill>
          <a:schemeClr val="tx1"/>
        </a:solidFill>
        <a:latin typeface="+mn-lt"/>
        <a:ea typeface="+mn-ea"/>
        <a:cs typeface="+mn-cs"/>
      </a:defRPr>
    </a:lvl5pPr>
    <a:lvl6pPr marL="3429000" algn="l" defTabSz="1371600" rtl="0" eaLnBrk="1" latinLnBrk="0" hangingPunct="1">
      <a:defRPr kumimoji="1" sz="2700" kern="1200">
        <a:solidFill>
          <a:schemeClr val="tx1"/>
        </a:solidFill>
        <a:latin typeface="+mn-lt"/>
        <a:ea typeface="+mn-ea"/>
        <a:cs typeface="+mn-cs"/>
      </a:defRPr>
    </a:lvl6pPr>
    <a:lvl7pPr marL="4114800" algn="l" defTabSz="1371600" rtl="0" eaLnBrk="1" latinLnBrk="0" hangingPunct="1">
      <a:defRPr kumimoji="1" sz="2700" kern="1200">
        <a:solidFill>
          <a:schemeClr val="tx1"/>
        </a:solidFill>
        <a:latin typeface="+mn-lt"/>
        <a:ea typeface="+mn-ea"/>
        <a:cs typeface="+mn-cs"/>
      </a:defRPr>
    </a:lvl7pPr>
    <a:lvl8pPr marL="4800600" algn="l" defTabSz="1371600" rtl="0" eaLnBrk="1" latinLnBrk="0" hangingPunct="1">
      <a:defRPr kumimoji="1" sz="2700" kern="1200">
        <a:solidFill>
          <a:schemeClr val="tx1"/>
        </a:solidFill>
        <a:latin typeface="+mn-lt"/>
        <a:ea typeface="+mn-ea"/>
        <a:cs typeface="+mn-cs"/>
      </a:defRPr>
    </a:lvl8pPr>
    <a:lvl9pPr marL="5486400" algn="l" defTabSz="1371600" rtl="0" eaLnBrk="1" latinLnBrk="0" hangingPunct="1">
      <a:defRPr kumimoji="1" sz="2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0">
          <p15:clr>
            <a:srgbClr val="A4A3A4"/>
          </p15:clr>
        </p15:guide>
        <p15:guide id="4" pos="57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866"/>
    <a:srgbClr val="CADBF2"/>
    <a:srgbClr val="E7E6E6"/>
    <a:srgbClr val="FFFFFF"/>
    <a:srgbClr val="59574C"/>
    <a:srgbClr val="E5EDF8"/>
    <a:srgbClr val="7F7F7F"/>
    <a:srgbClr val="7BA6DE"/>
    <a:srgbClr val="B0CAEB"/>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60"/>
  </p:normalViewPr>
  <p:slideViewPr>
    <p:cSldViewPr snapToGrid="0">
      <p:cViewPr varScale="1">
        <p:scale>
          <a:sx n="67" d="100"/>
          <a:sy n="67" d="100"/>
        </p:scale>
        <p:origin x="240" y="84"/>
      </p:cViewPr>
      <p:guideLst>
        <p:guide orient="horz" pos="2160"/>
        <p:guide pos="3840"/>
        <p:guide orient="horz" pos="3240"/>
        <p:guide pos="57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D1929A-C832-4C51-892B-48BBA387B732}" type="datetimeFigureOut">
              <a:rPr kumimoji="1" lang="ja-JP" altLang="en-US" smtClean="0"/>
              <a:t>2026/7/14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7A8D0B-D510-4154-AB0C-777825F0917B}" type="slidenum">
              <a:rPr kumimoji="1" lang="ja-JP" altLang="en-US" smtClean="0"/>
              <a:t>‹#›</a:t>
            </a:fld>
            <a:endParaRPr kumimoji="1" lang="ja-JP" altLang="en-US"/>
          </a:p>
        </p:txBody>
      </p:sp>
    </p:spTree>
    <p:extLst>
      <p:ext uri="{BB962C8B-B14F-4D97-AF65-F5344CB8AC3E}">
        <p14:creationId xmlns:p14="http://schemas.microsoft.com/office/powerpoint/2010/main" val="4151347208"/>
      </p:ext>
    </p:extLst>
  </p:cSld>
  <p:clrMap bg1="lt1" tx1="dk1" bg2="lt2" tx2="dk2" accent1="accent1" accent2="accent2" accent3="accent3" accent4="accent4" accent5="accent5" accent6="accent6" hlink="hlink" folHlink="folHlink"/>
  <p:notesStyle>
    <a:lvl1pPr marL="0" algn="l" defTabSz="1371600" rtl="0" eaLnBrk="1" latinLnBrk="0" hangingPunct="1">
      <a:defRPr kumimoji="1" sz="1800" kern="1200">
        <a:solidFill>
          <a:schemeClr val="tx1"/>
        </a:solidFill>
        <a:latin typeface="+mn-lt"/>
        <a:ea typeface="+mn-ea"/>
        <a:cs typeface="+mn-cs"/>
      </a:defRPr>
    </a:lvl1pPr>
    <a:lvl2pPr marL="685800" algn="l" defTabSz="1371600" rtl="0" eaLnBrk="1" latinLnBrk="0" hangingPunct="1">
      <a:defRPr kumimoji="1" sz="1800" kern="1200">
        <a:solidFill>
          <a:schemeClr val="tx1"/>
        </a:solidFill>
        <a:latin typeface="+mn-lt"/>
        <a:ea typeface="+mn-ea"/>
        <a:cs typeface="+mn-cs"/>
      </a:defRPr>
    </a:lvl2pPr>
    <a:lvl3pPr marL="1371600" algn="l" defTabSz="1371600" rtl="0" eaLnBrk="1" latinLnBrk="0" hangingPunct="1">
      <a:defRPr kumimoji="1" sz="1800" kern="1200">
        <a:solidFill>
          <a:schemeClr val="tx1"/>
        </a:solidFill>
        <a:latin typeface="+mn-lt"/>
        <a:ea typeface="+mn-ea"/>
        <a:cs typeface="+mn-cs"/>
      </a:defRPr>
    </a:lvl3pPr>
    <a:lvl4pPr marL="2057400" algn="l" defTabSz="1371600" rtl="0" eaLnBrk="1" latinLnBrk="0" hangingPunct="1">
      <a:defRPr kumimoji="1" sz="1800" kern="1200">
        <a:solidFill>
          <a:schemeClr val="tx1"/>
        </a:solidFill>
        <a:latin typeface="+mn-lt"/>
        <a:ea typeface="+mn-ea"/>
        <a:cs typeface="+mn-cs"/>
      </a:defRPr>
    </a:lvl4pPr>
    <a:lvl5pPr marL="2743200" algn="l" defTabSz="1371600" rtl="0" eaLnBrk="1" latinLnBrk="0" hangingPunct="1">
      <a:defRPr kumimoji="1" sz="1800" kern="1200">
        <a:solidFill>
          <a:schemeClr val="tx1"/>
        </a:solidFill>
        <a:latin typeface="+mn-lt"/>
        <a:ea typeface="+mn-ea"/>
        <a:cs typeface="+mn-cs"/>
      </a:defRPr>
    </a:lvl5pPr>
    <a:lvl6pPr marL="3429000" algn="l" defTabSz="1371600" rtl="0" eaLnBrk="1" latinLnBrk="0" hangingPunct="1">
      <a:defRPr kumimoji="1" sz="1800" kern="1200">
        <a:solidFill>
          <a:schemeClr val="tx1"/>
        </a:solidFill>
        <a:latin typeface="+mn-lt"/>
        <a:ea typeface="+mn-ea"/>
        <a:cs typeface="+mn-cs"/>
      </a:defRPr>
    </a:lvl6pPr>
    <a:lvl7pPr marL="4114800" algn="l" defTabSz="1371600" rtl="0" eaLnBrk="1" latinLnBrk="0" hangingPunct="1">
      <a:defRPr kumimoji="1" sz="1800" kern="1200">
        <a:solidFill>
          <a:schemeClr val="tx1"/>
        </a:solidFill>
        <a:latin typeface="+mn-lt"/>
        <a:ea typeface="+mn-ea"/>
        <a:cs typeface="+mn-cs"/>
      </a:defRPr>
    </a:lvl7pPr>
    <a:lvl8pPr marL="4800600" algn="l" defTabSz="1371600" rtl="0" eaLnBrk="1" latinLnBrk="0" hangingPunct="1">
      <a:defRPr kumimoji="1" sz="1800" kern="1200">
        <a:solidFill>
          <a:schemeClr val="tx1"/>
        </a:solidFill>
        <a:latin typeface="+mn-lt"/>
        <a:ea typeface="+mn-ea"/>
        <a:cs typeface="+mn-cs"/>
      </a:defRPr>
    </a:lvl8pPr>
    <a:lvl9pPr marL="5486400" algn="l" defTabSz="1371600" rtl="0" eaLnBrk="1" latinLnBrk="0" hangingPunct="1">
      <a:defRPr kumimoji="1"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67A8D0B-D510-4154-AB0C-777825F0917B}" type="slidenum">
              <a:rPr kumimoji="1" lang="ja-JP" altLang="en-US" smtClean="0"/>
              <a:t>1</a:t>
            </a:fld>
            <a:endParaRPr kumimoji="1" lang="ja-JP" altLang="en-US"/>
          </a:p>
        </p:txBody>
      </p:sp>
    </p:spTree>
    <p:extLst>
      <p:ext uri="{BB962C8B-B14F-4D97-AF65-F5344CB8AC3E}">
        <p14:creationId xmlns:p14="http://schemas.microsoft.com/office/powerpoint/2010/main" val="4094921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67A8D0B-D510-4154-AB0C-777825F0917B}" type="slidenum">
              <a:rPr kumimoji="1" lang="ja-JP" altLang="en-US" smtClean="0"/>
              <a:t>2</a:t>
            </a:fld>
            <a:endParaRPr kumimoji="1" lang="ja-JP" altLang="en-US"/>
          </a:p>
        </p:txBody>
      </p:sp>
    </p:spTree>
    <p:extLst>
      <p:ext uri="{BB962C8B-B14F-4D97-AF65-F5344CB8AC3E}">
        <p14:creationId xmlns:p14="http://schemas.microsoft.com/office/powerpoint/2010/main" val="1810219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37F3-0A85-B366-FE39-E1B07D5ECE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6414EA-C164-DDBB-B2BA-FFC8758596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5E9A99-91C6-4933-D6C1-1C01CA708DE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D485885-BBC5-5F6E-FB4E-748EBAE62AC0}"/>
              </a:ext>
            </a:extLst>
          </p:cNvPr>
          <p:cNvSpPr>
            <a:spLocks noGrp="1"/>
          </p:cNvSpPr>
          <p:nvPr>
            <p:ph type="sldNum" sz="quarter" idx="10"/>
          </p:nvPr>
        </p:nvSpPr>
        <p:spPr/>
        <p:txBody>
          <a:bodyPr/>
          <a:lstStyle/>
          <a:p>
            <a:fld id="{167A8D0B-D510-4154-AB0C-777825F0917B}" type="slidenum">
              <a:rPr kumimoji="1" lang="ja-JP" altLang="en-US" smtClean="0"/>
              <a:t>3</a:t>
            </a:fld>
            <a:endParaRPr kumimoji="1" lang="ja-JP" altLang="en-US"/>
          </a:p>
        </p:txBody>
      </p:sp>
    </p:spTree>
    <p:extLst>
      <p:ext uri="{BB962C8B-B14F-4D97-AF65-F5344CB8AC3E}">
        <p14:creationId xmlns:p14="http://schemas.microsoft.com/office/powerpoint/2010/main" val="747806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CD93C-2D30-9F21-583A-AD803E2750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BADB866-6F8A-DCCE-07CB-74C9B1D981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EE416C-E4AE-788C-36A1-BDFF04D7CEB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197FA0C-5B0F-B946-582F-42B420991A79}"/>
              </a:ext>
            </a:extLst>
          </p:cNvPr>
          <p:cNvSpPr>
            <a:spLocks noGrp="1"/>
          </p:cNvSpPr>
          <p:nvPr>
            <p:ph type="sldNum" sz="quarter" idx="10"/>
          </p:nvPr>
        </p:nvSpPr>
        <p:spPr/>
        <p:txBody>
          <a:bodyPr/>
          <a:lstStyle/>
          <a:p>
            <a:fld id="{167A8D0B-D510-4154-AB0C-777825F0917B}" type="slidenum">
              <a:rPr kumimoji="1" lang="ja-JP" altLang="en-US" smtClean="0"/>
              <a:t>4</a:t>
            </a:fld>
            <a:endParaRPr kumimoji="1" lang="ja-JP" altLang="en-US"/>
          </a:p>
        </p:txBody>
      </p:sp>
    </p:spTree>
    <p:extLst>
      <p:ext uri="{BB962C8B-B14F-4D97-AF65-F5344CB8AC3E}">
        <p14:creationId xmlns:p14="http://schemas.microsoft.com/office/powerpoint/2010/main" val="504408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10797-7118-C8A7-9115-E4A1172B0D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596535-CC39-828D-285E-F1DB5415911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B6938C-B18C-F27F-167D-F2D7E964585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72E3376-7E77-ACCD-B432-89F35DACC6AC}"/>
              </a:ext>
            </a:extLst>
          </p:cNvPr>
          <p:cNvSpPr>
            <a:spLocks noGrp="1"/>
          </p:cNvSpPr>
          <p:nvPr>
            <p:ph type="sldNum" sz="quarter" idx="10"/>
          </p:nvPr>
        </p:nvSpPr>
        <p:spPr/>
        <p:txBody>
          <a:bodyPr/>
          <a:lstStyle/>
          <a:p>
            <a:fld id="{167A8D0B-D510-4154-AB0C-777825F0917B}" type="slidenum">
              <a:rPr kumimoji="1" lang="ja-JP" altLang="en-US" smtClean="0"/>
              <a:t>5</a:t>
            </a:fld>
            <a:endParaRPr kumimoji="1" lang="ja-JP" altLang="en-US"/>
          </a:p>
        </p:txBody>
      </p:sp>
    </p:spTree>
    <p:extLst>
      <p:ext uri="{BB962C8B-B14F-4D97-AF65-F5344CB8AC3E}">
        <p14:creationId xmlns:p14="http://schemas.microsoft.com/office/powerpoint/2010/main" val="2766459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67A8D0B-D510-4154-AB0C-777825F0917B}" type="slidenum">
              <a:rPr kumimoji="1" lang="ja-JP" altLang="en-US" smtClean="0"/>
              <a:t>6</a:t>
            </a:fld>
            <a:endParaRPr kumimoji="1" lang="ja-JP" altLang="en-US"/>
          </a:p>
        </p:txBody>
      </p:sp>
    </p:spTree>
    <p:extLst>
      <p:ext uri="{BB962C8B-B14F-4D97-AF65-F5344CB8AC3E}">
        <p14:creationId xmlns:p14="http://schemas.microsoft.com/office/powerpoint/2010/main" val="2726100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67A8D0B-D510-4154-AB0C-777825F0917B}" type="slidenum">
              <a:rPr kumimoji="1" lang="ja-JP" altLang="en-US" smtClean="0"/>
              <a:t>15</a:t>
            </a:fld>
            <a:endParaRPr kumimoji="1" lang="ja-JP" altLang="en-US"/>
          </a:p>
        </p:txBody>
      </p:sp>
    </p:spTree>
    <p:extLst>
      <p:ext uri="{BB962C8B-B14F-4D97-AF65-F5344CB8AC3E}">
        <p14:creationId xmlns:p14="http://schemas.microsoft.com/office/powerpoint/2010/main" val="552270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67A8D0B-D510-4154-AB0C-777825F0917B}" type="slidenum">
              <a:rPr kumimoji="1" lang="ja-JP" altLang="en-US" smtClean="0"/>
              <a:t>24</a:t>
            </a:fld>
            <a:endParaRPr kumimoji="1" lang="ja-JP" altLang="en-US"/>
          </a:p>
        </p:txBody>
      </p:sp>
    </p:spTree>
    <p:extLst>
      <p:ext uri="{BB962C8B-B14F-4D97-AF65-F5344CB8AC3E}">
        <p14:creationId xmlns:p14="http://schemas.microsoft.com/office/powerpoint/2010/main" val="4101482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67A8D0B-D510-4154-AB0C-777825F0917B}" type="slidenum">
              <a:rPr kumimoji="1" lang="ja-JP" altLang="en-US" smtClean="0"/>
              <a:t>25</a:t>
            </a:fld>
            <a:endParaRPr kumimoji="1" lang="ja-JP" altLang="en-US"/>
          </a:p>
        </p:txBody>
      </p:sp>
    </p:spTree>
    <p:extLst>
      <p:ext uri="{BB962C8B-B14F-4D97-AF65-F5344CB8AC3E}">
        <p14:creationId xmlns:p14="http://schemas.microsoft.com/office/powerpoint/2010/main" val="2220615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67A8D0B-D510-4154-AB0C-777825F0917B}" type="slidenum">
              <a:rPr kumimoji="1" lang="ja-JP" altLang="en-US" smtClean="0"/>
              <a:t>29</a:t>
            </a:fld>
            <a:endParaRPr kumimoji="1" lang="ja-JP" altLang="en-US"/>
          </a:p>
        </p:txBody>
      </p:sp>
    </p:spTree>
    <p:extLst>
      <p:ext uri="{BB962C8B-B14F-4D97-AF65-F5344CB8AC3E}">
        <p14:creationId xmlns:p14="http://schemas.microsoft.com/office/powerpoint/2010/main" val="382526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67A8D0B-D510-4154-AB0C-777825F0917B}" type="slidenum">
              <a:rPr kumimoji="1" lang="ja-JP" altLang="en-US" smtClean="0"/>
              <a:t>32</a:t>
            </a:fld>
            <a:endParaRPr kumimoji="1" lang="ja-JP" altLang="en-US"/>
          </a:p>
        </p:txBody>
      </p:sp>
    </p:spTree>
    <p:extLst>
      <p:ext uri="{BB962C8B-B14F-4D97-AF65-F5344CB8AC3E}">
        <p14:creationId xmlns:p14="http://schemas.microsoft.com/office/powerpoint/2010/main" val="2722826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834EF-4AC8-E523-C198-F4B7334716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7D8A08-9495-39B6-E9E5-07B6430B8E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C6FBE5-85B0-A948-AB33-2F46DFC9C7C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6D2B4E9-1488-DF0C-26EF-1FB84CAFDC85}"/>
              </a:ext>
            </a:extLst>
          </p:cNvPr>
          <p:cNvSpPr>
            <a:spLocks noGrp="1"/>
          </p:cNvSpPr>
          <p:nvPr>
            <p:ph type="sldNum" sz="quarter" idx="10"/>
          </p:nvPr>
        </p:nvSpPr>
        <p:spPr/>
        <p:txBody>
          <a:bodyPr/>
          <a:lstStyle/>
          <a:p>
            <a:fld id="{167A8D0B-D510-4154-AB0C-777825F0917B}" type="slidenum">
              <a:rPr kumimoji="1" lang="ja-JP" altLang="en-US" smtClean="0"/>
              <a:t>33</a:t>
            </a:fld>
            <a:endParaRPr kumimoji="1" lang="ja-JP" altLang="en-US"/>
          </a:p>
        </p:txBody>
      </p:sp>
    </p:spTree>
    <p:extLst>
      <p:ext uri="{BB962C8B-B14F-4D97-AF65-F5344CB8AC3E}">
        <p14:creationId xmlns:p14="http://schemas.microsoft.com/office/powerpoint/2010/main" val="210409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E8A25-6E84-1AD4-AEAD-7177E6E8D7A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F68CBE-4EEF-4B22-2336-F8CD8794E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20A128-2CFE-7FAF-A582-3910E752199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697E4C8-141F-B3FE-847B-3EA0950B7439}"/>
              </a:ext>
            </a:extLst>
          </p:cNvPr>
          <p:cNvSpPr>
            <a:spLocks noGrp="1"/>
          </p:cNvSpPr>
          <p:nvPr>
            <p:ph type="sldNum" sz="quarter" idx="10"/>
          </p:nvPr>
        </p:nvSpPr>
        <p:spPr/>
        <p:txBody>
          <a:bodyPr/>
          <a:lstStyle/>
          <a:p>
            <a:fld id="{167A8D0B-D510-4154-AB0C-777825F0917B}" type="slidenum">
              <a:rPr kumimoji="1" lang="ja-JP" altLang="en-US" smtClean="0"/>
              <a:t>34</a:t>
            </a:fld>
            <a:endParaRPr kumimoji="1" lang="ja-JP" altLang="en-US"/>
          </a:p>
        </p:txBody>
      </p:sp>
    </p:spTree>
    <p:extLst>
      <p:ext uri="{BB962C8B-B14F-4D97-AF65-F5344CB8AC3E}">
        <p14:creationId xmlns:p14="http://schemas.microsoft.com/office/powerpoint/2010/main" val="38689581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カバーページ１（サブタイトルあり）">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7E334F9-60CB-4E77-A4E6-B06957FF28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63999" y="973984"/>
            <a:ext cx="2158931" cy="1079466"/>
          </a:xfrm>
          <a:prstGeom prst="rect">
            <a:avLst/>
          </a:prstGeom>
        </p:spPr>
      </p:pic>
      <p:sp>
        <p:nvSpPr>
          <p:cNvPr id="2" name="タイトル 1"/>
          <p:cNvSpPr>
            <a:spLocks noGrp="1"/>
          </p:cNvSpPr>
          <p:nvPr>
            <p:ph type="ctrTitle" hasCustomPrompt="1"/>
          </p:nvPr>
        </p:nvSpPr>
        <p:spPr>
          <a:xfrm>
            <a:off x="0" y="3969000"/>
            <a:ext cx="18288000" cy="1512000"/>
          </a:xfrm>
        </p:spPr>
        <p:txBody>
          <a:bodyPr wrap="none" lIns="0" tIns="0" rIns="0" bIns="0" anchor="ctr" anchorCtr="1">
            <a:normAutofit/>
          </a:bodyPr>
          <a:lstStyle>
            <a:lvl1pPr algn="ctr">
              <a:defRPr sz="6600" baseline="0">
                <a:solidFill>
                  <a:srgbClr val="59574C"/>
                </a:solidFill>
                <a:latin typeface="Meiryo UI" panose="020B0604030504040204" pitchFamily="50" charset="-128"/>
                <a:ea typeface="Meiryo UI" panose="020B0604030504040204" pitchFamily="50" charset="-128"/>
              </a:defRPr>
            </a:lvl1pPr>
          </a:lstStyle>
          <a:p>
            <a:r>
              <a:rPr kumimoji="1" lang="ja-JP" altLang="en-US"/>
              <a:t>プレゼンテーションタイトル</a:t>
            </a:r>
          </a:p>
        </p:txBody>
      </p:sp>
      <p:sp>
        <p:nvSpPr>
          <p:cNvPr id="12" name="テキスト プレースホルダー 11"/>
          <p:cNvSpPr>
            <a:spLocks noGrp="1"/>
          </p:cNvSpPr>
          <p:nvPr>
            <p:ph type="body" sz="quarter" idx="10" hasCustomPrompt="1"/>
          </p:nvPr>
        </p:nvSpPr>
        <p:spPr>
          <a:xfrm>
            <a:off x="0" y="3385800"/>
            <a:ext cx="18288000" cy="648000"/>
          </a:xfrm>
        </p:spPr>
        <p:txBody>
          <a:bodyPr lIns="0" tIns="0" rIns="0" bIns="0" anchor="ctr" anchorCtr="1">
            <a:noAutofit/>
          </a:bodyPr>
          <a:lstStyle>
            <a:lvl1pPr marL="0" indent="0" algn="ctr">
              <a:lnSpc>
                <a:spcPct val="100000"/>
              </a:lnSpc>
              <a:spcBef>
                <a:spcPts val="0"/>
              </a:spcBef>
              <a:buNone/>
              <a:defRPr sz="4200" baseline="0">
                <a:latin typeface="Meiryo UI" panose="020B0604030504040204" pitchFamily="50" charset="-128"/>
                <a:ea typeface="Meiryo UI" panose="020B0604030504040204" pitchFamily="50" charset="-128"/>
              </a:defRPr>
            </a:lvl1pPr>
            <a:lvl2pPr marL="685800" indent="0">
              <a:buNone/>
              <a:defRPr/>
            </a:lvl2pPr>
            <a:lvl3pPr marL="1371600" indent="0">
              <a:buNone/>
              <a:defRPr/>
            </a:lvl3pPr>
            <a:lvl4pPr marL="2057400" indent="0">
              <a:buNone/>
              <a:defRPr/>
            </a:lvl4pPr>
            <a:lvl5pPr marL="2743200" indent="0">
              <a:buNone/>
              <a:defRPr/>
            </a:lvl5pPr>
          </a:lstStyle>
          <a:p>
            <a:pPr lvl="0"/>
            <a:r>
              <a:rPr kumimoji="1" lang="ja-JP" altLang="en-US"/>
              <a:t>サブタイトル</a:t>
            </a:r>
          </a:p>
        </p:txBody>
      </p:sp>
      <p:sp>
        <p:nvSpPr>
          <p:cNvPr id="14" name="テキスト プレースホルダー 13"/>
          <p:cNvSpPr>
            <a:spLocks noGrp="1"/>
          </p:cNvSpPr>
          <p:nvPr>
            <p:ph type="body" sz="quarter" idx="11" hasCustomPrompt="1"/>
          </p:nvPr>
        </p:nvSpPr>
        <p:spPr>
          <a:xfrm>
            <a:off x="4823999" y="7587000"/>
            <a:ext cx="8640000" cy="432000"/>
          </a:xfrm>
        </p:spPr>
        <p:txBody>
          <a:bodyPr anchor="ctr" anchorCtr="1">
            <a:noAutofit/>
          </a:bodyPr>
          <a:lstStyle>
            <a:lvl1pPr marL="0" indent="0" algn="ctr">
              <a:buNone/>
              <a:defRPr sz="2100" baseline="0">
                <a:latin typeface="Meiryo UI" panose="020B0604030504040204" pitchFamily="50" charset="-128"/>
                <a:ea typeface="Meiryo UI" panose="020B0604030504040204" pitchFamily="50" charset="-128"/>
              </a:defRPr>
            </a:lvl1pPr>
          </a:lstStyle>
          <a:p>
            <a:pPr lvl="0"/>
            <a:r>
              <a:rPr kumimoji="1" lang="ja-JP" altLang="en-US"/>
              <a:t>社名</a:t>
            </a:r>
          </a:p>
        </p:txBody>
      </p:sp>
      <p:sp>
        <p:nvSpPr>
          <p:cNvPr id="16" name="テキスト プレースホルダー 15"/>
          <p:cNvSpPr>
            <a:spLocks noGrp="1"/>
          </p:cNvSpPr>
          <p:nvPr>
            <p:ph type="body" sz="quarter" idx="12" hasCustomPrompt="1"/>
          </p:nvPr>
        </p:nvSpPr>
        <p:spPr>
          <a:xfrm>
            <a:off x="4824000" y="8154000"/>
            <a:ext cx="8640000" cy="702000"/>
          </a:xfrm>
        </p:spPr>
        <p:txBody>
          <a:bodyPr anchor="ctr" anchorCtr="1">
            <a:noAutofit/>
          </a:bodyPr>
          <a:lstStyle>
            <a:lvl1pPr marL="0" indent="0" algn="ctr">
              <a:lnSpc>
                <a:spcPct val="100000"/>
              </a:lnSpc>
              <a:spcBef>
                <a:spcPts val="0"/>
              </a:spcBef>
              <a:buNone/>
              <a:defRPr sz="2100" baseline="0">
                <a:latin typeface="Meiryo UI" panose="020B0604030504040204" pitchFamily="50" charset="-128"/>
                <a:ea typeface="Meiryo UI" panose="020B0604030504040204" pitchFamily="50" charset="-128"/>
              </a:defRPr>
            </a:lvl1pPr>
          </a:lstStyle>
          <a:p>
            <a:pPr lvl="0"/>
            <a:r>
              <a:rPr kumimoji="1" lang="ja-JP" altLang="en-US"/>
              <a:t>本部名</a:t>
            </a:r>
            <a:endParaRPr kumimoji="1" lang="en-US" altLang="ja-JP"/>
          </a:p>
          <a:p>
            <a:pPr lvl="0"/>
            <a:r>
              <a:rPr kumimoji="1" lang="ja-JP" altLang="en-US"/>
              <a:t>部門名</a:t>
            </a:r>
          </a:p>
        </p:txBody>
      </p:sp>
      <p:sp>
        <p:nvSpPr>
          <p:cNvPr id="11" name="日付プレースホルダー 10"/>
          <p:cNvSpPr>
            <a:spLocks noGrp="1"/>
          </p:cNvSpPr>
          <p:nvPr>
            <p:ph type="dt" sz="half" idx="15"/>
          </p:nvPr>
        </p:nvSpPr>
        <p:spPr>
          <a:xfrm>
            <a:off x="4823999" y="8991000"/>
            <a:ext cx="8640000" cy="432000"/>
          </a:xfrm>
        </p:spPr>
        <p:txBody>
          <a:bodyPr/>
          <a:lstStyle>
            <a:lvl1pPr algn="ctr">
              <a:defRPr sz="2100" baseline="0">
                <a:solidFill>
                  <a:schemeClr val="tx1"/>
                </a:solidFill>
                <a:latin typeface="Meiryo UI" panose="020B0604030504040204" pitchFamily="50" charset="-128"/>
                <a:ea typeface="Meiryo UI" panose="020B0604030504040204" pitchFamily="50" charset="-128"/>
              </a:defRPr>
            </a:lvl1pPr>
          </a:lstStyle>
          <a:p>
            <a:fld id="{DE3A522F-00E1-4E7A-AFBE-13580E49A764}" type="datetime1">
              <a:rPr lang="ja-JP" altLang="en-US" smtClean="0"/>
              <a:t>2026/7/14</a:t>
            </a:fld>
            <a:endParaRPr lang="ja-JP" altLang="en-US"/>
          </a:p>
        </p:txBody>
      </p:sp>
    </p:spTree>
    <p:extLst>
      <p:ext uri="{BB962C8B-B14F-4D97-AF65-F5344CB8AC3E}">
        <p14:creationId xmlns:p14="http://schemas.microsoft.com/office/powerpoint/2010/main" val="428829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カバーページ２（サブタイトル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0" y="3969000"/>
            <a:ext cx="18288000" cy="1512000"/>
          </a:xfrm>
        </p:spPr>
        <p:txBody>
          <a:bodyPr wrap="none" lIns="0" tIns="0" rIns="0" bIns="0" anchor="ctr" anchorCtr="1">
            <a:normAutofit/>
          </a:bodyPr>
          <a:lstStyle>
            <a:lvl1pPr algn="ctr">
              <a:defRPr sz="6600" baseline="0">
                <a:solidFill>
                  <a:srgbClr val="59574C"/>
                </a:solidFill>
                <a:latin typeface="Meiryo UI" panose="020B0604030504040204" pitchFamily="50" charset="-128"/>
                <a:ea typeface="Meiryo UI" panose="020B0604030504040204" pitchFamily="50" charset="-128"/>
              </a:defRPr>
            </a:lvl1pPr>
          </a:lstStyle>
          <a:p>
            <a:r>
              <a:rPr kumimoji="1" lang="ja-JP" altLang="en-US"/>
              <a:t>プレゼンテーションタイトル</a:t>
            </a:r>
          </a:p>
        </p:txBody>
      </p:sp>
      <p:sp>
        <p:nvSpPr>
          <p:cNvPr id="14" name="テキスト プレースホルダー 13"/>
          <p:cNvSpPr>
            <a:spLocks noGrp="1"/>
          </p:cNvSpPr>
          <p:nvPr>
            <p:ph type="body" sz="quarter" idx="11" hasCustomPrompt="1"/>
          </p:nvPr>
        </p:nvSpPr>
        <p:spPr>
          <a:xfrm>
            <a:off x="4823999" y="7587000"/>
            <a:ext cx="8640000" cy="432000"/>
          </a:xfrm>
        </p:spPr>
        <p:txBody>
          <a:bodyPr anchor="ctr" anchorCtr="1">
            <a:noAutofit/>
          </a:bodyPr>
          <a:lstStyle>
            <a:lvl1pPr marL="0" indent="0" algn="ctr">
              <a:buNone/>
              <a:defRPr sz="2100" baseline="0">
                <a:latin typeface="Meiryo UI" panose="020B0604030504040204" pitchFamily="50" charset="-128"/>
                <a:ea typeface="Meiryo UI" panose="020B0604030504040204" pitchFamily="50" charset="-128"/>
              </a:defRPr>
            </a:lvl1pPr>
          </a:lstStyle>
          <a:p>
            <a:pPr lvl="0"/>
            <a:r>
              <a:rPr kumimoji="1" lang="ja-JP" altLang="en-US"/>
              <a:t>社名</a:t>
            </a:r>
          </a:p>
        </p:txBody>
      </p:sp>
      <p:sp>
        <p:nvSpPr>
          <p:cNvPr id="16" name="テキスト プレースホルダー 15"/>
          <p:cNvSpPr>
            <a:spLocks noGrp="1"/>
          </p:cNvSpPr>
          <p:nvPr>
            <p:ph type="body" sz="quarter" idx="12" hasCustomPrompt="1"/>
          </p:nvPr>
        </p:nvSpPr>
        <p:spPr>
          <a:xfrm>
            <a:off x="4824000" y="8154000"/>
            <a:ext cx="8640000" cy="702000"/>
          </a:xfrm>
        </p:spPr>
        <p:txBody>
          <a:bodyPr anchor="ctr" anchorCtr="1">
            <a:noAutofit/>
          </a:bodyPr>
          <a:lstStyle>
            <a:lvl1pPr marL="0" indent="0" algn="ctr">
              <a:lnSpc>
                <a:spcPct val="100000"/>
              </a:lnSpc>
              <a:spcBef>
                <a:spcPts val="0"/>
              </a:spcBef>
              <a:buNone/>
              <a:defRPr sz="2100" baseline="0">
                <a:latin typeface="Meiryo UI" panose="020B0604030504040204" pitchFamily="50" charset="-128"/>
                <a:ea typeface="Meiryo UI" panose="020B0604030504040204" pitchFamily="50" charset="-128"/>
              </a:defRPr>
            </a:lvl1pPr>
          </a:lstStyle>
          <a:p>
            <a:pPr lvl="0"/>
            <a:r>
              <a:rPr kumimoji="1" lang="ja-JP" altLang="en-US"/>
              <a:t>本部名</a:t>
            </a:r>
            <a:endParaRPr kumimoji="1" lang="en-US" altLang="ja-JP"/>
          </a:p>
          <a:p>
            <a:pPr lvl="0"/>
            <a:r>
              <a:rPr kumimoji="1" lang="ja-JP" altLang="en-US"/>
              <a:t>部門名</a:t>
            </a:r>
          </a:p>
        </p:txBody>
      </p:sp>
      <p:sp>
        <p:nvSpPr>
          <p:cNvPr id="11" name="日付プレースホルダー 10"/>
          <p:cNvSpPr>
            <a:spLocks noGrp="1"/>
          </p:cNvSpPr>
          <p:nvPr>
            <p:ph type="dt" sz="half" idx="15"/>
          </p:nvPr>
        </p:nvSpPr>
        <p:spPr>
          <a:xfrm>
            <a:off x="4823999" y="8991000"/>
            <a:ext cx="8640000" cy="432000"/>
          </a:xfrm>
        </p:spPr>
        <p:txBody>
          <a:bodyPr/>
          <a:lstStyle>
            <a:lvl1pPr algn="ctr">
              <a:defRPr sz="2100" baseline="0">
                <a:solidFill>
                  <a:schemeClr val="tx1"/>
                </a:solidFill>
                <a:latin typeface="Meiryo UI" panose="020B0604030504040204" pitchFamily="50" charset="-128"/>
                <a:ea typeface="Meiryo UI" panose="020B0604030504040204" pitchFamily="50" charset="-128"/>
              </a:defRPr>
            </a:lvl1pPr>
          </a:lstStyle>
          <a:p>
            <a:fld id="{126290F9-954C-4EC2-BAF6-2F9D44AD7976}" type="datetime1">
              <a:rPr lang="ja-JP" altLang="en-US" smtClean="0"/>
              <a:t>2026/7/14</a:t>
            </a:fld>
            <a:endParaRPr lang="ja-JP" altLang="en-US"/>
          </a:p>
        </p:txBody>
      </p:sp>
      <p:pic>
        <p:nvPicPr>
          <p:cNvPr id="9" name="図 8">
            <a:extLst>
              <a:ext uri="{FF2B5EF4-FFF2-40B4-BE49-F238E27FC236}">
                <a16:creationId xmlns:a16="http://schemas.microsoft.com/office/drawing/2014/main" id="{74C3497D-F957-437C-BA52-9036B28F34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63999" y="973984"/>
            <a:ext cx="2158931" cy="1079466"/>
          </a:xfrm>
          <a:prstGeom prst="rect">
            <a:avLst/>
          </a:prstGeom>
        </p:spPr>
      </p:pic>
      <p:sp>
        <p:nvSpPr>
          <p:cNvPr id="3" name="フッター プレースホルダー 3">
            <a:extLst>
              <a:ext uri="{FF2B5EF4-FFF2-40B4-BE49-F238E27FC236}">
                <a16:creationId xmlns:a16="http://schemas.microsoft.com/office/drawing/2014/main" id="{5882576A-AC22-19C0-A52D-0F488CAF34E2}"/>
              </a:ext>
            </a:extLst>
          </p:cNvPr>
          <p:cNvSpPr>
            <a:spLocks noGrp="1"/>
          </p:cNvSpPr>
          <p:nvPr>
            <p:ph type="ftr" sz="quarter" idx="16"/>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Tree>
    <p:extLst>
      <p:ext uri="{BB962C8B-B14F-4D97-AF65-F5344CB8AC3E}">
        <p14:creationId xmlns:p14="http://schemas.microsoft.com/office/powerpoint/2010/main" val="3112424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ンデックスページ">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lvl1pPr>
              <a:defRPr baseline="0"/>
            </a:lvl1pPr>
          </a:lstStyle>
          <a:p>
            <a:fld id="{02FD29F7-868E-4B05-A00A-88A8A42C3A5D}" type="datetime1">
              <a:rPr lang="ja-JP" altLang="en-US" smtClean="0"/>
              <a:t>2026/7/14</a:t>
            </a:fld>
            <a:endParaRPr lang="ja-JP" altLang="en-US"/>
          </a:p>
        </p:txBody>
      </p:sp>
      <p:sp>
        <p:nvSpPr>
          <p:cNvPr id="4" name="スライド番号プレースホルダー 3"/>
          <p:cNvSpPr>
            <a:spLocks noGrp="1"/>
          </p:cNvSpPr>
          <p:nvPr>
            <p:ph type="sldNum" sz="quarter" idx="12"/>
          </p:nvPr>
        </p:nvSpPr>
        <p:spPr/>
        <p:txBody>
          <a:bodyPr/>
          <a:lstStyle/>
          <a:p>
            <a:fld id="{2A9E37A5-A917-4235-ABF6-8CD72E894915}" type="slidenum">
              <a:rPr kumimoji="1" lang="ja-JP" altLang="en-US" smtClean="0"/>
              <a:t>‹#›</a:t>
            </a:fld>
            <a:endParaRPr kumimoji="1" lang="ja-JP" altLang="en-US"/>
          </a:p>
        </p:txBody>
      </p:sp>
      <p:sp>
        <p:nvSpPr>
          <p:cNvPr id="8" name="タイトル 1"/>
          <p:cNvSpPr>
            <a:spLocks noGrp="1"/>
          </p:cNvSpPr>
          <p:nvPr>
            <p:ph type="title"/>
          </p:nvPr>
        </p:nvSpPr>
        <p:spPr>
          <a:xfrm>
            <a:off x="383400" y="437400"/>
            <a:ext cx="15514200" cy="415800"/>
          </a:xfrm>
        </p:spPr>
        <p:txBody>
          <a:bodyPr vert="horz" lIns="0" tIns="0" rIns="0" bIns="0" rtlCol="0" anchor="ctr">
            <a:normAutofit/>
          </a:bodyPr>
          <a:lstStyle>
            <a:lvl1pPr>
              <a:defRPr lang="ja-JP" altLang="en-US" sz="2700" baseline="0">
                <a:latin typeface="Meiryo UI" panose="020B0604030504040204" pitchFamily="50" charset="-128"/>
                <a:ea typeface="Meiryo UI" panose="020B0604030504040204" pitchFamily="50" charset="-128"/>
              </a:defRPr>
            </a:lvl1pPr>
          </a:lstStyle>
          <a:p>
            <a:pPr lvl="0"/>
            <a:r>
              <a:rPr kumimoji="1" lang="ja-JP" altLang="en-US"/>
              <a:t>マスター タイトルの書式設定</a:t>
            </a:r>
          </a:p>
        </p:txBody>
      </p:sp>
      <p:sp>
        <p:nvSpPr>
          <p:cNvPr id="13" name="テキスト プレースホルダー 12"/>
          <p:cNvSpPr>
            <a:spLocks noGrp="1"/>
          </p:cNvSpPr>
          <p:nvPr>
            <p:ph type="body" sz="quarter" idx="13"/>
          </p:nvPr>
        </p:nvSpPr>
        <p:spPr>
          <a:xfrm>
            <a:off x="7349401" y="2764800"/>
            <a:ext cx="7782446" cy="4757400"/>
          </a:xfrm>
        </p:spPr>
        <p:txBody>
          <a:bodyPr anchor="ctr" anchorCtr="0"/>
          <a:lstStyle>
            <a:lvl1pPr marL="771525" indent="-771525">
              <a:buFont typeface="+mj-lt"/>
              <a:buAutoNum type="arabicPeriod"/>
              <a:defRPr baseline="0">
                <a:solidFill>
                  <a:srgbClr val="59574C"/>
                </a:solidFill>
                <a:latin typeface="Meiryo UI" panose="020B0604030504040204" pitchFamily="50" charset="-128"/>
                <a:ea typeface="Meiryo UI" panose="020B0604030504040204" pitchFamily="50" charset="-128"/>
              </a:defRPr>
            </a:lvl1pPr>
            <a:lvl2pPr marL="1371600" indent="-685800">
              <a:buFont typeface="+mj-lt"/>
              <a:buAutoNum type="arabicPeriod"/>
              <a:defRPr baseline="0">
                <a:solidFill>
                  <a:srgbClr val="59574C"/>
                </a:solidFill>
                <a:latin typeface="Meiryo UI" panose="020B0604030504040204" pitchFamily="50" charset="-128"/>
                <a:ea typeface="Meiryo UI" panose="020B0604030504040204" pitchFamily="50" charset="-128"/>
              </a:defRPr>
            </a:lvl2pPr>
            <a:lvl3pPr marL="2057400" indent="-685800">
              <a:buFont typeface="+mj-lt"/>
              <a:buAutoNum type="arabicPeriod"/>
              <a:defRPr baseline="0">
                <a:solidFill>
                  <a:srgbClr val="59574C"/>
                </a:solidFill>
                <a:latin typeface="Meiryo UI" panose="020B0604030504040204" pitchFamily="50" charset="-128"/>
                <a:ea typeface="Meiryo UI" panose="020B0604030504040204" pitchFamily="50" charset="-128"/>
              </a:defRPr>
            </a:lvl3pPr>
            <a:lvl4pPr marL="2571750" indent="-514350">
              <a:buFont typeface="+mj-lt"/>
              <a:buAutoNum type="arabicPeriod"/>
              <a:defRPr baseline="0">
                <a:solidFill>
                  <a:srgbClr val="59574C"/>
                </a:solidFill>
                <a:latin typeface="Meiryo UI" panose="020B0604030504040204" pitchFamily="50" charset="-128"/>
                <a:ea typeface="Meiryo UI" panose="020B0604030504040204" pitchFamily="50" charset="-128"/>
              </a:defRPr>
            </a:lvl4pPr>
            <a:lvl5pPr marL="3257550" indent="-514350">
              <a:buFont typeface="+mj-lt"/>
              <a:buAutoNum type="arabicPeriod"/>
              <a:defRPr baseline="0">
                <a:solidFill>
                  <a:srgbClr val="59574C"/>
                </a:solidFill>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フッター プレースホルダー 3"/>
          <p:cNvSpPr>
            <a:spLocks noGrp="1"/>
          </p:cNvSpPr>
          <p:nvPr>
            <p:ph type="ftr" sz="quarter" idx="11"/>
          </p:nvPr>
        </p:nvSpPr>
        <p:spPr>
          <a:xfrm>
            <a:off x="14294731" y="9903315"/>
            <a:ext cx="2619755" cy="378000"/>
          </a:xfrm>
        </p:spPr>
        <p:txBody>
          <a:bodyPr/>
          <a:lstStyle/>
          <a:p>
            <a:r>
              <a:rPr kumimoji="1" lang="en-US" altLang="ja-JP"/>
              <a:t>Confidential </a:t>
            </a:r>
            <a:endParaRPr kumimoji="1" lang="ja-JP" altLang="en-US"/>
          </a:p>
        </p:txBody>
      </p:sp>
      <p:cxnSp>
        <p:nvCxnSpPr>
          <p:cNvPr id="12" name="直線コネクタ 11"/>
          <p:cNvCxnSpPr/>
          <p:nvPr/>
        </p:nvCxnSpPr>
        <p:spPr>
          <a:xfrm>
            <a:off x="376943" y="1092633"/>
            <a:ext cx="17533058" cy="0"/>
          </a:xfrm>
          <a:prstGeom prst="line">
            <a:avLst/>
          </a:prstGeom>
          <a:ln w="19050">
            <a:solidFill>
              <a:srgbClr val="DBDACB"/>
            </a:solidFill>
          </a:ln>
        </p:spPr>
        <p:style>
          <a:lnRef idx="1">
            <a:schemeClr val="accent1"/>
          </a:lnRef>
          <a:fillRef idx="0">
            <a:schemeClr val="accent1"/>
          </a:fillRef>
          <a:effectRef idx="0">
            <a:schemeClr val="accent1"/>
          </a:effectRef>
          <a:fontRef idx="minor">
            <a:schemeClr val="tx1"/>
          </a:fontRef>
        </p:style>
      </p:cxnSp>
      <p:pic>
        <p:nvPicPr>
          <p:cNvPr id="15" name="図 14">
            <a:extLst>
              <a:ext uri="{FF2B5EF4-FFF2-40B4-BE49-F238E27FC236}">
                <a16:creationId xmlns:a16="http://schemas.microsoft.com/office/drawing/2014/main" id="{AC6B63DF-389A-4A98-8956-5BBF5DFBE8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4600" y="240300"/>
            <a:ext cx="1620000" cy="810000"/>
          </a:xfrm>
          <a:prstGeom prst="rect">
            <a:avLst/>
          </a:prstGeom>
        </p:spPr>
      </p:pic>
    </p:spTree>
    <p:extLst>
      <p:ext uri="{BB962C8B-B14F-4D97-AF65-F5344CB8AC3E}">
        <p14:creationId xmlns:p14="http://schemas.microsoft.com/office/powerpoint/2010/main" val="3227670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コンテンツ_01">
    <p:spTree>
      <p:nvGrpSpPr>
        <p:cNvPr id="1" name=""/>
        <p:cNvGrpSpPr/>
        <p:nvPr/>
      </p:nvGrpSpPr>
      <p:grpSpPr>
        <a:xfrm>
          <a:off x="0" y="0"/>
          <a:ext cx="0" cy="0"/>
          <a:chOff x="0" y="0"/>
          <a:chExt cx="0" cy="0"/>
        </a:xfrm>
      </p:grpSpPr>
      <p:sp>
        <p:nvSpPr>
          <p:cNvPr id="2" name="タイトル 1"/>
          <p:cNvSpPr>
            <a:spLocks noGrp="1"/>
          </p:cNvSpPr>
          <p:nvPr>
            <p:ph type="title"/>
          </p:nvPr>
        </p:nvSpPr>
        <p:spPr>
          <a:xfrm>
            <a:off x="383400" y="437400"/>
            <a:ext cx="15514200" cy="415800"/>
          </a:xfrm>
        </p:spPr>
        <p:txBody>
          <a:bodyPr lIns="0" tIns="0" rIns="0" bIns="0">
            <a:normAutofit/>
          </a:bodyPr>
          <a:lstStyle>
            <a:lvl1pPr>
              <a:defRPr sz="2700" baseline="0">
                <a:solidFill>
                  <a:srgbClr val="59574C"/>
                </a:solidFill>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10"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434F4A95-FD37-4C45-9E63-8B75E6CA4F73}" type="datetime1">
              <a:rPr lang="ja-JP" altLang="en-US" smtClean="0"/>
              <a:t>2026/7/14</a:t>
            </a:fld>
            <a:endParaRPr lang="ja-JP" altLang="en-US"/>
          </a:p>
        </p:txBody>
      </p:sp>
      <p:sp>
        <p:nvSpPr>
          <p:cNvPr id="11" name="スライド番号プレースホルダー 3"/>
          <p:cNvSpPr>
            <a:spLocks noGrp="1"/>
          </p:cNvSpPr>
          <p:nvPr>
            <p:ph type="sldNum" sz="quarter" idx="12"/>
          </p:nvPr>
        </p:nvSpPr>
        <p:spPr>
          <a:xfrm>
            <a:off x="17069400" y="9936000"/>
            <a:ext cx="810000" cy="324000"/>
          </a:xfrm>
        </p:spPr>
        <p:txBody>
          <a:bodyPr/>
          <a:lstStyle>
            <a:lvl1pPr>
              <a:defRPr baseline="0">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en-US"/>
          </a:p>
        </p:txBody>
      </p:sp>
      <p:sp>
        <p:nvSpPr>
          <p:cNvPr id="12"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cxnSp>
        <p:nvCxnSpPr>
          <p:cNvPr id="13" name="直線コネクタ 12"/>
          <p:cNvCxnSpPr/>
          <p:nvPr/>
        </p:nvCxnSpPr>
        <p:spPr>
          <a:xfrm>
            <a:off x="376943" y="1092633"/>
            <a:ext cx="17286943" cy="0"/>
          </a:xfrm>
          <a:prstGeom prst="line">
            <a:avLst/>
          </a:prstGeom>
          <a:ln w="19050">
            <a:solidFill>
              <a:srgbClr val="DBDACB"/>
            </a:solidFill>
          </a:ln>
        </p:spPr>
        <p:style>
          <a:lnRef idx="1">
            <a:schemeClr val="accent1"/>
          </a:lnRef>
          <a:fillRef idx="0">
            <a:schemeClr val="accent1"/>
          </a:fillRef>
          <a:effectRef idx="0">
            <a:schemeClr val="accent1"/>
          </a:effectRef>
          <a:fontRef idx="minor">
            <a:schemeClr val="tx1"/>
          </a:fontRef>
        </p:style>
      </p:cxnSp>
      <p:pic>
        <p:nvPicPr>
          <p:cNvPr id="15" name="図 14">
            <a:extLst>
              <a:ext uri="{FF2B5EF4-FFF2-40B4-BE49-F238E27FC236}">
                <a16:creationId xmlns:a16="http://schemas.microsoft.com/office/drawing/2014/main" id="{ABD4378A-B289-4FC9-ADA8-4EF64E98E7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4600" y="240300"/>
            <a:ext cx="1620000" cy="810000"/>
          </a:xfrm>
          <a:prstGeom prst="rect">
            <a:avLst/>
          </a:prstGeom>
        </p:spPr>
      </p:pic>
    </p:spTree>
    <p:extLst>
      <p:ext uri="{BB962C8B-B14F-4D97-AF65-F5344CB8AC3E}">
        <p14:creationId xmlns:p14="http://schemas.microsoft.com/office/powerpoint/2010/main" val="1633094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コンテンツ_02">
    <p:spTree>
      <p:nvGrpSpPr>
        <p:cNvPr id="1" name=""/>
        <p:cNvGrpSpPr/>
        <p:nvPr/>
      </p:nvGrpSpPr>
      <p:grpSpPr>
        <a:xfrm>
          <a:off x="0" y="0"/>
          <a:ext cx="0" cy="0"/>
          <a:chOff x="0" y="0"/>
          <a:chExt cx="0" cy="0"/>
        </a:xfrm>
      </p:grpSpPr>
      <p:sp>
        <p:nvSpPr>
          <p:cNvPr id="2" name="タイトル 1"/>
          <p:cNvSpPr>
            <a:spLocks noGrp="1"/>
          </p:cNvSpPr>
          <p:nvPr>
            <p:ph type="title"/>
          </p:nvPr>
        </p:nvSpPr>
        <p:spPr>
          <a:xfrm>
            <a:off x="383400" y="437400"/>
            <a:ext cx="15514200" cy="415800"/>
          </a:xfrm>
        </p:spPr>
        <p:txBody>
          <a:bodyPr vert="horz" lIns="0" tIns="0" rIns="0" bIns="0" rtlCol="0" anchor="ctr">
            <a:normAutofit/>
          </a:bodyPr>
          <a:lstStyle>
            <a:lvl1pPr>
              <a:defRPr lang="ja-JP" altLang="en-US" sz="2700">
                <a:latin typeface="Meiryo UI" panose="020B0604030504040204" pitchFamily="50" charset="-128"/>
                <a:ea typeface="Meiryo UI" panose="020B0604030504040204" pitchFamily="50" charset="-128"/>
              </a:defRPr>
            </a:lvl1pPr>
          </a:lstStyle>
          <a:p>
            <a:pPr lvl="0"/>
            <a:r>
              <a:rPr kumimoji="1" lang="ja-JP" altLang="en-US"/>
              <a:t>マスター タイトルの書式設定</a:t>
            </a:r>
          </a:p>
        </p:txBody>
      </p:sp>
      <p:sp>
        <p:nvSpPr>
          <p:cNvPr id="3" name="コンテンツ プレースホルダー 2"/>
          <p:cNvSpPr>
            <a:spLocks noGrp="1"/>
          </p:cNvSpPr>
          <p:nvPr>
            <p:ph idx="1"/>
          </p:nvPr>
        </p:nvSpPr>
        <p:spPr>
          <a:xfrm>
            <a:off x="376942" y="1242000"/>
            <a:ext cx="17502458" cy="8656200"/>
          </a:xfrm>
        </p:spPr>
        <p:txBody>
          <a:bodyPr lIns="0" tIns="0" rIns="0" bIns="0"/>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5F940278-8FA3-46F3-853B-91A0919C5578}" type="datetime1">
              <a:rPr lang="ja-JP" altLang="en-US" smtClean="0"/>
              <a:t>2026/7/14</a:t>
            </a:fld>
            <a:endParaRPr lang="ja-JP" altLang="en-US"/>
          </a:p>
        </p:txBody>
      </p:sp>
      <p:sp>
        <p:nvSpPr>
          <p:cNvPr id="14" name="スライド番号プレースホルダー 3"/>
          <p:cNvSpPr>
            <a:spLocks noGrp="1"/>
          </p:cNvSpPr>
          <p:nvPr>
            <p:ph type="sldNum" sz="quarter" idx="12"/>
          </p:nvPr>
        </p:nvSpPr>
        <p:spPr>
          <a:xfrm>
            <a:off x="17069400" y="9936000"/>
            <a:ext cx="810000" cy="324000"/>
          </a:xfrm>
        </p:spPr>
        <p:txBody>
          <a:bodyPr/>
          <a:lstStyle>
            <a:lvl1pPr>
              <a:defRPr>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ja-JP" altLang="en-US"/>
          </a:p>
        </p:txBody>
      </p:sp>
      <p:sp>
        <p:nvSpPr>
          <p:cNvPr id="15"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cxnSp>
        <p:nvCxnSpPr>
          <p:cNvPr id="17" name="直線コネクタ 16"/>
          <p:cNvCxnSpPr/>
          <p:nvPr/>
        </p:nvCxnSpPr>
        <p:spPr>
          <a:xfrm>
            <a:off x="376943" y="1092633"/>
            <a:ext cx="17533058" cy="0"/>
          </a:xfrm>
          <a:prstGeom prst="line">
            <a:avLst/>
          </a:prstGeom>
          <a:ln w="19050">
            <a:solidFill>
              <a:srgbClr val="DBDACB"/>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61F1F23-9698-4103-B3E9-5E4E605E8A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4600" y="240300"/>
            <a:ext cx="1620000" cy="810000"/>
          </a:xfrm>
          <a:prstGeom prst="rect">
            <a:avLst/>
          </a:prstGeom>
        </p:spPr>
      </p:pic>
    </p:spTree>
    <p:extLst>
      <p:ext uri="{BB962C8B-B14F-4D97-AF65-F5344CB8AC3E}">
        <p14:creationId xmlns:p14="http://schemas.microsoft.com/office/powerpoint/2010/main" val="1845056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コンテンツ_03(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83400" y="437400"/>
            <a:ext cx="15514200" cy="415800"/>
          </a:xfrm>
        </p:spPr>
        <p:txBody>
          <a:bodyPr vert="horz" lIns="0" tIns="0" rIns="0" bIns="0" rtlCol="0" anchor="ctr">
            <a:normAutofit/>
          </a:bodyPr>
          <a:lstStyle>
            <a:lvl1pPr>
              <a:defRPr lang="ja-JP" altLang="en-US" sz="2700">
                <a:latin typeface="Meiryo UI" panose="020B0604030504040204" pitchFamily="50" charset="-128"/>
                <a:ea typeface="Meiryo UI" panose="020B0604030504040204" pitchFamily="50" charset="-128"/>
              </a:defRPr>
            </a:lvl1pPr>
          </a:lstStyle>
          <a:p>
            <a:pPr lvl="0"/>
            <a:r>
              <a:rPr kumimoji="1" lang="ja-JP" altLang="en-US"/>
              <a:t>マスター タイトルの書式設定</a:t>
            </a:r>
          </a:p>
        </p:txBody>
      </p:sp>
      <p:sp>
        <p:nvSpPr>
          <p:cNvPr id="3" name="コンテンツ プレースホルダー 2"/>
          <p:cNvSpPr>
            <a:spLocks noGrp="1"/>
          </p:cNvSpPr>
          <p:nvPr>
            <p:ph sz="half" idx="1"/>
          </p:nvPr>
        </p:nvSpPr>
        <p:spPr>
          <a:xfrm>
            <a:off x="378000" y="1242000"/>
            <a:ext cx="8586000" cy="8636079"/>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9293400" y="1242000"/>
            <a:ext cx="8586000" cy="8634600"/>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1"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0925962F-2FDF-4643-AD07-609324B00209}" type="datetime1">
              <a:rPr lang="ja-JP" altLang="en-US" smtClean="0"/>
              <a:t>2026/7/14</a:t>
            </a:fld>
            <a:endParaRPr lang="ja-JP" altLang="en-US"/>
          </a:p>
        </p:txBody>
      </p:sp>
      <p:sp>
        <p:nvSpPr>
          <p:cNvPr id="12" name="スライド番号プレースホルダー 3"/>
          <p:cNvSpPr>
            <a:spLocks noGrp="1"/>
          </p:cNvSpPr>
          <p:nvPr>
            <p:ph type="sldNum" sz="quarter" idx="12"/>
          </p:nvPr>
        </p:nvSpPr>
        <p:spPr>
          <a:xfrm>
            <a:off x="17069400" y="9936000"/>
            <a:ext cx="810000" cy="324000"/>
          </a:xfrm>
        </p:spPr>
        <p:txBody>
          <a:bodyPr/>
          <a:lstStyle>
            <a:lvl1pPr>
              <a:defRPr baseline="0">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en-US"/>
          </a:p>
        </p:txBody>
      </p:sp>
      <p:sp>
        <p:nvSpPr>
          <p:cNvPr id="13"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cxnSp>
        <p:nvCxnSpPr>
          <p:cNvPr id="15" name="直線コネクタ 14"/>
          <p:cNvCxnSpPr/>
          <p:nvPr/>
        </p:nvCxnSpPr>
        <p:spPr>
          <a:xfrm>
            <a:off x="376943" y="1092633"/>
            <a:ext cx="17533058" cy="0"/>
          </a:xfrm>
          <a:prstGeom prst="line">
            <a:avLst/>
          </a:prstGeom>
          <a:ln w="19050">
            <a:solidFill>
              <a:srgbClr val="DBDACB"/>
            </a:solidFill>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25CCDFE0-FDBF-4B25-8E18-40F619D84A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4600" y="240300"/>
            <a:ext cx="1620000" cy="810000"/>
          </a:xfrm>
          <a:prstGeom prst="rect">
            <a:avLst/>
          </a:prstGeom>
        </p:spPr>
      </p:pic>
    </p:spTree>
    <p:extLst>
      <p:ext uri="{BB962C8B-B14F-4D97-AF65-F5344CB8AC3E}">
        <p14:creationId xmlns:p14="http://schemas.microsoft.com/office/powerpoint/2010/main" val="232492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コンテンツ_04(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83400" y="437400"/>
            <a:ext cx="15514200" cy="415800"/>
          </a:xfrm>
        </p:spPr>
        <p:txBody>
          <a:bodyPr vert="horz" lIns="0" tIns="0" rIns="0" bIns="0" rtlCol="0" anchor="ctr">
            <a:normAutofit/>
          </a:bodyPr>
          <a:lstStyle>
            <a:lvl1pPr>
              <a:defRPr lang="ja-JP" altLang="en-US" sz="2700">
                <a:latin typeface="Meiryo UI" panose="020B0604030504040204" pitchFamily="50" charset="-128"/>
                <a:ea typeface="Meiryo UI" panose="020B0604030504040204" pitchFamily="50" charset="-128"/>
              </a:defRPr>
            </a:lvl1pPr>
          </a:lstStyle>
          <a:p>
            <a:pPr lvl="0"/>
            <a:r>
              <a:rPr kumimoji="1" lang="ja-JP" altLang="en-US"/>
              <a:t>マスター タイトルの書式設定</a:t>
            </a:r>
          </a:p>
        </p:txBody>
      </p:sp>
      <p:sp>
        <p:nvSpPr>
          <p:cNvPr id="3" name="テキスト プレースホルダー 2"/>
          <p:cNvSpPr>
            <a:spLocks noGrp="1"/>
          </p:cNvSpPr>
          <p:nvPr>
            <p:ph type="body" idx="1"/>
          </p:nvPr>
        </p:nvSpPr>
        <p:spPr>
          <a:xfrm>
            <a:off x="376941" y="1285877"/>
            <a:ext cx="8586000" cy="1242000"/>
          </a:xfrm>
        </p:spPr>
        <p:txBody>
          <a:bodyPr anchor="b"/>
          <a:lstStyle>
            <a:lvl1pPr marL="0" indent="0">
              <a:buNone/>
              <a:defRPr sz="3600" b="1">
                <a:latin typeface="Meiryo UI" panose="020B0604030504040204" pitchFamily="50" charset="-128"/>
                <a:ea typeface="Meiryo UI" panose="020B0604030504040204" pitchFamily="50" charset="-128"/>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376943" y="2527876"/>
            <a:ext cx="8586000" cy="7316672"/>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9258300" y="1285877"/>
            <a:ext cx="8586000" cy="1242000"/>
          </a:xfrm>
        </p:spPr>
        <p:txBody>
          <a:bodyPr anchor="b"/>
          <a:lstStyle>
            <a:lvl1pPr marL="0" indent="0">
              <a:buNone/>
              <a:defRPr sz="3600" b="1">
                <a:latin typeface="Meiryo UI" panose="020B0604030504040204" pitchFamily="50" charset="-128"/>
                <a:ea typeface="Meiryo UI" panose="020B0604030504040204" pitchFamily="50" charset="-128"/>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9258297" y="2527874"/>
            <a:ext cx="8621103" cy="7316672"/>
          </a:xfr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6"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C23C83D3-2F4E-4FAF-BF15-296A5AF120BF}" type="datetime1">
              <a:rPr lang="ja-JP" altLang="en-US" smtClean="0"/>
              <a:t>2026/7/14</a:t>
            </a:fld>
            <a:endParaRPr lang="ja-JP" altLang="en-US"/>
          </a:p>
        </p:txBody>
      </p:sp>
      <p:sp>
        <p:nvSpPr>
          <p:cNvPr id="17" name="スライド番号プレースホルダー 3"/>
          <p:cNvSpPr>
            <a:spLocks noGrp="1"/>
          </p:cNvSpPr>
          <p:nvPr>
            <p:ph type="sldNum" sz="quarter" idx="12"/>
          </p:nvPr>
        </p:nvSpPr>
        <p:spPr>
          <a:xfrm>
            <a:off x="17069400" y="9936000"/>
            <a:ext cx="810000" cy="324000"/>
          </a:xfrm>
        </p:spPr>
        <p:txBody>
          <a:bodyPr/>
          <a:lstStyle>
            <a:lvl1pPr>
              <a:defRPr baseline="0">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en-US"/>
          </a:p>
        </p:txBody>
      </p:sp>
      <p:sp>
        <p:nvSpPr>
          <p:cNvPr id="18"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pic>
        <p:nvPicPr>
          <p:cNvPr id="19" name="図 18">
            <a:extLst>
              <a:ext uri="{FF2B5EF4-FFF2-40B4-BE49-F238E27FC236}">
                <a16:creationId xmlns:a16="http://schemas.microsoft.com/office/drawing/2014/main" id="{0169B903-E552-491B-BCBD-8D3E55AF30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4600" y="240300"/>
            <a:ext cx="1620000" cy="810000"/>
          </a:xfrm>
          <a:prstGeom prst="rect">
            <a:avLst/>
          </a:prstGeom>
        </p:spPr>
      </p:pic>
    </p:spTree>
    <p:extLst>
      <p:ext uri="{BB962C8B-B14F-4D97-AF65-F5344CB8AC3E}">
        <p14:creationId xmlns:p14="http://schemas.microsoft.com/office/powerpoint/2010/main" val="414401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エンド画面（基本）">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675D6162-6F61-4AA5-AF9B-79A5B59DCD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55800" y="4732241"/>
            <a:ext cx="5576400" cy="822519"/>
          </a:xfrm>
          <a:prstGeom prst="rect">
            <a:avLst/>
          </a:prstGeom>
        </p:spPr>
      </p:pic>
    </p:spTree>
    <p:extLst>
      <p:ext uri="{BB962C8B-B14F-4D97-AF65-F5344CB8AC3E}">
        <p14:creationId xmlns:p14="http://schemas.microsoft.com/office/powerpoint/2010/main" val="613249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紙2">
    <p:spTree>
      <p:nvGrpSpPr>
        <p:cNvPr id="1" name=""/>
        <p:cNvGrpSpPr/>
        <p:nvPr/>
      </p:nvGrpSpPr>
      <p:grpSpPr>
        <a:xfrm>
          <a:off x="0" y="0"/>
          <a:ext cx="0" cy="0"/>
          <a:chOff x="0" y="0"/>
          <a:chExt cx="0" cy="0"/>
        </a:xfrm>
      </p:grpSpPr>
      <p:sp>
        <p:nvSpPr>
          <p:cNvPr id="9"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D6ED4381-8F26-4182-B885-E6C50124FEFB}" type="datetime1">
              <a:rPr lang="ja-JP" altLang="en-US" smtClean="0"/>
              <a:t>2026/7/14</a:t>
            </a:fld>
            <a:endParaRPr lang="ja-JP" altLang="en-US"/>
          </a:p>
        </p:txBody>
      </p:sp>
      <p:sp>
        <p:nvSpPr>
          <p:cNvPr id="10" name="スライド番号プレースホルダー 3"/>
          <p:cNvSpPr>
            <a:spLocks noGrp="1"/>
          </p:cNvSpPr>
          <p:nvPr>
            <p:ph type="sldNum" sz="quarter" idx="12"/>
          </p:nvPr>
        </p:nvSpPr>
        <p:spPr>
          <a:xfrm>
            <a:off x="17069400" y="9936000"/>
            <a:ext cx="810000" cy="324000"/>
          </a:xfrm>
        </p:spPr>
        <p:txBody>
          <a:bodyPr/>
          <a:lstStyle>
            <a:lvl1pPr>
              <a:defRPr baseline="0">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en-US"/>
          </a:p>
        </p:txBody>
      </p:sp>
      <p:sp>
        <p:nvSpPr>
          <p:cNvPr id="11"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Tree>
    <p:extLst>
      <p:ext uri="{BB962C8B-B14F-4D97-AF65-F5344CB8AC3E}">
        <p14:creationId xmlns:p14="http://schemas.microsoft.com/office/powerpoint/2010/main" val="3758615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59683" y="685800"/>
            <a:ext cx="5898356" cy="2400300"/>
          </a:xfrm>
        </p:spPr>
        <p:txBody>
          <a:bodyPr anchor="b"/>
          <a:lstStyle>
            <a:lvl1pPr>
              <a:defRPr sz="48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コンテンツ プレースホルダー 2"/>
          <p:cNvSpPr>
            <a:spLocks noGrp="1"/>
          </p:cNvSpPr>
          <p:nvPr>
            <p:ph idx="1"/>
          </p:nvPr>
        </p:nvSpPr>
        <p:spPr>
          <a:xfrm>
            <a:off x="7774782" y="1481138"/>
            <a:ext cx="9258300" cy="7310438"/>
          </a:xfrm>
        </p:spPr>
        <p:txBody>
          <a:bodyPr/>
          <a:lstStyle>
            <a:lvl1pPr>
              <a:defRPr sz="4800">
                <a:latin typeface="Meiryo UI" panose="020B0604030504040204" pitchFamily="50" charset="-128"/>
                <a:ea typeface="Meiryo UI" panose="020B0604030504040204" pitchFamily="50" charset="-128"/>
              </a:defRPr>
            </a:lvl1pPr>
            <a:lvl2pPr>
              <a:defRPr sz="4200">
                <a:latin typeface="Meiryo UI" panose="020B0604030504040204" pitchFamily="50" charset="-128"/>
                <a:ea typeface="Meiryo UI" panose="020B0604030504040204" pitchFamily="50" charset="-128"/>
              </a:defRPr>
            </a:lvl2pPr>
            <a:lvl3pPr>
              <a:defRPr sz="3600">
                <a:latin typeface="Meiryo UI" panose="020B0604030504040204" pitchFamily="50" charset="-128"/>
                <a:ea typeface="Meiryo UI" panose="020B0604030504040204" pitchFamily="50" charset="-128"/>
              </a:defRPr>
            </a:lvl3pPr>
            <a:lvl4pPr>
              <a:defRPr sz="3000">
                <a:latin typeface="Meiryo UI" panose="020B0604030504040204" pitchFamily="50" charset="-128"/>
                <a:ea typeface="Meiryo UI" panose="020B0604030504040204" pitchFamily="50" charset="-128"/>
              </a:defRPr>
            </a:lvl4pPr>
            <a:lvl5pPr>
              <a:defRPr sz="3000">
                <a:latin typeface="Meiryo UI" panose="020B0604030504040204" pitchFamily="50" charset="-128"/>
                <a:ea typeface="Meiryo UI" panose="020B0604030504040204" pitchFamily="50" charset="-128"/>
              </a:defRPr>
            </a:lvl5pPr>
            <a:lvl6pPr>
              <a:defRPr sz="3000"/>
            </a:lvl6pPr>
            <a:lvl7pPr>
              <a:defRPr sz="3000"/>
            </a:lvl7pPr>
            <a:lvl8pPr>
              <a:defRPr sz="3000"/>
            </a:lvl8pPr>
            <a:lvl9pPr>
              <a:defRPr sz="3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1259683" y="3086100"/>
            <a:ext cx="5898356" cy="5717382"/>
          </a:xfrm>
        </p:spPr>
        <p:txBody>
          <a:bodyPr/>
          <a:lstStyle>
            <a:lvl1pPr marL="0" indent="0">
              <a:buNone/>
              <a:defRPr sz="2400">
                <a:latin typeface="Meiryo UI" panose="020B0604030504040204" pitchFamily="50" charset="-128"/>
                <a:ea typeface="Meiryo UI" panose="020B0604030504040204" pitchFamily="50" charset="-128"/>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kumimoji="1" lang="ja-JP" altLang="en-US"/>
              <a:t>マスター テキストの書式設定</a:t>
            </a:r>
          </a:p>
        </p:txBody>
      </p:sp>
      <p:sp>
        <p:nvSpPr>
          <p:cNvPr id="11"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D8493EB0-13E6-45F0-9885-6355AF457A07}" type="datetime1">
              <a:rPr lang="ja-JP" altLang="en-US" smtClean="0"/>
              <a:t>2026/7/14</a:t>
            </a:fld>
            <a:endParaRPr lang="ja-JP" altLang="en-US"/>
          </a:p>
        </p:txBody>
      </p:sp>
      <p:sp>
        <p:nvSpPr>
          <p:cNvPr id="12" name="スライド番号プレースホルダー 3"/>
          <p:cNvSpPr>
            <a:spLocks noGrp="1"/>
          </p:cNvSpPr>
          <p:nvPr>
            <p:ph type="sldNum" sz="quarter" idx="12"/>
          </p:nvPr>
        </p:nvSpPr>
        <p:spPr>
          <a:xfrm>
            <a:off x="17069400" y="9936000"/>
            <a:ext cx="810000" cy="324000"/>
          </a:xfrm>
        </p:spPr>
        <p:txBody>
          <a:bodyPr/>
          <a:lstStyle>
            <a:lvl1pPr>
              <a:defRPr baseline="0">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en-US"/>
          </a:p>
        </p:txBody>
      </p:sp>
      <p:sp>
        <p:nvSpPr>
          <p:cNvPr id="13"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Tree>
    <p:extLst>
      <p:ext uri="{BB962C8B-B14F-4D97-AF65-F5344CB8AC3E}">
        <p14:creationId xmlns:p14="http://schemas.microsoft.com/office/powerpoint/2010/main" val="3473433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259683" y="685800"/>
            <a:ext cx="5898356" cy="2400300"/>
          </a:xfrm>
        </p:spPr>
        <p:txBody>
          <a:bodyPr anchor="b"/>
          <a:lstStyle>
            <a:lvl1pPr>
              <a:defRPr sz="48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図プレースホルダー 2"/>
          <p:cNvSpPr>
            <a:spLocks noGrp="1"/>
          </p:cNvSpPr>
          <p:nvPr>
            <p:ph type="pic" idx="1"/>
          </p:nvPr>
        </p:nvSpPr>
        <p:spPr>
          <a:xfrm>
            <a:off x="7774782" y="1481138"/>
            <a:ext cx="9258300" cy="7310438"/>
          </a:xfrm>
        </p:spPr>
        <p:txBody>
          <a:bodyPr/>
          <a:lstStyle>
            <a:lvl1pPr marL="0" indent="0">
              <a:buNone/>
              <a:defRPr sz="4800">
                <a:latin typeface="Meiryo UI" panose="020B0604030504040204" pitchFamily="50" charset="-128"/>
                <a:ea typeface="Meiryo UI" panose="020B0604030504040204" pitchFamily="50" charset="-128"/>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kumimoji="1" lang="ja-JP" altLang="en-US"/>
          </a:p>
        </p:txBody>
      </p:sp>
      <p:sp>
        <p:nvSpPr>
          <p:cNvPr id="4" name="テキスト プレースホルダー 3"/>
          <p:cNvSpPr>
            <a:spLocks noGrp="1"/>
          </p:cNvSpPr>
          <p:nvPr>
            <p:ph type="body" sz="half" idx="2"/>
          </p:nvPr>
        </p:nvSpPr>
        <p:spPr>
          <a:xfrm>
            <a:off x="1259683" y="3086100"/>
            <a:ext cx="5898356" cy="5717382"/>
          </a:xfrm>
        </p:spPr>
        <p:txBody>
          <a:bodyPr/>
          <a:lstStyle>
            <a:lvl1pPr marL="0" indent="0">
              <a:buNone/>
              <a:defRPr sz="2400">
                <a:latin typeface="Meiryo UI" panose="020B0604030504040204" pitchFamily="50" charset="-128"/>
                <a:ea typeface="Meiryo UI" panose="020B0604030504040204" pitchFamily="50" charset="-128"/>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kumimoji="1" lang="ja-JP" altLang="en-US"/>
              <a:t>マスター テキストの書式設定</a:t>
            </a:r>
          </a:p>
        </p:txBody>
      </p:sp>
      <p:sp>
        <p:nvSpPr>
          <p:cNvPr id="8" name="日付プレースホルダー 1"/>
          <p:cNvSpPr>
            <a:spLocks noGrp="1"/>
          </p:cNvSpPr>
          <p:nvPr>
            <p:ph type="dt" sz="half" idx="10"/>
          </p:nvPr>
        </p:nvSpPr>
        <p:spPr>
          <a:xfrm>
            <a:off x="378000" y="9936000"/>
            <a:ext cx="4114800" cy="324000"/>
          </a:xfrm>
        </p:spPr>
        <p:txBody>
          <a:bodyPr/>
          <a:lstStyle>
            <a:lvl1pPr>
              <a:defRPr baseline="0">
                <a:latin typeface="Meiryo UI" panose="020B0604030504040204" pitchFamily="50" charset="-128"/>
                <a:ea typeface="Meiryo UI" panose="020B0604030504040204" pitchFamily="50" charset="-128"/>
              </a:defRPr>
            </a:lvl1pPr>
          </a:lstStyle>
          <a:p>
            <a:fld id="{2C58F9A3-0A07-4227-B44F-AA3FB40DA035}" type="datetime1">
              <a:rPr lang="ja-JP" altLang="en-US" smtClean="0"/>
              <a:t>2026/7/14</a:t>
            </a:fld>
            <a:endParaRPr lang="ja-JP" altLang="en-US"/>
          </a:p>
        </p:txBody>
      </p:sp>
      <p:sp>
        <p:nvSpPr>
          <p:cNvPr id="9" name="スライド番号プレースホルダー 3"/>
          <p:cNvSpPr>
            <a:spLocks noGrp="1"/>
          </p:cNvSpPr>
          <p:nvPr>
            <p:ph type="sldNum" sz="quarter" idx="12"/>
          </p:nvPr>
        </p:nvSpPr>
        <p:spPr>
          <a:xfrm>
            <a:off x="17069400" y="9936000"/>
            <a:ext cx="810000" cy="324000"/>
          </a:xfrm>
        </p:spPr>
        <p:txBody>
          <a:bodyPr/>
          <a:lstStyle>
            <a:lvl1pPr>
              <a:defRPr>
                <a:latin typeface="Meiryo UI" panose="020B0604030504040204" pitchFamily="50" charset="-128"/>
                <a:ea typeface="Meiryo UI" panose="020B0604030504040204" pitchFamily="50" charset="-128"/>
              </a:defRPr>
            </a:lvl1pPr>
          </a:lstStyle>
          <a:p>
            <a:fld id="{2A9E37A5-A917-4235-ABF6-8CD72E894915}" type="slidenum">
              <a:rPr lang="en-US" altLang="ja-JP" smtClean="0"/>
              <a:pPr/>
              <a:t>‹#›</a:t>
            </a:fld>
            <a:endParaRPr lang="ja-JP" altLang="en-US"/>
          </a:p>
        </p:txBody>
      </p:sp>
      <p:sp>
        <p:nvSpPr>
          <p:cNvPr id="10" name="フッター プレースホルダー 3"/>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Tree>
    <p:extLst>
      <p:ext uri="{BB962C8B-B14F-4D97-AF65-F5344CB8AC3E}">
        <p14:creationId xmlns:p14="http://schemas.microsoft.com/office/powerpoint/2010/main" val="686500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257300" y="547688"/>
            <a:ext cx="15773400" cy="1988345"/>
          </a:xfrm>
          <a:prstGeom prst="rect">
            <a:avLst/>
          </a:prstGeom>
        </p:spPr>
        <p:txBody>
          <a:bodyPr vert="horz" lIns="137160" tIns="68580" rIns="137160" bIns="6858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1257300" y="2738438"/>
            <a:ext cx="15773400" cy="6527007"/>
          </a:xfrm>
          <a:prstGeom prst="rect">
            <a:avLst/>
          </a:prstGeom>
        </p:spPr>
        <p:txBody>
          <a:bodyPr vert="horz" lIns="137160" tIns="68580" rIns="137160" bIns="6858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378000" y="9936000"/>
            <a:ext cx="4114800" cy="324000"/>
          </a:xfrm>
          <a:prstGeom prst="rect">
            <a:avLst/>
          </a:prstGeom>
        </p:spPr>
        <p:txBody>
          <a:bodyPr vert="horz" lIns="0" tIns="0" rIns="0" bIns="0" rtlCol="0" anchor="ctr">
            <a:noAutofit/>
          </a:bodyPr>
          <a:lstStyle>
            <a:lvl1pPr algn="l">
              <a:defRPr sz="1500" baseline="0">
                <a:solidFill>
                  <a:schemeClr val="tx1">
                    <a:tint val="75000"/>
                  </a:schemeClr>
                </a:solidFill>
                <a:latin typeface="HGPｺﾞｼｯｸM" panose="020B0600000000000000" pitchFamily="50" charset="-128"/>
                <a:ea typeface="HGPｺﾞｼｯｸM" panose="020B0600000000000000" pitchFamily="50" charset="-128"/>
              </a:defRPr>
            </a:lvl1pPr>
          </a:lstStyle>
          <a:p>
            <a:fld id="{22A56B89-B2D8-46A1-BD44-7D1E49A7A780}" type="datetime1">
              <a:rPr lang="ja-JP" altLang="en-US" smtClean="0"/>
              <a:t>2026/7/14</a:t>
            </a:fld>
            <a:endParaRPr lang="ja-JP" altLang="en-US"/>
          </a:p>
        </p:txBody>
      </p:sp>
      <p:sp>
        <p:nvSpPr>
          <p:cNvPr id="5" name="フッター プレースホルダー 4"/>
          <p:cNvSpPr>
            <a:spLocks noGrp="1"/>
          </p:cNvSpPr>
          <p:nvPr>
            <p:ph type="ftr" sz="quarter" idx="3"/>
          </p:nvPr>
        </p:nvSpPr>
        <p:spPr>
          <a:xfrm>
            <a:off x="15449400" y="9936000"/>
            <a:ext cx="1620000" cy="324000"/>
          </a:xfrm>
          <a:prstGeom prst="rect">
            <a:avLst/>
          </a:prstGeom>
        </p:spPr>
        <p:txBody>
          <a:bodyPr vert="horz" lIns="0" tIns="0" rIns="0" bIns="0" rtlCol="0" anchor="ctr">
            <a:noAutofit/>
          </a:bodyPr>
          <a:lstStyle>
            <a:lvl1pPr algn="ctr">
              <a:defRPr lang="en-US" altLang="ja-JP" sz="1500" baseline="0" smtClean="0">
                <a:solidFill>
                  <a:schemeClr val="tx1">
                    <a:tint val="75000"/>
                  </a:schemeClr>
                </a:solidFill>
                <a:latin typeface="HGPｺﾞｼｯｸM" panose="020B0600000000000000" pitchFamily="50" charset="-128"/>
                <a:ea typeface="HGPｺﾞｼｯｸM" panose="020B0600000000000000" pitchFamily="50" charset="-128"/>
              </a:defRPr>
            </a:lvl1pPr>
          </a:lstStyle>
          <a:p>
            <a:r>
              <a:rPr lang="en-US"/>
              <a:t>Confidential </a:t>
            </a:r>
          </a:p>
        </p:txBody>
      </p:sp>
      <p:sp>
        <p:nvSpPr>
          <p:cNvPr id="6" name="スライド番号プレースホルダー 5"/>
          <p:cNvSpPr>
            <a:spLocks noGrp="1"/>
          </p:cNvSpPr>
          <p:nvPr>
            <p:ph type="sldNum" sz="quarter" idx="4"/>
          </p:nvPr>
        </p:nvSpPr>
        <p:spPr>
          <a:xfrm>
            <a:off x="17069400" y="9936000"/>
            <a:ext cx="810000" cy="324000"/>
          </a:xfrm>
          <a:prstGeom prst="rect">
            <a:avLst/>
          </a:prstGeom>
        </p:spPr>
        <p:txBody>
          <a:bodyPr vert="horz" lIns="0" tIns="0" rIns="0" bIns="0" rtlCol="0" anchor="ctr">
            <a:noAutofit/>
          </a:bodyPr>
          <a:lstStyle>
            <a:lvl1pPr algn="r">
              <a:defRPr lang="ja-JP" altLang="en-US" sz="1500" baseline="0" smtClean="0">
                <a:solidFill>
                  <a:schemeClr val="tx1">
                    <a:tint val="75000"/>
                  </a:schemeClr>
                </a:solidFill>
                <a:latin typeface="HGPｺﾞｼｯｸM" panose="020B0600000000000000" pitchFamily="50" charset="-128"/>
                <a:ea typeface="HGPｺﾞｼｯｸM" panose="020B0600000000000000" pitchFamily="50" charset="-128"/>
              </a:defRPr>
            </a:lvl1pPr>
          </a:lstStyle>
          <a:p>
            <a:fld id="{2A9E37A5-A917-4235-ABF6-8CD72E894915}" type="slidenum">
              <a:rPr lang="en-US" altLang="ja-JP" smtClean="0"/>
              <a:pPr/>
              <a:t>‹#›</a:t>
            </a:fld>
            <a:endParaRPr lang="en-US" altLang="ja-JP"/>
          </a:p>
        </p:txBody>
      </p:sp>
      <p:sp>
        <p:nvSpPr>
          <p:cNvPr id="7" name="フッター プレースホルダー 4"/>
          <p:cNvSpPr txBox="1">
            <a:spLocks/>
          </p:cNvSpPr>
          <p:nvPr userDrawn="1"/>
        </p:nvSpPr>
        <p:spPr>
          <a:xfrm>
            <a:off x="9277200" y="9936001"/>
            <a:ext cx="6172200" cy="378002"/>
          </a:xfrm>
          <a:prstGeom prst="rect">
            <a:avLst/>
          </a:prstGeom>
        </p:spPr>
        <p:txBody>
          <a:bodyPr vert="horz" lIns="137160" tIns="68580" rIns="137160" bIns="68580" rtlCol="0" anchor="ctr"/>
          <a:lstStyle>
            <a:defPPr>
              <a:defRPr lang="ja-JP"/>
            </a:defPPr>
            <a:lvl1pPr marL="0" algn="ct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3362795073"/>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5" r:id="rId3"/>
    <p:sldLayoutId id="2147483654" r:id="rId4"/>
    <p:sldLayoutId id="2147483650" r:id="rId5"/>
    <p:sldLayoutId id="2147483652" r:id="rId6"/>
    <p:sldLayoutId id="2147483653" r:id="rId7"/>
    <p:sldLayoutId id="2147483658" r:id="rId8"/>
    <p:sldLayoutId id="2147483660" r:id="rId9"/>
    <p:sldLayoutId id="2147483656" r:id="rId10"/>
    <p:sldLayoutId id="2147483657" r:id="rId11"/>
  </p:sldLayoutIdLst>
  <p:hf hdr="0"/>
  <p:txStyles>
    <p:titleStyle>
      <a:lvl1pPr algn="l" defTabSz="1371600" rtl="0" eaLnBrk="1" latinLnBrk="0" hangingPunct="1">
        <a:lnSpc>
          <a:spcPct val="90000"/>
        </a:lnSpc>
        <a:spcBef>
          <a:spcPct val="0"/>
        </a:spcBef>
        <a:buNone/>
        <a:defRPr kumimoji="1" sz="3600" kern="1200" baseline="0">
          <a:solidFill>
            <a:srgbClr val="59574C"/>
          </a:solidFill>
          <a:latin typeface="(日本語用のフォントを使用)"/>
          <a:ea typeface="HGPｺﾞｼｯｸM" panose="020B0600000000000000" pitchFamily="50" charset="-128"/>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kumimoji="1" sz="4200" kern="1200" baseline="0">
          <a:solidFill>
            <a:schemeClr val="tx1"/>
          </a:solidFill>
          <a:latin typeface="+mn-lt"/>
          <a:ea typeface="HGPｺﾞｼｯｸM" panose="020B0600000000000000" pitchFamily="50" charset="-128"/>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kumimoji="1" sz="3600" kern="1200" baseline="0">
          <a:solidFill>
            <a:schemeClr val="tx1"/>
          </a:solidFill>
          <a:latin typeface="+mn-lt"/>
          <a:ea typeface="HGPｺﾞｼｯｸM" panose="020B0600000000000000" pitchFamily="50" charset="-128"/>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kumimoji="1" sz="3000" kern="1200" baseline="0">
          <a:solidFill>
            <a:schemeClr val="tx1"/>
          </a:solidFill>
          <a:latin typeface="+mn-lt"/>
          <a:ea typeface="HGPｺﾞｼｯｸM" panose="020B0600000000000000" pitchFamily="50" charset="-128"/>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kumimoji="1" sz="2700" kern="1200" baseline="0">
          <a:solidFill>
            <a:schemeClr val="tx1"/>
          </a:solidFill>
          <a:latin typeface="+mn-lt"/>
          <a:ea typeface="HGPｺﾞｼｯｸM" panose="020B0600000000000000" pitchFamily="50" charset="-128"/>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kumimoji="1" sz="2700" kern="1200" baseline="0">
          <a:solidFill>
            <a:schemeClr val="tx1"/>
          </a:solidFill>
          <a:latin typeface="+mn-lt"/>
          <a:ea typeface="HGPｺﾞｼｯｸM" panose="020B0600000000000000" pitchFamily="50" charset="-128"/>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9pPr>
    </p:bodyStyle>
    <p:otherStyle>
      <a:defPPr>
        <a:defRPr lang="ja-JP"/>
      </a:defPPr>
      <a:lvl1pPr marL="0" algn="l" defTabSz="1371600" rtl="0" eaLnBrk="1" latinLnBrk="0" hangingPunct="1">
        <a:defRPr kumimoji="1" sz="2700" kern="1200">
          <a:solidFill>
            <a:schemeClr val="tx1"/>
          </a:solidFill>
          <a:latin typeface="+mn-lt"/>
          <a:ea typeface="+mn-ea"/>
          <a:cs typeface="+mn-cs"/>
        </a:defRPr>
      </a:lvl1pPr>
      <a:lvl2pPr marL="685800" algn="l" defTabSz="1371600" rtl="0" eaLnBrk="1" latinLnBrk="0" hangingPunct="1">
        <a:defRPr kumimoji="1" sz="2700" kern="1200">
          <a:solidFill>
            <a:schemeClr val="tx1"/>
          </a:solidFill>
          <a:latin typeface="+mn-lt"/>
          <a:ea typeface="+mn-ea"/>
          <a:cs typeface="+mn-cs"/>
        </a:defRPr>
      </a:lvl2pPr>
      <a:lvl3pPr marL="1371600" algn="l" defTabSz="1371600" rtl="0" eaLnBrk="1" latinLnBrk="0" hangingPunct="1">
        <a:defRPr kumimoji="1" sz="2700" kern="1200">
          <a:solidFill>
            <a:schemeClr val="tx1"/>
          </a:solidFill>
          <a:latin typeface="+mn-lt"/>
          <a:ea typeface="+mn-ea"/>
          <a:cs typeface="+mn-cs"/>
        </a:defRPr>
      </a:lvl3pPr>
      <a:lvl4pPr marL="2057400" algn="l" defTabSz="1371600" rtl="0" eaLnBrk="1" latinLnBrk="0" hangingPunct="1">
        <a:defRPr kumimoji="1" sz="2700" kern="1200">
          <a:solidFill>
            <a:schemeClr val="tx1"/>
          </a:solidFill>
          <a:latin typeface="+mn-lt"/>
          <a:ea typeface="+mn-ea"/>
          <a:cs typeface="+mn-cs"/>
        </a:defRPr>
      </a:lvl4pPr>
      <a:lvl5pPr marL="2743200" algn="l" defTabSz="1371600" rtl="0" eaLnBrk="1" latinLnBrk="0" hangingPunct="1">
        <a:defRPr kumimoji="1" sz="2700" kern="1200">
          <a:solidFill>
            <a:schemeClr val="tx1"/>
          </a:solidFill>
          <a:latin typeface="+mn-lt"/>
          <a:ea typeface="+mn-ea"/>
          <a:cs typeface="+mn-cs"/>
        </a:defRPr>
      </a:lvl5pPr>
      <a:lvl6pPr marL="3429000" algn="l" defTabSz="1371600" rtl="0" eaLnBrk="1" latinLnBrk="0" hangingPunct="1">
        <a:defRPr kumimoji="1" sz="2700" kern="1200">
          <a:solidFill>
            <a:schemeClr val="tx1"/>
          </a:solidFill>
          <a:latin typeface="+mn-lt"/>
          <a:ea typeface="+mn-ea"/>
          <a:cs typeface="+mn-cs"/>
        </a:defRPr>
      </a:lvl6pPr>
      <a:lvl7pPr marL="4114800" algn="l" defTabSz="1371600" rtl="0" eaLnBrk="1" latinLnBrk="0" hangingPunct="1">
        <a:defRPr kumimoji="1" sz="2700" kern="1200">
          <a:solidFill>
            <a:schemeClr val="tx1"/>
          </a:solidFill>
          <a:latin typeface="+mn-lt"/>
          <a:ea typeface="+mn-ea"/>
          <a:cs typeface="+mn-cs"/>
        </a:defRPr>
      </a:lvl7pPr>
      <a:lvl8pPr marL="4800600" algn="l" defTabSz="1371600" rtl="0" eaLnBrk="1" latinLnBrk="0" hangingPunct="1">
        <a:defRPr kumimoji="1" sz="2700" kern="1200">
          <a:solidFill>
            <a:schemeClr val="tx1"/>
          </a:solidFill>
          <a:latin typeface="+mn-lt"/>
          <a:ea typeface="+mn-ea"/>
          <a:cs typeface="+mn-cs"/>
        </a:defRPr>
      </a:lvl8pPr>
      <a:lvl9pPr marL="5486400" algn="l" defTabSz="1371600" rtl="0" eaLnBrk="1" latinLnBrk="0" hangingPunct="1">
        <a:defRPr kumimoji="1"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4.gif"/><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4.jpeg"/><Relationship Id="rId16"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2.gif"/><Relationship Id="rId5" Type="http://schemas.openxmlformats.org/officeDocument/2006/relationships/image" Target="../media/image7.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hyperlink" Target="https://ja.wikipedia.org/wiki/IPad" TargetMode="External"/><Relationship Id="rId1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hyperlink" Target="https://ja.wikipedia.org/wiki/IPad"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0.jpeg"/><Relationship Id="rId5" Type="http://schemas.openxmlformats.org/officeDocument/2006/relationships/image" Target="../media/image12.gif"/><Relationship Id="rId4" Type="http://schemas.openxmlformats.org/officeDocument/2006/relationships/image" Target="../media/image14.gif"/></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2.gif"/><Relationship Id="rId5" Type="http://schemas.openxmlformats.org/officeDocument/2006/relationships/hyperlink" Target="https://ja.wikipedia.org/wiki/IPad" TargetMode="External"/><Relationship Id="rId4" Type="http://schemas.openxmlformats.org/officeDocument/2006/relationships/image" Target="../media/image10.jpeg"/><Relationship Id="rId9" Type="http://schemas.openxmlformats.org/officeDocument/2006/relationships/image" Target="../media/image31.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3.jpe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siconnect.backlog.com/document/KSNEWSYS/019eab0de91b7f08938ac99475aad35f" TargetMode="Externa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54.64.199.139/svn/KsTabletPOS/4200_&#12464;&#12521;&#12531;&#12489;&#12487;&#12470;&#12452;&#12531;"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ctrTitle"/>
          </p:nvPr>
        </p:nvSpPr>
        <p:spPr/>
        <p:txBody>
          <a:bodyPr>
            <a:normAutofit/>
          </a:bodyPr>
          <a:lstStyle/>
          <a:p>
            <a:r>
              <a:rPr lang="ja-JP" altLang="en-US" sz="5400" dirty="0"/>
              <a:t>タブレット</a:t>
            </a:r>
            <a:r>
              <a:rPr lang="en-US" altLang="ja-JP" sz="5400" dirty="0"/>
              <a:t>POS</a:t>
            </a:r>
            <a:r>
              <a:rPr lang="ja-JP" altLang="en-US" sz="5400" dirty="0"/>
              <a:t>システム グランドデザイン資料</a:t>
            </a:r>
            <a:br>
              <a:rPr lang="en-US" altLang="ja-JP" sz="5400" dirty="0"/>
            </a:br>
            <a:br>
              <a:rPr lang="en-US" altLang="ja-JP" sz="1100"/>
            </a:br>
            <a:r>
              <a:rPr lang="en-US" altLang="ja-JP" sz="4000"/>
              <a:t>Ver3.0</a:t>
            </a:r>
            <a:r>
              <a:rPr lang="ja-JP" altLang="en-US" sz="4000"/>
              <a:t>（内部資料）</a:t>
            </a:r>
            <a:endParaRPr kumimoji="1" lang="ja-JP" altLang="en-US" dirty="0"/>
          </a:p>
        </p:txBody>
      </p:sp>
      <p:sp>
        <p:nvSpPr>
          <p:cNvPr id="8" name="テキスト プレースホルダー 7"/>
          <p:cNvSpPr>
            <a:spLocks noGrp="1"/>
          </p:cNvSpPr>
          <p:nvPr>
            <p:ph type="body" sz="quarter" idx="10"/>
          </p:nvPr>
        </p:nvSpPr>
        <p:spPr>
          <a:xfrm>
            <a:off x="0" y="2115128"/>
            <a:ext cx="8825948" cy="742372"/>
          </a:xfrm>
        </p:spPr>
        <p:txBody>
          <a:bodyPr/>
          <a:lstStyle/>
          <a:p>
            <a:r>
              <a:rPr kumimoji="1" lang="ja-JP" altLang="en-US">
                <a:solidFill>
                  <a:srgbClr val="59574C"/>
                </a:solidFill>
              </a:rPr>
              <a:t>株式会社</a:t>
            </a:r>
            <a:r>
              <a:rPr lang="ja-JP" altLang="en-US">
                <a:solidFill>
                  <a:srgbClr val="59574C"/>
                </a:solidFill>
              </a:rPr>
              <a:t>ケーズホールディングス </a:t>
            </a:r>
            <a:r>
              <a:rPr kumimoji="1" lang="ja-JP" altLang="en-US">
                <a:solidFill>
                  <a:srgbClr val="59574C"/>
                </a:solidFill>
              </a:rPr>
              <a:t>　御中</a:t>
            </a:r>
          </a:p>
        </p:txBody>
      </p:sp>
      <p:sp>
        <p:nvSpPr>
          <p:cNvPr id="9" name="テキスト プレースホルダー 8"/>
          <p:cNvSpPr>
            <a:spLocks noGrp="1"/>
          </p:cNvSpPr>
          <p:nvPr>
            <p:ph type="body" sz="quarter" idx="11"/>
          </p:nvPr>
        </p:nvSpPr>
        <p:spPr/>
        <p:txBody>
          <a:bodyPr/>
          <a:lstStyle/>
          <a:p>
            <a:r>
              <a:rPr kumimoji="1" lang="ja-JP" altLang="en-US"/>
              <a:t>シャープマーケティングジャパン株式会社</a:t>
            </a:r>
          </a:p>
        </p:txBody>
      </p:sp>
      <p:sp>
        <p:nvSpPr>
          <p:cNvPr id="10" name="テキスト プレースホルダー 9"/>
          <p:cNvSpPr>
            <a:spLocks noGrp="1"/>
          </p:cNvSpPr>
          <p:nvPr>
            <p:ph type="body" sz="quarter" idx="12"/>
          </p:nvPr>
        </p:nvSpPr>
        <p:spPr/>
        <p:txBody>
          <a:bodyPr/>
          <a:lstStyle/>
          <a:p>
            <a:r>
              <a:rPr kumimoji="1" lang="ja-JP" altLang="en-US"/>
              <a:t>ビジネスソリューション社</a:t>
            </a:r>
            <a:endParaRPr kumimoji="1" lang="en-US" altLang="ja-JP"/>
          </a:p>
        </p:txBody>
      </p:sp>
      <p:sp>
        <p:nvSpPr>
          <p:cNvPr id="12" name="日付プレースホルダー 11"/>
          <p:cNvSpPr>
            <a:spLocks noGrp="1"/>
          </p:cNvSpPr>
          <p:nvPr>
            <p:ph type="dt" sz="half" idx="15"/>
          </p:nvPr>
        </p:nvSpPr>
        <p:spPr/>
        <p:txBody>
          <a:bodyPr/>
          <a:lstStyle/>
          <a:p>
            <a:fld id="{A0AA9F89-0013-40C6-AFDD-F5BF204EAE35}" type="datetime1">
              <a:rPr lang="ja-JP" altLang="en-US" smtClean="0"/>
              <a:t>2026/7/14</a:t>
            </a:fld>
            <a:endParaRPr lang="ja-JP" altLang="en-US" dirty="0"/>
          </a:p>
        </p:txBody>
      </p:sp>
    </p:spTree>
    <p:extLst>
      <p:ext uri="{BB962C8B-B14F-4D97-AF65-F5344CB8AC3E}">
        <p14:creationId xmlns:p14="http://schemas.microsoft.com/office/powerpoint/2010/main" val="3656557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a:t>変更履歴</a:t>
            </a:r>
          </a:p>
        </p:txBody>
      </p:sp>
      <p:sp>
        <p:nvSpPr>
          <p:cNvPr id="7" name="テキスト プレースホルダー 11"/>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9" name="フッター プレースホルダー 8"/>
          <p:cNvSpPr>
            <a:spLocks noGrp="1"/>
          </p:cNvSpPr>
          <p:nvPr>
            <p:ph type="ftr" sz="quarter" idx="11"/>
          </p:nvPr>
        </p:nvSpPr>
        <p:spPr>
          <a:xfrm>
            <a:off x="14294731" y="9903315"/>
            <a:ext cx="2619755" cy="378000"/>
          </a:xfrm>
        </p:spPr>
        <p:txBody>
          <a:bodyPr/>
          <a:lstStyle/>
          <a:p>
            <a:r>
              <a:rPr kumimoji="1" lang="en-US" altLang="ja-JP"/>
              <a:t>Confidential </a:t>
            </a:r>
            <a:endParaRPr kumimoji="1" lang="ja-JP" altLang="en-US"/>
          </a:p>
        </p:txBody>
      </p:sp>
      <p:sp>
        <p:nvSpPr>
          <p:cNvPr id="10" name="スライド番号プレースホルダー 9"/>
          <p:cNvSpPr>
            <a:spLocks noGrp="1"/>
          </p:cNvSpPr>
          <p:nvPr>
            <p:ph type="sldNum" sz="quarter" idx="12"/>
          </p:nvPr>
        </p:nvSpPr>
        <p:spPr/>
        <p:txBody>
          <a:bodyPr/>
          <a:lstStyle/>
          <a:p>
            <a:fld id="{2A9E37A5-A917-4235-ABF6-8CD72E894915}" type="slidenum">
              <a:rPr lang="en-US" altLang="ja-JP" smtClean="0"/>
              <a:pPr/>
              <a:t>2</a:t>
            </a:fld>
            <a:endParaRPr lang="ja-JP" altLang="en-US"/>
          </a:p>
        </p:txBody>
      </p:sp>
      <p:graphicFrame>
        <p:nvGraphicFramePr>
          <p:cNvPr id="5" name="表 4">
            <a:extLst>
              <a:ext uri="{FF2B5EF4-FFF2-40B4-BE49-F238E27FC236}">
                <a16:creationId xmlns:a16="http://schemas.microsoft.com/office/drawing/2014/main" id="{1B2A5F6C-3074-B602-3873-B8FA06A1A767}"/>
              </a:ext>
            </a:extLst>
          </p:cNvPr>
          <p:cNvGraphicFramePr>
            <a:graphicFrameLocks noGrp="1"/>
          </p:cNvGraphicFramePr>
          <p:nvPr>
            <p:extLst>
              <p:ext uri="{D42A27DB-BD31-4B8C-83A1-F6EECF244321}">
                <p14:modId xmlns:p14="http://schemas.microsoft.com/office/powerpoint/2010/main" val="2526622304"/>
              </p:ext>
            </p:extLst>
          </p:nvPr>
        </p:nvGraphicFramePr>
        <p:xfrm>
          <a:off x="628890" y="1373465"/>
          <a:ext cx="16976204" cy="7941804"/>
        </p:xfrm>
        <a:graphic>
          <a:graphicData uri="http://schemas.openxmlformats.org/drawingml/2006/table">
            <a:tbl>
              <a:tblPr firstRow="1" bandRow="1">
                <a:tableStyleId>{5940675A-B579-460E-94D1-54222C63F5DA}</a:tableStyleId>
              </a:tblPr>
              <a:tblGrid>
                <a:gridCol w="1612034">
                  <a:extLst>
                    <a:ext uri="{9D8B030D-6E8A-4147-A177-3AD203B41FA5}">
                      <a16:colId xmlns:a16="http://schemas.microsoft.com/office/drawing/2014/main" val="3137259252"/>
                    </a:ext>
                  </a:extLst>
                </a:gridCol>
                <a:gridCol w="1455313">
                  <a:extLst>
                    <a:ext uri="{9D8B030D-6E8A-4147-A177-3AD203B41FA5}">
                      <a16:colId xmlns:a16="http://schemas.microsoft.com/office/drawing/2014/main" val="732893320"/>
                    </a:ext>
                  </a:extLst>
                </a:gridCol>
                <a:gridCol w="2665926">
                  <a:extLst>
                    <a:ext uri="{9D8B030D-6E8A-4147-A177-3AD203B41FA5}">
                      <a16:colId xmlns:a16="http://schemas.microsoft.com/office/drawing/2014/main" val="2794625770"/>
                    </a:ext>
                  </a:extLst>
                </a:gridCol>
                <a:gridCol w="11242931">
                  <a:extLst>
                    <a:ext uri="{9D8B030D-6E8A-4147-A177-3AD203B41FA5}">
                      <a16:colId xmlns:a16="http://schemas.microsoft.com/office/drawing/2014/main" val="1325107330"/>
                    </a:ext>
                  </a:extLst>
                </a:gridCol>
              </a:tblGrid>
              <a:tr h="370840">
                <a:tc>
                  <a:txBody>
                    <a:bodyPr/>
                    <a:lstStyle/>
                    <a:p>
                      <a:r>
                        <a:rPr kumimoji="1" lang="ja-JP" altLang="en-US" sz="1200">
                          <a:latin typeface="メイリオ" panose="020B0604030504040204" pitchFamily="50" charset="-128"/>
                          <a:ea typeface="メイリオ" panose="020B0604030504040204" pitchFamily="50" charset="-128"/>
                        </a:rPr>
                        <a:t>更新日</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更新者</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更新項目</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更新内容</a:t>
                      </a:r>
                    </a:p>
                  </a:txBody>
                  <a:tcPr anchor="ctr">
                    <a:solidFill>
                      <a:schemeClr val="accent1">
                        <a:lumMod val="60000"/>
                        <a:lumOff val="40000"/>
                      </a:schemeClr>
                    </a:solidFill>
                  </a:tcPr>
                </a:tc>
                <a:extLst>
                  <a:ext uri="{0D108BD9-81ED-4DB2-BD59-A6C34878D82A}">
                    <a16:rowId xmlns:a16="http://schemas.microsoft.com/office/drawing/2014/main" val="88859046"/>
                  </a:ext>
                </a:extLst>
              </a:tr>
              <a:tr h="370840">
                <a:tc>
                  <a:txBody>
                    <a:bodyPr/>
                    <a:lstStyle/>
                    <a:p>
                      <a:r>
                        <a:rPr kumimoji="1" lang="en-US" altLang="ja-JP" sz="1200">
                          <a:latin typeface="メイリオ" panose="020B0604030504040204" pitchFamily="50" charset="-128"/>
                          <a:ea typeface="メイリオ" panose="020B0604030504040204" pitchFamily="50" charset="-128"/>
                        </a:rPr>
                        <a:t>2025.12.02</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小林</a:t>
                      </a:r>
                    </a:p>
                  </a:txBody>
                  <a:tcPr>
                    <a:lnB w="12700" cap="flat" cmpd="sng" algn="ctr">
                      <a:solidFill>
                        <a:schemeClr val="tx1"/>
                      </a:solidFill>
                      <a:prstDash val="solid"/>
                      <a:round/>
                      <a:headEnd type="none" w="med" len="med"/>
                      <a:tailEnd type="none" w="med" len="med"/>
                    </a:lnB>
                  </a:tcPr>
                </a:tc>
                <a:tc>
                  <a:txBody>
                    <a:bodyPr/>
                    <a:lstStyle/>
                    <a:p>
                      <a:r>
                        <a:rPr lang="ja-JP" altLang="en-US" sz="1200">
                          <a:latin typeface="Meiryo UI" panose="020B0604030504040204" pitchFamily="50" charset="-128"/>
                          <a:ea typeface="Meiryo UI" panose="020B0604030504040204" pitchFamily="50" charset="-128"/>
                        </a:rPr>
                        <a:t>５－９．要件整理・対象範囲</a:t>
                      </a:r>
                      <a:endParaRPr lang="en-US" altLang="ja-JP" sz="1200">
                        <a:latin typeface="Meiryo UI" panose="020B0604030504040204" pitchFamily="50" charset="-128"/>
                        <a:ea typeface="Meiryo UI" panose="020B0604030504040204" pitchFamily="50" charset="-128"/>
                      </a:endParaRPr>
                    </a:p>
                    <a:p>
                      <a:r>
                        <a:rPr lang="ja-JP" altLang="en-US" sz="1200">
                          <a:latin typeface="Meiryo UI" panose="020B0604030504040204" pitchFamily="50" charset="-128"/>
                          <a:ea typeface="Meiryo UI" panose="020B0604030504040204" pitchFamily="50" charset="-128"/>
                        </a:rPr>
                        <a:t>：</a:t>
                      </a:r>
                      <a:r>
                        <a:rPr lang="en-US" altLang="ja-JP" sz="1200">
                          <a:latin typeface="Meiryo UI" panose="020B0604030504040204" pitchFamily="50" charset="-128"/>
                          <a:ea typeface="Meiryo UI" panose="020B0604030504040204" pitchFamily="50" charset="-128"/>
                        </a:rPr>
                        <a:t>UI</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 UX </a:t>
                      </a:r>
                      <a:r>
                        <a:rPr lang="ja-JP" altLang="en-US" sz="1200">
                          <a:latin typeface="Meiryo UI" panose="020B0604030504040204" pitchFamily="50" charset="-128"/>
                          <a:ea typeface="Meiryo UI" panose="020B0604030504040204" pitchFamily="50" charset="-128"/>
                        </a:rPr>
                        <a:t>設計方針</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設計方針項目を追加</a:t>
                      </a:r>
                    </a:p>
                  </a:txBody>
                  <a:tcPr/>
                </a:tc>
                <a:extLst>
                  <a:ext uri="{0D108BD9-81ED-4DB2-BD59-A6C34878D82A}">
                    <a16:rowId xmlns:a16="http://schemas.microsoft.com/office/drawing/2014/main" val="1802461774"/>
                  </a:ext>
                </a:extLst>
              </a:tr>
              <a:tr h="370840">
                <a:tc>
                  <a:txBody>
                    <a:bodyPr/>
                    <a:lstStyle/>
                    <a:p>
                      <a:r>
                        <a:rPr kumimoji="1" lang="en-US" altLang="ja-JP" sz="1200">
                          <a:latin typeface="メイリオ" panose="020B0604030504040204" pitchFamily="50" charset="-128"/>
                          <a:ea typeface="メイリオ" panose="020B0604030504040204" pitchFamily="50" charset="-128"/>
                        </a:rPr>
                        <a:t>2025.12.22</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小林</a:t>
                      </a:r>
                    </a:p>
                  </a:txBody>
                  <a:tcPr>
                    <a:lnT w="12700" cap="flat" cmpd="sng" algn="ctr">
                      <a:solidFill>
                        <a:schemeClr val="tx1"/>
                      </a:solidFill>
                      <a:prstDash val="solid"/>
                      <a:round/>
                      <a:headEnd type="none" w="med" len="med"/>
                      <a:tailEnd type="none" w="med" len="med"/>
                    </a:lnT>
                  </a:tcPr>
                </a:tc>
                <a:tc>
                  <a:txBody>
                    <a:bodyPr/>
                    <a:lstStyle/>
                    <a:p>
                      <a:r>
                        <a:rPr lang="ja-JP" altLang="en-US" sz="1200">
                          <a:latin typeface="Meiryo UI" panose="020B0604030504040204" pitchFamily="50" charset="-128"/>
                          <a:ea typeface="Meiryo UI" panose="020B0604030504040204" pitchFamily="50" charset="-128"/>
                        </a:rPr>
                        <a:t>５－１．要件整理・対象範囲：対応機能の範囲</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トレーニングモード定義</a:t>
                      </a:r>
                    </a:p>
                  </a:txBody>
                  <a:tcPr/>
                </a:tc>
                <a:extLst>
                  <a:ext uri="{0D108BD9-81ED-4DB2-BD59-A6C34878D82A}">
                    <a16:rowId xmlns:a16="http://schemas.microsoft.com/office/drawing/2014/main" val="2282015124"/>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2025.12.23</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伊藤</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５－１．要件整理・対象範囲：対応機能の範囲</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モード切替定義</a:t>
                      </a:r>
                    </a:p>
                  </a:txBody>
                  <a:tcPr/>
                </a:tc>
                <a:extLst>
                  <a:ext uri="{0D108BD9-81ED-4DB2-BD59-A6C34878D82A}">
                    <a16:rowId xmlns:a16="http://schemas.microsoft.com/office/drawing/2014/main" val="3558521743"/>
                  </a:ext>
                </a:extLst>
              </a:tr>
              <a:tr h="370840">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９ー２</a:t>
                      </a:r>
                      <a:r>
                        <a:rPr lang="en-US" altLang="ja-JP" sz="1200">
                          <a:latin typeface="Meiryo UI" panose="020B0604030504040204" pitchFamily="50" charset="-128"/>
                          <a:ea typeface="Meiryo UI" panose="020B0604030504040204" pitchFamily="50" charset="-128"/>
                        </a:rPr>
                        <a:t>.Backlog</a:t>
                      </a:r>
                      <a:r>
                        <a:rPr lang="ja-JP" altLang="en-US" sz="1200">
                          <a:latin typeface="Meiryo UI" panose="020B0604030504040204" pitchFamily="50" charset="-128"/>
                          <a:ea typeface="Meiryo UI" panose="020B0604030504040204" pitchFamily="50" charset="-128"/>
                        </a:rPr>
                        <a:t>課題の反映（決定事項）</a:t>
                      </a:r>
                      <a:endParaRPr lang="ja-JP" altLang="en-US" sz="1200"/>
                    </a:p>
                  </a:txBody>
                  <a:tcPr/>
                </a:tc>
                <a:tc>
                  <a:txBody>
                    <a:bodyPr/>
                    <a:lstStyle/>
                    <a:p>
                      <a:r>
                        <a:rPr kumimoji="1" lang="ja-JP" altLang="en-US" sz="1200">
                          <a:latin typeface="メイリオ" panose="020B0604030504040204" pitchFamily="50" charset="-128"/>
                          <a:ea typeface="メイリオ" panose="020B0604030504040204" pitchFamily="50" charset="-128"/>
                        </a:rPr>
                        <a:t>バックログ課題の反映を追加</a:t>
                      </a:r>
                    </a:p>
                  </a:txBody>
                  <a:tcPr/>
                </a:tc>
                <a:extLst>
                  <a:ext uri="{0D108BD9-81ED-4DB2-BD59-A6C34878D82A}">
                    <a16:rowId xmlns:a16="http://schemas.microsoft.com/office/drawing/2014/main" val="1925272073"/>
                  </a:ext>
                </a:extLst>
              </a:tr>
              <a:tr h="370840">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９－３</a:t>
                      </a:r>
                      <a:r>
                        <a:rPr kumimoji="1" lang="en-US" altLang="ja-JP" sz="1200">
                          <a:latin typeface="メイリオ" panose="020B0604030504040204" pitchFamily="50" charset="-128"/>
                          <a:ea typeface="メイリオ" panose="020B0604030504040204" pitchFamily="50" charset="-128"/>
                        </a:rPr>
                        <a:t>.</a:t>
                      </a:r>
                      <a:r>
                        <a:rPr kumimoji="1" lang="ja-JP" altLang="en-US" sz="1200">
                          <a:latin typeface="メイリオ" panose="020B0604030504040204" pitchFamily="50" charset="-128"/>
                          <a:ea typeface="メイリオ" panose="020B0604030504040204" pitchFamily="50" charset="-128"/>
                        </a:rPr>
                        <a:t> レジミーティング決定事項</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レジミーティング決定事項を追加</a:t>
                      </a:r>
                    </a:p>
                    <a:p>
                      <a:endParaRPr kumimoji="1" lang="ja-JP" altLang="en-US" sz="12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097976024"/>
                  </a:ext>
                </a:extLst>
              </a:tr>
              <a:tr h="370840">
                <a:tc>
                  <a:txBody>
                    <a:bodyPr/>
                    <a:lstStyle/>
                    <a:p>
                      <a:r>
                        <a:rPr kumimoji="1" lang="en-US" altLang="ja-JP" sz="1200">
                          <a:latin typeface="メイリオ" panose="020B0604030504040204" pitchFamily="50" charset="-128"/>
                          <a:ea typeface="メイリオ" panose="020B0604030504040204" pitchFamily="50" charset="-128"/>
                        </a:rPr>
                        <a:t>2026.01.05</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伊藤</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９ー２</a:t>
                      </a:r>
                      <a:r>
                        <a:rPr lang="en-US" altLang="ja-JP" sz="1200">
                          <a:latin typeface="Meiryo UI" panose="020B0604030504040204" pitchFamily="50" charset="-128"/>
                          <a:ea typeface="Meiryo UI" panose="020B0604030504040204" pitchFamily="50" charset="-128"/>
                        </a:rPr>
                        <a:t>.Backlog</a:t>
                      </a:r>
                      <a:r>
                        <a:rPr lang="ja-JP" altLang="en-US" sz="1200">
                          <a:latin typeface="Meiryo UI" panose="020B0604030504040204" pitchFamily="50" charset="-128"/>
                          <a:ea typeface="Meiryo UI" panose="020B0604030504040204" pitchFamily="50" charset="-128"/>
                        </a:rPr>
                        <a:t>課題の反映（決定事項）</a:t>
                      </a:r>
                      <a:endParaRPr lang="ja-JP" altLang="en-US" sz="1200"/>
                    </a:p>
                  </a:txBody>
                  <a:tcPr/>
                </a:tc>
                <a:tc>
                  <a:txBody>
                    <a:bodyPr/>
                    <a:lstStyle/>
                    <a:p>
                      <a:r>
                        <a:rPr kumimoji="1" lang="en-US" altLang="ja-JP" sz="1200">
                          <a:latin typeface="メイリオ" panose="020B0604030504040204" pitchFamily="50" charset="-128"/>
                          <a:ea typeface="メイリオ" panose="020B0604030504040204" pitchFamily="50" charset="-128"/>
                        </a:rPr>
                        <a:t>Backlog</a:t>
                      </a:r>
                      <a:r>
                        <a:rPr kumimoji="1" lang="ja-JP" altLang="en-US" sz="1200">
                          <a:latin typeface="メイリオ" panose="020B0604030504040204" pitchFamily="50" charset="-128"/>
                          <a:ea typeface="メイリオ" panose="020B0604030504040204" pitchFamily="50" charset="-128"/>
                        </a:rPr>
                        <a:t>課題の反映を追加</a:t>
                      </a:r>
                    </a:p>
                  </a:txBody>
                  <a:tcPr/>
                </a:tc>
                <a:extLst>
                  <a:ext uri="{0D108BD9-81ED-4DB2-BD59-A6C34878D82A}">
                    <a16:rowId xmlns:a16="http://schemas.microsoft.com/office/drawing/2014/main" val="745303629"/>
                  </a:ext>
                </a:extLst>
              </a:tr>
              <a:tr h="370840">
                <a:tc>
                  <a:txBody>
                    <a:bodyPr/>
                    <a:lstStyle/>
                    <a:p>
                      <a:r>
                        <a:rPr kumimoji="1" lang="en-US" altLang="ja-JP" sz="1200">
                          <a:latin typeface="メイリオ" panose="020B0604030504040204" pitchFamily="50" charset="-128"/>
                          <a:ea typeface="メイリオ" panose="020B0604030504040204" pitchFamily="50" charset="-128"/>
                        </a:rPr>
                        <a:t>2026.01.13</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伊藤</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９－２</a:t>
                      </a:r>
                      <a:r>
                        <a:rPr kumimoji="1" lang="en-US" altLang="ja-JP" sz="1200">
                          <a:latin typeface="メイリオ" panose="020B0604030504040204" pitchFamily="50" charset="-128"/>
                          <a:ea typeface="メイリオ" panose="020B0604030504040204" pitchFamily="50" charset="-128"/>
                        </a:rPr>
                        <a:t>.</a:t>
                      </a:r>
                      <a:r>
                        <a:rPr kumimoji="1" lang="ja-JP" altLang="en-US" sz="1200">
                          <a:latin typeface="メイリオ" panose="020B0604030504040204" pitchFamily="50" charset="-128"/>
                          <a:ea typeface="メイリオ" panose="020B0604030504040204" pitchFamily="50" charset="-128"/>
                        </a:rPr>
                        <a:t>決定事項一覧</a:t>
                      </a:r>
                    </a:p>
                  </a:txBody>
                  <a:tcPr/>
                </a:tc>
                <a:tc>
                  <a:txBody>
                    <a:bodyPr/>
                    <a:lstStyle/>
                    <a:p>
                      <a:r>
                        <a:rPr kumimoji="1" lang="ja-JP" altLang="en-US" sz="1200">
                          <a:latin typeface="メイリオ" panose="020B0604030504040204" pitchFamily="50" charset="-128"/>
                          <a:ea typeface="メイリオ" panose="020B0604030504040204" pitchFamily="50" charset="-128"/>
                        </a:rPr>
                        <a:t>決定事項一覧へ変更</a:t>
                      </a:r>
                    </a:p>
                  </a:txBody>
                  <a:tcPr/>
                </a:tc>
                <a:extLst>
                  <a:ext uri="{0D108BD9-81ED-4DB2-BD59-A6C34878D82A}">
                    <a16:rowId xmlns:a16="http://schemas.microsoft.com/office/drawing/2014/main" val="2708331167"/>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2026.01.30</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伊藤</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pPr marL="0" indent="0">
                        <a:buNone/>
                      </a:pPr>
                      <a:r>
                        <a:rPr lang="ja-JP" altLang="en-US" sz="1200" dirty="0">
                          <a:latin typeface="Meiryo UI" panose="020B0604030504040204" pitchFamily="50" charset="-128"/>
                          <a:ea typeface="Meiryo UI" panose="020B0604030504040204" pitchFamily="50" charset="-128"/>
                        </a:rPr>
                        <a:t>５．要件整理・対象範囲</a:t>
                      </a:r>
                      <a:endParaRPr lang="en-US" altLang="ja-JP"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項目の整理</a:t>
                      </a:r>
                    </a:p>
                  </a:txBody>
                  <a:tcPr/>
                </a:tc>
                <a:extLst>
                  <a:ext uri="{0D108BD9-81ED-4DB2-BD59-A6C34878D82A}">
                    <a16:rowId xmlns:a16="http://schemas.microsoft.com/office/drawing/2014/main" val="2334374297"/>
                  </a:ext>
                </a:extLst>
              </a:tr>
              <a:tr h="370840">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indent="0">
                        <a:buNone/>
                      </a:pPr>
                      <a:r>
                        <a:rPr lang="ja-JP" altLang="en-US" sz="1200" dirty="0">
                          <a:latin typeface="Meiryo UI" panose="020B0604030504040204" pitchFamily="50" charset="-128"/>
                          <a:ea typeface="Meiryo UI" panose="020B0604030504040204" pitchFamily="50" charset="-128"/>
                        </a:rPr>
                        <a:t>５ー２ー１．対象機能の範囲＜オフライン機能＞</a:t>
                      </a:r>
                      <a:endParaRPr lang="en-US" altLang="ja-JP" sz="1200" dirty="0">
                        <a:latin typeface="Meiryo UI" panose="020B0604030504040204" pitchFamily="50" charset="-128"/>
                        <a:ea typeface="Meiryo UI" panose="020B0604030504040204" pitchFamily="50" charset="-128"/>
                      </a:endParaRPr>
                    </a:p>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オフラインの内容を追加</a:t>
                      </a:r>
                    </a:p>
                  </a:txBody>
                  <a:tcPr/>
                </a:tc>
                <a:extLst>
                  <a:ext uri="{0D108BD9-81ED-4DB2-BD59-A6C34878D82A}">
                    <a16:rowId xmlns:a16="http://schemas.microsoft.com/office/drawing/2014/main" val="119708626"/>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2026.03.23</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全体的に見直し</a:t>
                      </a:r>
                    </a:p>
                  </a:txBody>
                  <a:tcPr/>
                </a:tc>
                <a:tc>
                  <a:txBody>
                    <a:bodyPr/>
                    <a:lstStyle/>
                    <a:p>
                      <a:r>
                        <a:rPr kumimoji="1" lang="ja-JP" altLang="en-US" sz="1200" dirty="0">
                          <a:latin typeface="メイリオ" panose="020B0604030504040204" pitchFamily="50" charset="-128"/>
                          <a:ea typeface="メイリオ" panose="020B0604030504040204" pitchFamily="50" charset="-128"/>
                        </a:rPr>
                        <a:t>現在までの決定事項を反映</a:t>
                      </a:r>
                    </a:p>
                  </a:txBody>
                  <a:tcPr/>
                </a:tc>
                <a:extLst>
                  <a:ext uri="{0D108BD9-81ED-4DB2-BD59-A6C34878D82A}">
                    <a16:rowId xmlns:a16="http://schemas.microsoft.com/office/drawing/2014/main" val="1533148952"/>
                  </a:ext>
                </a:extLst>
              </a:tr>
              <a:tr h="479284">
                <a:tc>
                  <a:txBody>
                    <a:bodyPr/>
                    <a:lstStyle/>
                    <a:p>
                      <a:r>
                        <a:rPr kumimoji="1" lang="en-US" altLang="ja-JP" sz="1200" dirty="0">
                          <a:latin typeface="メイリオ" panose="020B0604030504040204" pitchFamily="50" charset="-128"/>
                          <a:ea typeface="メイリオ" panose="020B0604030504040204" pitchFamily="50" charset="-128"/>
                        </a:rPr>
                        <a:t>2026.03.26</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河野</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目次</a:t>
                      </a:r>
                    </a:p>
                  </a:txBody>
                  <a:tcPr/>
                </a:tc>
                <a:tc>
                  <a:txBody>
                    <a:bodyPr/>
                    <a:lstStyle/>
                    <a:p>
                      <a:r>
                        <a:rPr kumimoji="1" lang="ja-JP" altLang="en-US" sz="1200" dirty="0">
                          <a:latin typeface="メイリオ" panose="020B0604030504040204" pitchFamily="50" charset="-128"/>
                          <a:ea typeface="メイリオ" panose="020B0604030504040204" pitchFamily="50" charset="-128"/>
                        </a:rPr>
                        <a:t>・</a:t>
                      </a:r>
                      <a:r>
                        <a:rPr lang="en-US" altLang="ja-JP" sz="1200" dirty="0">
                          <a:latin typeface="Meiryo UI" panose="020B0604030504040204" pitchFamily="50" charset="-128"/>
                          <a:ea typeface="Meiryo UI" panose="020B0604030504040204" pitchFamily="50" charset="-128"/>
                        </a:rPr>
                        <a:t>5.8.</a:t>
                      </a:r>
                      <a:r>
                        <a:rPr lang="ja-JP" altLang="en-US" sz="1200" dirty="0">
                          <a:latin typeface="Meiryo UI" panose="020B0604030504040204" pitchFamily="50" charset="-128"/>
                          <a:ea typeface="Meiryo UI" panose="020B0604030504040204" pitchFamily="50" charset="-128"/>
                        </a:rPr>
                        <a:t>認証機能</a:t>
                      </a:r>
                      <a:r>
                        <a:rPr kumimoji="1" lang="ja-JP" altLang="en-US" sz="1200" dirty="0">
                          <a:latin typeface="メイリオ" panose="020B0604030504040204" pitchFamily="50" charset="-128"/>
                          <a:ea typeface="メイリオ" panose="020B0604030504040204" pitchFamily="50" charset="-128"/>
                        </a:rPr>
                        <a:t>を追加</a:t>
                      </a:r>
                      <a:endParaRPr kumimoji="1"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a:t>
                      </a:r>
                      <a:r>
                        <a:rPr lang="en-US" altLang="ja-JP" sz="1200" dirty="0">
                          <a:latin typeface="Meiryo UI" panose="020B0604030504040204" pitchFamily="50" charset="-128"/>
                          <a:ea typeface="Meiryo UI" panose="020B0604030504040204" pitchFamily="50" charset="-128"/>
                        </a:rPr>
                        <a:t>5.9.</a:t>
                      </a:r>
                      <a:r>
                        <a:rPr lang="ja-JP" altLang="en-US" sz="1200" dirty="0">
                          <a:latin typeface="Meiryo UI" panose="020B0604030504040204" pitchFamily="50" charset="-128"/>
                          <a:ea typeface="Meiryo UI" panose="020B0604030504040204" pitchFamily="50" charset="-128"/>
                        </a:rPr>
                        <a:t>メニュー検索 → </a:t>
                      </a:r>
                      <a:r>
                        <a:rPr lang="en-US" altLang="ja-JP" sz="1200" dirty="0">
                          <a:latin typeface="Meiryo UI" panose="020B0604030504040204" pitchFamily="50" charset="-128"/>
                          <a:ea typeface="Meiryo UI" panose="020B0604030504040204" pitchFamily="50" charset="-128"/>
                        </a:rPr>
                        <a:t>5.9.</a:t>
                      </a:r>
                      <a:r>
                        <a:rPr lang="ja-JP" altLang="en-US" sz="1200" dirty="0">
                          <a:latin typeface="Meiryo UI" panose="020B0604030504040204" pitchFamily="50" charset="-128"/>
                          <a:ea typeface="Meiryo UI" panose="020B0604030504040204" pitchFamily="50" charset="-128"/>
                        </a:rPr>
                        <a:t>メニュー機能 に変更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92424612"/>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lang="ja-JP" altLang="en-US" sz="1200" dirty="0">
                          <a:latin typeface="Meiryo UI" panose="020B0604030504040204" pitchFamily="50" charset="-128"/>
                          <a:ea typeface="Meiryo UI" panose="020B0604030504040204" pitchFamily="50" charset="-128"/>
                        </a:rPr>
                        <a:t>５－７．プロモード・簡単モード</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メニュー構成は統一する旨を追記</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02154763"/>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５－８．認証機能</a:t>
                      </a:r>
                    </a:p>
                  </a:txBody>
                  <a:tcPr/>
                </a:tc>
                <a:tc>
                  <a:txBody>
                    <a:bodyPr/>
                    <a:lstStyle/>
                    <a:p>
                      <a:r>
                        <a:rPr kumimoji="1" lang="ja-JP" altLang="en-US" sz="1200" dirty="0">
                          <a:latin typeface="メイリオ" panose="020B0604030504040204" pitchFamily="50" charset="-128"/>
                          <a:ea typeface="メイリオ" panose="020B0604030504040204" pitchFamily="50" charset="-128"/>
                        </a:rPr>
                        <a:t>新規追加</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41353474"/>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５－９．メニュー機能</a:t>
                      </a:r>
                    </a:p>
                  </a:txBody>
                  <a:tcPr/>
                </a:tc>
                <a:tc>
                  <a:txBody>
                    <a:bodyPr/>
                    <a:lstStyle/>
                    <a:p>
                      <a:r>
                        <a:rPr kumimoji="1" lang="ja-JP" altLang="en-US" sz="1200" dirty="0">
                          <a:latin typeface="メイリオ" panose="020B0604030504040204" pitchFamily="50" charset="-128"/>
                          <a:ea typeface="メイリオ" panose="020B0604030504040204" pitchFamily="50" charset="-128"/>
                        </a:rPr>
                        <a:t>メニュー構成と権限メニューについて追記</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33986981"/>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９ー１</a:t>
                      </a:r>
                      <a:r>
                        <a:rPr kumimoji="1" lang="en-US" altLang="ja-JP"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決定事項一覧</a:t>
                      </a:r>
                    </a:p>
                  </a:txBody>
                  <a:tcPr/>
                </a:tc>
                <a:tc>
                  <a:txBody>
                    <a:bodyPr/>
                    <a:lstStyle/>
                    <a:p>
                      <a:r>
                        <a:rPr kumimoji="1" lang="ja-JP" altLang="en-US" sz="1200" dirty="0">
                          <a:latin typeface="メイリオ" panose="020B0604030504040204" pitchFamily="50" charset="-128"/>
                          <a:ea typeface="メイリオ" panose="020B0604030504040204" pitchFamily="50" charset="-128"/>
                        </a:rPr>
                        <a:t>一覧を別紙に移動</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99568451"/>
                  </a:ext>
                </a:extLst>
              </a:tr>
              <a:tr h="370840">
                <a:tc>
                  <a:txBody>
                    <a:bodyPr/>
                    <a:lstStyle/>
                    <a:p>
                      <a:r>
                        <a:rPr kumimoji="1" lang="en-US" altLang="ja-JP" sz="1200">
                          <a:latin typeface="メイリオ" panose="020B0604030504040204" pitchFamily="50" charset="-128"/>
                          <a:ea typeface="メイリオ" panose="020B0604030504040204" pitchFamily="50" charset="-128"/>
                        </a:rPr>
                        <a:t>2026.03.30</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５－３．全体スケジュール</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ページ追加（以降の節は＋１）</a:t>
                      </a:r>
                      <a:endParaRPr kumimoji="1" lang="en-US" altLang="ja-JP" sz="12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51380143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５－８．プロモード・簡単モード</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チュートリアルなどで差異化する考え方に変更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34448623"/>
                  </a:ext>
                </a:extLst>
              </a:tr>
              <a:tr h="370840">
                <a:tc>
                  <a:txBody>
                    <a:bodyPr/>
                    <a:lstStyle/>
                    <a:p>
                      <a:r>
                        <a:rPr kumimoji="1" lang="en-US" altLang="ja-JP" sz="1200">
                          <a:latin typeface="メイリオ" panose="020B0604030504040204" pitchFamily="50" charset="-128"/>
                          <a:ea typeface="メイリオ" panose="020B0604030504040204" pitchFamily="50" charset="-128"/>
                        </a:rPr>
                        <a:t>2026.04.01</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５－３．全体スケジュール</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移行（切替・フォロー）を移行（切替）とし、</a:t>
                      </a:r>
                      <a:r>
                        <a:rPr kumimoji="1" lang="en-US" altLang="ja-JP" sz="1200">
                          <a:latin typeface="メイリオ" panose="020B0604030504040204" pitchFamily="50" charset="-128"/>
                          <a:ea typeface="メイリオ" panose="020B0604030504040204" pitchFamily="50" charset="-128"/>
                        </a:rPr>
                        <a:t>12</a:t>
                      </a:r>
                      <a:r>
                        <a:rPr kumimoji="1" lang="ja-JP" altLang="en-US" sz="1200">
                          <a:latin typeface="メイリオ" panose="020B0604030504040204" pitchFamily="50" charset="-128"/>
                          <a:ea typeface="メイリオ" panose="020B0604030504040204" pitchFamily="50" charset="-128"/>
                        </a:rPr>
                        <a:t>月までに変更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2439619"/>
                  </a:ext>
                </a:extLst>
              </a:tr>
            </a:tbl>
          </a:graphicData>
        </a:graphic>
      </p:graphicFrame>
    </p:spTree>
    <p:extLst>
      <p:ext uri="{BB962C8B-B14F-4D97-AF65-F5344CB8AC3E}">
        <p14:creationId xmlns:p14="http://schemas.microsoft.com/office/powerpoint/2010/main" val="1001551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BC2D4-3140-1A46-93A6-F9E977AF64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60370F-E95D-7ED3-5AD7-51166497B78F}"/>
              </a:ext>
            </a:extLst>
          </p:cNvPr>
          <p:cNvSpPr>
            <a:spLocks noGrp="1"/>
          </p:cNvSpPr>
          <p:nvPr>
            <p:ph type="title"/>
          </p:nvPr>
        </p:nvSpPr>
        <p:spPr/>
        <p:txBody>
          <a:bodyPr>
            <a:normAutofit/>
          </a:bodyPr>
          <a:lstStyle/>
          <a:p>
            <a:r>
              <a:rPr kumimoji="1" lang="ja-JP" altLang="en-US"/>
              <a:t>変更履歴</a:t>
            </a:r>
          </a:p>
        </p:txBody>
      </p:sp>
      <p:sp>
        <p:nvSpPr>
          <p:cNvPr id="7" name="テキスト プレースホルダー 11">
            <a:extLst>
              <a:ext uri="{FF2B5EF4-FFF2-40B4-BE49-F238E27FC236}">
                <a16:creationId xmlns:a16="http://schemas.microsoft.com/office/drawing/2014/main" id="{949C4004-F892-71A4-0F5B-2D6194D42FAF}"/>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9" name="フッター プレースホルダー 8">
            <a:extLst>
              <a:ext uri="{FF2B5EF4-FFF2-40B4-BE49-F238E27FC236}">
                <a16:creationId xmlns:a16="http://schemas.microsoft.com/office/drawing/2014/main" id="{B56CDD53-0E58-CF86-40B0-24ACF6D9BCB8}"/>
              </a:ext>
            </a:extLst>
          </p:cNvPr>
          <p:cNvSpPr>
            <a:spLocks noGrp="1"/>
          </p:cNvSpPr>
          <p:nvPr>
            <p:ph type="ftr" sz="quarter" idx="11"/>
          </p:nvPr>
        </p:nvSpPr>
        <p:spPr>
          <a:xfrm>
            <a:off x="14294731" y="9903315"/>
            <a:ext cx="2619755" cy="378000"/>
          </a:xfrm>
        </p:spPr>
        <p:txBody>
          <a:bodyPr/>
          <a:lstStyle/>
          <a:p>
            <a:r>
              <a:rPr kumimoji="1" lang="en-US" altLang="ja-JP"/>
              <a:t>Confidential </a:t>
            </a:r>
            <a:endParaRPr kumimoji="1" lang="ja-JP" altLang="en-US"/>
          </a:p>
        </p:txBody>
      </p:sp>
      <p:sp>
        <p:nvSpPr>
          <p:cNvPr id="10" name="スライド番号プレースホルダー 9">
            <a:extLst>
              <a:ext uri="{FF2B5EF4-FFF2-40B4-BE49-F238E27FC236}">
                <a16:creationId xmlns:a16="http://schemas.microsoft.com/office/drawing/2014/main" id="{990DC3AC-1C5F-F249-9127-2EFA2F9343AA}"/>
              </a:ext>
            </a:extLst>
          </p:cNvPr>
          <p:cNvSpPr>
            <a:spLocks noGrp="1"/>
          </p:cNvSpPr>
          <p:nvPr>
            <p:ph type="sldNum" sz="quarter" idx="12"/>
          </p:nvPr>
        </p:nvSpPr>
        <p:spPr/>
        <p:txBody>
          <a:bodyPr/>
          <a:lstStyle/>
          <a:p>
            <a:fld id="{2A9E37A5-A917-4235-ABF6-8CD72E894915}" type="slidenum">
              <a:rPr lang="en-US" altLang="ja-JP" smtClean="0"/>
              <a:pPr/>
              <a:t>3</a:t>
            </a:fld>
            <a:endParaRPr lang="ja-JP" altLang="en-US"/>
          </a:p>
        </p:txBody>
      </p:sp>
      <p:graphicFrame>
        <p:nvGraphicFramePr>
          <p:cNvPr id="3" name="表 2">
            <a:extLst>
              <a:ext uri="{FF2B5EF4-FFF2-40B4-BE49-F238E27FC236}">
                <a16:creationId xmlns:a16="http://schemas.microsoft.com/office/drawing/2014/main" id="{C72B328B-0BCC-5690-4742-9F94597FFE40}"/>
              </a:ext>
            </a:extLst>
          </p:cNvPr>
          <p:cNvGraphicFramePr>
            <a:graphicFrameLocks noGrp="1"/>
          </p:cNvGraphicFramePr>
          <p:nvPr>
            <p:extLst>
              <p:ext uri="{D42A27DB-BD31-4B8C-83A1-F6EECF244321}">
                <p14:modId xmlns:p14="http://schemas.microsoft.com/office/powerpoint/2010/main" val="2026550018"/>
              </p:ext>
            </p:extLst>
          </p:nvPr>
        </p:nvGraphicFramePr>
        <p:xfrm>
          <a:off x="628890" y="1373465"/>
          <a:ext cx="16976204" cy="8200884"/>
        </p:xfrm>
        <a:graphic>
          <a:graphicData uri="http://schemas.openxmlformats.org/drawingml/2006/table">
            <a:tbl>
              <a:tblPr firstRow="1" bandRow="1">
                <a:tableStyleId>{5940675A-B579-460E-94D1-54222C63F5DA}</a:tableStyleId>
              </a:tblPr>
              <a:tblGrid>
                <a:gridCol w="1472233">
                  <a:extLst>
                    <a:ext uri="{9D8B030D-6E8A-4147-A177-3AD203B41FA5}">
                      <a16:colId xmlns:a16="http://schemas.microsoft.com/office/drawing/2014/main" val="3137280042"/>
                    </a:ext>
                  </a:extLst>
                </a:gridCol>
                <a:gridCol w="1472233">
                  <a:extLst>
                    <a:ext uri="{9D8B030D-6E8A-4147-A177-3AD203B41FA5}">
                      <a16:colId xmlns:a16="http://schemas.microsoft.com/office/drawing/2014/main" val="3137259252"/>
                    </a:ext>
                  </a:extLst>
                </a:gridCol>
                <a:gridCol w="1329103">
                  <a:extLst>
                    <a:ext uri="{9D8B030D-6E8A-4147-A177-3AD203B41FA5}">
                      <a16:colId xmlns:a16="http://schemas.microsoft.com/office/drawing/2014/main" val="732893320"/>
                    </a:ext>
                  </a:extLst>
                </a:gridCol>
                <a:gridCol w="2434728">
                  <a:extLst>
                    <a:ext uri="{9D8B030D-6E8A-4147-A177-3AD203B41FA5}">
                      <a16:colId xmlns:a16="http://schemas.microsoft.com/office/drawing/2014/main" val="2794625770"/>
                    </a:ext>
                  </a:extLst>
                </a:gridCol>
                <a:gridCol w="10267907">
                  <a:extLst>
                    <a:ext uri="{9D8B030D-6E8A-4147-A177-3AD203B41FA5}">
                      <a16:colId xmlns:a16="http://schemas.microsoft.com/office/drawing/2014/main" val="1325107330"/>
                    </a:ext>
                  </a:extLst>
                </a:gridCol>
              </a:tblGrid>
              <a:tr h="370840">
                <a:tc>
                  <a:txBody>
                    <a:bodyPr/>
                    <a:lstStyle/>
                    <a:p>
                      <a:r>
                        <a:rPr kumimoji="1" lang="ja-JP" altLang="en-US" sz="1200">
                          <a:latin typeface="メイリオ" panose="020B0604030504040204" pitchFamily="50" charset="-128"/>
                          <a:ea typeface="メイリオ" panose="020B0604030504040204" pitchFamily="50" charset="-128"/>
                        </a:rPr>
                        <a:t>バージョン</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更新日</a:t>
                      </a:r>
                    </a:p>
                  </a:txBody>
                  <a:tcPr anchor="ctr">
                    <a:solidFill>
                      <a:schemeClr val="accent1">
                        <a:lumMod val="60000"/>
                        <a:lumOff val="40000"/>
                      </a:schemeClr>
                    </a:solidFill>
                  </a:tcPr>
                </a:tc>
                <a:tc>
                  <a:txBody>
                    <a:bodyPr/>
                    <a:lstStyle/>
                    <a:p>
                      <a:r>
                        <a:rPr kumimoji="1" lang="ja-JP" altLang="en-US" sz="1200" dirty="0">
                          <a:latin typeface="メイリオ" panose="020B0604030504040204" pitchFamily="50" charset="-128"/>
                          <a:ea typeface="メイリオ" panose="020B0604030504040204" pitchFamily="50" charset="-128"/>
                        </a:rPr>
                        <a:t>更新者</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更新項目</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更新内容</a:t>
                      </a:r>
                    </a:p>
                  </a:txBody>
                  <a:tcPr anchor="ctr">
                    <a:solidFill>
                      <a:schemeClr val="accent1">
                        <a:lumMod val="60000"/>
                        <a:lumOff val="40000"/>
                      </a:schemeClr>
                    </a:solidFill>
                  </a:tcPr>
                </a:tc>
                <a:extLst>
                  <a:ext uri="{0D108BD9-81ED-4DB2-BD59-A6C34878D82A}">
                    <a16:rowId xmlns:a16="http://schemas.microsoft.com/office/drawing/2014/main" val="88859046"/>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2026.04.06</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小松</a:t>
                      </a:r>
                    </a:p>
                  </a:txBody>
                  <a:tcPr>
                    <a:lnB w="12700" cap="flat" cmpd="sng" algn="ctr">
                      <a:solidFill>
                        <a:schemeClr val="tx1"/>
                      </a:solidFill>
                      <a:prstDash val="solid"/>
                      <a:round/>
                      <a:headEnd type="none" w="med" len="med"/>
                      <a:tailEnd type="none" w="med" len="med"/>
                    </a:lnB>
                  </a:tcPr>
                </a:tc>
                <a:tc>
                  <a:txBody>
                    <a:bodyPr/>
                    <a:lstStyle/>
                    <a:p>
                      <a:r>
                        <a:rPr kumimoji="1" lang="en-US" altLang="ja-JP" sz="1200" dirty="0">
                          <a:latin typeface="メイリオ" panose="020B0604030504040204" pitchFamily="50" charset="-128"/>
                          <a:ea typeface="メイリオ" panose="020B0604030504040204" pitchFamily="50" charset="-128"/>
                        </a:rPr>
                        <a:t>5-1.</a:t>
                      </a:r>
                      <a:r>
                        <a:rPr kumimoji="1" lang="ja-JP" altLang="en-US" sz="1200" dirty="0">
                          <a:latin typeface="メイリオ" panose="020B0604030504040204" pitchFamily="50" charset="-128"/>
                          <a:ea typeface="メイリオ" panose="020B0604030504040204" pitchFamily="50" charset="-128"/>
                        </a:rPr>
                        <a:t>全体アーキテクチャ（本番環境）（２）、（３）</a:t>
                      </a:r>
                    </a:p>
                  </a:txBody>
                  <a:tcPr/>
                </a:tc>
                <a:tc>
                  <a:txBody>
                    <a:bodyPr/>
                    <a:lstStyle/>
                    <a:p>
                      <a:r>
                        <a:rPr kumimoji="1" lang="ja-JP" altLang="en-US" sz="1200" dirty="0">
                          <a:latin typeface="メイリオ" panose="020B0604030504040204" pitchFamily="50" charset="-128"/>
                          <a:ea typeface="メイリオ" panose="020B0604030504040204" pitchFamily="50" charset="-128"/>
                        </a:rPr>
                        <a:t>ページ追加</a:t>
                      </a:r>
                    </a:p>
                  </a:txBody>
                  <a:tcPr/>
                </a:tc>
                <a:extLst>
                  <a:ext uri="{0D108BD9-81ED-4DB2-BD59-A6C34878D82A}">
                    <a16:rowId xmlns:a16="http://schemas.microsoft.com/office/drawing/2014/main" val="1802461774"/>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2026.04.07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p>
                  </a:txBody>
                  <a:tcPr>
                    <a:lnT w="12700" cap="flat" cmpd="sng" algn="ctr">
                      <a:solidFill>
                        <a:schemeClr val="tx1"/>
                      </a:solidFill>
                      <a:prstDash val="solid"/>
                      <a:round/>
                      <a:headEnd type="none" w="med" len="med"/>
                      <a:tailEnd type="none" w="med" len="med"/>
                    </a:lnT>
                  </a:tcPr>
                </a:tc>
                <a:tc>
                  <a:txBody>
                    <a:bodyPr/>
                    <a:lstStyle/>
                    <a:p>
                      <a:r>
                        <a:rPr kumimoji="1" lang="en-US" altLang="ja-JP" sz="1200">
                          <a:latin typeface="メイリオ" panose="020B0604030504040204" pitchFamily="50" charset="-128"/>
                          <a:ea typeface="メイリオ" panose="020B0604030504040204" pitchFamily="50" charset="-128"/>
                        </a:rPr>
                        <a:t>5-1.</a:t>
                      </a:r>
                      <a:r>
                        <a:rPr kumimoji="1" lang="ja-JP" altLang="en-US" sz="1200">
                          <a:latin typeface="メイリオ" panose="020B0604030504040204" pitchFamily="50" charset="-128"/>
                          <a:ea typeface="メイリオ" panose="020B0604030504040204" pitchFamily="50" charset="-128"/>
                        </a:rPr>
                        <a:t>全体アーキテクチャ（１）</a:t>
                      </a:r>
                      <a:endParaRPr kumimoji="1" lang="en-US" altLang="ja-JP" sz="1200">
                        <a:latin typeface="メイリオ" panose="020B0604030504040204" pitchFamily="50" charset="-128"/>
                        <a:ea typeface="メイリオ" panose="020B0604030504040204" pitchFamily="50" charset="-128"/>
                      </a:endParaRPr>
                    </a:p>
                    <a:p>
                      <a:r>
                        <a:rPr kumimoji="1" lang="en-US" altLang="ja-JP" sz="1200">
                          <a:latin typeface="メイリオ" panose="020B0604030504040204" pitchFamily="50" charset="-128"/>
                          <a:ea typeface="メイリオ" panose="020B0604030504040204" pitchFamily="50" charset="-128"/>
                        </a:rPr>
                        <a:t>5-2.</a:t>
                      </a:r>
                      <a:r>
                        <a:rPr kumimoji="1" lang="ja-JP" altLang="en-US" sz="1200">
                          <a:latin typeface="メイリオ" panose="020B0604030504040204" pitchFamily="50" charset="-128"/>
                          <a:ea typeface="メイリオ" panose="020B0604030504040204" pitchFamily="50" charset="-128"/>
                        </a:rPr>
                        <a:t>現行</a:t>
                      </a:r>
                      <a:r>
                        <a:rPr kumimoji="1" lang="en-US" altLang="ja-JP" sz="1200">
                          <a:latin typeface="メイリオ" panose="020B0604030504040204" pitchFamily="50" charset="-128"/>
                          <a:ea typeface="メイリオ" panose="020B0604030504040204" pitchFamily="50" charset="-128"/>
                        </a:rPr>
                        <a:t>POS</a:t>
                      </a:r>
                      <a:r>
                        <a:rPr kumimoji="1" lang="ja-JP" altLang="en-US" sz="1200">
                          <a:latin typeface="メイリオ" panose="020B0604030504040204" pitchFamily="50" charset="-128"/>
                          <a:ea typeface="メイリオ" panose="020B0604030504040204" pitchFamily="50" charset="-128"/>
                        </a:rPr>
                        <a:t>との関係</a:t>
                      </a:r>
                    </a:p>
                  </a:txBody>
                  <a:tcPr/>
                </a:tc>
                <a:tc>
                  <a:txBody>
                    <a:bodyPr/>
                    <a:lstStyle/>
                    <a:p>
                      <a:r>
                        <a:rPr kumimoji="1" lang="ja-JP" altLang="en-US" sz="1200">
                          <a:latin typeface="メイリオ" panose="020B0604030504040204" pitchFamily="50" charset="-128"/>
                          <a:ea typeface="メイリオ" panose="020B0604030504040204" pitchFamily="50" charset="-128"/>
                        </a:rPr>
                        <a:t>画像差し替え</a:t>
                      </a:r>
                      <a:endParaRPr kumimoji="1" lang="en-US" altLang="ja-JP" sz="12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82015124"/>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5.3.</a:t>
                      </a:r>
                      <a:r>
                        <a:rPr kumimoji="1" lang="ja-JP" altLang="en-US" sz="1200">
                          <a:latin typeface="メイリオ" panose="020B0604030504040204" pitchFamily="50" charset="-128"/>
                          <a:ea typeface="メイリオ" panose="020B0604030504040204" pitchFamily="50" charset="-128"/>
                        </a:rPr>
                        <a:t>全体スケジュール</a:t>
                      </a:r>
                    </a:p>
                  </a:txBody>
                  <a:tcPr/>
                </a:tc>
                <a:tc>
                  <a:txBody>
                    <a:bodyPr/>
                    <a:lstStyle/>
                    <a:p>
                      <a:r>
                        <a:rPr kumimoji="1" lang="ja-JP" altLang="en-US" sz="1200">
                          <a:latin typeface="メイリオ" panose="020B0604030504040204" pitchFamily="50" charset="-128"/>
                          <a:ea typeface="メイリオ" panose="020B0604030504040204" pitchFamily="50" charset="-128"/>
                        </a:rPr>
                        <a:t>先行開発</a:t>
                      </a:r>
                      <a:r>
                        <a:rPr kumimoji="1" lang="en-US" altLang="ja-JP" sz="1200">
                          <a:latin typeface="メイリオ" panose="020B0604030504040204" pitchFamily="50" charset="-128"/>
                          <a:ea typeface="メイリオ" panose="020B0604030504040204" pitchFamily="50" charset="-128"/>
                        </a:rPr>
                        <a:t>5</a:t>
                      </a:r>
                      <a:r>
                        <a:rPr kumimoji="1" lang="ja-JP" altLang="en-US" sz="1200">
                          <a:latin typeface="メイリオ" panose="020B0604030504040204" pitchFamily="50" charset="-128"/>
                          <a:ea typeface="メイリオ" panose="020B0604030504040204" pitchFamily="50" charset="-128"/>
                        </a:rPr>
                        <a:t>機能を追記</a:t>
                      </a:r>
                    </a:p>
                  </a:txBody>
                  <a:tcPr/>
                </a:tc>
                <a:extLst>
                  <a:ext uri="{0D108BD9-81ED-4DB2-BD59-A6C34878D82A}">
                    <a16:rowId xmlns:a16="http://schemas.microsoft.com/office/drawing/2014/main" val="3558521743"/>
                  </a:ext>
                </a:extLst>
              </a:tr>
              <a:tr h="370840">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ja-JP" altLang="en-US" sz="12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59574C"/>
                          </a:solidFill>
                          <a:effectLst/>
                          <a:uLnTx/>
                          <a:uFillTx/>
                          <a:latin typeface="メイリオ" panose="020B0604030504040204" pitchFamily="50" charset="-128"/>
                          <a:ea typeface="メイリオ" panose="020B0604030504040204" pitchFamily="50" charset="-128"/>
                          <a:cs typeface="+mn-cs"/>
                        </a:rPr>
                        <a:t>5-11.</a:t>
                      </a:r>
                      <a:r>
                        <a:rPr kumimoji="1" lang="ja-JP" altLang="en-US" sz="1200" b="0" i="0" u="none" strike="noStrike" kern="1200" cap="none" spc="0" normalizeH="0" baseline="0" noProof="0" dirty="0">
                          <a:ln>
                            <a:noFill/>
                          </a:ln>
                          <a:solidFill>
                            <a:srgbClr val="59574C"/>
                          </a:solidFill>
                          <a:effectLst/>
                          <a:uLnTx/>
                          <a:uFillTx/>
                          <a:latin typeface="メイリオ" panose="020B0604030504040204" pitchFamily="50" charset="-128"/>
                          <a:ea typeface="メイリオ" panose="020B0604030504040204" pitchFamily="50" charset="-128"/>
                          <a:cs typeface="+mn-cs"/>
                        </a:rPr>
                        <a:t>環境一覧</a:t>
                      </a:r>
                      <a:endParaRPr lang="ja-JP" altLang="en-US" sz="1200" dirty="0"/>
                    </a:p>
                  </a:txBody>
                  <a:tcPr/>
                </a:tc>
                <a:tc>
                  <a:txBody>
                    <a:bodyPr/>
                    <a:lstStyle/>
                    <a:p>
                      <a:r>
                        <a:rPr kumimoji="1" lang="ja-JP" altLang="en-US" sz="1200">
                          <a:latin typeface="メイリオ" panose="020B0604030504040204" pitchFamily="50" charset="-128"/>
                          <a:ea typeface="メイリオ" panose="020B0604030504040204" pitchFamily="50" charset="-128"/>
                        </a:rPr>
                        <a:t>ページ追加</a:t>
                      </a:r>
                    </a:p>
                  </a:txBody>
                  <a:tcPr/>
                </a:tc>
                <a:extLst>
                  <a:ext uri="{0D108BD9-81ED-4DB2-BD59-A6C34878D82A}">
                    <a16:rowId xmlns:a16="http://schemas.microsoft.com/office/drawing/2014/main" val="1925272073"/>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小松</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5-1.</a:t>
                      </a:r>
                      <a:r>
                        <a:rPr kumimoji="1" lang="ja-JP" altLang="en-US" sz="1200" dirty="0">
                          <a:latin typeface="メイリオ" panose="020B0604030504040204" pitchFamily="50" charset="-128"/>
                          <a:ea typeface="メイリオ" panose="020B0604030504040204" pitchFamily="50" charset="-128"/>
                        </a:rPr>
                        <a:t>全体アーキテクチャ（本番環境）（２）、（３）</a:t>
                      </a:r>
                    </a:p>
                  </a:txBody>
                  <a:tcPr/>
                </a:tc>
                <a:tc>
                  <a:txBody>
                    <a:bodyPr/>
                    <a:lstStyle/>
                    <a:p>
                      <a:r>
                        <a:rPr kumimoji="1" lang="ja-JP" altLang="en-US" sz="1200" dirty="0">
                          <a:latin typeface="メイリオ" panose="020B0604030504040204" pitchFamily="50" charset="-128"/>
                          <a:ea typeface="メイリオ" panose="020B0604030504040204" pitchFamily="50" charset="-128"/>
                        </a:rPr>
                        <a:t>図を変更：左側のタブレット</a:t>
                      </a:r>
                      <a:r>
                        <a:rPr kumimoji="1" lang="en-US" altLang="ja-JP" sz="1200" dirty="0">
                          <a:latin typeface="メイリオ" panose="020B0604030504040204" pitchFamily="50" charset="-128"/>
                          <a:ea typeface="メイリオ" panose="020B0604030504040204" pitchFamily="50" charset="-128"/>
                        </a:rPr>
                        <a:t>POS-A</a:t>
                      </a:r>
                      <a:r>
                        <a:rPr kumimoji="1" lang="ja-JP" altLang="en-US" sz="1200" dirty="0">
                          <a:latin typeface="メイリオ" panose="020B0604030504040204" pitchFamily="50" charset="-128"/>
                          <a:ea typeface="メイリオ" panose="020B0604030504040204" pitchFamily="50" charset="-128"/>
                        </a:rPr>
                        <a:t>、タブレット</a:t>
                      </a:r>
                      <a:r>
                        <a:rPr kumimoji="1" lang="en-US" altLang="ja-JP" sz="1200" dirty="0">
                          <a:latin typeface="メイリオ" panose="020B0604030504040204" pitchFamily="50" charset="-128"/>
                          <a:ea typeface="メイリオ" panose="020B0604030504040204" pitchFamily="50" charset="-128"/>
                        </a:rPr>
                        <a:t>POS-B</a:t>
                      </a:r>
                      <a:r>
                        <a:rPr kumimoji="1" lang="ja-JP" altLang="en-US" sz="1200" dirty="0">
                          <a:latin typeface="メイリオ" panose="020B0604030504040204" pitchFamily="50" charset="-128"/>
                          <a:ea typeface="メイリオ" panose="020B0604030504040204" pitchFamily="50" charset="-128"/>
                        </a:rPr>
                        <a:t>をタブレット</a:t>
                      </a:r>
                      <a:r>
                        <a:rPr kumimoji="1" lang="en-US" altLang="ja-JP" sz="1200" dirty="0">
                          <a:latin typeface="メイリオ" panose="020B0604030504040204" pitchFamily="50" charset="-128"/>
                          <a:ea typeface="メイリオ" panose="020B0604030504040204" pitchFamily="50" charset="-128"/>
                        </a:rPr>
                        <a:t>POS(iPad</a:t>
                      </a:r>
                      <a:r>
                        <a:rPr kumimoji="1" lang="ja-JP" altLang="en-US" sz="1200" dirty="0">
                          <a:latin typeface="メイリオ" panose="020B0604030504040204" pitchFamily="50" charset="-128"/>
                          <a:ea typeface="メイリオ" panose="020B0604030504040204" pitchFamily="50" charset="-128"/>
                        </a:rPr>
                        <a:t> </a:t>
                      </a:r>
                      <a:r>
                        <a:rPr kumimoji="1" lang="en-US" altLang="ja-JP" sz="1200" dirty="0">
                          <a:latin typeface="メイリオ" panose="020B0604030504040204" pitchFamily="50" charset="-128"/>
                          <a:ea typeface="メイリオ" panose="020B0604030504040204" pitchFamily="50" charset="-128"/>
                        </a:rPr>
                        <a:t>mini)</a:t>
                      </a:r>
                      <a:r>
                        <a:rPr kumimoji="1" lang="ja-JP" altLang="en-US" sz="1200" dirty="0">
                          <a:latin typeface="メイリオ" panose="020B0604030504040204" pitchFamily="50" charset="-128"/>
                          <a:ea typeface="メイリオ" panose="020B0604030504040204" pitchFamily="50" charset="-128"/>
                        </a:rPr>
                        <a:t>、据置タブレットに変更</a:t>
                      </a:r>
                      <a:endParaRPr kumimoji="1"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　　　　　データ参照</a:t>
                      </a:r>
                      <a:r>
                        <a:rPr kumimoji="1" lang="en-US" altLang="ja-JP" sz="1200" dirty="0">
                          <a:latin typeface="メイリオ" panose="020B0604030504040204" pitchFamily="50" charset="-128"/>
                          <a:ea typeface="メイリオ" panose="020B0604030504040204" pitchFamily="50" charset="-128"/>
                        </a:rPr>
                        <a:t>API</a:t>
                      </a:r>
                      <a:r>
                        <a:rPr kumimoji="1" lang="ja-JP" altLang="en-US" sz="1200" dirty="0">
                          <a:latin typeface="メイリオ" panose="020B0604030504040204" pitchFamily="50" charset="-128"/>
                          <a:ea typeface="メイリオ" panose="020B0604030504040204" pitchFamily="50" charset="-128"/>
                        </a:rPr>
                        <a:t>を追加</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097976024"/>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2026.04.09</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小松</a:t>
                      </a:r>
                    </a:p>
                  </a:txBody>
                  <a:tcPr/>
                </a:tc>
                <a:tc>
                  <a:txBody>
                    <a:bodyPr/>
                    <a:lstStyle/>
                    <a:p>
                      <a:r>
                        <a:rPr kumimoji="1" lang="en-US" altLang="ja-JP" sz="1200" dirty="0">
                          <a:latin typeface="メイリオ" panose="020B0604030504040204" pitchFamily="50" charset="-128"/>
                          <a:ea typeface="メイリオ" panose="020B0604030504040204" pitchFamily="50" charset="-128"/>
                        </a:rPr>
                        <a:t>5-1.</a:t>
                      </a:r>
                      <a:r>
                        <a:rPr kumimoji="1" lang="ja-JP" altLang="en-US" sz="1200" dirty="0">
                          <a:latin typeface="メイリオ" panose="020B0604030504040204" pitchFamily="50" charset="-128"/>
                          <a:ea typeface="メイリオ" panose="020B0604030504040204" pitchFamily="50" charset="-128"/>
                        </a:rPr>
                        <a:t>全体アーキテクチャ（本番環境）（２）、（３）、（４）</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（２）ページ追加、（２）、（３）を（３）、（４）に変更</a:t>
                      </a:r>
                    </a:p>
                  </a:txBody>
                  <a:tcPr/>
                </a:tc>
                <a:extLst>
                  <a:ext uri="{0D108BD9-81ED-4DB2-BD59-A6C34878D82A}">
                    <a16:rowId xmlns:a16="http://schemas.microsoft.com/office/drawing/2014/main" val="745303629"/>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2026.04.16</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7-4.</a:t>
                      </a:r>
                      <a:r>
                        <a:rPr kumimoji="1" lang="ja-JP" altLang="en-US" sz="1200">
                          <a:latin typeface="メイリオ" panose="020B0604030504040204" pitchFamily="50" charset="-128"/>
                          <a:ea typeface="メイリオ" panose="020B0604030504040204" pitchFamily="50" charset="-128"/>
                        </a:rPr>
                        <a:t>体制</a:t>
                      </a:r>
                    </a:p>
                  </a:txBody>
                  <a:tcPr/>
                </a:tc>
                <a:tc>
                  <a:txBody>
                    <a:bodyPr/>
                    <a:lstStyle/>
                    <a:p>
                      <a:r>
                        <a:rPr kumimoji="1" lang="ja-JP" altLang="en-US" sz="1200">
                          <a:latin typeface="メイリオ" panose="020B0604030504040204" pitchFamily="50" charset="-128"/>
                          <a:ea typeface="メイリオ" panose="020B0604030504040204" pitchFamily="50" charset="-128"/>
                        </a:rPr>
                        <a:t>組みなおし（途中）</a:t>
                      </a:r>
                    </a:p>
                  </a:txBody>
                  <a:tcPr/>
                </a:tc>
                <a:extLst>
                  <a:ext uri="{0D108BD9-81ED-4DB2-BD59-A6C34878D82A}">
                    <a16:rowId xmlns:a16="http://schemas.microsoft.com/office/drawing/2014/main" val="270833116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5.3.</a:t>
                      </a:r>
                      <a:r>
                        <a:rPr kumimoji="1" lang="ja-JP" altLang="en-US" sz="1200">
                          <a:latin typeface="メイリオ" panose="020B0604030504040204" pitchFamily="50" charset="-128"/>
                          <a:ea typeface="メイリオ" panose="020B0604030504040204" pitchFamily="50" charset="-128"/>
                        </a:rPr>
                        <a:t>全体スケジュール</a:t>
                      </a:r>
                    </a:p>
                  </a:txBody>
                  <a:tcPr/>
                </a:tc>
                <a:tc>
                  <a:txBody>
                    <a:bodyPr/>
                    <a:lstStyle/>
                    <a:p>
                      <a:r>
                        <a:rPr kumimoji="1" lang="en-US" altLang="ja-JP" sz="1200">
                          <a:latin typeface="メイリオ" panose="020B0604030504040204" pitchFamily="50" charset="-128"/>
                          <a:ea typeface="メイリオ" panose="020B0604030504040204" pitchFamily="50" charset="-128"/>
                        </a:rPr>
                        <a:t>2026</a:t>
                      </a:r>
                      <a:r>
                        <a:rPr kumimoji="1" lang="ja-JP" altLang="en-US" sz="1200">
                          <a:latin typeface="メイリオ" panose="020B0604030504040204" pitchFamily="50" charset="-128"/>
                          <a:ea typeface="メイリオ" panose="020B0604030504040204" pitchFamily="50" charset="-128"/>
                        </a:rPr>
                        <a:t>年を細分化。準委任は</a:t>
                      </a:r>
                      <a:r>
                        <a:rPr kumimoji="1" lang="en-US" altLang="ja-JP" sz="1200">
                          <a:latin typeface="メイリオ" panose="020B0604030504040204" pitchFamily="50" charset="-128"/>
                          <a:ea typeface="メイリオ" panose="020B0604030504040204" pitchFamily="50" charset="-128"/>
                        </a:rPr>
                        <a:t>2028</a:t>
                      </a:r>
                      <a:r>
                        <a:rPr kumimoji="1" lang="ja-JP" altLang="en-US" sz="1200">
                          <a:latin typeface="メイリオ" panose="020B0604030504040204" pitchFamily="50" charset="-128"/>
                          <a:ea typeface="メイリオ" panose="020B0604030504040204" pitchFamily="50" charset="-128"/>
                        </a:rPr>
                        <a:t>までに修正。</a:t>
                      </a:r>
                      <a:endParaRPr kumimoji="1" lang="en-US" altLang="ja-JP" sz="1200">
                        <a:latin typeface="メイリオ" panose="020B0604030504040204" pitchFamily="50" charset="-128"/>
                        <a:ea typeface="メイリオ" panose="020B0604030504040204" pitchFamily="50" charset="-128"/>
                      </a:endParaRPr>
                    </a:p>
                    <a:p>
                      <a:r>
                        <a:rPr kumimoji="1" lang="ja-JP" altLang="en-US" sz="1200">
                          <a:latin typeface="メイリオ" panose="020B0604030504040204" pitchFamily="50" charset="-128"/>
                          <a:ea typeface="メイリオ" panose="020B0604030504040204" pitchFamily="50" charset="-128"/>
                        </a:rPr>
                        <a:t>現行システムの凍結と取込を追加。説明スライドを別途追加。</a:t>
                      </a:r>
                    </a:p>
                  </a:txBody>
                  <a:tcPr/>
                </a:tc>
                <a:extLst>
                  <a:ext uri="{0D108BD9-81ED-4DB2-BD59-A6C34878D82A}">
                    <a16:rowId xmlns:a16="http://schemas.microsoft.com/office/drawing/2014/main" val="233437429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5-1.</a:t>
                      </a:r>
                      <a:r>
                        <a:rPr kumimoji="1" lang="ja-JP" altLang="en-US" sz="1200">
                          <a:latin typeface="メイリオ" panose="020B0604030504040204" pitchFamily="50" charset="-128"/>
                          <a:ea typeface="メイリオ" panose="020B0604030504040204" pitchFamily="50" charset="-128"/>
                        </a:rPr>
                        <a:t>全体アーキテクチャ（１）</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店舗サーバーを追加</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19708626"/>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2026.04.17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伊藤</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lang="ja-JP" altLang="en-US" sz="1200" dirty="0">
                          <a:latin typeface="Meiryo UI" panose="020B0604030504040204" pitchFamily="50" charset="-128"/>
                          <a:ea typeface="Meiryo UI" panose="020B0604030504040204" pitchFamily="50" charset="-128"/>
                        </a:rPr>
                        <a:t>５－７．オフライン機能（１）</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POSA</a:t>
                      </a:r>
                      <a:r>
                        <a:rPr kumimoji="1" lang="ja-JP" altLang="en-US" sz="1200" dirty="0">
                          <a:latin typeface="メイリオ" panose="020B0604030504040204" pitchFamily="50" charset="-128"/>
                          <a:ea typeface="メイリオ" panose="020B0604030504040204" pitchFamily="50" charset="-128"/>
                        </a:rPr>
                        <a:t>カード売上利用不可について追記</a:t>
                      </a:r>
                    </a:p>
                  </a:txBody>
                  <a:tcPr/>
                </a:tc>
                <a:extLst>
                  <a:ext uri="{0D108BD9-81ED-4DB2-BD59-A6C34878D82A}">
                    <a16:rowId xmlns:a16="http://schemas.microsoft.com/office/drawing/2014/main" val="1533148952"/>
                  </a:ext>
                </a:extLst>
              </a:tr>
              <a:tr h="479284">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５－６．トレーニングモード</a:t>
                      </a:r>
                      <a:endParaRPr kumimoji="1" lang="ja-JP" altLang="en-US" sz="1200" dirty="0">
                        <a:latin typeface="メイリオ" panose="020B0604030504040204" pitchFamily="50" charset="-128"/>
                        <a:ea typeface="メイリオ" panose="020B0604030504040204" pitchFamily="50" charset="-128"/>
                      </a:endParaRPr>
                    </a:p>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売上トレーニングモードについて追記</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92424612"/>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５－８．通常・チュートリアルモード</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５－８．通常・チュートリアルモードに変更</a:t>
                      </a:r>
                      <a:endParaRPr kumimoji="1" lang="en-US" altLang="ja-JP" sz="1200" dirty="0">
                        <a:latin typeface="メイリオ" panose="020B0604030504040204" pitchFamily="50" charset="-128"/>
                        <a:ea typeface="メイリオ" panose="020B0604030504040204" pitchFamily="50" charset="-128"/>
                      </a:endParaRP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チュートリアルモードについての内容を追加</a:t>
                      </a:r>
                    </a:p>
                  </a:txBody>
                  <a:tcPr/>
                </a:tc>
                <a:extLst>
                  <a:ext uri="{0D108BD9-81ED-4DB2-BD59-A6C34878D82A}">
                    <a16:rowId xmlns:a16="http://schemas.microsoft.com/office/drawing/2014/main" val="702154763"/>
                  </a:ext>
                </a:extLst>
              </a:tr>
              <a:tr h="370840">
                <a:tc>
                  <a:txBody>
                    <a:bodyPr/>
                    <a:lstStyle/>
                    <a:p>
                      <a:r>
                        <a:rPr kumimoji="1" lang="en-US" altLang="ja-JP" sz="1200">
                          <a:latin typeface="メイリオ" panose="020B0604030504040204" pitchFamily="50" charset="-128"/>
                          <a:ea typeface="メイリオ" panose="020B0604030504040204" pitchFamily="50" charset="-128"/>
                        </a:rPr>
                        <a:t>2.0.0</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2026.04.23</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6-4.</a:t>
                      </a:r>
                      <a:r>
                        <a:rPr kumimoji="1" lang="ja-JP" altLang="en-US" sz="1200">
                          <a:latin typeface="メイリオ" panose="020B0604030504040204" pitchFamily="50" charset="-128"/>
                          <a:ea typeface="メイリオ" panose="020B0604030504040204" pitchFamily="50" charset="-128"/>
                        </a:rPr>
                        <a:t>採用データベース</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バージョン振り直し</a:t>
                      </a:r>
                      <a:endParaRPr kumimoji="1" lang="en-US" altLang="ja-JP" sz="1200">
                        <a:latin typeface="メイリオ" panose="020B0604030504040204" pitchFamily="50" charset="-128"/>
                        <a:ea typeface="メイリオ" panose="020B0604030504040204" pitchFamily="50" charset="-128"/>
                      </a:endParaRPr>
                    </a:p>
                    <a:p>
                      <a:r>
                        <a:rPr kumimoji="1" lang="ja-JP" altLang="en-US" sz="1200">
                          <a:latin typeface="メイリオ" panose="020B0604030504040204" pitchFamily="50" charset="-128"/>
                          <a:ea typeface="メイリオ" panose="020B0604030504040204" pitchFamily="50" charset="-128"/>
                        </a:rPr>
                        <a:t>採用データベースを</a:t>
                      </a:r>
                      <a:r>
                        <a:rPr kumimoji="1" lang="en-US" altLang="ja-JP" sz="1200">
                          <a:latin typeface="メイリオ" panose="020B0604030504040204" pitchFamily="50" charset="-128"/>
                          <a:ea typeface="メイリオ" panose="020B0604030504040204" pitchFamily="50" charset="-128"/>
                        </a:rPr>
                        <a:t>5-1</a:t>
                      </a:r>
                      <a:r>
                        <a:rPr kumimoji="1" lang="ja-JP" altLang="en-US" sz="1200">
                          <a:latin typeface="メイリオ" panose="020B0604030504040204" pitchFamily="50" charset="-128"/>
                          <a:ea typeface="メイリオ" panose="020B0604030504040204" pitchFamily="50" charset="-128"/>
                        </a:rPr>
                        <a:t>．全体アーキテクチャから</a:t>
                      </a:r>
                      <a:r>
                        <a:rPr kumimoji="1" lang="en-US" altLang="ja-JP" sz="1200">
                          <a:latin typeface="メイリオ" panose="020B0604030504040204" pitchFamily="50" charset="-128"/>
                          <a:ea typeface="メイリオ" panose="020B0604030504040204" pitchFamily="50" charset="-128"/>
                        </a:rPr>
                        <a:t>6-4</a:t>
                      </a:r>
                      <a:r>
                        <a:rPr kumimoji="1" lang="ja-JP" altLang="en-US" sz="1200">
                          <a:latin typeface="メイリオ" panose="020B0604030504040204" pitchFamily="50" charset="-128"/>
                          <a:ea typeface="メイリオ" panose="020B0604030504040204" pitchFamily="50" charset="-128"/>
                        </a:rPr>
                        <a:t>に移動</a:t>
                      </a:r>
                      <a:endParaRPr kumimoji="1" lang="en-US" altLang="ja-JP" sz="1200">
                        <a:latin typeface="メイリオ" panose="020B0604030504040204" pitchFamily="50" charset="-128"/>
                        <a:ea typeface="メイリオ" panose="020B0604030504040204" pitchFamily="50" charset="-128"/>
                      </a:endParaRPr>
                    </a:p>
                    <a:p>
                      <a:r>
                        <a:rPr kumimoji="1" lang="ja-JP" altLang="en-US" sz="1200">
                          <a:latin typeface="メイリオ" panose="020B0604030504040204" pitchFamily="50" charset="-128"/>
                          <a:ea typeface="メイリオ" panose="020B0604030504040204" pitchFamily="50" charset="-128"/>
                        </a:rPr>
                        <a:t>誤字の修正</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41353474"/>
                  </a:ext>
                </a:extLst>
              </a:tr>
              <a:tr h="370840">
                <a:tc>
                  <a:txBody>
                    <a:bodyPr/>
                    <a:lstStyle/>
                    <a:p>
                      <a:r>
                        <a:rPr kumimoji="1" lang="en-US" altLang="ja-JP" sz="1200">
                          <a:latin typeface="メイリオ" panose="020B0604030504040204" pitchFamily="50" charset="-128"/>
                          <a:ea typeface="メイリオ" panose="020B0604030504040204" pitchFamily="50" charset="-128"/>
                        </a:rPr>
                        <a:t>2.0.1</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2026.04.24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7-4.</a:t>
                      </a:r>
                      <a:r>
                        <a:rPr kumimoji="1" lang="ja-JP" altLang="en-US" sz="1200" dirty="0">
                          <a:latin typeface="メイリオ" panose="020B0604030504040204" pitchFamily="50" charset="-128"/>
                          <a:ea typeface="メイリオ" panose="020B0604030504040204" pitchFamily="50" charset="-128"/>
                        </a:rPr>
                        <a:t>推進体制</a:t>
                      </a:r>
                    </a:p>
                  </a:txBody>
                  <a:tcPr/>
                </a:tc>
                <a:tc>
                  <a:txBody>
                    <a:bodyPr/>
                    <a:lstStyle/>
                    <a:p>
                      <a:r>
                        <a:rPr kumimoji="1" lang="ja-JP" altLang="en-US" sz="1200">
                          <a:latin typeface="メイリオ" panose="020B0604030504040204" pitchFamily="50" charset="-128"/>
                          <a:ea typeface="メイリオ" panose="020B0604030504040204" pitchFamily="50" charset="-128"/>
                        </a:rPr>
                        <a:t>古いのを削除</a:t>
                      </a:r>
                      <a:endParaRPr kumimoji="1" lang="en-US" altLang="ja-JP" sz="1200">
                        <a:latin typeface="メイリオ" panose="020B0604030504040204" pitchFamily="50" charset="-128"/>
                        <a:ea typeface="メイリオ" panose="020B0604030504040204" pitchFamily="50" charset="-128"/>
                      </a:endParaRPr>
                    </a:p>
                    <a:p>
                      <a:r>
                        <a:rPr kumimoji="1" lang="ja-JP" altLang="en-US" sz="1200">
                          <a:latin typeface="メイリオ" panose="020B0604030504040204" pitchFamily="50" charset="-128"/>
                          <a:ea typeface="メイリオ" panose="020B0604030504040204" pitchFamily="50" charset="-128"/>
                        </a:rPr>
                        <a:t>システナ金沢と張</a:t>
                      </a:r>
                      <a:r>
                        <a:rPr kumimoji="1" lang="en-US" altLang="ja-JP" sz="1200">
                          <a:latin typeface="メイリオ" panose="020B0604030504040204" pitchFamily="50" charset="-128"/>
                          <a:ea typeface="メイリオ" panose="020B0604030504040204" pitchFamily="50" charset="-128"/>
                        </a:rPr>
                        <a:t>Inc</a:t>
                      </a:r>
                      <a:r>
                        <a:rPr kumimoji="1" lang="ja-JP" altLang="en-US" sz="1200">
                          <a:latin typeface="メイリオ" panose="020B0604030504040204" pitchFamily="50" charset="-128"/>
                          <a:ea typeface="メイリオ" panose="020B0604030504040204" pitchFamily="50" charset="-128"/>
                        </a:rPr>
                        <a:t>を先行売上チームに追加、売上は</a:t>
                      </a:r>
                      <a:r>
                        <a:rPr kumimoji="1" lang="en-US" altLang="ja-JP" sz="1200">
                          <a:latin typeface="メイリオ" panose="020B0604030504040204" pitchFamily="50" charset="-128"/>
                          <a:ea typeface="メイリオ" panose="020B0604030504040204" pitchFamily="50" charset="-128"/>
                        </a:rPr>
                        <a:t>API</a:t>
                      </a:r>
                      <a:r>
                        <a:rPr kumimoji="1" lang="ja-JP" altLang="en-US" sz="1200">
                          <a:latin typeface="メイリオ" panose="020B0604030504040204" pitchFamily="50" charset="-128"/>
                          <a:ea typeface="メイリオ" panose="020B0604030504040204" pitchFamily="50" charset="-128"/>
                        </a:rPr>
                        <a:t>と端末に分割</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33986981"/>
                  </a:ext>
                </a:extLst>
              </a:tr>
              <a:tr h="370840">
                <a:tc>
                  <a:txBody>
                    <a:bodyPr/>
                    <a:lstStyle/>
                    <a:p>
                      <a:r>
                        <a:rPr kumimoji="1" lang="en-US" altLang="ja-JP" sz="1200">
                          <a:latin typeface="メイリオ" panose="020B0604030504040204" pitchFamily="50" charset="-128"/>
                          <a:ea typeface="メイリオ" panose="020B0604030504040204" pitchFamily="50" charset="-128"/>
                        </a:rPr>
                        <a:t>2.0.2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2026.06.27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6-3.</a:t>
                      </a:r>
                      <a:r>
                        <a:rPr kumimoji="1" lang="ja-JP" altLang="en-US" sz="1200" dirty="0">
                          <a:latin typeface="メイリオ" panose="020B0604030504040204" pitchFamily="50" charset="-128"/>
                          <a:ea typeface="メイリオ" panose="020B0604030504040204" pitchFamily="50" charset="-128"/>
                        </a:rPr>
                        <a:t>マイクロサービスアーキテクチャ</a:t>
                      </a:r>
                    </a:p>
                  </a:txBody>
                  <a:tcPr/>
                </a:tc>
                <a:tc>
                  <a:txBody>
                    <a:bodyPr/>
                    <a:lstStyle/>
                    <a:p>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&lt;</a:t>
                      </a:r>
                      <a:r>
                        <a:rPr kumimoji="1" lang="ja-JP" altLang="en-US" sz="1200" dirty="0">
                          <a:latin typeface="メイリオ" panose="020B0604030504040204" pitchFamily="50" charset="-128"/>
                          <a:ea typeface="メイリオ" panose="020B0604030504040204" pitchFamily="50" charset="-128"/>
                        </a:rPr>
                        <a:t>暫定＞」を追記</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99568451"/>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2.0.3</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2026.04.28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伊藤</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5-3.</a:t>
                      </a:r>
                      <a:r>
                        <a:rPr kumimoji="1" lang="ja-JP" altLang="en-US" sz="1200" dirty="0">
                          <a:latin typeface="メイリオ" panose="020B0604030504040204" pitchFamily="50" charset="-128"/>
                          <a:ea typeface="メイリオ" panose="020B0604030504040204" pitchFamily="50" charset="-128"/>
                        </a:rPr>
                        <a:t>全体スケジュール</a:t>
                      </a:r>
                    </a:p>
                  </a:txBody>
                  <a:tcPr/>
                </a:tc>
                <a:tc>
                  <a:txBody>
                    <a:bodyPr/>
                    <a:lstStyle/>
                    <a:p>
                      <a:r>
                        <a:rPr kumimoji="1" lang="ja-JP" altLang="en-US" sz="1200" dirty="0">
                          <a:latin typeface="メイリオ" panose="020B0604030504040204" pitchFamily="50" charset="-128"/>
                          <a:ea typeface="メイリオ" panose="020B0604030504040204" pitchFamily="50" charset="-128"/>
                        </a:rPr>
                        <a:t>スケジュールを修正</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513801437"/>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2026.05.06</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7-4.</a:t>
                      </a:r>
                      <a:r>
                        <a:rPr kumimoji="1" lang="ja-JP" altLang="en-US" sz="1200" dirty="0">
                          <a:latin typeface="メイリオ" panose="020B0604030504040204" pitchFamily="50" charset="-128"/>
                          <a:ea typeface="メイリオ" panose="020B0604030504040204" pitchFamily="50" charset="-128"/>
                        </a:rPr>
                        <a:t>推進体制</a:t>
                      </a:r>
                    </a:p>
                  </a:txBody>
                  <a:tcPr/>
                </a:tc>
                <a:tc>
                  <a:txBody>
                    <a:bodyPr/>
                    <a:lstStyle/>
                    <a:p>
                      <a:r>
                        <a:rPr kumimoji="1" lang="ja-JP" altLang="en-US" sz="1200">
                          <a:latin typeface="メイリオ" panose="020B0604030504040204" pitchFamily="50" charset="-128"/>
                          <a:ea typeface="メイリオ" panose="020B0604030504040204" pitchFamily="50" charset="-128"/>
                        </a:rPr>
                        <a:t>リーダー列を追加</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34448623"/>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小林</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6-8.</a:t>
                      </a:r>
                      <a:r>
                        <a:rPr kumimoji="1" lang="ja-JP" altLang="en-US" sz="1200" dirty="0">
                          <a:latin typeface="メイリオ" panose="020B0604030504040204" pitchFamily="50" charset="-128"/>
                          <a:ea typeface="メイリオ" panose="020B0604030504040204" pitchFamily="50" charset="-128"/>
                        </a:rPr>
                        <a:t>設計書ラインナップ</a:t>
                      </a:r>
                    </a:p>
                  </a:txBody>
                  <a:tcPr/>
                </a:tc>
                <a:tc>
                  <a:txBody>
                    <a:bodyPr/>
                    <a:lstStyle/>
                    <a:p>
                      <a:r>
                        <a:rPr kumimoji="1" lang="ja-JP" altLang="en-US" sz="1200" dirty="0">
                          <a:latin typeface="メイリオ" panose="020B0604030504040204" pitchFamily="50" charset="-128"/>
                          <a:ea typeface="メイリオ" panose="020B0604030504040204" pitchFamily="50" charset="-128"/>
                        </a:rPr>
                        <a:t>左記スライドを追加</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2439619"/>
                  </a:ext>
                </a:extLst>
              </a:tr>
            </a:tbl>
          </a:graphicData>
        </a:graphic>
      </p:graphicFrame>
    </p:spTree>
    <p:extLst>
      <p:ext uri="{BB962C8B-B14F-4D97-AF65-F5344CB8AC3E}">
        <p14:creationId xmlns:p14="http://schemas.microsoft.com/office/powerpoint/2010/main" val="97720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F950D-42DC-B03B-EF54-A409DA7F96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6E7136-1EBF-862B-5B36-45836451F0E8}"/>
              </a:ext>
            </a:extLst>
          </p:cNvPr>
          <p:cNvSpPr>
            <a:spLocks noGrp="1"/>
          </p:cNvSpPr>
          <p:nvPr>
            <p:ph type="title"/>
          </p:nvPr>
        </p:nvSpPr>
        <p:spPr/>
        <p:txBody>
          <a:bodyPr>
            <a:normAutofit/>
          </a:bodyPr>
          <a:lstStyle/>
          <a:p>
            <a:r>
              <a:rPr kumimoji="1" lang="ja-JP" altLang="en-US"/>
              <a:t>変更履歴</a:t>
            </a:r>
          </a:p>
        </p:txBody>
      </p:sp>
      <p:sp>
        <p:nvSpPr>
          <p:cNvPr id="7" name="テキスト プレースホルダー 11">
            <a:extLst>
              <a:ext uri="{FF2B5EF4-FFF2-40B4-BE49-F238E27FC236}">
                <a16:creationId xmlns:a16="http://schemas.microsoft.com/office/drawing/2014/main" id="{F490674D-7081-1A7D-C44E-357D17CAA789}"/>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9" name="フッター プレースホルダー 8">
            <a:extLst>
              <a:ext uri="{FF2B5EF4-FFF2-40B4-BE49-F238E27FC236}">
                <a16:creationId xmlns:a16="http://schemas.microsoft.com/office/drawing/2014/main" id="{F9CDCA91-9B33-A2BC-2FFF-5348578CFC02}"/>
              </a:ext>
            </a:extLst>
          </p:cNvPr>
          <p:cNvSpPr>
            <a:spLocks noGrp="1"/>
          </p:cNvSpPr>
          <p:nvPr>
            <p:ph type="ftr" sz="quarter" idx="11"/>
          </p:nvPr>
        </p:nvSpPr>
        <p:spPr>
          <a:xfrm>
            <a:off x="14294731" y="9903315"/>
            <a:ext cx="2619755" cy="378000"/>
          </a:xfrm>
        </p:spPr>
        <p:txBody>
          <a:bodyPr/>
          <a:lstStyle/>
          <a:p>
            <a:r>
              <a:rPr kumimoji="1" lang="en-US" altLang="ja-JP"/>
              <a:t>Confidential </a:t>
            </a:r>
            <a:endParaRPr kumimoji="1" lang="ja-JP" altLang="en-US"/>
          </a:p>
        </p:txBody>
      </p:sp>
      <p:sp>
        <p:nvSpPr>
          <p:cNvPr id="10" name="スライド番号プレースホルダー 9">
            <a:extLst>
              <a:ext uri="{FF2B5EF4-FFF2-40B4-BE49-F238E27FC236}">
                <a16:creationId xmlns:a16="http://schemas.microsoft.com/office/drawing/2014/main" id="{EEFED77B-B93C-2FCC-60C1-37E6F447CE6D}"/>
              </a:ext>
            </a:extLst>
          </p:cNvPr>
          <p:cNvSpPr>
            <a:spLocks noGrp="1"/>
          </p:cNvSpPr>
          <p:nvPr>
            <p:ph type="sldNum" sz="quarter" idx="12"/>
          </p:nvPr>
        </p:nvSpPr>
        <p:spPr/>
        <p:txBody>
          <a:bodyPr/>
          <a:lstStyle/>
          <a:p>
            <a:fld id="{2A9E37A5-A917-4235-ABF6-8CD72E894915}" type="slidenum">
              <a:rPr lang="en-US" altLang="ja-JP" smtClean="0"/>
              <a:pPr/>
              <a:t>4</a:t>
            </a:fld>
            <a:endParaRPr lang="ja-JP" altLang="en-US"/>
          </a:p>
        </p:txBody>
      </p:sp>
      <p:graphicFrame>
        <p:nvGraphicFramePr>
          <p:cNvPr id="3" name="表 2">
            <a:extLst>
              <a:ext uri="{FF2B5EF4-FFF2-40B4-BE49-F238E27FC236}">
                <a16:creationId xmlns:a16="http://schemas.microsoft.com/office/drawing/2014/main" id="{C68BD87B-41D5-36AD-CF09-7352ADC6E705}"/>
              </a:ext>
            </a:extLst>
          </p:cNvPr>
          <p:cNvGraphicFramePr>
            <a:graphicFrameLocks noGrp="1"/>
          </p:cNvGraphicFramePr>
          <p:nvPr>
            <p:extLst>
              <p:ext uri="{D42A27DB-BD31-4B8C-83A1-F6EECF244321}">
                <p14:modId xmlns:p14="http://schemas.microsoft.com/office/powerpoint/2010/main" val="2033531832"/>
              </p:ext>
            </p:extLst>
          </p:nvPr>
        </p:nvGraphicFramePr>
        <p:xfrm>
          <a:off x="628890" y="1373465"/>
          <a:ext cx="16976204" cy="8393924"/>
        </p:xfrm>
        <a:graphic>
          <a:graphicData uri="http://schemas.openxmlformats.org/drawingml/2006/table">
            <a:tbl>
              <a:tblPr firstRow="1" bandRow="1">
                <a:tableStyleId>{5940675A-B579-460E-94D1-54222C63F5DA}</a:tableStyleId>
              </a:tblPr>
              <a:tblGrid>
                <a:gridCol w="1472233">
                  <a:extLst>
                    <a:ext uri="{9D8B030D-6E8A-4147-A177-3AD203B41FA5}">
                      <a16:colId xmlns:a16="http://schemas.microsoft.com/office/drawing/2014/main" val="3137280042"/>
                    </a:ext>
                  </a:extLst>
                </a:gridCol>
                <a:gridCol w="1472233">
                  <a:extLst>
                    <a:ext uri="{9D8B030D-6E8A-4147-A177-3AD203B41FA5}">
                      <a16:colId xmlns:a16="http://schemas.microsoft.com/office/drawing/2014/main" val="3137259252"/>
                    </a:ext>
                  </a:extLst>
                </a:gridCol>
                <a:gridCol w="1329103">
                  <a:extLst>
                    <a:ext uri="{9D8B030D-6E8A-4147-A177-3AD203B41FA5}">
                      <a16:colId xmlns:a16="http://schemas.microsoft.com/office/drawing/2014/main" val="732893320"/>
                    </a:ext>
                  </a:extLst>
                </a:gridCol>
                <a:gridCol w="2820245">
                  <a:extLst>
                    <a:ext uri="{9D8B030D-6E8A-4147-A177-3AD203B41FA5}">
                      <a16:colId xmlns:a16="http://schemas.microsoft.com/office/drawing/2014/main" val="2794625770"/>
                    </a:ext>
                  </a:extLst>
                </a:gridCol>
                <a:gridCol w="9882390">
                  <a:extLst>
                    <a:ext uri="{9D8B030D-6E8A-4147-A177-3AD203B41FA5}">
                      <a16:colId xmlns:a16="http://schemas.microsoft.com/office/drawing/2014/main" val="1325107330"/>
                    </a:ext>
                  </a:extLst>
                </a:gridCol>
              </a:tblGrid>
              <a:tr h="370840">
                <a:tc>
                  <a:txBody>
                    <a:bodyPr/>
                    <a:lstStyle/>
                    <a:p>
                      <a:r>
                        <a:rPr kumimoji="1" lang="ja-JP" altLang="en-US" sz="1200" dirty="0">
                          <a:latin typeface="メイリオ" panose="020B0604030504040204" pitchFamily="50" charset="-128"/>
                          <a:ea typeface="メイリオ" panose="020B0604030504040204" pitchFamily="50" charset="-128"/>
                        </a:rPr>
                        <a:t>バージョン</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更新日</a:t>
                      </a:r>
                    </a:p>
                  </a:txBody>
                  <a:tcPr anchor="ctr">
                    <a:solidFill>
                      <a:schemeClr val="accent1">
                        <a:lumMod val="60000"/>
                        <a:lumOff val="40000"/>
                      </a:schemeClr>
                    </a:solidFill>
                  </a:tcPr>
                </a:tc>
                <a:tc>
                  <a:txBody>
                    <a:bodyPr/>
                    <a:lstStyle/>
                    <a:p>
                      <a:r>
                        <a:rPr kumimoji="1" lang="ja-JP" altLang="en-US" sz="1200" dirty="0">
                          <a:latin typeface="メイリオ" panose="020B0604030504040204" pitchFamily="50" charset="-128"/>
                          <a:ea typeface="メイリオ" panose="020B0604030504040204" pitchFamily="50" charset="-128"/>
                        </a:rPr>
                        <a:t>更新者</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更新項目</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更新内容</a:t>
                      </a:r>
                    </a:p>
                  </a:txBody>
                  <a:tcPr anchor="ctr">
                    <a:solidFill>
                      <a:schemeClr val="accent1">
                        <a:lumMod val="60000"/>
                        <a:lumOff val="40000"/>
                      </a:schemeClr>
                    </a:solidFill>
                  </a:tcPr>
                </a:tc>
                <a:extLst>
                  <a:ext uri="{0D108BD9-81ED-4DB2-BD59-A6C34878D82A}">
                    <a16:rowId xmlns:a16="http://schemas.microsoft.com/office/drawing/2014/main" val="88859046"/>
                  </a:ext>
                </a:extLst>
              </a:tr>
              <a:tr h="370840">
                <a:tc>
                  <a:txBody>
                    <a:bodyPr/>
                    <a:lstStyle/>
                    <a:p>
                      <a:r>
                        <a:rPr kumimoji="1" lang="en-US" altLang="ja-JP" sz="1200">
                          <a:latin typeface="メイリオ" panose="020B0604030504040204" pitchFamily="50" charset="-128"/>
                          <a:ea typeface="メイリオ" panose="020B0604030504040204" pitchFamily="50" charset="-128"/>
                        </a:rPr>
                        <a:t>2.0.5</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2026.05.07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小山</a:t>
                      </a:r>
                    </a:p>
                  </a:txBody>
                  <a:tcPr>
                    <a:lnB w="12700" cap="flat" cmpd="sng" algn="ctr">
                      <a:solidFill>
                        <a:schemeClr val="tx1"/>
                      </a:solidFill>
                      <a:prstDash val="solid"/>
                      <a:round/>
                      <a:headEnd type="none" w="med" len="med"/>
                      <a:tailEnd type="none" w="med" len="med"/>
                    </a:lnB>
                  </a:tcPr>
                </a:tc>
                <a:tc>
                  <a:txBody>
                    <a:bodyPr/>
                    <a:lstStyle/>
                    <a:p>
                      <a:r>
                        <a:rPr kumimoji="1" lang="en-US" altLang="ja-JP" sz="1200" dirty="0">
                          <a:latin typeface="メイリオ" panose="020B0604030504040204" pitchFamily="50" charset="-128"/>
                          <a:ea typeface="メイリオ" panose="020B0604030504040204" pitchFamily="50" charset="-128"/>
                        </a:rPr>
                        <a:t>6-5.UI/UX</a:t>
                      </a:r>
                      <a:r>
                        <a:rPr kumimoji="1" lang="ja-JP" altLang="en-US" sz="1200" dirty="0">
                          <a:latin typeface="メイリオ" panose="020B0604030504040204" pitchFamily="50" charset="-128"/>
                          <a:ea typeface="メイリオ" panose="020B0604030504040204" pitchFamily="50" charset="-128"/>
                        </a:rPr>
                        <a:t>設計方針</a:t>
                      </a:r>
                    </a:p>
                  </a:txBody>
                  <a:tcPr/>
                </a:tc>
                <a:tc>
                  <a:txBody>
                    <a:bodyPr/>
                    <a:lstStyle/>
                    <a:p>
                      <a:r>
                        <a:rPr kumimoji="1" lang="ja-JP" altLang="en-US" sz="1200" dirty="0">
                          <a:latin typeface="メイリオ" panose="020B0604030504040204" pitchFamily="50" charset="-128"/>
                          <a:ea typeface="メイリオ" panose="020B0604030504040204" pitchFamily="50" charset="-128"/>
                        </a:rPr>
                        <a:t>共通コントロールの提供チームの境界を追加</a:t>
                      </a:r>
                    </a:p>
                  </a:txBody>
                  <a:tcPr/>
                </a:tc>
                <a:extLst>
                  <a:ext uri="{0D108BD9-81ED-4DB2-BD59-A6C34878D82A}">
                    <a16:rowId xmlns:a16="http://schemas.microsoft.com/office/drawing/2014/main" val="1802461774"/>
                  </a:ext>
                </a:extLst>
              </a:tr>
              <a:tr h="370840">
                <a:tc>
                  <a:txBody>
                    <a:bodyPr/>
                    <a:lstStyle/>
                    <a:p>
                      <a:r>
                        <a:rPr kumimoji="1" lang="en-US" altLang="ja-JP" sz="1200">
                          <a:latin typeface="メイリオ" panose="020B0604030504040204" pitchFamily="50" charset="-128"/>
                          <a:ea typeface="メイリオ" panose="020B0604030504040204" pitchFamily="50" charset="-128"/>
                        </a:rPr>
                        <a:t>2.0.6</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2026.05.07</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p>
                  </a:txBody>
                  <a:tcPr>
                    <a:lnT w="12700" cap="flat" cmpd="sng" algn="ctr">
                      <a:solidFill>
                        <a:schemeClr val="tx1"/>
                      </a:solidFill>
                      <a:prstDash val="solid"/>
                      <a:round/>
                      <a:headEnd type="none" w="med" len="med"/>
                      <a:tailEnd type="none" w="med" len="med"/>
                    </a:lnT>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5-3.</a:t>
                      </a:r>
                      <a:r>
                        <a:rPr kumimoji="1" lang="ja-JP" altLang="en-US" sz="1200">
                          <a:latin typeface="メイリオ" panose="020B0604030504040204" pitchFamily="50" charset="-128"/>
                          <a:ea typeface="メイリオ" panose="020B0604030504040204" pitchFamily="50" charset="-128"/>
                        </a:rPr>
                        <a:t>全体スケジュール（４）</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本ログイン・本メニューを</a:t>
                      </a:r>
                      <a:r>
                        <a:rPr kumimoji="1" lang="en-US" altLang="ja-JP" sz="1200">
                          <a:latin typeface="メイリオ" panose="020B0604030504040204" pitchFamily="50" charset="-128"/>
                          <a:ea typeface="メイリオ" panose="020B0604030504040204" pitchFamily="50" charset="-128"/>
                        </a:rPr>
                        <a:t>G4</a:t>
                      </a:r>
                      <a:r>
                        <a:rPr kumimoji="1" lang="ja-JP" altLang="en-US" sz="1200">
                          <a:latin typeface="メイリオ" panose="020B0604030504040204" pitchFamily="50" charset="-128"/>
                          <a:ea typeface="メイリオ" panose="020B0604030504040204" pitchFamily="50" charset="-128"/>
                        </a:rPr>
                        <a:t>に組み入れ</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82015124"/>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2026.05.08</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5-11.</a:t>
                      </a:r>
                      <a:r>
                        <a:rPr kumimoji="1" lang="ja-JP" altLang="en-US" sz="1200">
                          <a:latin typeface="メイリオ" panose="020B0604030504040204" pitchFamily="50" charset="-128"/>
                          <a:ea typeface="メイリオ" panose="020B0604030504040204" pitchFamily="50" charset="-128"/>
                        </a:rPr>
                        <a:t>環境一覧</a:t>
                      </a:r>
                    </a:p>
                  </a:txBody>
                  <a:tcPr/>
                </a:tc>
                <a:tc>
                  <a:txBody>
                    <a:bodyPr/>
                    <a:lstStyle/>
                    <a:p>
                      <a:r>
                        <a:rPr kumimoji="1" lang="ja-JP" altLang="en-US" sz="1200">
                          <a:latin typeface="メイリオ" panose="020B0604030504040204" pitchFamily="50" charset="-128"/>
                          <a:ea typeface="メイリオ" panose="020B0604030504040204" pitchFamily="50" charset="-128"/>
                        </a:rPr>
                        <a:t>全環境にトレーニング環境を配置</a:t>
                      </a:r>
                    </a:p>
                  </a:txBody>
                  <a:tcPr/>
                </a:tc>
                <a:extLst>
                  <a:ext uri="{0D108BD9-81ED-4DB2-BD59-A6C34878D82A}">
                    <a16:rowId xmlns:a16="http://schemas.microsoft.com/office/drawing/2014/main" val="3558521743"/>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6-6.</a:t>
                      </a:r>
                      <a:r>
                        <a:rPr kumimoji="1" lang="ja-JP" altLang="en-US" sz="1200" dirty="0">
                          <a:latin typeface="メイリオ" panose="020B0604030504040204" pitchFamily="50" charset="-128"/>
                          <a:ea typeface="メイリオ" panose="020B0604030504040204" pitchFamily="50" charset="-128"/>
                        </a:rPr>
                        <a:t>共通コントロール作成方針</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6-5</a:t>
                      </a:r>
                      <a:r>
                        <a:rPr kumimoji="1" lang="ja-JP" altLang="en-US" sz="1200">
                          <a:latin typeface="メイリオ" panose="020B0604030504040204" pitchFamily="50" charset="-128"/>
                          <a:ea typeface="メイリオ" panose="020B0604030504040204" pitchFamily="50" charset="-128"/>
                        </a:rPr>
                        <a:t>から独立</a:t>
                      </a:r>
                      <a:br>
                        <a:rPr kumimoji="1" lang="en-US" altLang="ja-JP" sz="1200">
                          <a:latin typeface="メイリオ" panose="020B0604030504040204" pitchFamily="50" charset="-128"/>
                          <a:ea typeface="メイリオ" panose="020B0604030504040204" pitchFamily="50" charset="-128"/>
                        </a:rPr>
                      </a:b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925272073"/>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6-9.</a:t>
                      </a:r>
                      <a:r>
                        <a:rPr kumimoji="1" lang="ja-JP" altLang="en-US" sz="1200" dirty="0">
                          <a:latin typeface="メイリオ" panose="020B0604030504040204" pitchFamily="50" charset="-128"/>
                          <a:ea typeface="メイリオ" panose="020B0604030504040204" pitchFamily="50" charset="-128"/>
                        </a:rPr>
                        <a:t>設計書ラインナップ</a:t>
                      </a:r>
                    </a:p>
                  </a:txBody>
                  <a:tcPr/>
                </a:tc>
                <a:tc>
                  <a:txBody>
                    <a:bodyPr/>
                    <a:lstStyle/>
                    <a:p>
                      <a:r>
                        <a:rPr kumimoji="1" lang="ja-JP" altLang="en-US" sz="1200" dirty="0">
                          <a:latin typeface="メイリオ" panose="020B0604030504040204" pitchFamily="50" charset="-128"/>
                          <a:ea typeface="メイリオ" panose="020B0604030504040204" pitchFamily="50" charset="-128"/>
                        </a:rPr>
                        <a:t>一部見直し</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097976024"/>
                  </a:ext>
                </a:extLst>
              </a:tr>
              <a:tr h="370840">
                <a:tc>
                  <a:txBody>
                    <a:bodyPr/>
                    <a:lstStyle/>
                    <a:p>
                      <a:r>
                        <a:rPr kumimoji="1" lang="en-US" altLang="ja-JP" sz="1200">
                          <a:latin typeface="メイリオ" panose="020B0604030504040204" pitchFamily="50" charset="-128"/>
                          <a:ea typeface="メイリオ" panose="020B0604030504040204" pitchFamily="50" charset="-128"/>
                        </a:rPr>
                        <a:t>2.0.8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5-3.</a:t>
                      </a:r>
                      <a:r>
                        <a:rPr kumimoji="1" lang="ja-JP" altLang="en-US" sz="1200" dirty="0">
                          <a:latin typeface="メイリオ" panose="020B0604030504040204" pitchFamily="50" charset="-128"/>
                          <a:ea typeface="メイリオ" panose="020B0604030504040204" pitchFamily="50" charset="-128"/>
                        </a:rPr>
                        <a:t>全体スケジュール</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G1</a:t>
                      </a:r>
                      <a:r>
                        <a:rPr kumimoji="1" lang="ja-JP" altLang="en-US" sz="1200">
                          <a:latin typeface="メイリオ" panose="020B0604030504040204" pitchFamily="50" charset="-128"/>
                          <a:ea typeface="メイリオ" panose="020B0604030504040204" pitchFamily="50" charset="-128"/>
                        </a:rPr>
                        <a:t>の配送売上を（持帰・現金）とし、</a:t>
                      </a:r>
                      <a:r>
                        <a:rPr kumimoji="1" lang="en-US" altLang="ja-JP" sz="1200">
                          <a:latin typeface="メイリオ" panose="020B0604030504040204" pitchFamily="50" charset="-128"/>
                          <a:ea typeface="メイリオ" panose="020B0604030504040204" pitchFamily="50" charset="-128"/>
                        </a:rPr>
                        <a:t>G4</a:t>
                      </a:r>
                      <a:r>
                        <a:rPr kumimoji="1" lang="ja-JP" altLang="en-US" sz="1200">
                          <a:latin typeface="メイリオ" panose="020B0604030504040204" pitchFamily="50" charset="-128"/>
                          <a:ea typeface="メイリオ" panose="020B0604030504040204" pitchFamily="50" charset="-128"/>
                        </a:rPr>
                        <a:t>に配送売上（配送）を追加</a:t>
                      </a:r>
                      <a:endParaRPr kumimoji="1" lang="en-US" altLang="ja-JP" sz="1200">
                        <a:latin typeface="メイリオ" panose="020B0604030504040204" pitchFamily="50" charset="-128"/>
                        <a:ea typeface="メイリオ" panose="020B0604030504040204" pitchFamily="50" charset="-128"/>
                      </a:endParaRPr>
                    </a:p>
                    <a:p>
                      <a:r>
                        <a:rPr kumimoji="1" lang="en-US" altLang="ja-JP" sz="1200">
                          <a:latin typeface="メイリオ" panose="020B0604030504040204" pitchFamily="50" charset="-128"/>
                          <a:ea typeface="メイリオ" panose="020B0604030504040204" pitchFamily="50" charset="-128"/>
                        </a:rPr>
                        <a:t>G6</a:t>
                      </a:r>
                      <a:r>
                        <a:rPr kumimoji="1" lang="ja-JP" altLang="en-US" sz="1200">
                          <a:latin typeface="メイリオ" panose="020B0604030504040204" pitchFamily="50" charset="-128"/>
                          <a:ea typeface="メイリオ" panose="020B0604030504040204" pitchFamily="50" charset="-128"/>
                        </a:rPr>
                        <a:t>と</a:t>
                      </a:r>
                      <a:r>
                        <a:rPr kumimoji="1" lang="en-US" altLang="ja-JP" sz="1200">
                          <a:latin typeface="メイリオ" panose="020B0604030504040204" pitchFamily="50" charset="-128"/>
                          <a:ea typeface="メイリオ" panose="020B0604030504040204" pitchFamily="50" charset="-128"/>
                        </a:rPr>
                        <a:t>G9</a:t>
                      </a:r>
                      <a:r>
                        <a:rPr kumimoji="1" lang="ja-JP" altLang="en-US" sz="1200">
                          <a:latin typeface="メイリオ" panose="020B0604030504040204" pitchFamily="50" charset="-128"/>
                          <a:ea typeface="メイリオ" panose="020B0604030504040204" pitchFamily="50" charset="-128"/>
                        </a:rPr>
                        <a:t>を入れ替え（</a:t>
                      </a:r>
                      <a:r>
                        <a:rPr kumimoji="1" lang="en-US" altLang="ja-JP" sz="1200">
                          <a:latin typeface="メイリオ" panose="020B0604030504040204" pitchFamily="50" charset="-128"/>
                          <a:ea typeface="メイリオ" panose="020B0604030504040204" pitchFamily="50" charset="-128"/>
                        </a:rPr>
                        <a:t>G9</a:t>
                      </a:r>
                      <a:r>
                        <a:rPr kumimoji="1" lang="ja-JP" altLang="en-US" sz="1200">
                          <a:latin typeface="メイリオ" panose="020B0604030504040204" pitchFamily="50" charset="-128"/>
                          <a:ea typeface="メイリオ" panose="020B0604030504040204" pitchFamily="50" charset="-128"/>
                        </a:rPr>
                        <a:t>が重めなので前に移動）</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45303629"/>
                  </a:ext>
                </a:extLst>
              </a:tr>
              <a:tr h="370840">
                <a:tc>
                  <a:txBody>
                    <a:bodyPr/>
                    <a:lstStyle/>
                    <a:p>
                      <a:r>
                        <a:rPr kumimoji="1" lang="en-US" altLang="ja-JP" sz="1200">
                          <a:latin typeface="メイリオ" panose="020B0604030504040204" pitchFamily="50" charset="-128"/>
                          <a:ea typeface="メイリオ" panose="020B0604030504040204" pitchFamily="50" charset="-128"/>
                        </a:rPr>
                        <a:t>2.0.9</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p>
                  </a:txBody>
                  <a:tcPr/>
                </a:tc>
                <a:tc>
                  <a:txBody>
                    <a:bodyPr/>
                    <a:lstStyle/>
                    <a:p>
                      <a:r>
                        <a:rPr kumimoji="1" lang="en-US" altLang="ja-JP" sz="1200" dirty="0">
                          <a:latin typeface="メイリオ" panose="020B0604030504040204" pitchFamily="50" charset="-128"/>
                          <a:ea typeface="メイリオ" panose="020B0604030504040204" pitchFamily="50" charset="-128"/>
                        </a:rPr>
                        <a:t>5-3.</a:t>
                      </a:r>
                      <a:r>
                        <a:rPr kumimoji="1" lang="ja-JP" altLang="en-US" sz="1200" dirty="0">
                          <a:latin typeface="メイリオ" panose="020B0604030504040204" pitchFamily="50" charset="-128"/>
                          <a:ea typeface="メイリオ" panose="020B0604030504040204" pitchFamily="50" charset="-128"/>
                        </a:rPr>
                        <a:t>全体スケジュール</a:t>
                      </a:r>
                    </a:p>
                  </a:txBody>
                  <a:tcPr/>
                </a:tc>
                <a:tc>
                  <a:txBody>
                    <a:bodyPr/>
                    <a:lstStyle/>
                    <a:p>
                      <a:r>
                        <a:rPr kumimoji="1" lang="ja-JP" altLang="en-US" sz="1200">
                          <a:latin typeface="メイリオ" panose="020B0604030504040204" pitchFamily="50" charset="-128"/>
                          <a:ea typeface="メイリオ" panose="020B0604030504040204" pitchFamily="50" charset="-128"/>
                        </a:rPr>
                        <a:t>各</a:t>
                      </a:r>
                      <a:r>
                        <a:rPr kumimoji="1" lang="en-US" altLang="ja-JP" sz="1200">
                          <a:latin typeface="メイリオ" panose="020B0604030504040204" pitchFamily="50" charset="-128"/>
                          <a:ea typeface="メイリオ" panose="020B0604030504040204" pitchFamily="50" charset="-128"/>
                        </a:rPr>
                        <a:t>G</a:t>
                      </a:r>
                      <a:r>
                        <a:rPr kumimoji="1" lang="ja-JP" altLang="en-US" sz="1200">
                          <a:latin typeface="メイリオ" panose="020B0604030504040204" pitchFamily="50" charset="-128"/>
                          <a:ea typeface="メイリオ" panose="020B0604030504040204" pitchFamily="50" charset="-128"/>
                        </a:rPr>
                        <a:t>の重みづけに従いスケジュール見直し</a:t>
                      </a:r>
                      <a:endParaRPr kumimoji="1" lang="en-US" altLang="ja-JP" sz="1200">
                        <a:latin typeface="メイリオ" panose="020B0604030504040204" pitchFamily="50" charset="-128"/>
                        <a:ea typeface="メイリオ" panose="020B0604030504040204" pitchFamily="50" charset="-128"/>
                      </a:endParaRPr>
                    </a:p>
                    <a:p>
                      <a:r>
                        <a:rPr kumimoji="1" lang="en-US" altLang="ja-JP" sz="1200">
                          <a:latin typeface="メイリオ" panose="020B0604030504040204" pitchFamily="50" charset="-128"/>
                          <a:ea typeface="メイリオ" panose="020B0604030504040204" pitchFamily="50" charset="-128"/>
                        </a:rPr>
                        <a:t>2.0.8</a:t>
                      </a:r>
                      <a:r>
                        <a:rPr kumimoji="1" lang="ja-JP" altLang="en-US" sz="1200">
                          <a:latin typeface="メイリオ" panose="020B0604030504040204" pitchFamily="50" charset="-128"/>
                          <a:ea typeface="メイリオ" panose="020B0604030504040204" pitchFamily="50" charset="-128"/>
                        </a:rPr>
                        <a:t>で</a:t>
                      </a:r>
                      <a:r>
                        <a:rPr kumimoji="1" lang="en-US" altLang="ja-JP" sz="1200">
                          <a:latin typeface="メイリオ" panose="020B0604030504040204" pitchFamily="50" charset="-128"/>
                          <a:ea typeface="メイリオ" panose="020B0604030504040204" pitchFamily="50" charset="-128"/>
                        </a:rPr>
                        <a:t>G14</a:t>
                      </a:r>
                      <a:r>
                        <a:rPr kumimoji="1" lang="ja-JP" altLang="en-US" sz="1200">
                          <a:latin typeface="メイリオ" panose="020B0604030504040204" pitchFamily="50" charset="-128"/>
                          <a:ea typeface="メイリオ" panose="020B0604030504040204" pitchFamily="50" charset="-128"/>
                        </a:rPr>
                        <a:t>が非表示になっていたので、復帰</a:t>
                      </a:r>
                      <a:endParaRPr kumimoji="1" lang="en-US" altLang="ja-JP" sz="1200">
                        <a:latin typeface="メイリオ" panose="020B0604030504040204" pitchFamily="50" charset="-128"/>
                        <a:ea typeface="メイリオ" panose="020B0604030504040204" pitchFamily="50" charset="-128"/>
                      </a:endParaRPr>
                    </a:p>
                    <a:p>
                      <a:r>
                        <a:rPr kumimoji="1" lang="en-US" altLang="ja-JP" sz="1200">
                          <a:latin typeface="メイリオ" panose="020B0604030504040204" pitchFamily="50" charset="-128"/>
                          <a:ea typeface="メイリオ" panose="020B0604030504040204" pitchFamily="50" charset="-128"/>
                        </a:rPr>
                        <a:t>G2</a:t>
                      </a:r>
                      <a:r>
                        <a:rPr kumimoji="1" lang="ja-JP" altLang="en-US" sz="1200">
                          <a:latin typeface="メイリオ" panose="020B0604030504040204" pitchFamily="50" charset="-128"/>
                          <a:ea typeface="メイリオ" panose="020B0604030504040204" pitchFamily="50" charset="-128"/>
                        </a:rPr>
                        <a:t>にクレーン管理票紐付けと</a:t>
                      </a:r>
                      <a:r>
                        <a:rPr kumimoji="1" lang="zh-TW" altLang="en-US" sz="1200">
                          <a:latin typeface="メイリオ" panose="020B0604030504040204" pitchFamily="50" charset="-128"/>
                          <a:ea typeface="メイリオ" panose="020B0604030504040204" pitchFamily="50" charset="-128"/>
                        </a:rPr>
                        <a:t>協力店配送工事確定</a:t>
                      </a:r>
                      <a:r>
                        <a:rPr kumimoji="1" lang="ja-JP" altLang="en-US" sz="1200">
                          <a:latin typeface="メイリオ" panose="020B0604030504040204" pitchFamily="50" charset="-128"/>
                          <a:ea typeface="メイリオ" panose="020B0604030504040204" pitchFamily="50" charset="-128"/>
                        </a:rPr>
                        <a:t>を追加</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08331167"/>
                  </a:ext>
                </a:extLst>
              </a:tr>
              <a:tr h="370840">
                <a:tc>
                  <a:txBody>
                    <a:bodyPr/>
                    <a:lstStyle/>
                    <a:p>
                      <a:r>
                        <a:rPr kumimoji="1" lang="en-US" altLang="ja-JP" sz="1200">
                          <a:latin typeface="メイリオ" panose="020B0604030504040204" pitchFamily="50" charset="-128"/>
                          <a:ea typeface="メイリオ" panose="020B0604030504040204" pitchFamily="50" charset="-128"/>
                        </a:rPr>
                        <a:t>2.0.10</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6-4.</a:t>
                      </a:r>
                      <a:r>
                        <a:rPr kumimoji="1" lang="ja-JP" altLang="en-US" sz="1200" dirty="0">
                          <a:latin typeface="メイリオ" panose="020B0604030504040204" pitchFamily="50" charset="-128"/>
                          <a:ea typeface="メイリオ" panose="020B0604030504040204" pitchFamily="50" charset="-128"/>
                        </a:rPr>
                        <a:t>開発環境</a:t>
                      </a:r>
                    </a:p>
                  </a:txBody>
                  <a:tcPr/>
                </a:tc>
                <a:tc>
                  <a:txBody>
                    <a:bodyPr/>
                    <a:lstStyle/>
                    <a:p>
                      <a:r>
                        <a:rPr kumimoji="1" lang="en-US" altLang="ja-JP" sz="1200">
                          <a:latin typeface="メイリオ" panose="020B0604030504040204" pitchFamily="50" charset="-128"/>
                          <a:ea typeface="メイリオ" panose="020B0604030504040204" pitchFamily="50" charset="-128"/>
                        </a:rPr>
                        <a:t>6-4.</a:t>
                      </a:r>
                      <a:r>
                        <a:rPr kumimoji="1" lang="ja-JP" altLang="en-US" sz="1200">
                          <a:latin typeface="メイリオ" panose="020B0604030504040204" pitchFamily="50" charset="-128"/>
                          <a:ea typeface="メイリオ" panose="020B0604030504040204" pitchFamily="50" charset="-128"/>
                        </a:rPr>
                        <a:t>採用データベースから変更、開発環境（採用データベース）と開発環境（使用言語等）に修正</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33437429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6-9.</a:t>
                      </a:r>
                      <a:r>
                        <a:rPr kumimoji="1" lang="ja-JP" altLang="en-US" sz="1200" dirty="0">
                          <a:latin typeface="メイリオ" panose="020B0604030504040204" pitchFamily="50" charset="-128"/>
                          <a:ea typeface="メイリオ" panose="020B0604030504040204" pitchFamily="50" charset="-128"/>
                        </a:rPr>
                        <a:t>設計書ラインナップ</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画面設計書、帳票設計書のドキュメント名を変更</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19708626"/>
                  </a:ext>
                </a:extLst>
              </a:tr>
              <a:tr h="370840">
                <a:tc>
                  <a:txBody>
                    <a:bodyPr/>
                    <a:lstStyle/>
                    <a:p>
                      <a:r>
                        <a:rPr kumimoji="1" lang="en-US" altLang="ja-JP" sz="1200">
                          <a:latin typeface="メイリオ" panose="020B0604030504040204" pitchFamily="50" charset="-128"/>
                          <a:ea typeface="メイリオ" panose="020B0604030504040204" pitchFamily="50" charset="-128"/>
                        </a:rPr>
                        <a:t>2.0.11</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2026.05.19</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5-3.</a:t>
                      </a:r>
                      <a:r>
                        <a:rPr kumimoji="1" lang="ja-JP" altLang="en-US" sz="1200" dirty="0">
                          <a:latin typeface="メイリオ" panose="020B0604030504040204" pitchFamily="50" charset="-128"/>
                          <a:ea typeface="メイリオ" panose="020B0604030504040204" pitchFamily="50" charset="-128"/>
                        </a:rPr>
                        <a:t>全体スケジュール</a:t>
                      </a:r>
                    </a:p>
                  </a:txBody>
                  <a:tcPr/>
                </a:tc>
                <a:tc>
                  <a:txBody>
                    <a:bodyPr/>
                    <a:lstStyle/>
                    <a:p>
                      <a:r>
                        <a:rPr kumimoji="1" lang="en-US" altLang="ja-JP" sz="1200">
                          <a:latin typeface="メイリオ" panose="020B0604030504040204" pitchFamily="50" charset="-128"/>
                          <a:ea typeface="メイリオ" panose="020B0604030504040204" pitchFamily="50" charset="-128"/>
                        </a:rPr>
                        <a:t>G2</a:t>
                      </a:r>
                      <a:r>
                        <a:rPr kumimoji="1" lang="ja-JP" altLang="en-US" sz="1200">
                          <a:latin typeface="メイリオ" panose="020B0604030504040204" pitchFamily="50" charset="-128"/>
                          <a:ea typeface="メイリオ" panose="020B0604030504040204" pitchFamily="50" charset="-128"/>
                        </a:rPr>
                        <a:t>以降について、重みづけをしたスケジュールに分解。チーム単位で開発するので画面項目定義も各チームの設計開発に組み込み。</a:t>
                      </a:r>
                      <a:endParaRPr kumimoji="1" lang="en-US" altLang="ja-JP" sz="1200">
                        <a:latin typeface="メイリオ" panose="020B0604030504040204" pitchFamily="50" charset="-128"/>
                        <a:ea typeface="メイリオ" panose="020B0604030504040204" pitchFamily="50" charset="-128"/>
                      </a:endParaRPr>
                    </a:p>
                    <a:p>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33148952"/>
                  </a:ext>
                </a:extLst>
              </a:tr>
              <a:tr h="479284">
                <a:tc>
                  <a:txBody>
                    <a:bodyPr/>
                    <a:lstStyle/>
                    <a:p>
                      <a:r>
                        <a:rPr kumimoji="1" lang="en-US" altLang="ja-JP" sz="1200" dirty="0">
                          <a:latin typeface="メイリオ" panose="020B0604030504040204" pitchFamily="50" charset="-128"/>
                          <a:ea typeface="メイリオ" panose="020B0604030504040204" pitchFamily="50" charset="-128"/>
                        </a:rPr>
                        <a:t>2.0.12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2026.05.19</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6-6.</a:t>
                      </a:r>
                      <a:r>
                        <a:rPr kumimoji="1" lang="ja-JP" altLang="en-US" sz="1200" dirty="0">
                          <a:latin typeface="メイリオ" panose="020B0604030504040204" pitchFamily="50" charset="-128"/>
                          <a:ea typeface="メイリオ" panose="020B0604030504040204" pitchFamily="50" charset="-128"/>
                        </a:rPr>
                        <a:t>共通コントロール作成方針</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暫定ページを追加（</a:t>
                      </a:r>
                      <a:r>
                        <a:rPr kumimoji="1" lang="en-US" altLang="ja-JP" sz="1200" dirty="0">
                          <a:latin typeface="メイリオ" panose="020B0604030504040204" pitchFamily="50" charset="-128"/>
                          <a:ea typeface="メイリオ" panose="020B0604030504040204" pitchFamily="50" charset="-128"/>
                        </a:rPr>
                        <a:t>API</a:t>
                      </a:r>
                      <a:r>
                        <a:rPr kumimoji="1" lang="ja-JP" altLang="en-US" sz="1200" dirty="0">
                          <a:latin typeface="メイリオ" panose="020B0604030504040204" pitchFamily="50" charset="-128"/>
                          <a:ea typeface="メイリオ" panose="020B0604030504040204" pitchFamily="50" charset="-128"/>
                        </a:rPr>
                        <a:t>、保守）</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92424612"/>
                  </a:ext>
                </a:extLst>
              </a:tr>
              <a:tr h="370840">
                <a:tc>
                  <a:txBody>
                    <a:bodyPr/>
                    <a:lstStyle/>
                    <a:p>
                      <a:r>
                        <a:rPr kumimoji="1" lang="en-US" altLang="ja-JP" sz="1200">
                          <a:latin typeface="メイリオ" panose="020B0604030504040204" pitchFamily="50" charset="-128"/>
                          <a:ea typeface="メイリオ" panose="020B0604030504040204" pitchFamily="50" charset="-128"/>
                        </a:rPr>
                        <a:t>2.0.13</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2026.06.22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５－３．全体スケジュール（２）</a:t>
                      </a:r>
                      <a:endParaRPr kumimoji="1" lang="en-US" altLang="ja-JP" sz="1200">
                        <a:latin typeface="メイリオ" panose="020B0604030504040204" pitchFamily="50" charset="-128"/>
                        <a:ea typeface="メイリオ" panose="020B0604030504040204" pitchFamily="50" charset="-128"/>
                      </a:endParaRPr>
                    </a:p>
                    <a:p>
                      <a:r>
                        <a:rPr kumimoji="1" lang="zh-TW" altLang="en-US" sz="1200">
                          <a:latin typeface="メイリオ" panose="020B0604030504040204" pitchFamily="50" charset="-128"/>
                          <a:ea typeface="メイリオ" panose="020B0604030504040204" pitchFamily="50" charset="-128"/>
                        </a:rPr>
                        <a:t>７－４．推進体制</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最新化（先行開発　顧客購買履歴→配送状況照会）</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02154763"/>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2.0.14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2026.05.22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伊藤</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５－６</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トレーニングモード</a:t>
                      </a:r>
                    </a:p>
                  </a:txBody>
                  <a:tcPr/>
                </a:tc>
                <a:tc>
                  <a:txBody>
                    <a:bodyPr/>
                    <a:lstStyle/>
                    <a:p>
                      <a:r>
                        <a:rPr kumimoji="1" lang="ja-JP" altLang="en-US" sz="1200" dirty="0">
                          <a:latin typeface="メイリオ" panose="020B0604030504040204" pitchFamily="50" charset="-128"/>
                          <a:ea typeface="メイリオ" panose="020B0604030504040204" pitchFamily="50" charset="-128"/>
                        </a:rPr>
                        <a:t>トレーニングモードの説明を変更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41353474"/>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５－８</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通常・初心者モード</a:t>
                      </a:r>
                    </a:p>
                  </a:txBody>
                  <a:tcPr/>
                </a:tc>
                <a:tc>
                  <a:txBody>
                    <a:bodyPr/>
                    <a:lstStyle/>
                    <a:p>
                      <a:r>
                        <a:rPr kumimoji="1" lang="ja-JP" altLang="en-US" sz="1200" dirty="0">
                          <a:latin typeface="メイリオ" panose="020B0604030504040204" pitchFamily="50" charset="-128"/>
                          <a:ea typeface="メイリオ" panose="020B0604030504040204" pitchFamily="50" charset="-128"/>
                        </a:rPr>
                        <a:t>「簡単」→「初心者」モードへ名前を変更　説明文章も変更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33986981"/>
                  </a:ext>
                </a:extLst>
              </a:tr>
              <a:tr h="370840">
                <a:tc>
                  <a:txBody>
                    <a:bodyPr/>
                    <a:lstStyle/>
                    <a:p>
                      <a:r>
                        <a:rPr kumimoji="1" lang="en-US" altLang="ja-JP" sz="1200">
                          <a:latin typeface="メイリオ" panose="020B0604030504040204" pitchFamily="50" charset="-128"/>
                          <a:ea typeface="メイリオ" panose="020B0604030504040204" pitchFamily="50" charset="-128"/>
                        </a:rPr>
                        <a:t>2.0.15</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2026.05.27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6-9.</a:t>
                      </a:r>
                      <a:r>
                        <a:rPr kumimoji="1" lang="ja-JP" altLang="en-US" sz="1200">
                          <a:latin typeface="メイリオ" panose="020B0604030504040204" pitchFamily="50" charset="-128"/>
                          <a:ea typeface="メイリオ" panose="020B0604030504040204" pitchFamily="50" charset="-128"/>
                        </a:rPr>
                        <a:t>設計書ラインナップ</a:t>
                      </a:r>
                    </a:p>
                  </a:txBody>
                  <a:tcPr/>
                </a:tc>
                <a:tc>
                  <a:txBody>
                    <a:bodyPr/>
                    <a:lstStyle/>
                    <a:p>
                      <a:r>
                        <a:rPr kumimoji="1" lang="ja-JP" altLang="en-US" sz="1200">
                          <a:latin typeface="メイリオ" panose="020B0604030504040204" pitchFamily="50" charset="-128"/>
                          <a:ea typeface="メイリオ" panose="020B0604030504040204" pitchFamily="50" charset="-128"/>
                        </a:rPr>
                        <a:t>要件定義範囲見直し</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99568451"/>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2.0.16</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2026.05.27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5-3.</a:t>
                      </a:r>
                      <a:r>
                        <a:rPr kumimoji="1" lang="ja-JP" altLang="en-US" sz="1200">
                          <a:latin typeface="メイリオ" panose="020B0604030504040204" pitchFamily="50" charset="-128"/>
                          <a:ea typeface="メイリオ" panose="020B0604030504040204" pitchFamily="50" charset="-128"/>
                        </a:rPr>
                        <a:t>全体スケジュール（１）（３）（４）</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G</a:t>
                      </a:r>
                      <a:r>
                        <a:rPr kumimoji="1" lang="ja-JP" altLang="en-US" sz="1200">
                          <a:latin typeface="メイリオ" panose="020B0604030504040204" pitchFamily="50" charset="-128"/>
                          <a:ea typeface="メイリオ" panose="020B0604030504040204" pitchFamily="50" charset="-128"/>
                        </a:rPr>
                        <a:t>組み換え</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513801437"/>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2.0.17</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2026.05.28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dirty="0"/>
                        <a:t>５－１．全体アーキテクチャ（本番環境）（２）</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次世代実績データ作成処理をプロシージャから</a:t>
                      </a:r>
                      <a:r>
                        <a:rPr kumimoji="1" lang="en-US" altLang="ja-JP" sz="1200" dirty="0">
                          <a:latin typeface="メイリオ" panose="020B0604030504040204" pitchFamily="50" charset="-128"/>
                          <a:ea typeface="メイリオ" panose="020B0604030504040204" pitchFamily="50" charset="-128"/>
                        </a:rPr>
                        <a:t>API</a:t>
                      </a:r>
                      <a:r>
                        <a:rPr kumimoji="1" lang="ja-JP" altLang="en-US" sz="1200" dirty="0">
                          <a:latin typeface="メイリオ" panose="020B0604030504040204" pitchFamily="50" charset="-128"/>
                          <a:ea typeface="メイリオ" panose="020B0604030504040204" pitchFamily="50" charset="-128"/>
                        </a:rPr>
                        <a:t>に変更、次世代⇒現行キューテーブルを追加（カストマ様要望）</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34448623"/>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2.0.18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2026.06.04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河野</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dirty="0"/>
                        <a:t>５－３．全体スケジュール（３）（４）</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機能一覧</a:t>
                      </a:r>
                      <a:r>
                        <a:rPr kumimoji="1" lang="en-US" altLang="ja-JP" sz="1200" dirty="0">
                          <a:latin typeface="メイリオ" panose="020B0604030504040204" pitchFamily="50" charset="-128"/>
                          <a:ea typeface="メイリオ" panose="020B0604030504040204" pitchFamily="50" charset="-128"/>
                        </a:rPr>
                        <a:t>(1.40)</a:t>
                      </a:r>
                      <a:r>
                        <a:rPr kumimoji="1" lang="ja-JP" altLang="en-US" sz="1200" dirty="0">
                          <a:latin typeface="メイリオ" panose="020B0604030504040204" pitchFamily="50" charset="-128"/>
                          <a:ea typeface="メイリオ" panose="020B0604030504040204" pitchFamily="50" charset="-128"/>
                        </a:rPr>
                        <a:t>に合わせて最新化</a:t>
                      </a:r>
                      <a:endParaRPr kumimoji="1" lang="en-US" altLang="ja-JP" sz="1200" dirty="0">
                        <a:latin typeface="メイリオ" panose="020B0604030504040204" pitchFamily="50" charset="-128"/>
                        <a:ea typeface="メイリオ" panose="020B0604030504040204" pitchFamily="50" charset="-128"/>
                      </a:endParaRPr>
                    </a:p>
                    <a:p>
                      <a:r>
                        <a:rPr kumimoji="1" lang="zh-TW" altLang="en-US" sz="1200" dirty="0">
                          <a:latin typeface="メイリオ" panose="020B0604030504040204" pitchFamily="50" charset="-128"/>
                          <a:ea typeface="メイリオ" panose="020B0604030504040204" pitchFamily="50" charset="-128"/>
                        </a:rPr>
                        <a:t>見積書未承認一覧</a:t>
                      </a:r>
                      <a:r>
                        <a:rPr kumimoji="1" lang="en-US" altLang="zh-TW" sz="1200" dirty="0">
                          <a:latin typeface="メイリオ" panose="020B0604030504040204" pitchFamily="50" charset="-128"/>
                          <a:ea typeface="メイリオ" panose="020B0604030504040204" pitchFamily="50" charset="-128"/>
                        </a:rPr>
                        <a:t>(</a:t>
                      </a:r>
                      <a:r>
                        <a:rPr kumimoji="1" lang="zh-TW" altLang="en-US" sz="1200" dirty="0">
                          <a:latin typeface="メイリオ" panose="020B0604030504040204" pitchFamily="50" charset="-128"/>
                          <a:ea typeface="メイリオ" panose="020B0604030504040204" pitchFamily="50" charset="-128"/>
                        </a:rPr>
                        <a:t>配送端末</a:t>
                      </a:r>
                      <a:r>
                        <a:rPr kumimoji="1" lang="en-US" altLang="zh-TW"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a:t>
                      </a:r>
                      <a:r>
                        <a:rPr kumimoji="1" lang="zh-TW" altLang="en-US" sz="1200" dirty="0">
                          <a:latin typeface="メイリオ" panose="020B0604030504040204" pitchFamily="50" charset="-128"/>
                          <a:ea typeface="メイリオ" panose="020B0604030504040204" pitchFamily="50" charset="-128"/>
                        </a:rPr>
                        <a:t>端末見積未承認一覧</a:t>
                      </a:r>
                      <a:r>
                        <a:rPr kumimoji="1" lang="en-US" altLang="zh-TW" sz="1200" dirty="0">
                          <a:latin typeface="メイリオ" panose="020B0604030504040204" pitchFamily="50" charset="-128"/>
                          <a:ea typeface="メイリオ" panose="020B0604030504040204" pitchFamily="50" charset="-128"/>
                        </a:rPr>
                        <a:t>(</a:t>
                      </a:r>
                      <a:r>
                        <a:rPr kumimoji="1" lang="zh-TW" altLang="en-US" sz="1200" dirty="0">
                          <a:latin typeface="メイリオ" panose="020B0604030504040204" pitchFamily="50" charset="-128"/>
                          <a:ea typeface="メイリオ" panose="020B0604030504040204" pitchFamily="50" charset="-128"/>
                        </a:rPr>
                        <a:t>配送端末</a:t>
                      </a:r>
                      <a:r>
                        <a:rPr kumimoji="1" lang="en-US" altLang="zh-TW" sz="1200" dirty="0">
                          <a:latin typeface="メイリオ" panose="020B0604030504040204" pitchFamily="50" charset="-128"/>
                          <a:ea typeface="メイリオ" panose="020B0604030504040204" pitchFamily="50" charset="-128"/>
                        </a:rPr>
                        <a:t>)</a:t>
                      </a:r>
                      <a:endParaRPr kumimoji="1" lang="en-US" altLang="zh-CN" sz="1200" dirty="0">
                        <a:latin typeface="メイリオ" panose="020B0604030504040204" pitchFamily="50" charset="-128"/>
                        <a:ea typeface="メイリオ" panose="020B0604030504040204" pitchFamily="50" charset="-128"/>
                      </a:endParaRPr>
                    </a:p>
                    <a:p>
                      <a:r>
                        <a:rPr kumimoji="1" lang="zh-TW" altLang="en-US" sz="1200" dirty="0">
                          <a:latin typeface="メイリオ" panose="020B0604030504040204" pitchFamily="50" charset="-128"/>
                          <a:ea typeface="メイリオ" panose="020B0604030504040204" pitchFamily="50" charset="-128"/>
                        </a:rPr>
                        <a:t>見積書未承認一覧</a:t>
                      </a:r>
                      <a:r>
                        <a:rPr kumimoji="1" lang="en-US" altLang="zh-TW" sz="1200" dirty="0">
                          <a:latin typeface="メイリオ" panose="020B0604030504040204" pitchFamily="50" charset="-128"/>
                          <a:ea typeface="メイリオ" panose="020B0604030504040204" pitchFamily="50" charset="-128"/>
                        </a:rPr>
                        <a:t>(</a:t>
                      </a:r>
                      <a:r>
                        <a:rPr kumimoji="1" lang="zh-TW" altLang="en-US" sz="1200" dirty="0">
                          <a:latin typeface="メイリオ" panose="020B0604030504040204" pitchFamily="50" charset="-128"/>
                          <a:ea typeface="メイリオ" panose="020B0604030504040204" pitchFamily="50" charset="-128"/>
                        </a:rPr>
                        <a:t>配送端末</a:t>
                      </a:r>
                      <a:r>
                        <a:rPr kumimoji="1" lang="en-US" altLang="zh-TW"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a:t>
                      </a:r>
                      <a:r>
                        <a:rPr kumimoji="1" lang="zh-TW" altLang="en-US" sz="1200" dirty="0">
                          <a:latin typeface="メイリオ" panose="020B0604030504040204" pitchFamily="50" charset="-128"/>
                          <a:ea typeface="メイリオ" panose="020B0604030504040204" pitchFamily="50" charset="-128"/>
                        </a:rPr>
                        <a:t>端末見積未</a:t>
                      </a:r>
                      <a:r>
                        <a:rPr kumimoji="1" lang="ja-JP" altLang="en-US" sz="1200" dirty="0">
                          <a:latin typeface="メイリオ" panose="020B0604030504040204" pitchFamily="50" charset="-128"/>
                          <a:ea typeface="メイリオ" panose="020B0604030504040204" pitchFamily="50" charset="-128"/>
                        </a:rPr>
                        <a:t>印刷</a:t>
                      </a:r>
                      <a:r>
                        <a:rPr kumimoji="1" lang="zh-TW" altLang="en-US" sz="1200" dirty="0">
                          <a:latin typeface="メイリオ" panose="020B0604030504040204" pitchFamily="50" charset="-128"/>
                          <a:ea typeface="メイリオ" panose="020B0604030504040204" pitchFamily="50" charset="-128"/>
                        </a:rPr>
                        <a:t>一覧</a:t>
                      </a:r>
                      <a:r>
                        <a:rPr kumimoji="1" lang="en-US" altLang="zh-TW" sz="1200" dirty="0">
                          <a:latin typeface="メイリオ" panose="020B0604030504040204" pitchFamily="50" charset="-128"/>
                          <a:ea typeface="メイリオ" panose="020B0604030504040204" pitchFamily="50" charset="-128"/>
                        </a:rPr>
                        <a:t>(</a:t>
                      </a:r>
                      <a:r>
                        <a:rPr kumimoji="1" lang="zh-TW" altLang="en-US" sz="1200" dirty="0">
                          <a:latin typeface="メイリオ" panose="020B0604030504040204" pitchFamily="50" charset="-128"/>
                          <a:ea typeface="メイリオ" panose="020B0604030504040204" pitchFamily="50" charset="-128"/>
                        </a:rPr>
                        <a:t>配送端末</a:t>
                      </a:r>
                      <a:r>
                        <a:rPr kumimoji="1" lang="en-US" altLang="zh-TW" sz="1200" dirty="0">
                          <a:latin typeface="メイリオ" panose="020B0604030504040204" pitchFamily="50" charset="-128"/>
                          <a:ea typeface="メイリオ" panose="020B0604030504040204" pitchFamily="50" charset="-128"/>
                        </a:rPr>
                        <a:t>)</a:t>
                      </a:r>
                      <a:endParaRPr kumimoji="1" lang="en-US" altLang="ja-JP" sz="1200" dirty="0">
                        <a:latin typeface="メイリオ" panose="020B0604030504040204" pitchFamily="50" charset="-128"/>
                        <a:ea typeface="メイリオ" panose="020B0604030504040204" pitchFamily="50" charset="-128"/>
                      </a:endParaRPr>
                    </a:p>
                    <a:p>
                      <a:r>
                        <a:rPr kumimoji="1" lang="zh-TW" altLang="en-US" sz="1200" dirty="0">
                          <a:latin typeface="メイリオ" panose="020B0604030504040204" pitchFamily="50" charset="-128"/>
                          <a:ea typeface="メイリオ" panose="020B0604030504040204" pitchFamily="50" charset="-128"/>
                        </a:rPr>
                        <a:t>配送工事標準枠数登録</a:t>
                      </a:r>
                      <a:r>
                        <a:rPr kumimoji="1" lang="ja-JP" altLang="en-US" sz="1200" dirty="0">
                          <a:latin typeface="メイリオ" panose="020B0604030504040204" pitchFamily="50" charset="-128"/>
                          <a:ea typeface="メイリオ" panose="020B0604030504040204" pitchFamily="50" charset="-128"/>
                        </a:rPr>
                        <a:t>→</a:t>
                      </a:r>
                      <a:r>
                        <a:rPr kumimoji="1" lang="zh-CN" altLang="en-US" sz="1200" dirty="0">
                          <a:latin typeface="メイリオ" panose="020B0604030504040204" pitchFamily="50" charset="-128"/>
                          <a:ea typeface="メイリオ" panose="020B0604030504040204" pitchFamily="50" charset="-128"/>
                        </a:rPr>
                        <a:t>配送工事枠数登録</a:t>
                      </a:r>
                      <a:r>
                        <a:rPr kumimoji="1" lang="ja-JP" altLang="en-US" sz="1200" dirty="0">
                          <a:latin typeface="メイリオ" panose="020B0604030504040204" pitchFamily="50" charset="-128"/>
                          <a:ea typeface="メイリオ" panose="020B0604030504040204" pitchFamily="50" charset="-128"/>
                        </a:rPr>
                        <a:t> に変更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2439619"/>
                  </a:ext>
                </a:extLst>
              </a:tr>
            </a:tbl>
          </a:graphicData>
        </a:graphic>
      </p:graphicFrame>
    </p:spTree>
    <p:extLst>
      <p:ext uri="{BB962C8B-B14F-4D97-AF65-F5344CB8AC3E}">
        <p14:creationId xmlns:p14="http://schemas.microsoft.com/office/powerpoint/2010/main" val="3332584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AD08B-A396-A67F-CC63-5CF9F2E809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E3BCFE-DA71-4B8E-8776-853495691A5C}"/>
              </a:ext>
            </a:extLst>
          </p:cNvPr>
          <p:cNvSpPr>
            <a:spLocks noGrp="1"/>
          </p:cNvSpPr>
          <p:nvPr>
            <p:ph type="title"/>
          </p:nvPr>
        </p:nvSpPr>
        <p:spPr/>
        <p:txBody>
          <a:bodyPr>
            <a:normAutofit/>
          </a:bodyPr>
          <a:lstStyle/>
          <a:p>
            <a:r>
              <a:rPr kumimoji="1" lang="ja-JP" altLang="en-US"/>
              <a:t>変更履歴</a:t>
            </a:r>
          </a:p>
        </p:txBody>
      </p:sp>
      <p:sp>
        <p:nvSpPr>
          <p:cNvPr id="7" name="テキスト プレースホルダー 11">
            <a:extLst>
              <a:ext uri="{FF2B5EF4-FFF2-40B4-BE49-F238E27FC236}">
                <a16:creationId xmlns:a16="http://schemas.microsoft.com/office/drawing/2014/main" id="{A4E86B0E-3A40-8D47-45AA-AF3F6DDE6EF6}"/>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9" name="フッター プレースホルダー 8">
            <a:extLst>
              <a:ext uri="{FF2B5EF4-FFF2-40B4-BE49-F238E27FC236}">
                <a16:creationId xmlns:a16="http://schemas.microsoft.com/office/drawing/2014/main" id="{08C083F3-6B37-64C4-5FD0-9D857CFF38FD}"/>
              </a:ext>
            </a:extLst>
          </p:cNvPr>
          <p:cNvSpPr>
            <a:spLocks noGrp="1"/>
          </p:cNvSpPr>
          <p:nvPr>
            <p:ph type="ftr" sz="quarter" idx="11"/>
          </p:nvPr>
        </p:nvSpPr>
        <p:spPr>
          <a:xfrm>
            <a:off x="14294731" y="9903315"/>
            <a:ext cx="2619755" cy="378000"/>
          </a:xfrm>
        </p:spPr>
        <p:txBody>
          <a:bodyPr/>
          <a:lstStyle/>
          <a:p>
            <a:r>
              <a:rPr kumimoji="1" lang="en-US" altLang="ja-JP"/>
              <a:t>Confidential </a:t>
            </a:r>
            <a:endParaRPr kumimoji="1" lang="ja-JP" altLang="en-US"/>
          </a:p>
        </p:txBody>
      </p:sp>
      <p:sp>
        <p:nvSpPr>
          <p:cNvPr id="10" name="スライド番号プレースホルダー 9">
            <a:extLst>
              <a:ext uri="{FF2B5EF4-FFF2-40B4-BE49-F238E27FC236}">
                <a16:creationId xmlns:a16="http://schemas.microsoft.com/office/drawing/2014/main" id="{657DBD7A-3B36-BEA2-DC99-447D546E0B8F}"/>
              </a:ext>
            </a:extLst>
          </p:cNvPr>
          <p:cNvSpPr>
            <a:spLocks noGrp="1"/>
          </p:cNvSpPr>
          <p:nvPr>
            <p:ph type="sldNum" sz="quarter" idx="12"/>
          </p:nvPr>
        </p:nvSpPr>
        <p:spPr/>
        <p:txBody>
          <a:bodyPr/>
          <a:lstStyle/>
          <a:p>
            <a:fld id="{2A9E37A5-A917-4235-ABF6-8CD72E894915}" type="slidenum">
              <a:rPr lang="en-US" altLang="ja-JP" smtClean="0"/>
              <a:pPr/>
              <a:t>5</a:t>
            </a:fld>
            <a:endParaRPr lang="ja-JP" altLang="en-US"/>
          </a:p>
        </p:txBody>
      </p:sp>
      <p:graphicFrame>
        <p:nvGraphicFramePr>
          <p:cNvPr id="3" name="表 2">
            <a:extLst>
              <a:ext uri="{FF2B5EF4-FFF2-40B4-BE49-F238E27FC236}">
                <a16:creationId xmlns:a16="http://schemas.microsoft.com/office/drawing/2014/main" id="{85D59BDB-6FFB-F5E8-A633-70BD555CE558}"/>
              </a:ext>
            </a:extLst>
          </p:cNvPr>
          <p:cNvGraphicFramePr>
            <a:graphicFrameLocks noGrp="1"/>
          </p:cNvGraphicFramePr>
          <p:nvPr>
            <p:extLst>
              <p:ext uri="{D42A27DB-BD31-4B8C-83A1-F6EECF244321}">
                <p14:modId xmlns:p14="http://schemas.microsoft.com/office/powerpoint/2010/main" val="323312652"/>
              </p:ext>
            </p:extLst>
          </p:nvPr>
        </p:nvGraphicFramePr>
        <p:xfrm>
          <a:off x="628890" y="1373465"/>
          <a:ext cx="16976204" cy="7327124"/>
        </p:xfrm>
        <a:graphic>
          <a:graphicData uri="http://schemas.openxmlformats.org/drawingml/2006/table">
            <a:tbl>
              <a:tblPr firstRow="1" bandRow="1">
                <a:tableStyleId>{5940675A-B579-460E-94D1-54222C63F5DA}</a:tableStyleId>
              </a:tblPr>
              <a:tblGrid>
                <a:gridCol w="1472233">
                  <a:extLst>
                    <a:ext uri="{9D8B030D-6E8A-4147-A177-3AD203B41FA5}">
                      <a16:colId xmlns:a16="http://schemas.microsoft.com/office/drawing/2014/main" val="3137280042"/>
                    </a:ext>
                  </a:extLst>
                </a:gridCol>
                <a:gridCol w="1472233">
                  <a:extLst>
                    <a:ext uri="{9D8B030D-6E8A-4147-A177-3AD203B41FA5}">
                      <a16:colId xmlns:a16="http://schemas.microsoft.com/office/drawing/2014/main" val="3137259252"/>
                    </a:ext>
                  </a:extLst>
                </a:gridCol>
                <a:gridCol w="1329103">
                  <a:extLst>
                    <a:ext uri="{9D8B030D-6E8A-4147-A177-3AD203B41FA5}">
                      <a16:colId xmlns:a16="http://schemas.microsoft.com/office/drawing/2014/main" val="732893320"/>
                    </a:ext>
                  </a:extLst>
                </a:gridCol>
                <a:gridCol w="2820245">
                  <a:extLst>
                    <a:ext uri="{9D8B030D-6E8A-4147-A177-3AD203B41FA5}">
                      <a16:colId xmlns:a16="http://schemas.microsoft.com/office/drawing/2014/main" val="2794625770"/>
                    </a:ext>
                  </a:extLst>
                </a:gridCol>
                <a:gridCol w="9882390">
                  <a:extLst>
                    <a:ext uri="{9D8B030D-6E8A-4147-A177-3AD203B41FA5}">
                      <a16:colId xmlns:a16="http://schemas.microsoft.com/office/drawing/2014/main" val="1325107330"/>
                    </a:ext>
                  </a:extLst>
                </a:gridCol>
              </a:tblGrid>
              <a:tr h="370840">
                <a:tc>
                  <a:txBody>
                    <a:bodyPr/>
                    <a:lstStyle/>
                    <a:p>
                      <a:r>
                        <a:rPr kumimoji="1" lang="ja-JP" altLang="en-US" sz="1200" dirty="0">
                          <a:latin typeface="メイリオ" panose="020B0604030504040204" pitchFamily="50" charset="-128"/>
                          <a:ea typeface="メイリオ" panose="020B0604030504040204" pitchFamily="50" charset="-128"/>
                        </a:rPr>
                        <a:t>バージョン</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更新日</a:t>
                      </a:r>
                    </a:p>
                  </a:txBody>
                  <a:tcPr anchor="ctr">
                    <a:solidFill>
                      <a:schemeClr val="accent1">
                        <a:lumMod val="60000"/>
                        <a:lumOff val="40000"/>
                      </a:schemeClr>
                    </a:solidFill>
                  </a:tcPr>
                </a:tc>
                <a:tc>
                  <a:txBody>
                    <a:bodyPr/>
                    <a:lstStyle/>
                    <a:p>
                      <a:r>
                        <a:rPr kumimoji="1" lang="ja-JP" altLang="en-US" sz="1200" dirty="0">
                          <a:latin typeface="メイリオ" panose="020B0604030504040204" pitchFamily="50" charset="-128"/>
                          <a:ea typeface="メイリオ" panose="020B0604030504040204" pitchFamily="50" charset="-128"/>
                        </a:rPr>
                        <a:t>更新者</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更新項目</a:t>
                      </a:r>
                    </a:p>
                  </a:txBody>
                  <a:tcPr anchor="ctr">
                    <a:solidFill>
                      <a:schemeClr val="accent1">
                        <a:lumMod val="60000"/>
                        <a:lumOff val="40000"/>
                      </a:schemeClr>
                    </a:solidFill>
                  </a:tcPr>
                </a:tc>
                <a:tc>
                  <a:txBody>
                    <a:bodyPr/>
                    <a:lstStyle/>
                    <a:p>
                      <a:r>
                        <a:rPr kumimoji="1" lang="ja-JP" altLang="en-US" sz="1200">
                          <a:latin typeface="メイリオ" panose="020B0604030504040204" pitchFamily="50" charset="-128"/>
                          <a:ea typeface="メイリオ" panose="020B0604030504040204" pitchFamily="50" charset="-128"/>
                        </a:rPr>
                        <a:t>更新内容</a:t>
                      </a:r>
                    </a:p>
                  </a:txBody>
                  <a:tcPr anchor="ctr">
                    <a:solidFill>
                      <a:schemeClr val="accent1">
                        <a:lumMod val="60000"/>
                        <a:lumOff val="40000"/>
                      </a:schemeClr>
                    </a:solidFill>
                  </a:tcPr>
                </a:tc>
                <a:extLst>
                  <a:ext uri="{0D108BD9-81ED-4DB2-BD59-A6C34878D82A}">
                    <a16:rowId xmlns:a16="http://schemas.microsoft.com/office/drawing/2014/main" val="88859046"/>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3.0.0</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2026.06.18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SMJ</a:t>
                      </a:r>
                      <a:r>
                        <a:rPr kumimoji="1" lang="ja-JP" altLang="en-US" sz="120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lnB w="12700" cap="flat" cmpd="sng" algn="ctr">
                      <a:solidFill>
                        <a:schemeClr val="tx1"/>
                      </a:solidFill>
                      <a:prstDash val="solid"/>
                      <a:round/>
                      <a:headEnd type="none" w="med" len="med"/>
                      <a:tailEnd type="none" w="med" len="med"/>
                    </a:lnB>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全体</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Ks</a:t>
                      </a:r>
                      <a:r>
                        <a:rPr kumimoji="1" lang="ja-JP" altLang="en-US" sz="1200">
                          <a:latin typeface="メイリオ" panose="020B0604030504040204" pitchFamily="50" charset="-128"/>
                          <a:ea typeface="メイリオ" panose="020B0604030504040204" pitchFamily="50" charset="-128"/>
                        </a:rPr>
                        <a:t>様に提出しない、内部の意思統一のための資料とする。</a:t>
                      </a:r>
                      <a:endParaRPr kumimoji="1" lang="en-US" altLang="ja-JP" sz="1200">
                        <a:latin typeface="メイリオ" panose="020B0604030504040204" pitchFamily="50" charset="-128"/>
                        <a:ea typeface="メイリオ" panose="020B0604030504040204" pitchFamily="50" charset="-128"/>
                      </a:endParaRPr>
                    </a:p>
                    <a:p>
                      <a:r>
                        <a:rPr kumimoji="1" lang="ja-JP" altLang="en-US" sz="1200">
                          <a:latin typeface="メイリオ" panose="020B0604030504040204" pitchFamily="50" charset="-128"/>
                          <a:ea typeface="メイリオ" panose="020B0604030504040204" pitchFamily="50" charset="-128"/>
                        </a:rPr>
                        <a:t>ロードマップ等、不正確な内容は削除。</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802461774"/>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2026.06.22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小山</a:t>
                      </a:r>
                    </a:p>
                  </a:txBody>
                  <a:tcPr>
                    <a:lnT w="12700" cap="flat" cmpd="sng" algn="ctr">
                      <a:solidFill>
                        <a:schemeClr val="tx1"/>
                      </a:solidFill>
                      <a:prstDash val="solid"/>
                      <a:round/>
                      <a:headEnd type="none" w="med" len="med"/>
                      <a:tailEnd type="none" w="med" len="med"/>
                    </a:lnT>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６－２</a:t>
                      </a:r>
                      <a:r>
                        <a:rPr lang="en-US" altLang="ja-JP" sz="1200" dirty="0"/>
                        <a:t>.</a:t>
                      </a:r>
                      <a:r>
                        <a:rPr lang="ja-JP" altLang="en-US" sz="1200" dirty="0"/>
                        <a:t>　</a:t>
                      </a:r>
                      <a:r>
                        <a:rPr lang="ja-JP" altLang="en-US" sz="1200" dirty="0">
                          <a:latin typeface="Meiryo UI" panose="020B0604030504040204" pitchFamily="50" charset="-128"/>
                          <a:ea typeface="Meiryo UI" panose="020B0604030504040204" pitchFamily="50" charset="-128"/>
                        </a:rPr>
                        <a:t>マルチデバイス対応</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Windows</a:t>
                      </a:r>
                      <a:r>
                        <a:rPr kumimoji="1" lang="ja-JP" altLang="en-US" sz="1200" dirty="0">
                          <a:latin typeface="メイリオ" panose="020B0604030504040204" pitchFamily="50" charset="-128"/>
                          <a:ea typeface="メイリオ" panose="020B0604030504040204" pitchFamily="50" charset="-128"/>
                        </a:rPr>
                        <a:t>のレガシーデバイスの場合の方式を追加</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82015124"/>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a:latin typeface="メイリオ" panose="020B0604030504040204" pitchFamily="50" charset="-128"/>
                          <a:ea typeface="メイリオ" panose="020B0604030504040204" pitchFamily="50" charset="-128"/>
                        </a:rPr>
                        <a:t>2026.06.2</a:t>
                      </a:r>
                      <a:r>
                        <a:rPr kumimoji="1" lang="en-US" altLang="ja-JP" sz="1200" dirty="0">
                          <a:latin typeface="メイリオ" panose="020B0604030504040204" pitchFamily="50" charset="-128"/>
                          <a:ea typeface="メイリオ" panose="020B0604030504040204" pitchFamily="50" charset="-128"/>
                        </a:rPr>
                        <a:t>6</a:t>
                      </a:r>
                      <a:endParaRPr kumimoji="1" lang="en-US" altLang="ja-JP" sz="12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zh-TW" altLang="en-US" sz="1200" dirty="0">
                          <a:latin typeface="メイリオ" panose="020B0604030504040204" pitchFamily="50" charset="-128"/>
                          <a:ea typeface="メイリオ" panose="020B0604030504040204" pitchFamily="50" charset="-128"/>
                        </a:rPr>
                        <a:t>６－４．開発環境（使用言語等）</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Functions</a:t>
                      </a:r>
                      <a:r>
                        <a:rPr kumimoji="1" lang="ja-JP" altLang="en-US" sz="1200">
                          <a:latin typeface="メイリオ" panose="020B0604030504040204" pitchFamily="50" charset="-128"/>
                          <a:ea typeface="メイリオ" panose="020B0604030504040204" pitchFamily="50" charset="-128"/>
                        </a:rPr>
                        <a:t>は</a:t>
                      </a:r>
                      <a:r>
                        <a:rPr kumimoji="1" lang="en-US" altLang="ja-JP" sz="1200">
                          <a:latin typeface="メイリオ" panose="020B0604030504040204" pitchFamily="50" charset="-128"/>
                          <a:ea typeface="メイリオ" panose="020B0604030504040204" pitchFamily="50" charset="-128"/>
                        </a:rPr>
                        <a:t>Python</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node.js</a:t>
                      </a:r>
                    </a:p>
                    <a:p>
                      <a:r>
                        <a:rPr kumimoji="1" lang="ja-JP" altLang="en-US" sz="1200">
                          <a:latin typeface="メイリオ" panose="020B0604030504040204" pitchFamily="50" charset="-128"/>
                          <a:ea typeface="メイリオ" panose="020B0604030504040204" pitchFamily="50" charset="-128"/>
                        </a:rPr>
                        <a:t>デバイス接続サーバー追加</a:t>
                      </a:r>
                    </a:p>
                  </a:txBody>
                  <a:tcPr/>
                </a:tc>
                <a:extLst>
                  <a:ext uri="{0D108BD9-81ED-4DB2-BD59-A6C34878D82A}">
                    <a16:rowId xmlns:a16="http://schemas.microsoft.com/office/drawing/2014/main" val="3558521743"/>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3.0.1</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2026.06.29</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rPr>
                        <a:t>SMJ</a:t>
                      </a:r>
                      <a:r>
                        <a:rPr kumimoji="1" lang="ja-JP" altLang="en-US" sz="1200" dirty="0">
                          <a:latin typeface="メイリオ" panose="020B0604030504040204" pitchFamily="50" charset="-128"/>
                          <a:ea typeface="メイリオ" panose="020B0604030504040204" pitchFamily="50" charset="-128"/>
                        </a:rPr>
                        <a:t>鎌田</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６－２</a:t>
                      </a:r>
                      <a:r>
                        <a:rPr lang="en-US" altLang="ja-JP" sz="1200" dirty="0"/>
                        <a:t>.</a:t>
                      </a:r>
                      <a:r>
                        <a:rPr lang="ja-JP" altLang="en-US" sz="1200" dirty="0"/>
                        <a:t>　</a:t>
                      </a:r>
                      <a:r>
                        <a:rPr lang="ja-JP" altLang="en-US" sz="1200" dirty="0">
                          <a:latin typeface="Meiryo UI" panose="020B0604030504040204" pitchFamily="50" charset="-128"/>
                          <a:ea typeface="Meiryo UI" panose="020B0604030504040204" pitchFamily="50" charset="-128"/>
                        </a:rPr>
                        <a:t>マルチデバイス対応</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一部文言修正</a:t>
                      </a:r>
                    </a:p>
                  </a:txBody>
                  <a:tcPr/>
                </a:tc>
                <a:extLst>
                  <a:ext uri="{0D108BD9-81ED-4DB2-BD59-A6C34878D82A}">
                    <a16:rowId xmlns:a16="http://schemas.microsoft.com/office/drawing/2014/main" val="1925272073"/>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６－３．マイクロサービスアーキテクチャ</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売上取消のサービス境界を修正（</a:t>
                      </a:r>
                      <a:r>
                        <a:rPr kumimoji="1" lang="en-US" altLang="ja-JP" sz="1200" dirty="0">
                          <a:latin typeface="メイリオ" panose="020B0604030504040204" pitchFamily="50" charset="-128"/>
                          <a:ea typeface="メイリオ" panose="020B0604030504040204" pitchFamily="50" charset="-128"/>
                        </a:rPr>
                        <a:t>NEXT_GENERATION_POS-216</a:t>
                      </a:r>
                      <a:r>
                        <a:rPr kumimoji="1" lang="ja-JP" altLang="en-US" sz="1200" dirty="0">
                          <a:latin typeface="メイリオ" panose="020B0604030504040204" pitchFamily="50" charset="-128"/>
                          <a:ea typeface="メイリオ" panose="020B0604030504040204" pitchFamily="50" charset="-128"/>
                        </a:rPr>
                        <a:t>）</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097976024"/>
                  </a:ext>
                </a:extLst>
              </a:tr>
              <a:tr h="370840">
                <a:tc>
                  <a:txBody>
                    <a:bodyPr/>
                    <a:lstStyle/>
                    <a:p>
                      <a:r>
                        <a:rPr kumimoji="1" lang="en-US" altLang="ja-JP" sz="1200">
                          <a:latin typeface="メイリオ" panose="020B0604030504040204" pitchFamily="50" charset="-128"/>
                          <a:ea typeface="メイリオ" panose="020B0604030504040204" pitchFamily="50" charset="-128"/>
                        </a:rPr>
                        <a:t>3.0.2</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2026.06.30</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鎌田</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５－４．接続デバイス</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接続方法（物理）を修正</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45303629"/>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zh-TW" altLang="en-US" sz="1200">
                          <a:latin typeface="メイリオ" panose="020B0604030504040204" pitchFamily="50" charset="-128"/>
                          <a:ea typeface="メイリオ" panose="020B0604030504040204" pitchFamily="50" charset="-128"/>
                        </a:rPr>
                        <a:t>７－４．推進体制</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最新化</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0833116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zh-TW" altLang="en-US" sz="1200">
                          <a:latin typeface="メイリオ" panose="020B0604030504040204" pitchFamily="50" charset="-128"/>
                          <a:ea typeface="メイリオ" panose="020B0604030504040204" pitchFamily="50" charset="-128"/>
                        </a:rPr>
                        <a:t>５－１１．環境一覧</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開発環境はサブテナントとして構築</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33437429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zh-TW" altLang="en-US" sz="1200">
                          <a:latin typeface="メイリオ" panose="020B0604030504040204" pitchFamily="50" charset="-128"/>
                          <a:ea typeface="メイリオ" panose="020B0604030504040204" pitchFamily="50" charset="-128"/>
                        </a:rPr>
                        <a:t>６－４．開発環境（使用言語等）</a:t>
                      </a:r>
                      <a:endParaRPr kumimoji="1" lang="ja-JP" altLang="en-US" sz="120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node.js</a:t>
                      </a:r>
                      <a:r>
                        <a:rPr kumimoji="1" lang="ja-JP" altLang="en-US" sz="1200">
                          <a:latin typeface="メイリオ" panose="020B0604030504040204" pitchFamily="50" charset="-128"/>
                          <a:ea typeface="メイリオ" panose="020B0604030504040204" pitchFamily="50" charset="-128"/>
                        </a:rPr>
                        <a:t>のバージョンと</a:t>
                      </a:r>
                      <a:r>
                        <a:rPr kumimoji="1" lang="en-US" altLang="ja-JP" sz="1200">
                          <a:latin typeface="メイリオ" panose="020B0604030504040204" pitchFamily="50" charset="-128"/>
                          <a:ea typeface="メイリオ" panose="020B0604030504040204" pitchFamily="50" charset="-128"/>
                        </a:rPr>
                        <a:t>EOL</a:t>
                      </a:r>
                      <a:r>
                        <a:rPr kumimoji="1" lang="ja-JP" altLang="en-US" sz="1200">
                          <a:latin typeface="メイリオ" panose="020B0604030504040204" pitchFamily="50" charset="-128"/>
                          <a:ea typeface="メイリオ" panose="020B0604030504040204" pitchFamily="50" charset="-128"/>
                        </a:rPr>
                        <a:t>目安を追記</a:t>
                      </a:r>
                      <a:endParaRPr kumimoji="1" lang="ja-JP" altLang="en-US"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19708626"/>
                  </a:ext>
                </a:extLst>
              </a:tr>
              <a:tr h="370840">
                <a:tc>
                  <a:txBody>
                    <a:bodyPr/>
                    <a:lstStyle/>
                    <a:p>
                      <a:r>
                        <a:rPr kumimoji="1" lang="en-US" altLang="ja-JP" sz="1200" dirty="0">
                          <a:latin typeface="メイリオ" panose="020B0604030504040204" pitchFamily="50" charset="-128"/>
                          <a:ea typeface="メイリオ" panose="020B0604030504040204" pitchFamily="50" charset="-128"/>
                        </a:rPr>
                        <a:t>3.0.3</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2026.07.03</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zh-TW" altLang="en-US" sz="1200" dirty="0">
                          <a:latin typeface="メイリオ" panose="020B0604030504040204" pitchFamily="50" charset="-128"/>
                          <a:ea typeface="メイリオ" panose="020B0604030504040204" pitchFamily="50" charset="-128"/>
                        </a:rPr>
                        <a:t>６－４．開発環境（使用言語等）</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Sentry</a:t>
                      </a:r>
                      <a:r>
                        <a:rPr kumimoji="1" lang="ja-JP" altLang="en-US" sz="1200" dirty="0">
                          <a:latin typeface="メイリオ" panose="020B0604030504040204" pitchFamily="50" charset="-128"/>
                          <a:ea typeface="メイリオ" panose="020B0604030504040204" pitchFamily="50" charset="-128"/>
                        </a:rPr>
                        <a:t>はオンプレミスで</a:t>
                      </a:r>
                      <a:r>
                        <a:rPr kumimoji="1" lang="en-US" altLang="ja-JP" sz="1200" dirty="0">
                          <a:latin typeface="メイリオ" panose="020B0604030504040204" pitchFamily="50" charset="-128"/>
                          <a:ea typeface="メイリオ" panose="020B0604030504040204" pitchFamily="50" charset="-128"/>
                        </a:rPr>
                        <a:t>Ks</a:t>
                      </a:r>
                      <a:r>
                        <a:rPr kumimoji="1" lang="ja-JP" altLang="en-US" sz="1200" dirty="0">
                          <a:latin typeface="メイリオ" panose="020B0604030504040204" pitchFamily="50" charset="-128"/>
                          <a:ea typeface="メイリオ" panose="020B0604030504040204" pitchFamily="50" charset="-128"/>
                        </a:rPr>
                        <a:t>様構築予定となる旨を追記</a:t>
                      </a:r>
                    </a:p>
                  </a:txBody>
                  <a:tcPr/>
                </a:tc>
                <a:extLst>
                  <a:ext uri="{0D108BD9-81ED-4DB2-BD59-A6C34878D82A}">
                    <a16:rowId xmlns:a16="http://schemas.microsoft.com/office/drawing/2014/main" val="1533148952"/>
                  </a:ext>
                </a:extLst>
              </a:tr>
              <a:tr h="479284">
                <a:tc>
                  <a:txBody>
                    <a:bodyPr/>
                    <a:lstStyle/>
                    <a:p>
                      <a:r>
                        <a:rPr kumimoji="1" lang="en-US" altLang="ja-JP" sz="1200" dirty="0">
                          <a:latin typeface="メイリオ" panose="020B0604030504040204" pitchFamily="50" charset="-128"/>
                          <a:ea typeface="メイリオ" panose="020B0604030504040204" pitchFamily="50" charset="-128"/>
                        </a:rPr>
                        <a:t>3.0.4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rPr>
                        <a:t>2026.07.08</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伊藤</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５</a:t>
                      </a:r>
                      <a:r>
                        <a:rPr kumimoji="1" lang="zh-TW" altLang="en-US"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６</a:t>
                      </a:r>
                      <a:r>
                        <a:rPr kumimoji="1" lang="zh-TW" altLang="en-US"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練習モード</a:t>
                      </a:r>
                    </a:p>
                  </a:txBody>
                  <a:tcPr/>
                </a:tc>
                <a:tc>
                  <a:txBody>
                    <a:bodyPr/>
                    <a:lstStyle/>
                    <a:p>
                      <a:r>
                        <a:rPr kumimoji="1" lang="ja-JP" altLang="en-US" sz="1200" dirty="0">
                          <a:latin typeface="メイリオ" panose="020B0604030504040204" pitchFamily="50" charset="-128"/>
                          <a:ea typeface="メイリオ" panose="020B0604030504040204" pitchFamily="50" charset="-128"/>
                        </a:rPr>
                        <a:t>トレーニングモードから練習モードへ変更</a:t>
                      </a:r>
                      <a:endParaRPr kumimoji="1"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画面切替不可の内容を追記</a:t>
                      </a:r>
                    </a:p>
                  </a:txBody>
                  <a:tcPr/>
                </a:tc>
                <a:extLst>
                  <a:ext uri="{0D108BD9-81ED-4DB2-BD59-A6C34878D82A}">
                    <a16:rowId xmlns:a16="http://schemas.microsoft.com/office/drawing/2014/main" val="1592424612"/>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５</a:t>
                      </a:r>
                      <a:r>
                        <a:rPr kumimoji="1" lang="zh-TW" altLang="en-US"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８</a:t>
                      </a:r>
                      <a:r>
                        <a:rPr kumimoji="1" lang="zh-TW" altLang="en-US" sz="1200"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通常・初心者モード</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初心者モードの内容を修正</a:t>
                      </a:r>
                    </a:p>
                  </a:txBody>
                  <a:tcPr/>
                </a:tc>
                <a:extLst>
                  <a:ext uri="{0D108BD9-81ED-4DB2-BD59-A6C34878D82A}">
                    <a16:rowId xmlns:a16="http://schemas.microsoft.com/office/drawing/2014/main" val="702154763"/>
                  </a:ext>
                </a:extLst>
              </a:tr>
              <a:tr h="370840">
                <a:tc>
                  <a:txBody>
                    <a:bodyPr/>
                    <a:lstStyle/>
                    <a:p>
                      <a:r>
                        <a:rPr kumimoji="1" lang="en-US" altLang="ja-JP" sz="1200">
                          <a:latin typeface="メイリオ" panose="020B0604030504040204" pitchFamily="50" charset="-128"/>
                          <a:ea typeface="メイリオ" panose="020B0604030504040204" pitchFamily="50" charset="-128"/>
                        </a:rPr>
                        <a:t>3.0.5</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en-US" altLang="ja-JP" sz="1200">
                          <a:latin typeface="メイリオ" panose="020B0604030504040204" pitchFamily="50" charset="-128"/>
                          <a:ea typeface="メイリオ" panose="020B0604030504040204" pitchFamily="50" charset="-128"/>
                        </a:rPr>
                        <a:t>2026.07.14</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rPr>
                        <a:t>鎌田</a:t>
                      </a:r>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ファイル名</a:t>
                      </a: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r>
                        <a:rPr kumimoji="1" lang="ja-JP" altLang="en-US" sz="1200">
                          <a:latin typeface="メイリオ" panose="020B0604030504040204" pitchFamily="50" charset="-128"/>
                          <a:ea typeface="メイリオ" panose="020B0604030504040204" pitchFamily="50" charset="-128"/>
                        </a:rPr>
                        <a:t>ファイル名変更</a:t>
                      </a:r>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41353474"/>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33986981"/>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99568451"/>
                  </a:ext>
                </a:extLst>
              </a:tr>
              <a:tr h="370840">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120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513801437"/>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734448623"/>
                  </a:ext>
                </a:extLst>
              </a:tr>
              <a:tr h="370840">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ja-JP" altLang="en-US" sz="1200" dirty="0">
                        <a:latin typeface="メイリオ" panose="020B0604030504040204" pitchFamily="50" charset="-128"/>
                        <a:ea typeface="メイリオ" panose="020B0604030504040204" pitchFamily="50" charset="-128"/>
                      </a:endParaRPr>
                    </a:p>
                  </a:txBody>
                  <a:tcPr/>
                </a:tc>
                <a:tc>
                  <a:txBody>
                    <a:bodyPr/>
                    <a:lstStyle/>
                    <a:p>
                      <a:endParaRPr kumimoji="1" lang="en-US" altLang="ja-JP" sz="12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2439619"/>
                  </a:ext>
                </a:extLst>
              </a:tr>
            </a:tbl>
          </a:graphicData>
        </a:graphic>
      </p:graphicFrame>
    </p:spTree>
    <p:extLst>
      <p:ext uri="{BB962C8B-B14F-4D97-AF65-F5344CB8AC3E}">
        <p14:creationId xmlns:p14="http://schemas.microsoft.com/office/powerpoint/2010/main" val="3989508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42457" y="509798"/>
            <a:ext cx="15514200" cy="415800"/>
          </a:xfrm>
        </p:spPr>
        <p:txBody>
          <a:bodyPr>
            <a:normAutofit/>
          </a:bodyPr>
          <a:lstStyle/>
          <a:p>
            <a:r>
              <a:rPr kumimoji="1" lang="ja-JP" altLang="en-US"/>
              <a:t>◆目次</a:t>
            </a:r>
          </a:p>
        </p:txBody>
      </p:sp>
      <p:sp>
        <p:nvSpPr>
          <p:cNvPr id="7" name="テキスト プレースホルダー 11"/>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9" name="フッター プレースホルダー 8"/>
          <p:cNvSpPr>
            <a:spLocks noGrp="1"/>
          </p:cNvSpPr>
          <p:nvPr>
            <p:ph type="ftr" sz="quarter" idx="11"/>
          </p:nvPr>
        </p:nvSpPr>
        <p:spPr>
          <a:xfrm>
            <a:off x="14294731" y="9903315"/>
            <a:ext cx="2619755" cy="378000"/>
          </a:xfrm>
        </p:spPr>
        <p:txBody>
          <a:bodyPr/>
          <a:lstStyle/>
          <a:p>
            <a:r>
              <a:rPr kumimoji="1" lang="en-US" altLang="ja-JP"/>
              <a:t>Confidential </a:t>
            </a:r>
            <a:endParaRPr kumimoji="1" lang="ja-JP" altLang="en-US"/>
          </a:p>
        </p:txBody>
      </p:sp>
      <p:sp>
        <p:nvSpPr>
          <p:cNvPr id="10" name="スライド番号プレースホルダー 9"/>
          <p:cNvSpPr>
            <a:spLocks noGrp="1"/>
          </p:cNvSpPr>
          <p:nvPr>
            <p:ph type="sldNum" sz="quarter" idx="12"/>
          </p:nvPr>
        </p:nvSpPr>
        <p:spPr/>
        <p:txBody>
          <a:bodyPr/>
          <a:lstStyle/>
          <a:p>
            <a:fld id="{2A9E37A5-A917-4235-ABF6-8CD72E894915}" type="slidenum">
              <a:rPr lang="en-US" altLang="ja-JP" smtClean="0"/>
              <a:pPr/>
              <a:t>6</a:t>
            </a:fld>
            <a:endParaRPr lang="ja-JP" altLang="en-US"/>
          </a:p>
        </p:txBody>
      </p:sp>
      <p:sp>
        <p:nvSpPr>
          <p:cNvPr id="3" name="コンテンツ プレースホルダー 2">
            <a:extLst>
              <a:ext uri="{FF2B5EF4-FFF2-40B4-BE49-F238E27FC236}">
                <a16:creationId xmlns:a16="http://schemas.microsoft.com/office/drawing/2014/main" id="{19AA8B27-59D6-01FF-E521-F3CAC7FC0200}"/>
              </a:ext>
            </a:extLst>
          </p:cNvPr>
          <p:cNvSpPr txBox="1">
            <a:spLocks/>
          </p:cNvSpPr>
          <p:nvPr/>
        </p:nvSpPr>
        <p:spPr>
          <a:xfrm>
            <a:off x="701406" y="1506991"/>
            <a:ext cx="8183924" cy="78476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HGPｺﾞｼｯｸM" panose="020B0600000000000000" pitchFamily="50" charset="-128"/>
                <a:ea typeface="HGPｺﾞｼｯｸM" panose="020B06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HGPｺﾞｼｯｸM" panose="020B0600000000000000" pitchFamily="50" charset="-128"/>
                <a:ea typeface="HGPｺﾞｼｯｸM" panose="020B0600000000000000"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HGPｺﾞｼｯｸM" panose="020B0600000000000000" pitchFamily="50" charset="-128"/>
                <a:ea typeface="HGPｺﾞｼｯｸM" panose="020B0600000000000000"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HGPｺﾞｼｯｸM" panose="020B0600000000000000" pitchFamily="50" charset="-128"/>
                <a:ea typeface="HGPｺﾞｼｯｸM" panose="020B0600000000000000"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HGPｺﾞｼｯｸM" panose="020B0600000000000000" pitchFamily="50" charset="-128"/>
                <a:ea typeface="HGPｺﾞｼｯｸM" panose="020B06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400" dirty="0">
                <a:latin typeface="Meiryo UI" panose="020B0604030504040204" pitchFamily="50" charset="-128"/>
                <a:ea typeface="Meiryo UI" panose="020B0604030504040204" pitchFamily="50" charset="-128"/>
              </a:rPr>
              <a:t>１．はじめに</a:t>
            </a:r>
            <a:endParaRPr lang="en-US" altLang="ja-JP" sz="2400"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２．背景と目的</a:t>
            </a:r>
            <a:endParaRPr lang="en-US" altLang="ja-JP" sz="2400"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３．現状と課題</a:t>
            </a:r>
            <a:endParaRPr lang="en-US" altLang="ja-JP" sz="2400"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４．グランドデザインの目標</a:t>
            </a:r>
            <a:endParaRPr lang="en-US" altLang="ja-JP" sz="2400"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５．要件整理・対象範囲</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5-1.</a:t>
            </a:r>
            <a:r>
              <a:rPr lang="ja-JP" altLang="en-US" sz="2400" dirty="0">
                <a:latin typeface="Meiryo UI" panose="020B0604030504040204" pitchFamily="50" charset="-128"/>
                <a:ea typeface="Meiryo UI" panose="020B0604030504040204" pitchFamily="50" charset="-128"/>
              </a:rPr>
              <a:t>全体アーキテクチャ</a:t>
            </a:r>
            <a:endParaRPr lang="en-US" altLang="ja-JP" sz="2400" dirty="0">
              <a:latin typeface="Meiryo UI" panose="020B0604030504040204" pitchFamily="50" charset="-128"/>
              <a:ea typeface="Meiryo UI" panose="020B0604030504040204" pitchFamily="50" charset="-128"/>
            </a:endParaRPr>
          </a:p>
          <a:p>
            <a:pPr lvl="1" indent="0">
              <a:buNone/>
            </a:pPr>
            <a:r>
              <a:rPr lang="en-US" altLang="ja-JP" dirty="0">
                <a:latin typeface="Meiryo UI" panose="020B0604030504040204" pitchFamily="50" charset="-128"/>
                <a:ea typeface="Meiryo UI" panose="020B0604030504040204" pitchFamily="50" charset="-128"/>
              </a:rPr>
              <a:t>	5-2.</a:t>
            </a:r>
            <a:r>
              <a:rPr lang="ja-JP" altLang="en-US" dirty="0">
                <a:latin typeface="Meiryo UI" panose="020B0604030504040204" pitchFamily="50" charset="-128"/>
                <a:ea typeface="Meiryo UI" panose="020B0604030504040204" pitchFamily="50" charset="-128"/>
              </a:rPr>
              <a:t>現行</a:t>
            </a:r>
            <a:r>
              <a:rPr lang="en-US" altLang="ja-JP" dirty="0">
                <a:latin typeface="Meiryo UI" panose="020B0604030504040204" pitchFamily="50" charset="-128"/>
                <a:ea typeface="Meiryo UI" panose="020B0604030504040204" pitchFamily="50" charset="-128"/>
              </a:rPr>
              <a:t>POS</a:t>
            </a:r>
            <a:r>
              <a:rPr lang="ja-JP" altLang="en-US" dirty="0">
                <a:latin typeface="Meiryo UI" panose="020B0604030504040204" pitchFamily="50" charset="-128"/>
                <a:ea typeface="Meiryo UI" panose="020B0604030504040204" pitchFamily="50" charset="-128"/>
              </a:rPr>
              <a:t>アプリとの関係</a:t>
            </a:r>
            <a:endParaRPr lang="en-US" altLang="ja-JP" dirty="0">
              <a:latin typeface="Meiryo UI" panose="020B0604030504040204" pitchFamily="50" charset="-128"/>
              <a:ea typeface="Meiryo UI" panose="020B0604030504040204" pitchFamily="50" charset="-128"/>
            </a:endParaRPr>
          </a:p>
          <a:p>
            <a:pPr lvl="1" indent="0">
              <a:buNone/>
            </a:pPr>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5-3.</a:t>
            </a:r>
            <a:r>
              <a:rPr lang="ja-JP" altLang="en-US" dirty="0">
                <a:latin typeface="Meiryo UI" panose="020B0604030504040204" pitchFamily="50" charset="-128"/>
                <a:ea typeface="Meiryo UI" panose="020B0604030504040204" pitchFamily="50" charset="-128"/>
              </a:rPr>
              <a:t>全体スケジュール</a:t>
            </a:r>
            <a:endParaRPr lang="en-US" altLang="ja-JP"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5-4.</a:t>
            </a:r>
            <a:r>
              <a:rPr lang="ja-JP" altLang="en-US" sz="2400" dirty="0">
                <a:latin typeface="Meiryo UI" panose="020B0604030504040204" pitchFamily="50" charset="-128"/>
                <a:ea typeface="Meiryo UI" panose="020B0604030504040204" pitchFamily="50" charset="-128"/>
              </a:rPr>
              <a:t>接続デバイス</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5-5.</a:t>
            </a:r>
            <a:r>
              <a:rPr lang="ja-JP" altLang="en-US" sz="2400" dirty="0">
                <a:latin typeface="Meiryo UI" panose="020B0604030504040204" pitchFamily="50" charset="-128"/>
                <a:ea typeface="Meiryo UI" panose="020B0604030504040204" pitchFamily="50" charset="-128"/>
              </a:rPr>
              <a:t>機能一覧（別紙）</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5-6.</a:t>
            </a:r>
            <a:r>
              <a:rPr lang="ja-JP" altLang="en-US" sz="2400" dirty="0">
                <a:latin typeface="Meiryo UI" panose="020B0604030504040204" pitchFamily="50" charset="-128"/>
                <a:ea typeface="Meiryo UI" panose="020B0604030504040204" pitchFamily="50" charset="-128"/>
              </a:rPr>
              <a:t>トレーニングモード</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5-7.</a:t>
            </a:r>
            <a:r>
              <a:rPr lang="ja-JP" altLang="en-US" sz="2400" dirty="0">
                <a:latin typeface="Meiryo UI" panose="020B0604030504040204" pitchFamily="50" charset="-128"/>
                <a:ea typeface="Meiryo UI" panose="020B0604030504040204" pitchFamily="50" charset="-128"/>
              </a:rPr>
              <a:t>オフライン機能</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5-8.</a:t>
            </a:r>
            <a:r>
              <a:rPr lang="ja-JP" altLang="en-US" sz="2400" dirty="0">
                <a:latin typeface="Meiryo UI" panose="020B0604030504040204" pitchFamily="50" charset="-128"/>
                <a:ea typeface="Meiryo UI" panose="020B0604030504040204" pitchFamily="50" charset="-128"/>
              </a:rPr>
              <a:t>プロモード・簡単モード</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5-9.</a:t>
            </a:r>
            <a:r>
              <a:rPr lang="ja-JP" altLang="en-US" sz="2400" dirty="0">
                <a:latin typeface="Meiryo UI" panose="020B0604030504040204" pitchFamily="50" charset="-128"/>
                <a:ea typeface="Meiryo UI" panose="020B0604030504040204" pitchFamily="50" charset="-128"/>
              </a:rPr>
              <a:t>認証機能</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5-10.</a:t>
            </a:r>
            <a:r>
              <a:rPr lang="ja-JP" altLang="en-US" sz="2400" dirty="0">
                <a:latin typeface="Meiryo UI" panose="020B0604030504040204" pitchFamily="50" charset="-128"/>
                <a:ea typeface="Meiryo UI" panose="020B0604030504040204" pitchFamily="50" charset="-128"/>
              </a:rPr>
              <a:t>メニュー機能</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5-11.</a:t>
            </a:r>
            <a:r>
              <a:rPr lang="ja-JP" altLang="en-US" sz="2400" dirty="0">
                <a:latin typeface="Meiryo UI" panose="020B0604030504040204" pitchFamily="50" charset="-128"/>
                <a:ea typeface="Meiryo UI" panose="020B0604030504040204" pitchFamily="50" charset="-128"/>
              </a:rPr>
              <a:t>環境一覧</a:t>
            </a:r>
            <a:endParaRPr lang="en-US" altLang="ja-JP" sz="2400" dirty="0">
              <a:latin typeface="Meiryo UI" panose="020B0604030504040204" pitchFamily="50" charset="-128"/>
              <a:ea typeface="Meiryo UI" panose="020B0604030504040204" pitchFamily="50" charset="-128"/>
            </a:endParaRPr>
          </a:p>
        </p:txBody>
      </p:sp>
      <p:sp>
        <p:nvSpPr>
          <p:cNvPr id="11" name="コンテンツ プレースホルダー 2">
            <a:extLst>
              <a:ext uri="{FF2B5EF4-FFF2-40B4-BE49-F238E27FC236}">
                <a16:creationId xmlns:a16="http://schemas.microsoft.com/office/drawing/2014/main" id="{87D0B25C-A6F0-422B-A00F-E1C6B2691DBB}"/>
              </a:ext>
            </a:extLst>
          </p:cNvPr>
          <p:cNvSpPr txBox="1">
            <a:spLocks/>
          </p:cNvSpPr>
          <p:nvPr/>
        </p:nvSpPr>
        <p:spPr>
          <a:xfrm>
            <a:off x="9144000" y="2697046"/>
            <a:ext cx="8981161" cy="87131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HGPｺﾞｼｯｸM" panose="020B0600000000000000" pitchFamily="50" charset="-128"/>
                <a:ea typeface="HGPｺﾞｼｯｸM" panose="020B06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HGPｺﾞｼｯｸM" panose="020B0600000000000000" pitchFamily="50" charset="-128"/>
                <a:ea typeface="HGPｺﾞｼｯｸM" panose="020B0600000000000000"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HGPｺﾞｼｯｸM" panose="020B0600000000000000" pitchFamily="50" charset="-128"/>
                <a:ea typeface="HGPｺﾞｼｯｸM" panose="020B0600000000000000"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HGPｺﾞｼｯｸM" panose="020B0600000000000000" pitchFamily="50" charset="-128"/>
                <a:ea typeface="HGPｺﾞｼｯｸM" panose="020B0600000000000000"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HGPｺﾞｼｯｸM" panose="020B0600000000000000" pitchFamily="50" charset="-128"/>
                <a:ea typeface="HGPｺﾞｼｯｸM" panose="020B06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27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1A90846F-3C68-A2AB-5FB2-674BC44BB296}"/>
              </a:ext>
            </a:extLst>
          </p:cNvPr>
          <p:cNvSpPr txBox="1">
            <a:spLocks/>
          </p:cNvSpPr>
          <p:nvPr/>
        </p:nvSpPr>
        <p:spPr>
          <a:xfrm>
            <a:off x="9402672" y="1506991"/>
            <a:ext cx="8183924" cy="800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HGPｺﾞｼｯｸM" panose="020B0600000000000000" pitchFamily="50" charset="-128"/>
                <a:ea typeface="HGPｺﾞｼｯｸM" panose="020B06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HGPｺﾞｼｯｸM" panose="020B0600000000000000" pitchFamily="50" charset="-128"/>
                <a:ea typeface="HGPｺﾞｼｯｸM" panose="020B0600000000000000"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HGPｺﾞｼｯｸM" panose="020B0600000000000000" pitchFamily="50" charset="-128"/>
                <a:ea typeface="HGPｺﾞｼｯｸM" panose="020B0600000000000000"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HGPｺﾞｼｯｸM" panose="020B0600000000000000" pitchFamily="50" charset="-128"/>
                <a:ea typeface="HGPｺﾞｼｯｸM" panose="020B0600000000000000"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HGPｺﾞｼｯｸM" panose="020B0600000000000000" pitchFamily="50" charset="-128"/>
                <a:ea typeface="HGPｺﾞｼｯｸM" panose="020B06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400" dirty="0">
                <a:latin typeface="Meiryo UI" panose="020B0604030504040204" pitchFamily="50" charset="-128"/>
                <a:ea typeface="Meiryo UI" panose="020B0604030504040204" pitchFamily="50" charset="-128"/>
              </a:rPr>
              <a:t>６．システム開発のポイント</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6-1.</a:t>
            </a:r>
            <a:r>
              <a:rPr lang="ja-JP" altLang="en-US" sz="2400" dirty="0">
                <a:latin typeface="Meiryo UI" panose="020B0604030504040204" pitchFamily="50" charset="-128"/>
                <a:ea typeface="Meiryo UI" panose="020B0604030504040204" pitchFamily="50" charset="-128"/>
              </a:rPr>
              <a:t>マルチプラットフォーム対応</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6-2.</a:t>
            </a:r>
            <a:r>
              <a:rPr lang="ja-JP" altLang="en-US" sz="2400" dirty="0">
                <a:latin typeface="Meiryo UI" panose="020B0604030504040204" pitchFamily="50" charset="-128"/>
                <a:ea typeface="Meiryo UI" panose="020B0604030504040204" pitchFamily="50" charset="-128"/>
              </a:rPr>
              <a:t>マルチデバイス対応</a:t>
            </a:r>
            <a:endParaRPr lang="en-US" altLang="ja-JP" sz="2400" dirty="0">
              <a:latin typeface="Meiryo UI" panose="020B0604030504040204" pitchFamily="50" charset="-128"/>
              <a:ea typeface="Meiryo UI" panose="020B0604030504040204" pitchFamily="50" charset="-128"/>
            </a:endParaRPr>
          </a:p>
          <a:p>
            <a:pPr lvl="1" indent="0">
              <a:buNone/>
            </a:pPr>
            <a:r>
              <a:rPr lang="en-US" altLang="ja-JP" dirty="0">
                <a:latin typeface="Meiryo UI" panose="020B0604030504040204" pitchFamily="50" charset="-128"/>
                <a:ea typeface="Meiryo UI" panose="020B0604030504040204" pitchFamily="50" charset="-128"/>
              </a:rPr>
              <a:t>	6-3.</a:t>
            </a:r>
            <a:r>
              <a:rPr lang="ja-JP" altLang="en-US" dirty="0">
                <a:latin typeface="Meiryo UI" panose="020B0604030504040204" pitchFamily="50" charset="-128"/>
                <a:ea typeface="Meiryo UI" panose="020B0604030504040204" pitchFamily="50" charset="-128"/>
              </a:rPr>
              <a:t>マイクロサービスアーキテクチャ</a:t>
            </a:r>
            <a:endParaRPr lang="en-US" altLang="ja-JP" dirty="0">
              <a:latin typeface="Meiryo UI" panose="020B0604030504040204" pitchFamily="50" charset="-128"/>
              <a:ea typeface="Meiryo UI" panose="020B0604030504040204" pitchFamily="50" charset="-128"/>
            </a:endParaRPr>
          </a:p>
          <a:p>
            <a:pPr lvl="1" indent="0">
              <a:buNone/>
            </a:pPr>
            <a:r>
              <a:rPr lang="ja-JP" altLang="en-US" dirty="0">
                <a:latin typeface="Meiryo UI" panose="020B0604030504040204" pitchFamily="50" charset="-128"/>
                <a:ea typeface="Meiryo UI" panose="020B0604030504040204" pitchFamily="50" charset="-128"/>
              </a:rPr>
              <a:t>　</a:t>
            </a:r>
            <a:r>
              <a:rPr lang="en-US" altLang="ja-JP">
                <a:latin typeface="Meiryo UI" panose="020B0604030504040204" pitchFamily="50" charset="-128"/>
                <a:ea typeface="Meiryo UI" panose="020B0604030504040204" pitchFamily="50" charset="-128"/>
              </a:rPr>
              <a:t>6-4.</a:t>
            </a:r>
            <a:r>
              <a:rPr lang="ja-JP" altLang="en-US">
                <a:latin typeface="Meiryo UI" panose="020B0604030504040204" pitchFamily="50" charset="-128"/>
                <a:ea typeface="Meiryo UI" panose="020B0604030504040204" pitchFamily="50" charset="-128"/>
              </a:rPr>
              <a:t>開発環境</a:t>
            </a:r>
            <a:endParaRPr lang="en-US" altLang="ja-JP" dirty="0">
              <a:latin typeface="Meiryo UI" panose="020B0604030504040204" pitchFamily="50" charset="-128"/>
              <a:ea typeface="Meiryo UI" panose="020B0604030504040204" pitchFamily="50" charset="-128"/>
            </a:endParaRPr>
          </a:p>
          <a:p>
            <a:pPr lvl="1" indent="0">
              <a:buNone/>
            </a:pPr>
            <a:r>
              <a:rPr lang="en-US" altLang="ja-JP" dirty="0">
                <a:latin typeface="Meiryo UI" panose="020B0604030504040204" pitchFamily="50" charset="-128"/>
                <a:ea typeface="Meiryo UI" panose="020B0604030504040204" pitchFamily="50" charset="-128"/>
              </a:rPr>
              <a:t>	6-5.UI/UX</a:t>
            </a:r>
            <a:r>
              <a:rPr lang="ja-JP" altLang="en-US" dirty="0">
                <a:latin typeface="Meiryo UI" panose="020B0604030504040204" pitchFamily="50" charset="-128"/>
                <a:ea typeface="Meiryo UI" panose="020B0604030504040204" pitchFamily="50" charset="-128"/>
              </a:rPr>
              <a:t>設計方針</a:t>
            </a:r>
            <a:endParaRPr lang="en-US" altLang="ja-JP" dirty="0">
              <a:latin typeface="Meiryo UI" panose="020B0604030504040204" pitchFamily="50" charset="-128"/>
              <a:ea typeface="Meiryo UI" panose="020B0604030504040204" pitchFamily="50" charset="-128"/>
            </a:endParaRPr>
          </a:p>
          <a:p>
            <a:pPr lvl="1" indent="0">
              <a:buNone/>
            </a:pPr>
            <a:r>
              <a:rPr lang="en-US" altLang="ja-JP" dirty="0">
                <a:latin typeface="Meiryo UI" panose="020B0604030504040204" pitchFamily="50" charset="-128"/>
                <a:ea typeface="Meiryo UI" panose="020B0604030504040204" pitchFamily="50" charset="-128"/>
              </a:rPr>
              <a:t>	6-6.</a:t>
            </a:r>
            <a:r>
              <a:rPr lang="ja-JP" altLang="en-US" dirty="0">
                <a:latin typeface="Meiryo UI" panose="020B0604030504040204" pitchFamily="50" charset="-128"/>
                <a:ea typeface="Meiryo UI" panose="020B0604030504040204" pitchFamily="50" charset="-128"/>
              </a:rPr>
              <a:t>共通コントロール開発方針</a:t>
            </a:r>
            <a:endParaRPr lang="en-US" altLang="ja-JP" dirty="0">
              <a:latin typeface="Meiryo UI" panose="020B0604030504040204" pitchFamily="50" charset="-128"/>
              <a:ea typeface="Meiryo UI" panose="020B0604030504040204" pitchFamily="50" charset="-128"/>
            </a:endParaRPr>
          </a:p>
          <a:p>
            <a:pPr lvl="1" indent="0">
              <a:buNone/>
            </a:pPr>
            <a:r>
              <a:rPr lang="en-US" altLang="ja-JP" dirty="0">
                <a:latin typeface="Meiryo UI" panose="020B0604030504040204" pitchFamily="50" charset="-128"/>
                <a:ea typeface="Meiryo UI" panose="020B0604030504040204" pitchFamily="50" charset="-128"/>
              </a:rPr>
              <a:t>	6-7.</a:t>
            </a:r>
            <a:r>
              <a:rPr lang="ja-JP" altLang="en-US" dirty="0">
                <a:latin typeface="Meiryo UI" panose="020B0604030504040204" pitchFamily="50" charset="-128"/>
                <a:ea typeface="Meiryo UI" panose="020B0604030504040204" pitchFamily="50" charset="-128"/>
              </a:rPr>
              <a:t>非機能要件</a:t>
            </a:r>
            <a:endParaRPr lang="en-US" altLang="ja-JP" dirty="0">
              <a:latin typeface="Meiryo UI" panose="020B0604030504040204" pitchFamily="50" charset="-128"/>
              <a:ea typeface="Meiryo UI" panose="020B0604030504040204" pitchFamily="50" charset="-128"/>
            </a:endParaRPr>
          </a:p>
          <a:p>
            <a:pPr lvl="1" indent="0">
              <a:buNone/>
            </a:pPr>
            <a:r>
              <a:rPr lang="en-US" altLang="ja-JP" dirty="0">
                <a:latin typeface="Meiryo UI" panose="020B0604030504040204" pitchFamily="50" charset="-128"/>
                <a:ea typeface="Meiryo UI" panose="020B0604030504040204" pitchFamily="50" charset="-128"/>
              </a:rPr>
              <a:t>	6-8.</a:t>
            </a:r>
            <a:r>
              <a:rPr lang="ja-JP" altLang="en-US" dirty="0">
                <a:latin typeface="Meiryo UI" panose="020B0604030504040204" pitchFamily="50" charset="-128"/>
                <a:ea typeface="Meiryo UI" panose="020B0604030504040204" pitchFamily="50" charset="-128"/>
              </a:rPr>
              <a:t>運用監視</a:t>
            </a:r>
            <a:endParaRPr lang="en-US" altLang="ja-JP" dirty="0">
              <a:latin typeface="Meiryo UI" panose="020B0604030504040204" pitchFamily="50" charset="-128"/>
              <a:ea typeface="Meiryo UI" panose="020B0604030504040204" pitchFamily="50" charset="-128"/>
            </a:endParaRPr>
          </a:p>
          <a:p>
            <a:pPr lvl="1" indent="0">
              <a:buNone/>
            </a:pPr>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6-9.</a:t>
            </a:r>
            <a:r>
              <a:rPr lang="ja-JP" altLang="en-US" dirty="0">
                <a:latin typeface="Meiryo UI" panose="020B0604030504040204" pitchFamily="50" charset="-128"/>
                <a:ea typeface="Meiryo UI" panose="020B0604030504040204" pitchFamily="50" charset="-128"/>
              </a:rPr>
              <a:t>設計書ラインナップ</a:t>
            </a:r>
            <a:endParaRPr lang="en-US" altLang="ja-JP"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７．プロジェクト推進</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7-1.DevOps</a:t>
            </a:r>
            <a:r>
              <a:rPr lang="ja-JP" altLang="en-US" sz="2400" dirty="0">
                <a:latin typeface="Meiryo UI" panose="020B0604030504040204" pitchFamily="50" charset="-128"/>
                <a:ea typeface="Meiryo UI" panose="020B0604030504040204" pitchFamily="50" charset="-128"/>
              </a:rPr>
              <a:t>モデルの導入による自動化推進</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7-2.</a:t>
            </a:r>
            <a:r>
              <a:rPr lang="ja-JP" altLang="en-US" sz="2400" dirty="0">
                <a:latin typeface="Meiryo UI" panose="020B0604030504040204" pitchFamily="50" charset="-128"/>
                <a:ea typeface="Meiryo UI" panose="020B0604030504040204" pitchFamily="50" charset="-128"/>
              </a:rPr>
              <a:t>移行・導入計画</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7-3.</a:t>
            </a:r>
            <a:r>
              <a:rPr lang="ja-JP" altLang="en-US" sz="2400" dirty="0">
                <a:latin typeface="Meiryo UI" panose="020B0604030504040204" pitchFamily="50" charset="-128"/>
                <a:ea typeface="Meiryo UI" panose="020B0604030504040204" pitchFamily="50" charset="-128"/>
              </a:rPr>
              <a:t>教育計画</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7-4.</a:t>
            </a:r>
            <a:r>
              <a:rPr lang="ja-JP" altLang="en-US" sz="2400" dirty="0">
                <a:latin typeface="Meiryo UI" panose="020B0604030504040204" pitchFamily="50" charset="-128"/>
                <a:ea typeface="Meiryo UI" panose="020B0604030504040204" pitchFamily="50" charset="-128"/>
              </a:rPr>
              <a:t>推進体制</a:t>
            </a:r>
            <a:endParaRPr lang="en-US" altLang="ja-JP" sz="2400" dirty="0">
              <a:latin typeface="Meiryo UI" panose="020B0604030504040204" pitchFamily="50" charset="-128"/>
              <a:ea typeface="Meiryo UI" panose="020B0604030504040204" pitchFamily="50" charset="-128"/>
            </a:endParaRPr>
          </a:p>
          <a:p>
            <a:pPr marL="0" indent="0">
              <a:buNone/>
            </a:pPr>
            <a:r>
              <a:rPr lang="en-US" altLang="ja-JP" sz="2400" dirty="0">
                <a:latin typeface="Meiryo UI" panose="020B0604030504040204" pitchFamily="50" charset="-128"/>
                <a:ea typeface="Meiryo UI" panose="020B0604030504040204" pitchFamily="50" charset="-128"/>
              </a:rPr>
              <a:t>	7-5.</a:t>
            </a:r>
            <a:r>
              <a:rPr lang="ja-JP" altLang="en-US" sz="2400" dirty="0">
                <a:latin typeface="Meiryo UI" panose="020B0604030504040204" pitchFamily="50" charset="-128"/>
                <a:ea typeface="Meiryo UI" panose="020B0604030504040204" pitchFamily="50" charset="-128"/>
              </a:rPr>
              <a:t>会議体</a:t>
            </a:r>
            <a:endParaRPr lang="en-US" altLang="ja-JP" sz="2400"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８．ロードマップ</a:t>
            </a:r>
            <a:endParaRPr lang="en-US" altLang="ja-JP" sz="2400" dirty="0">
              <a:latin typeface="Meiryo UI" panose="020B0604030504040204" pitchFamily="50" charset="-128"/>
              <a:ea typeface="Meiryo UI" panose="020B0604030504040204" pitchFamily="50" charset="-128"/>
            </a:endParaRPr>
          </a:p>
          <a:p>
            <a:pPr marL="0" indent="0">
              <a:buNone/>
            </a:pPr>
            <a:r>
              <a:rPr lang="ja-JP" altLang="en-US" sz="2400" dirty="0">
                <a:latin typeface="Meiryo UI" panose="020B0604030504040204" pitchFamily="50" charset="-128"/>
                <a:ea typeface="Meiryo UI" panose="020B0604030504040204" pitchFamily="50" charset="-128"/>
              </a:rPr>
              <a:t>９．決定事項一覧（別紙）</a:t>
            </a:r>
            <a:endParaRPr lang="en-US" altLang="ja-JP" sz="2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09609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1D196-A1D2-3F1B-33D0-2EDB3850EEE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9FF3C28C-7E23-9884-1017-42C59D49E823}"/>
              </a:ext>
            </a:extLst>
          </p:cNvPr>
          <p:cNvSpPr>
            <a:spLocks noGrp="1"/>
          </p:cNvSpPr>
          <p:nvPr>
            <p:ph type="ctrTitle"/>
          </p:nvPr>
        </p:nvSpPr>
        <p:spPr>
          <a:xfrm>
            <a:off x="0" y="2545492"/>
            <a:ext cx="18288000" cy="5906530"/>
          </a:xfrm>
        </p:spPr>
        <p:txBody>
          <a:bodyPr wrap="none" anchor="ctr">
            <a:normAutofit/>
          </a:bodyPr>
          <a:lstStyle/>
          <a:p>
            <a:pPr algn="l"/>
            <a:r>
              <a:rPr lang="ja-JP" altLang="en-US"/>
              <a:t>１</a:t>
            </a:r>
            <a:r>
              <a:rPr kumimoji="1" lang="ja-JP" altLang="en-US"/>
              <a:t>．はじめに</a:t>
            </a:r>
            <a:br>
              <a:rPr kumimoji="1" lang="en-US" altLang="ja-JP"/>
            </a:br>
            <a:r>
              <a:rPr kumimoji="1" lang="ja-JP" altLang="en-US"/>
              <a:t>２．</a:t>
            </a:r>
            <a:r>
              <a:rPr lang="ja-JP" altLang="en-US"/>
              <a:t>背景と目的：家電量販店の市況</a:t>
            </a:r>
            <a:br>
              <a:rPr lang="en-US" altLang="ja-JP"/>
            </a:br>
            <a:r>
              <a:rPr lang="ja-JP" altLang="en-US"/>
              <a:t>３．現状と課題</a:t>
            </a:r>
            <a:br>
              <a:rPr lang="en-US" altLang="ja-JP"/>
            </a:br>
            <a:r>
              <a:rPr lang="ja-JP" altLang="en-US"/>
              <a:t>４．グランドデザインの目標</a:t>
            </a:r>
            <a:endParaRPr kumimoji="1" lang="ja-JP" altLang="en-US"/>
          </a:p>
        </p:txBody>
      </p:sp>
      <p:sp>
        <p:nvSpPr>
          <p:cNvPr id="6" name="フッター プレースホルダー 5">
            <a:extLst>
              <a:ext uri="{FF2B5EF4-FFF2-40B4-BE49-F238E27FC236}">
                <a16:creationId xmlns:a16="http://schemas.microsoft.com/office/drawing/2014/main" id="{0C64B098-9814-A757-A41E-D6197028AAFB}"/>
              </a:ext>
            </a:extLst>
          </p:cNvPr>
          <p:cNvSpPr>
            <a:spLocks noGrp="1"/>
          </p:cNvSpPr>
          <p:nvPr>
            <p:ph type="ftr" sz="quarter" idx="16"/>
          </p:nvPr>
        </p:nvSpPr>
        <p:spPr>
          <a:xfrm>
            <a:off x="14294731" y="9903315"/>
            <a:ext cx="2619755" cy="378000"/>
          </a:xfrm>
        </p:spPr>
        <p:txBody>
          <a:bodyPr anchor="ctr">
            <a:normAutofit/>
          </a:bodyPr>
          <a:lstStyle/>
          <a:p>
            <a:pPr>
              <a:spcAft>
                <a:spcPts val="600"/>
              </a:spcAft>
            </a:pPr>
            <a:r>
              <a:rPr kumimoji="1" lang="en-US" altLang="ja-JP"/>
              <a:t>Confidential </a:t>
            </a:r>
            <a:endParaRPr kumimoji="1" lang="ja-JP" altLang="en-US"/>
          </a:p>
        </p:txBody>
      </p:sp>
      <p:sp>
        <p:nvSpPr>
          <p:cNvPr id="3" name="スライド番号プレースホルダー 2" hidden="1">
            <a:extLst>
              <a:ext uri="{FF2B5EF4-FFF2-40B4-BE49-F238E27FC236}">
                <a16:creationId xmlns:a16="http://schemas.microsoft.com/office/drawing/2014/main" id="{36DAF98D-F972-72EE-D8EA-5723A8E960F4}"/>
              </a:ext>
            </a:extLst>
          </p:cNvPr>
          <p:cNvSpPr>
            <a:spLocks noGrp="1"/>
          </p:cNvSpPr>
          <p:nvPr>
            <p:ph type="sldNum" sz="quarter" idx="4294967295"/>
          </p:nvPr>
        </p:nvSpPr>
        <p:spPr>
          <a:xfrm>
            <a:off x="17069400" y="9936000"/>
            <a:ext cx="810000" cy="324000"/>
          </a:xfrm>
        </p:spPr>
        <p:txBody>
          <a:bodyPr/>
          <a:lstStyle/>
          <a:p>
            <a:pPr>
              <a:spcAft>
                <a:spcPts val="600"/>
              </a:spcAft>
            </a:pPr>
            <a:fld id="{2A9E37A5-A917-4235-ABF6-8CD72E894915}" type="slidenum">
              <a:rPr kumimoji="1" lang="ja-JP" altLang="en-US" smtClean="0"/>
              <a:pPr>
                <a:spcAft>
                  <a:spcPts val="600"/>
                </a:spcAft>
              </a:pPr>
              <a:t>7</a:t>
            </a:fld>
            <a:endParaRPr kumimoji="1" lang="ja-JP" altLang="en-US"/>
          </a:p>
        </p:txBody>
      </p:sp>
    </p:spTree>
    <p:extLst>
      <p:ext uri="{BB962C8B-B14F-4D97-AF65-F5344CB8AC3E}">
        <p14:creationId xmlns:p14="http://schemas.microsoft.com/office/powerpoint/2010/main" val="1723055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１．はじめに</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8</a:t>
            </a:fld>
            <a:endParaRPr lang="ja-JP" altLang="en-US"/>
          </a:p>
        </p:txBody>
      </p:sp>
      <p:sp>
        <p:nvSpPr>
          <p:cNvPr id="6" name="テキスト ボックス 5">
            <a:extLst>
              <a:ext uri="{FF2B5EF4-FFF2-40B4-BE49-F238E27FC236}">
                <a16:creationId xmlns:a16="http://schemas.microsoft.com/office/drawing/2014/main" id="{BE0AD2C4-33DE-E266-7F7F-544AEAA1BA75}"/>
              </a:ext>
            </a:extLst>
          </p:cNvPr>
          <p:cNvSpPr txBox="1"/>
          <p:nvPr/>
        </p:nvSpPr>
        <p:spPr>
          <a:xfrm>
            <a:off x="463733" y="1515668"/>
            <a:ext cx="7102479" cy="3285515"/>
          </a:xfrm>
          <a:prstGeom prst="rect">
            <a:avLst/>
          </a:prstGeom>
          <a:noFill/>
        </p:spPr>
        <p:txBody>
          <a:bodyPr wrap="square" rtlCol="0">
            <a:spAutoFit/>
          </a:bodyPr>
          <a:lstStyle/>
          <a:p>
            <a:pPr>
              <a:lnSpc>
                <a:spcPct val="150000"/>
              </a:lnSpc>
            </a:pPr>
            <a:r>
              <a:rPr lang="ja-JP" altLang="en-US" sz="2000">
                <a:latin typeface="メイリオ" panose="020B0604030504040204" pitchFamily="50" charset="-128"/>
                <a:ea typeface="メイリオ" panose="020B0604030504040204" pitchFamily="50" charset="-128"/>
              </a:rPr>
              <a:t>ケーズホールディングスの</a:t>
            </a:r>
            <a:r>
              <a:rPr lang="en-US" altLang="ja-JP" sz="2000">
                <a:latin typeface="メイリオ" panose="020B0604030504040204" pitchFamily="50" charset="-128"/>
                <a:ea typeface="メイリオ" panose="020B0604030504040204" pitchFamily="50" charset="-128"/>
              </a:rPr>
              <a:t>POS</a:t>
            </a:r>
            <a:r>
              <a:rPr lang="ja-JP" altLang="en-US" sz="2000">
                <a:latin typeface="メイリオ" panose="020B0604030504040204" pitchFamily="50" charset="-128"/>
                <a:ea typeface="メイリオ" panose="020B0604030504040204" pitchFamily="50" charset="-128"/>
              </a:rPr>
              <a:t>システムは、現場スタッフが使いやすいように設計されていますが、システムの複雑化により新しいニーズに迅速に応えることが難しくなっています。</a:t>
            </a:r>
            <a:endParaRPr lang="en-US" altLang="ja-JP" sz="2000">
              <a:latin typeface="メイリオ" panose="020B0604030504040204" pitchFamily="50" charset="-128"/>
              <a:ea typeface="メイリオ" panose="020B0604030504040204" pitchFamily="50" charset="-128"/>
            </a:endParaRPr>
          </a:p>
          <a:p>
            <a:pPr>
              <a:lnSpc>
                <a:spcPct val="150000"/>
              </a:lnSpc>
            </a:pPr>
            <a:endParaRPr lang="en-US" altLang="ja-JP" sz="2000">
              <a:latin typeface="メイリオ" panose="020B0604030504040204" pitchFamily="50" charset="-128"/>
              <a:ea typeface="メイリオ" panose="020B0604030504040204" pitchFamily="50" charset="-128"/>
            </a:endParaRPr>
          </a:p>
          <a:p>
            <a:pPr>
              <a:lnSpc>
                <a:spcPct val="150000"/>
              </a:lnSpc>
            </a:pPr>
            <a:r>
              <a:rPr lang="ja-JP" altLang="en-US" sz="2000">
                <a:latin typeface="メイリオ" panose="020B0604030504040204" pitchFamily="50" charset="-128"/>
                <a:ea typeface="メイリオ" panose="020B0604030504040204" pitchFamily="50" charset="-128"/>
              </a:rPr>
              <a:t>本プロジェクトでは、誰でも直感的に操作できるシステムを構築し、効率的で柔軟な店舗運営を可能にすることを目指します。</a:t>
            </a:r>
            <a:endParaRPr lang="en-US" altLang="ja-JP" sz="2000">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F68BF858-FDFF-4E1B-AD37-A993ED34E8A2}"/>
              </a:ext>
            </a:extLst>
          </p:cNvPr>
          <p:cNvPicPr>
            <a:picLocks noChangeAspect="1"/>
          </p:cNvPicPr>
          <p:nvPr/>
        </p:nvPicPr>
        <p:blipFill>
          <a:blip r:embed="rId2"/>
          <a:stretch>
            <a:fillRect/>
          </a:stretch>
        </p:blipFill>
        <p:spPr>
          <a:xfrm>
            <a:off x="7827353" y="1506703"/>
            <a:ext cx="10196096" cy="6409132"/>
          </a:xfrm>
          <a:prstGeom prst="rect">
            <a:avLst/>
          </a:prstGeom>
          <a:ln>
            <a:noFill/>
          </a:ln>
          <a:effectLst>
            <a:outerShdw blurRad="292100" dist="139700" dir="2700000" algn="tl" rotWithShape="0">
              <a:srgbClr val="333333">
                <a:alpha val="65000"/>
              </a:srgbClr>
            </a:outerShdw>
          </a:effectLst>
        </p:spPr>
      </p:pic>
      <p:sp>
        <p:nvSpPr>
          <p:cNvPr id="5" name="テキスト ボックス 4">
            <a:extLst>
              <a:ext uri="{FF2B5EF4-FFF2-40B4-BE49-F238E27FC236}">
                <a16:creationId xmlns:a16="http://schemas.microsoft.com/office/drawing/2014/main" id="{CBF8BFB8-8E5B-85A1-7FE6-7B0F3864CFDF}"/>
              </a:ext>
            </a:extLst>
          </p:cNvPr>
          <p:cNvSpPr txBox="1"/>
          <p:nvPr/>
        </p:nvSpPr>
        <p:spPr>
          <a:xfrm>
            <a:off x="383400" y="8526244"/>
            <a:ext cx="17640049" cy="977191"/>
          </a:xfrm>
          <a:prstGeom prst="rect">
            <a:avLst/>
          </a:prstGeom>
          <a:noFill/>
        </p:spPr>
        <p:txBody>
          <a:bodyPr wrap="square" rtlCol="0">
            <a:spAutoFit/>
          </a:bodyPr>
          <a:lstStyle/>
          <a:p>
            <a:pPr>
              <a:lnSpc>
                <a:spcPct val="150000"/>
              </a:lnSpc>
            </a:pPr>
            <a:r>
              <a:rPr lang="ja-JP" altLang="en-US" sz="2000">
                <a:latin typeface="メイリオ" panose="020B0604030504040204" pitchFamily="50" charset="-128"/>
                <a:ea typeface="メイリオ" panose="020B0604030504040204" pitchFamily="50" charset="-128"/>
              </a:rPr>
              <a:t>本書では「タブレット</a:t>
            </a:r>
            <a:r>
              <a:rPr lang="en-US" altLang="ja-JP" sz="2000">
                <a:latin typeface="メイリオ" panose="020B0604030504040204" pitchFamily="50" charset="-128"/>
                <a:ea typeface="メイリオ" panose="020B0604030504040204" pitchFamily="50" charset="-128"/>
              </a:rPr>
              <a:t>POS</a:t>
            </a:r>
            <a:r>
              <a:rPr lang="ja-JP" altLang="en-US" sz="2000">
                <a:latin typeface="メイリオ" panose="020B0604030504040204" pitchFamily="50" charset="-128"/>
                <a:ea typeface="メイリオ" panose="020B0604030504040204" pitchFamily="50" charset="-128"/>
              </a:rPr>
              <a:t>フェーズ１」プロジェクトをターゲットとして概要と方針を整理し、関係者間で共有することを目的としています。</a:t>
            </a:r>
            <a:endParaRPr lang="en-US" altLang="ja-JP" sz="2000">
              <a:latin typeface="メイリオ" panose="020B0604030504040204" pitchFamily="50" charset="-128"/>
              <a:ea typeface="メイリオ" panose="020B0604030504040204" pitchFamily="50" charset="-128"/>
            </a:endParaRPr>
          </a:p>
          <a:p>
            <a:pPr>
              <a:lnSpc>
                <a:spcPct val="150000"/>
              </a:lnSpc>
            </a:pPr>
            <a:r>
              <a:rPr lang="ja-JP" altLang="en-US" sz="2000">
                <a:latin typeface="メイリオ" panose="020B0604030504040204" pitchFamily="50" charset="-128"/>
                <a:ea typeface="メイリオ" panose="020B0604030504040204" pitchFamily="50" charset="-128"/>
              </a:rPr>
              <a:t>本プロジェクトで決定した方針は本書に反映していきます。</a:t>
            </a:r>
            <a:endParaRPr lang="en-US" altLang="ja-JP" sz="2000">
              <a:latin typeface="メイリオ" panose="020B0604030504040204" pitchFamily="50" charset="-128"/>
              <a:ea typeface="メイリオ" panose="020B0604030504040204" pitchFamily="50" charset="-128"/>
            </a:endParaRPr>
          </a:p>
        </p:txBody>
      </p:sp>
      <p:sp>
        <p:nvSpPr>
          <p:cNvPr id="7" name="フッター プレースホルダー 3">
            <a:extLst>
              <a:ext uri="{FF2B5EF4-FFF2-40B4-BE49-F238E27FC236}">
                <a16:creationId xmlns:a16="http://schemas.microsoft.com/office/drawing/2014/main" id="{8775E913-D5B7-0035-4912-D6137BE060F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8" name="テキスト プレースホルダー 11">
            <a:extLst>
              <a:ext uri="{FF2B5EF4-FFF2-40B4-BE49-F238E27FC236}">
                <a16:creationId xmlns:a16="http://schemas.microsoft.com/office/drawing/2014/main" id="{9EE71578-F34C-FB71-E420-F10B542108F3}"/>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10" name="テキスト ボックス 9">
            <a:extLst>
              <a:ext uri="{FF2B5EF4-FFF2-40B4-BE49-F238E27FC236}">
                <a16:creationId xmlns:a16="http://schemas.microsoft.com/office/drawing/2014/main" id="{F37E7CF1-21EB-19B9-FD35-B6353951B074}"/>
              </a:ext>
            </a:extLst>
          </p:cNvPr>
          <p:cNvSpPr txBox="1"/>
          <p:nvPr/>
        </p:nvSpPr>
        <p:spPr>
          <a:xfrm>
            <a:off x="8667668" y="8016903"/>
            <a:ext cx="9211732" cy="307777"/>
          </a:xfrm>
          <a:prstGeom prst="rect">
            <a:avLst/>
          </a:prstGeom>
          <a:noFill/>
        </p:spPr>
        <p:txBody>
          <a:bodyPr wrap="square">
            <a:spAutoFit/>
          </a:bodyPr>
          <a:lstStyle/>
          <a:p>
            <a:pPr algn="r"/>
            <a:r>
              <a:rPr lang="en-US" altLang="ja-JP" sz="1400" spc="-1">
                <a:solidFill>
                  <a:srgbClr val="59574C"/>
                </a:solidFill>
                <a:latin typeface="Meiryo UI"/>
                <a:ea typeface="Meiryo UI"/>
              </a:rPr>
              <a:t>22.12.12</a:t>
            </a:r>
            <a:r>
              <a:rPr lang="ja-JP" altLang="en-US" sz="1400" spc="-1">
                <a:solidFill>
                  <a:srgbClr val="59574C"/>
                </a:solidFill>
                <a:latin typeface="Meiryo UI"/>
                <a:ea typeface="Meiryo UI"/>
              </a:rPr>
              <a:t>ケーズホールディングス様資料より</a:t>
            </a:r>
            <a:endParaRPr lang="ja-JP" altLang="en-US" sz="1400"/>
          </a:p>
        </p:txBody>
      </p:sp>
    </p:spTree>
    <p:extLst>
      <p:ext uri="{BB962C8B-B14F-4D97-AF65-F5344CB8AC3E}">
        <p14:creationId xmlns:p14="http://schemas.microsoft.com/office/powerpoint/2010/main" val="310998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EA20-87B0-5E65-C63A-3E7D510862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285204-D1D3-5718-1FBC-A5628664AA0A}"/>
              </a:ext>
            </a:extLst>
          </p:cNvPr>
          <p:cNvSpPr>
            <a:spLocks noGrp="1"/>
          </p:cNvSpPr>
          <p:nvPr>
            <p:ph type="title"/>
          </p:nvPr>
        </p:nvSpPr>
        <p:spPr/>
        <p:txBody>
          <a:bodyPr/>
          <a:lstStyle/>
          <a:p>
            <a:r>
              <a:rPr lang="ja-JP" altLang="en-US"/>
              <a:t>２．背景と目的：家電量販店の市況</a:t>
            </a:r>
            <a:endParaRPr kumimoji="1" lang="ja-JP" altLang="en-US"/>
          </a:p>
        </p:txBody>
      </p:sp>
      <p:sp>
        <p:nvSpPr>
          <p:cNvPr id="4" name="スライド番号プレースホルダー 3">
            <a:extLst>
              <a:ext uri="{FF2B5EF4-FFF2-40B4-BE49-F238E27FC236}">
                <a16:creationId xmlns:a16="http://schemas.microsoft.com/office/drawing/2014/main" id="{9595EE4A-C850-0F67-7AF7-FDB460E05700}"/>
              </a:ext>
            </a:extLst>
          </p:cNvPr>
          <p:cNvSpPr>
            <a:spLocks noGrp="1"/>
          </p:cNvSpPr>
          <p:nvPr>
            <p:ph type="sldNum" sz="quarter" idx="12"/>
          </p:nvPr>
        </p:nvSpPr>
        <p:spPr/>
        <p:txBody>
          <a:bodyPr/>
          <a:lstStyle/>
          <a:p>
            <a:fld id="{2A9E37A5-A917-4235-ABF6-8CD72E894915}" type="slidenum">
              <a:rPr lang="en-US" altLang="ja-JP" smtClean="0"/>
              <a:pPr/>
              <a:t>9</a:t>
            </a:fld>
            <a:endParaRPr lang="en-US"/>
          </a:p>
        </p:txBody>
      </p:sp>
      <p:sp>
        <p:nvSpPr>
          <p:cNvPr id="5" name="フッター プレースホルダー 4">
            <a:extLst>
              <a:ext uri="{FF2B5EF4-FFF2-40B4-BE49-F238E27FC236}">
                <a16:creationId xmlns:a16="http://schemas.microsoft.com/office/drawing/2014/main" id="{E2C04DCC-76B6-C46D-81A9-4AAF821239A4}"/>
              </a:ext>
            </a:extLst>
          </p:cNvPr>
          <p:cNvSpPr>
            <a:spLocks noGrp="1"/>
          </p:cNvSpPr>
          <p:nvPr>
            <p:ph type="ftr" sz="quarter" idx="11"/>
          </p:nvPr>
        </p:nvSpPr>
        <p:spPr/>
        <p:txBody>
          <a:bodyPr/>
          <a:lstStyle/>
          <a:p>
            <a:r>
              <a:rPr lang="en-US"/>
              <a:t>Confidential </a:t>
            </a:r>
            <a:endParaRPr lang="en-US" altLang="ja-JP"/>
          </a:p>
        </p:txBody>
      </p:sp>
      <p:sp>
        <p:nvSpPr>
          <p:cNvPr id="32" name="正方形/長方形 31">
            <a:extLst>
              <a:ext uri="{FF2B5EF4-FFF2-40B4-BE49-F238E27FC236}">
                <a16:creationId xmlns:a16="http://schemas.microsoft.com/office/drawing/2014/main" id="{1ACD1F63-C144-FC0F-35E7-7B96EA245DA6}"/>
              </a:ext>
            </a:extLst>
          </p:cNvPr>
          <p:cNvSpPr/>
          <p:nvPr/>
        </p:nvSpPr>
        <p:spPr>
          <a:xfrm>
            <a:off x="3434351" y="1214300"/>
            <a:ext cx="5588003" cy="7267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現状</a:t>
            </a:r>
          </a:p>
        </p:txBody>
      </p:sp>
      <p:sp>
        <p:nvSpPr>
          <p:cNvPr id="33" name="正方形/長方形 32">
            <a:extLst>
              <a:ext uri="{FF2B5EF4-FFF2-40B4-BE49-F238E27FC236}">
                <a16:creationId xmlns:a16="http://schemas.microsoft.com/office/drawing/2014/main" id="{B06EBF0C-76A2-B8A5-9D31-172AED13181C}"/>
              </a:ext>
            </a:extLst>
          </p:cNvPr>
          <p:cNvSpPr/>
          <p:nvPr/>
        </p:nvSpPr>
        <p:spPr>
          <a:xfrm>
            <a:off x="11250861" y="1214300"/>
            <a:ext cx="5588003" cy="7267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主な取り組み</a:t>
            </a:r>
          </a:p>
        </p:txBody>
      </p:sp>
      <p:sp>
        <p:nvSpPr>
          <p:cNvPr id="34" name="正方形/長方形 33">
            <a:extLst>
              <a:ext uri="{FF2B5EF4-FFF2-40B4-BE49-F238E27FC236}">
                <a16:creationId xmlns:a16="http://schemas.microsoft.com/office/drawing/2014/main" id="{AEC2F80C-512D-6281-A488-7B04101ADCF6}"/>
              </a:ext>
            </a:extLst>
          </p:cNvPr>
          <p:cNvSpPr/>
          <p:nvPr/>
        </p:nvSpPr>
        <p:spPr>
          <a:xfrm>
            <a:off x="3434351" y="2058590"/>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国内の家電小売市場規模は２０２０年をピークに頭打ち・微減傾向にあり、</a:t>
            </a:r>
            <a:r>
              <a:rPr lang="en-US" altLang="ja-JP" sz="1800">
                <a:solidFill>
                  <a:schemeClr val="tx1"/>
                </a:solidFill>
                <a:latin typeface="Meiryo UI" panose="020B0604030504040204" pitchFamily="50" charset="-128"/>
                <a:ea typeface="Meiryo UI" panose="020B0604030504040204" pitchFamily="50" charset="-128"/>
              </a:rPr>
              <a:t>2024</a:t>
            </a:r>
            <a:r>
              <a:rPr lang="ja-JP" altLang="en-US" sz="1800">
                <a:solidFill>
                  <a:schemeClr val="tx1"/>
                </a:solidFill>
                <a:latin typeface="Meiryo UI" panose="020B0604030504040204" pitchFamily="50" charset="-128"/>
                <a:ea typeface="Meiryo UI" panose="020B0604030504040204" pitchFamily="50" charset="-128"/>
              </a:rPr>
              <a:t>年の国内家電小売市場は前年から約</a:t>
            </a:r>
            <a:r>
              <a:rPr lang="en-US" altLang="ja-JP" sz="1800">
                <a:solidFill>
                  <a:schemeClr val="tx1"/>
                </a:solidFill>
                <a:latin typeface="Meiryo UI" panose="020B0604030504040204" pitchFamily="50" charset="-128"/>
                <a:ea typeface="Meiryo UI" panose="020B0604030504040204" pitchFamily="50" charset="-128"/>
              </a:rPr>
              <a:t>1.1%</a:t>
            </a:r>
            <a:r>
              <a:rPr lang="ja-JP" altLang="en-US" sz="1800">
                <a:solidFill>
                  <a:schemeClr val="tx1"/>
                </a:solidFill>
                <a:latin typeface="Meiryo UI" panose="020B0604030504040204" pitchFamily="50" charset="-128"/>
                <a:ea typeface="Meiryo UI" panose="020B0604030504040204" pitchFamily="50" charset="-128"/>
              </a:rPr>
              <a:t>の減少している。また、人口減少・世帯数減少、そして家電の買い替えサイクルの長期化も影響しており、</a:t>
            </a:r>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a:solidFill>
                  <a:schemeClr val="tx1"/>
                </a:solidFill>
                <a:latin typeface="Meiryo UI" panose="020B0604030504040204" pitchFamily="50" charset="-128"/>
                <a:ea typeface="Meiryo UI" panose="020B0604030504040204" pitchFamily="50" charset="-128"/>
              </a:rPr>
              <a:t>量で売上を伸ばすのは難しい状況。</a:t>
            </a:r>
          </a:p>
        </p:txBody>
      </p:sp>
      <p:sp>
        <p:nvSpPr>
          <p:cNvPr id="35" name="正方形/長方形 34">
            <a:extLst>
              <a:ext uri="{FF2B5EF4-FFF2-40B4-BE49-F238E27FC236}">
                <a16:creationId xmlns:a16="http://schemas.microsoft.com/office/drawing/2014/main" id="{3ED59ABB-C39B-16EF-75A6-28D60A3B2B4D}"/>
              </a:ext>
            </a:extLst>
          </p:cNvPr>
          <p:cNvSpPr/>
          <p:nvPr/>
        </p:nvSpPr>
        <p:spPr>
          <a:xfrm>
            <a:off x="11250861" y="2058590"/>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家電以外の領域（住まいのリフォーム、スマートホーム、サービス契約、サブスク、リユース、</a:t>
            </a:r>
            <a:r>
              <a:rPr lang="en-US" altLang="ja-JP" sz="1800">
                <a:solidFill>
                  <a:schemeClr val="tx1"/>
                </a:solidFill>
                <a:latin typeface="Meiryo UI" panose="020B0604030504040204" pitchFamily="50" charset="-128"/>
                <a:ea typeface="Meiryo UI" panose="020B0604030504040204" pitchFamily="50" charset="-128"/>
              </a:rPr>
              <a:t>IoT</a:t>
            </a:r>
            <a:r>
              <a:rPr lang="ja-JP" altLang="en-US" sz="1800">
                <a:solidFill>
                  <a:schemeClr val="tx1"/>
                </a:solidFill>
                <a:latin typeface="Meiryo UI" panose="020B0604030504040204" pitchFamily="50" charset="-128"/>
                <a:ea typeface="Meiryo UI" panose="020B0604030504040204" pitchFamily="50" charset="-128"/>
              </a:rPr>
              <a:t>連携など）へ展開する動きが強まっている。</a:t>
            </a:r>
          </a:p>
          <a:p>
            <a:r>
              <a:rPr lang="ja-JP" altLang="en-US" sz="1800">
                <a:solidFill>
                  <a:schemeClr val="tx1"/>
                </a:solidFill>
                <a:latin typeface="Meiryo UI" panose="020B0604030504040204" pitchFamily="50" charset="-128"/>
                <a:ea typeface="Meiryo UI" panose="020B0604030504040204" pitchFamily="50" charset="-128"/>
              </a:rPr>
              <a:t>また、都市部店舗強化、地方への波及、ロードサイドと駅前型の使い分け、郊外店舗の集客力維持という観点から店舗フォーマットを見直す動きが強まっている。</a:t>
            </a:r>
          </a:p>
        </p:txBody>
      </p:sp>
      <p:sp>
        <p:nvSpPr>
          <p:cNvPr id="36" name="正方形/長方形 35">
            <a:extLst>
              <a:ext uri="{FF2B5EF4-FFF2-40B4-BE49-F238E27FC236}">
                <a16:creationId xmlns:a16="http://schemas.microsoft.com/office/drawing/2014/main" id="{9CCAC8BF-F4A4-AE75-93C0-46D9286E21B1}"/>
              </a:ext>
            </a:extLst>
          </p:cNvPr>
          <p:cNvSpPr/>
          <p:nvPr/>
        </p:nvSpPr>
        <p:spPr>
          <a:xfrm>
            <a:off x="3434351" y="4037012"/>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多くのチェーンが「薄利多売」モデルになっており、差別化が難しいため価格競争に陥っている。</a:t>
            </a:r>
          </a:p>
        </p:txBody>
      </p:sp>
      <p:sp>
        <p:nvSpPr>
          <p:cNvPr id="37" name="正方形/長方形 36">
            <a:extLst>
              <a:ext uri="{FF2B5EF4-FFF2-40B4-BE49-F238E27FC236}">
                <a16:creationId xmlns:a16="http://schemas.microsoft.com/office/drawing/2014/main" id="{3769CD3A-180C-9F98-2CCC-73DBBC3B8341}"/>
              </a:ext>
            </a:extLst>
          </p:cNvPr>
          <p:cNvSpPr/>
          <p:nvPr/>
        </p:nvSpPr>
        <p:spPr>
          <a:xfrm>
            <a:off x="11250861" y="4037012"/>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量を取るモデルから、利益を取るモデルへ変革している。</a:t>
            </a:r>
            <a:br>
              <a:rPr lang="en-US" altLang="ja-JP" sz="1800">
                <a:solidFill>
                  <a:schemeClr val="tx1"/>
                </a:solidFill>
                <a:latin typeface="Meiryo UI" panose="020B0604030504040204" pitchFamily="50" charset="-128"/>
                <a:ea typeface="Meiryo UI" panose="020B0604030504040204" pitchFamily="50" charset="-128"/>
              </a:rPr>
            </a:br>
            <a:r>
              <a:rPr lang="ja-JP" altLang="en-US" sz="1800">
                <a:solidFill>
                  <a:schemeClr val="tx1"/>
                </a:solidFill>
                <a:latin typeface="Meiryo UI" panose="020B0604030504040204" pitchFamily="50" charset="-128"/>
                <a:ea typeface="Meiryo UI" panose="020B0604030504040204" pitchFamily="50" charset="-128"/>
              </a:rPr>
              <a:t>単に安く売るだけでは差がつかないため、接客力、設置・アフターサービス、体験コーナー、デモ実演などを強化している。特に、高価格・高機能家電や</a:t>
            </a:r>
            <a:r>
              <a:rPr lang="en-US" altLang="ja-JP" sz="1800">
                <a:solidFill>
                  <a:schemeClr val="tx1"/>
                </a:solidFill>
                <a:latin typeface="Meiryo UI" panose="020B0604030504040204" pitchFamily="50" charset="-128"/>
                <a:ea typeface="Meiryo UI" panose="020B0604030504040204" pitchFamily="50" charset="-128"/>
              </a:rPr>
              <a:t>IoT</a:t>
            </a:r>
            <a:r>
              <a:rPr lang="ja-JP" altLang="en-US" sz="1800">
                <a:solidFill>
                  <a:schemeClr val="tx1"/>
                </a:solidFill>
                <a:latin typeface="Meiryo UI" panose="020B0604030504040204" pitchFamily="50" charset="-128"/>
                <a:ea typeface="Meiryo UI" panose="020B0604030504040204" pitchFamily="50" charset="-128"/>
              </a:rPr>
              <a:t>家電への対応、製品を「見る・触る・試せる」場を提供している。</a:t>
            </a:r>
          </a:p>
        </p:txBody>
      </p:sp>
      <p:sp>
        <p:nvSpPr>
          <p:cNvPr id="38" name="正方形/長方形 37">
            <a:extLst>
              <a:ext uri="{FF2B5EF4-FFF2-40B4-BE49-F238E27FC236}">
                <a16:creationId xmlns:a16="http://schemas.microsoft.com/office/drawing/2014/main" id="{773EE2A1-DCF6-8E8F-6384-9C52A4A2BA5B}"/>
              </a:ext>
            </a:extLst>
          </p:cNvPr>
          <p:cNvSpPr/>
          <p:nvPr/>
        </p:nvSpPr>
        <p:spPr>
          <a:xfrm>
            <a:off x="3434351" y="6015434"/>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家電購入において、価格比較サイトで最安値を確認し、配送・設置サービスまで含めてオンラインで完結させる消費者が一般化。これにより、実店舗で商品を確認してからオンラインで購入する「ショールーミング」が定着。家電量販店のビジネスモデルに大きな打撃を与えている。</a:t>
            </a:r>
            <a:endParaRPr lang="ja-JP" altLang="en-US" sz="2000">
              <a:solidFill>
                <a:schemeClr val="tx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1A5AFCD2-789A-ED36-8C9E-DB8BE7C14256}"/>
              </a:ext>
            </a:extLst>
          </p:cNvPr>
          <p:cNvSpPr/>
          <p:nvPr/>
        </p:nvSpPr>
        <p:spPr>
          <a:xfrm>
            <a:off x="11250861" y="6015434"/>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実店舗＋オンラインを連携させた「店舗受け取り」「即日配送」「ネット在庫・店頭在庫の統合」などが進んでいる。また、実演販売・店頭ライブ配信といった仕組みで、実店舗を「体験・接点」強化の場に変える動きもある。</a:t>
            </a:r>
          </a:p>
        </p:txBody>
      </p:sp>
      <p:sp>
        <p:nvSpPr>
          <p:cNvPr id="40" name="正方形/長方形 39">
            <a:extLst>
              <a:ext uri="{FF2B5EF4-FFF2-40B4-BE49-F238E27FC236}">
                <a16:creationId xmlns:a16="http://schemas.microsoft.com/office/drawing/2014/main" id="{09CB4908-3AEC-B19B-A8D6-A2CE2CB18711}"/>
              </a:ext>
            </a:extLst>
          </p:cNvPr>
          <p:cNvSpPr/>
          <p:nvPr/>
        </p:nvSpPr>
        <p:spPr>
          <a:xfrm>
            <a:off x="368968" y="2058590"/>
            <a:ext cx="2839452" cy="1879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市場縮小・</a:t>
            </a:r>
            <a:br>
              <a:rPr lang="en-US" altLang="ja-JP" sz="2800" b="1">
                <a:solidFill>
                  <a:schemeClr val="tx1"/>
                </a:solidFill>
                <a:latin typeface="Meiryo UI" panose="020B0604030504040204" pitchFamily="50" charset="-128"/>
                <a:ea typeface="Meiryo UI" panose="020B0604030504040204" pitchFamily="50" charset="-128"/>
              </a:rPr>
            </a:br>
            <a:r>
              <a:rPr lang="ja-JP" altLang="en-US" sz="2800" b="1">
                <a:solidFill>
                  <a:schemeClr val="tx1"/>
                </a:solidFill>
                <a:latin typeface="Meiryo UI" panose="020B0604030504040204" pitchFamily="50" charset="-128"/>
                <a:ea typeface="Meiryo UI" panose="020B0604030504040204" pitchFamily="50" charset="-128"/>
              </a:rPr>
              <a:t>成熟化</a:t>
            </a:r>
          </a:p>
        </p:txBody>
      </p:sp>
      <p:sp>
        <p:nvSpPr>
          <p:cNvPr id="41" name="正方形/長方形 40">
            <a:extLst>
              <a:ext uri="{FF2B5EF4-FFF2-40B4-BE49-F238E27FC236}">
                <a16:creationId xmlns:a16="http://schemas.microsoft.com/office/drawing/2014/main" id="{0404B287-28F7-58EB-0805-D26C4B9D6218}"/>
              </a:ext>
            </a:extLst>
          </p:cNvPr>
          <p:cNvSpPr/>
          <p:nvPr/>
        </p:nvSpPr>
        <p:spPr>
          <a:xfrm>
            <a:off x="368968" y="4037012"/>
            <a:ext cx="2839452" cy="1879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価格競争・</a:t>
            </a:r>
            <a:br>
              <a:rPr lang="en-US" altLang="ja-JP" sz="2800" b="1">
                <a:solidFill>
                  <a:schemeClr val="tx1"/>
                </a:solidFill>
                <a:latin typeface="Meiryo UI" panose="020B0604030504040204" pitchFamily="50" charset="-128"/>
                <a:ea typeface="Meiryo UI" panose="020B0604030504040204" pitchFamily="50" charset="-128"/>
              </a:rPr>
            </a:br>
            <a:r>
              <a:rPr lang="ja-JP" altLang="en-US" sz="2800" b="1">
                <a:solidFill>
                  <a:schemeClr val="tx1"/>
                </a:solidFill>
                <a:latin typeface="Meiryo UI" panose="020B0604030504040204" pitchFamily="50" charset="-128"/>
                <a:ea typeface="Meiryo UI" panose="020B0604030504040204" pitchFamily="50" charset="-128"/>
              </a:rPr>
              <a:t>収益力低下</a:t>
            </a:r>
          </a:p>
        </p:txBody>
      </p:sp>
      <p:sp>
        <p:nvSpPr>
          <p:cNvPr id="42" name="正方形/長方形 41">
            <a:extLst>
              <a:ext uri="{FF2B5EF4-FFF2-40B4-BE49-F238E27FC236}">
                <a16:creationId xmlns:a16="http://schemas.microsoft.com/office/drawing/2014/main" id="{459738B4-145D-AF87-C2D5-FFC9936D3F0F}"/>
              </a:ext>
            </a:extLst>
          </p:cNvPr>
          <p:cNvSpPr/>
          <p:nvPr/>
        </p:nvSpPr>
        <p:spPr>
          <a:xfrm>
            <a:off x="368968" y="6015434"/>
            <a:ext cx="2839452" cy="1879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b="1">
                <a:solidFill>
                  <a:schemeClr val="tx1"/>
                </a:solidFill>
                <a:latin typeface="Meiryo UI" panose="020B0604030504040204" pitchFamily="50" charset="-128"/>
                <a:ea typeface="Meiryo UI" panose="020B0604030504040204" pitchFamily="50" charset="-128"/>
              </a:rPr>
              <a:t>EC</a:t>
            </a:r>
            <a:r>
              <a:rPr lang="ja-JP" altLang="en-US" sz="2800" b="1">
                <a:solidFill>
                  <a:schemeClr val="tx1"/>
                </a:solidFill>
                <a:latin typeface="Meiryo UI" panose="020B0604030504040204" pitchFamily="50" charset="-128"/>
                <a:ea typeface="Meiryo UI" panose="020B0604030504040204" pitchFamily="50" charset="-128"/>
              </a:rPr>
              <a:t>化</a:t>
            </a:r>
            <a:br>
              <a:rPr lang="en-US" altLang="ja-JP" sz="2800" b="1">
                <a:solidFill>
                  <a:schemeClr val="tx1"/>
                </a:solidFill>
                <a:latin typeface="Meiryo UI" panose="020B0604030504040204" pitchFamily="50" charset="-128"/>
                <a:ea typeface="Meiryo UI" panose="020B0604030504040204" pitchFamily="50" charset="-128"/>
              </a:rPr>
            </a:br>
            <a:r>
              <a:rPr lang="ja-JP" altLang="en-US" sz="2800" b="1">
                <a:solidFill>
                  <a:schemeClr val="tx1"/>
                </a:solidFill>
                <a:latin typeface="Meiryo UI" panose="020B0604030504040204" pitchFamily="50" charset="-128"/>
                <a:ea typeface="Meiryo UI" panose="020B0604030504040204" pitchFamily="50" charset="-128"/>
              </a:rPr>
              <a:t>ショールーミング化</a:t>
            </a:r>
          </a:p>
        </p:txBody>
      </p:sp>
      <p:sp>
        <p:nvSpPr>
          <p:cNvPr id="43" name="二等辺三角形 42">
            <a:extLst>
              <a:ext uri="{FF2B5EF4-FFF2-40B4-BE49-F238E27FC236}">
                <a16:creationId xmlns:a16="http://schemas.microsoft.com/office/drawing/2014/main" id="{A01A013B-F11E-8CEE-1E83-9C3DEE7A5DC2}"/>
              </a:ext>
            </a:extLst>
          </p:cNvPr>
          <p:cNvSpPr/>
          <p:nvPr/>
        </p:nvSpPr>
        <p:spPr>
          <a:xfrm rot="5400000">
            <a:off x="8692817" y="5508604"/>
            <a:ext cx="2887579" cy="1013662"/>
          </a:xfrm>
          <a:prstGeom prst="triangle">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44" name="正方形/長方形 43">
            <a:extLst>
              <a:ext uri="{FF2B5EF4-FFF2-40B4-BE49-F238E27FC236}">
                <a16:creationId xmlns:a16="http://schemas.microsoft.com/office/drawing/2014/main" id="{7C4969BD-5693-7100-9F90-1A638E841F3F}"/>
              </a:ext>
            </a:extLst>
          </p:cNvPr>
          <p:cNvSpPr/>
          <p:nvPr/>
        </p:nvSpPr>
        <p:spPr>
          <a:xfrm>
            <a:off x="3434351" y="7993856"/>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消費者ニーズの多様化により、家電も多機能化・高価格化・細分化している。それにより</a:t>
            </a:r>
            <a:r>
              <a:rPr lang="en-US" altLang="ja-JP" sz="1800">
                <a:solidFill>
                  <a:schemeClr val="tx1"/>
                </a:solidFill>
                <a:latin typeface="Meiryo UI" panose="020B0604030504040204" pitchFamily="50" charset="-128"/>
                <a:ea typeface="Meiryo UI" panose="020B0604030504040204" pitchFamily="50" charset="-128"/>
              </a:rPr>
              <a:t>SKU</a:t>
            </a:r>
            <a:r>
              <a:rPr lang="ja-JP" altLang="en-US" sz="1800">
                <a:solidFill>
                  <a:schemeClr val="tx1"/>
                </a:solidFill>
                <a:latin typeface="Meiryo UI" panose="020B0604030504040204" pitchFamily="50" charset="-128"/>
                <a:ea typeface="Meiryo UI" panose="020B0604030504040204" pitchFamily="50" charset="-128"/>
              </a:rPr>
              <a:t>数が増加し、在庫品の管理、売れ残りリスク、販管費の増加が課題になっている。</a:t>
            </a:r>
          </a:p>
        </p:txBody>
      </p:sp>
      <p:sp>
        <p:nvSpPr>
          <p:cNvPr id="45" name="正方形/長方形 44">
            <a:extLst>
              <a:ext uri="{FF2B5EF4-FFF2-40B4-BE49-F238E27FC236}">
                <a16:creationId xmlns:a16="http://schemas.microsoft.com/office/drawing/2014/main" id="{B0D72EAA-5835-CD92-B575-9B40531C48BB}"/>
              </a:ext>
            </a:extLst>
          </p:cNvPr>
          <p:cNvSpPr/>
          <p:nvPr/>
        </p:nvSpPr>
        <p:spPr>
          <a:xfrm>
            <a:off x="11250861" y="7993856"/>
            <a:ext cx="5588003" cy="18790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00">
                <a:solidFill>
                  <a:schemeClr val="tx1"/>
                </a:solidFill>
                <a:latin typeface="Meiryo UI" panose="020B0604030504040204" pitchFamily="50" charset="-128"/>
                <a:ea typeface="Meiryo UI" panose="020B0604030504040204" pitchFamily="50" charset="-128"/>
              </a:rPr>
              <a:t>在庫回転率改善、データ分析による需要予測、適正在庫への仕組み構築など、店舗・物流の効率化に取り組んでいる。</a:t>
            </a:r>
            <a:r>
              <a:rPr lang="en-US" altLang="ja-JP" sz="1800">
                <a:solidFill>
                  <a:schemeClr val="tx1"/>
                </a:solidFill>
                <a:latin typeface="Meiryo UI" panose="020B0604030504040204" pitchFamily="50" charset="-128"/>
                <a:ea typeface="Meiryo UI" panose="020B0604030504040204" pitchFamily="50" charset="-128"/>
              </a:rPr>
              <a:t>DX</a:t>
            </a:r>
            <a:r>
              <a:rPr lang="ja-JP" altLang="en-US" sz="1800">
                <a:solidFill>
                  <a:schemeClr val="tx1"/>
                </a:solidFill>
                <a:latin typeface="Meiryo UI" panose="020B0604030504040204" pitchFamily="50" charset="-128"/>
                <a:ea typeface="Meiryo UI" panose="020B0604030504040204" pitchFamily="50" charset="-128"/>
              </a:rPr>
              <a:t>を活用し、バックヤード・サプライチェーン・在庫管理を改善することで、粗利改善・キャッシュフロー改善を目指している。</a:t>
            </a:r>
          </a:p>
        </p:txBody>
      </p:sp>
      <p:sp>
        <p:nvSpPr>
          <p:cNvPr id="46" name="正方形/長方形 45">
            <a:extLst>
              <a:ext uri="{FF2B5EF4-FFF2-40B4-BE49-F238E27FC236}">
                <a16:creationId xmlns:a16="http://schemas.microsoft.com/office/drawing/2014/main" id="{A9B37E7B-203D-FC1B-0C0E-8A96AFA44AE6}"/>
              </a:ext>
            </a:extLst>
          </p:cNvPr>
          <p:cNvSpPr/>
          <p:nvPr/>
        </p:nvSpPr>
        <p:spPr>
          <a:xfrm>
            <a:off x="368968" y="7993856"/>
            <a:ext cx="2839452" cy="1879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消費者ニーズの多様化</a:t>
            </a:r>
          </a:p>
        </p:txBody>
      </p:sp>
      <p:sp>
        <p:nvSpPr>
          <p:cNvPr id="49" name="テキスト プレースホルダー 11">
            <a:extLst>
              <a:ext uri="{FF2B5EF4-FFF2-40B4-BE49-F238E27FC236}">
                <a16:creationId xmlns:a16="http://schemas.microsoft.com/office/drawing/2014/main" id="{60BEA234-E7D4-7E7C-69BF-2FA29B0AEB39}"/>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3420974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p:txBody>
          <a:bodyPr vert="horz" lIns="0" tIns="0" rIns="0" bIns="0" rtlCol="0" anchor="ctr">
            <a:normAutofit fontScale="90000"/>
          </a:bodyPr>
          <a:lstStyle/>
          <a:p>
            <a:r>
              <a:rPr lang="ja-JP" altLang="en-US"/>
              <a:t>３．現状と課題</a:t>
            </a:r>
            <a:br>
              <a:rPr lang="en-US" altLang="ja-JP"/>
            </a:br>
            <a:r>
              <a:rPr lang="ja-JP" altLang="en-US"/>
              <a:t>４．グランドデザインの目標</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10</a:t>
            </a:fld>
            <a:endParaRPr lang="ja-JP" altLang="en-US"/>
          </a:p>
        </p:txBody>
      </p:sp>
      <p:sp>
        <p:nvSpPr>
          <p:cNvPr id="30" name="正方形/長方形 29">
            <a:extLst>
              <a:ext uri="{FF2B5EF4-FFF2-40B4-BE49-F238E27FC236}">
                <a16:creationId xmlns:a16="http://schemas.microsoft.com/office/drawing/2014/main" id="{961A6A21-3CA9-B6C2-7974-36E8C19C7AD9}"/>
              </a:ext>
            </a:extLst>
          </p:cNvPr>
          <p:cNvSpPr/>
          <p:nvPr/>
        </p:nvSpPr>
        <p:spPr>
          <a:xfrm>
            <a:off x="142770" y="1214300"/>
            <a:ext cx="5588003" cy="4158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dirty="0">
                <a:solidFill>
                  <a:srgbClr val="FFFFFF"/>
                </a:solidFill>
                <a:latin typeface="Meiryo UI" panose="020B0604030504040204" pitchFamily="50" charset="-128"/>
                <a:ea typeface="Meiryo UI" panose="020B0604030504040204" pitchFamily="50" charset="-128"/>
              </a:rPr>
              <a:t>貴社方針（中計）</a:t>
            </a:r>
          </a:p>
        </p:txBody>
      </p:sp>
      <p:sp>
        <p:nvSpPr>
          <p:cNvPr id="31" name="正方形/長方形 30">
            <a:extLst>
              <a:ext uri="{FF2B5EF4-FFF2-40B4-BE49-F238E27FC236}">
                <a16:creationId xmlns:a16="http://schemas.microsoft.com/office/drawing/2014/main" id="{60756F2E-AAED-7100-2B3A-9895587852F4}"/>
              </a:ext>
            </a:extLst>
          </p:cNvPr>
          <p:cNvSpPr/>
          <p:nvPr/>
        </p:nvSpPr>
        <p:spPr>
          <a:xfrm>
            <a:off x="12498209" y="1214300"/>
            <a:ext cx="5616000" cy="41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グランドデザイン</a:t>
            </a:r>
          </a:p>
        </p:txBody>
      </p:sp>
      <p:sp>
        <p:nvSpPr>
          <p:cNvPr id="33" name="正方形/長方形 32">
            <a:extLst>
              <a:ext uri="{FF2B5EF4-FFF2-40B4-BE49-F238E27FC236}">
                <a16:creationId xmlns:a16="http://schemas.microsoft.com/office/drawing/2014/main" id="{EDAF5993-5029-187F-0E83-3EE612168451}"/>
              </a:ext>
            </a:extLst>
          </p:cNvPr>
          <p:cNvSpPr/>
          <p:nvPr/>
        </p:nvSpPr>
        <p:spPr>
          <a:xfrm>
            <a:off x="6815216" y="1896590"/>
            <a:ext cx="11298993" cy="1677922"/>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en-US" sz="1800">
              <a:solidFill>
                <a:schemeClr val="tx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9C750645-5AC8-78AD-7A7B-9E185FBD0415}"/>
              </a:ext>
            </a:extLst>
          </p:cNvPr>
          <p:cNvSpPr/>
          <p:nvPr/>
        </p:nvSpPr>
        <p:spPr>
          <a:xfrm>
            <a:off x="6815216" y="3694445"/>
            <a:ext cx="11298993" cy="140123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en-US" sz="1800">
              <a:solidFill>
                <a:schemeClr val="tx1"/>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A40460AF-E024-3B7F-B048-CAAFD681995C}"/>
              </a:ext>
            </a:extLst>
          </p:cNvPr>
          <p:cNvSpPr/>
          <p:nvPr/>
        </p:nvSpPr>
        <p:spPr>
          <a:xfrm>
            <a:off x="142770" y="6158812"/>
            <a:ext cx="5588003" cy="3857462"/>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家電に特化して安定した利益創出</a:t>
            </a:r>
            <a:endParaRPr lang="en-US" altLang="ja-JP" sz="2800" b="1">
              <a:solidFill>
                <a:schemeClr val="tx1"/>
              </a:solidFill>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ja-JP" altLang="en-US" sz="2400">
                <a:solidFill>
                  <a:schemeClr val="tx1"/>
                </a:solidFill>
                <a:latin typeface="Meiryo UI" panose="020B0604030504040204" pitchFamily="50" charset="-128"/>
                <a:ea typeface="Meiryo UI" panose="020B0604030504040204" pitchFamily="50" charset="-128"/>
              </a:rPr>
              <a:t>効率の再点検と改装による既存店の収益性改善並びにスクラップ＆ビルドによる</a:t>
            </a:r>
            <a:br>
              <a:rPr lang="en-US" altLang="ja-JP" sz="2400">
                <a:solidFill>
                  <a:schemeClr val="tx1"/>
                </a:solidFill>
                <a:latin typeface="Meiryo UI" panose="020B0604030504040204" pitchFamily="50" charset="-128"/>
                <a:ea typeface="Meiryo UI" panose="020B0604030504040204" pitchFamily="50" charset="-128"/>
              </a:rPr>
            </a:br>
            <a:r>
              <a:rPr lang="ja-JP" altLang="en-US" sz="2400">
                <a:solidFill>
                  <a:schemeClr val="tx1"/>
                </a:solidFill>
                <a:latin typeface="Meiryo UI" panose="020B0604030504040204" pitchFamily="50" charset="-128"/>
                <a:ea typeface="Meiryo UI" panose="020B0604030504040204" pitchFamily="50" charset="-128"/>
              </a:rPr>
              <a:t>ドミナントの推進を図る</a:t>
            </a:r>
            <a:endParaRPr lang="en-US" altLang="ja-JP" sz="2400">
              <a:solidFill>
                <a:schemeClr val="tx1"/>
              </a:solidFill>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ja-JP" altLang="en-US" sz="2400">
                <a:solidFill>
                  <a:srgbClr val="FF0000"/>
                </a:solidFill>
                <a:latin typeface="Meiryo UI" panose="020B0604030504040204" pitchFamily="50" charset="-128"/>
                <a:ea typeface="Meiryo UI" panose="020B0604030504040204" pitchFamily="50" charset="-128"/>
              </a:rPr>
              <a:t>⼈的資本への投資により労働⽣産性の</a:t>
            </a:r>
            <a:br>
              <a:rPr lang="en-US" altLang="ja-JP" sz="2400">
                <a:solidFill>
                  <a:srgbClr val="FF0000"/>
                </a:solidFill>
                <a:latin typeface="Meiryo UI" panose="020B0604030504040204" pitchFamily="50" charset="-128"/>
                <a:ea typeface="Meiryo UI" panose="020B0604030504040204" pitchFamily="50" charset="-128"/>
              </a:rPr>
            </a:br>
            <a:r>
              <a:rPr lang="ja-JP" altLang="en-US" sz="2400">
                <a:solidFill>
                  <a:srgbClr val="FF0000"/>
                </a:solidFill>
                <a:latin typeface="Meiryo UI" panose="020B0604030504040204" pitchFamily="50" charset="-128"/>
                <a:ea typeface="Meiryo UI" panose="020B0604030504040204" pitchFamily="50" charset="-128"/>
              </a:rPr>
              <a:t>向上を図る</a:t>
            </a:r>
            <a:endParaRPr lang="en-US" altLang="ja-JP" sz="2400">
              <a:solidFill>
                <a:srgbClr val="FF0000"/>
              </a:solidFill>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ja-JP" altLang="en-US" sz="2400">
                <a:solidFill>
                  <a:schemeClr val="tx1"/>
                </a:solidFill>
                <a:latin typeface="Meiryo UI" panose="020B0604030504040204" pitchFamily="50" charset="-128"/>
                <a:ea typeface="Meiryo UI" panose="020B0604030504040204" pitchFamily="50" charset="-128"/>
              </a:rPr>
              <a:t>販管費率の抑制を図る</a:t>
            </a:r>
          </a:p>
        </p:txBody>
      </p:sp>
      <p:sp>
        <p:nvSpPr>
          <p:cNvPr id="42" name="正方形/長方形 41">
            <a:extLst>
              <a:ext uri="{FF2B5EF4-FFF2-40B4-BE49-F238E27FC236}">
                <a16:creationId xmlns:a16="http://schemas.microsoft.com/office/drawing/2014/main" id="{623CA9D3-B84D-6A22-58B2-E49766537366}"/>
              </a:ext>
            </a:extLst>
          </p:cNvPr>
          <p:cNvSpPr/>
          <p:nvPr/>
        </p:nvSpPr>
        <p:spPr>
          <a:xfrm>
            <a:off x="142770" y="1827757"/>
            <a:ext cx="5588003" cy="3857462"/>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b="1">
                <a:solidFill>
                  <a:schemeClr val="tx1"/>
                </a:solidFill>
                <a:latin typeface="Meiryo UI" panose="020B0604030504040204" pitchFamily="50" charset="-128"/>
                <a:ea typeface="Meiryo UI" panose="020B0604030504040204" pitchFamily="50" charset="-128"/>
              </a:rPr>
              <a:t>DX</a:t>
            </a:r>
            <a:r>
              <a:rPr lang="ja-JP" altLang="en-US" sz="2800" b="1">
                <a:solidFill>
                  <a:schemeClr val="tx1"/>
                </a:solidFill>
                <a:latin typeface="Meiryo UI" panose="020B0604030504040204" pitchFamily="50" charset="-128"/>
                <a:ea typeface="Meiryo UI" panose="020B0604030504040204" pitchFamily="50" charset="-128"/>
              </a:rPr>
              <a:t>により業務効率化と売り上げ拡大</a:t>
            </a:r>
            <a:endParaRPr lang="en-US" altLang="ja-JP" sz="2800" b="1">
              <a:solidFill>
                <a:schemeClr val="tx1"/>
              </a:solidFill>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ja-JP" altLang="en-US" sz="2400">
                <a:solidFill>
                  <a:schemeClr val="tx1"/>
                </a:solidFill>
                <a:latin typeface="Meiryo UI" panose="020B0604030504040204" pitchFamily="50" charset="-128"/>
                <a:ea typeface="Meiryo UI" panose="020B0604030504040204" pitchFamily="50" charset="-128"/>
              </a:rPr>
              <a:t>オンラインショップ及びあんしんパスポート</a:t>
            </a:r>
            <a:br>
              <a:rPr lang="en-US" altLang="ja-JP" sz="2400">
                <a:solidFill>
                  <a:schemeClr val="tx1"/>
                </a:solidFill>
                <a:latin typeface="Meiryo UI" panose="020B0604030504040204" pitchFamily="50" charset="-128"/>
                <a:ea typeface="Meiryo UI" panose="020B0604030504040204" pitchFamily="50" charset="-128"/>
              </a:rPr>
            </a:br>
            <a:r>
              <a:rPr lang="ja-JP" altLang="en-US" sz="2400">
                <a:solidFill>
                  <a:schemeClr val="tx1"/>
                </a:solidFill>
                <a:latin typeface="Meiryo UI" panose="020B0604030504040204" pitchFamily="50" charset="-128"/>
                <a:ea typeface="Meiryo UI" panose="020B0604030504040204" pitchFamily="50" charset="-128"/>
              </a:rPr>
              <a:t>アプリの利便性向上と売上拡⼤を図る</a:t>
            </a:r>
            <a:endParaRPr lang="en-US" altLang="ja-JP" sz="2400">
              <a:solidFill>
                <a:schemeClr val="tx1"/>
              </a:solidFill>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ja-JP" altLang="en-US" sz="2400">
                <a:solidFill>
                  <a:srgbClr val="FF0000"/>
                </a:solidFill>
                <a:latin typeface="Meiryo UI" panose="020B0604030504040204" pitchFamily="50" charset="-128"/>
                <a:ea typeface="Meiryo UI" panose="020B0604030504040204" pitchFamily="50" charset="-128"/>
              </a:rPr>
              <a:t>店舗業務の効率化を図る</a:t>
            </a:r>
            <a:endParaRPr lang="en-US" altLang="ja-JP" sz="2400">
              <a:solidFill>
                <a:srgbClr val="FF0000"/>
              </a:solidFill>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ja-JP" altLang="en-US" sz="2400">
                <a:solidFill>
                  <a:schemeClr val="tx1"/>
                </a:solidFill>
                <a:latin typeface="Meiryo UI" panose="020B0604030504040204" pitchFamily="50" charset="-128"/>
                <a:ea typeface="Meiryo UI" panose="020B0604030504040204" pitchFamily="50" charset="-128"/>
              </a:rPr>
              <a:t>社内システム⼊替により基盤強化と本社</a:t>
            </a:r>
            <a:br>
              <a:rPr lang="en-US" altLang="ja-JP" sz="2400">
                <a:solidFill>
                  <a:schemeClr val="tx1"/>
                </a:solidFill>
                <a:latin typeface="Meiryo UI" panose="020B0604030504040204" pitchFamily="50" charset="-128"/>
                <a:ea typeface="Meiryo UI" panose="020B0604030504040204" pitchFamily="50" charset="-128"/>
              </a:rPr>
            </a:br>
            <a:r>
              <a:rPr lang="ja-JP" altLang="en-US" sz="2400">
                <a:solidFill>
                  <a:schemeClr val="tx1"/>
                </a:solidFill>
                <a:latin typeface="Meiryo UI" panose="020B0604030504040204" pitchFamily="50" charset="-128"/>
                <a:ea typeface="Meiryo UI" panose="020B0604030504040204" pitchFamily="50" charset="-128"/>
              </a:rPr>
              <a:t>業務効率化を図る</a:t>
            </a:r>
            <a:endParaRPr lang="ja-JP" altLang="en-US" sz="1200">
              <a:solidFill>
                <a:schemeClr val="tx1"/>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5F14C759-A180-C051-A64D-F49EB1D66245}"/>
              </a:ext>
            </a:extLst>
          </p:cNvPr>
          <p:cNvSpPr/>
          <p:nvPr/>
        </p:nvSpPr>
        <p:spPr>
          <a:xfrm>
            <a:off x="6815216" y="1214300"/>
            <a:ext cx="5616000" cy="41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tx1"/>
                </a:solidFill>
                <a:latin typeface="Meiryo UI" panose="020B0604030504040204" pitchFamily="50" charset="-128"/>
                <a:ea typeface="Meiryo UI" panose="020B0604030504040204" pitchFamily="50" charset="-128"/>
              </a:rPr>
              <a:t>現状の課題</a:t>
            </a:r>
          </a:p>
        </p:txBody>
      </p:sp>
      <p:sp>
        <p:nvSpPr>
          <p:cNvPr id="46" name="二等辺三角形 45">
            <a:extLst>
              <a:ext uri="{FF2B5EF4-FFF2-40B4-BE49-F238E27FC236}">
                <a16:creationId xmlns:a16="http://schemas.microsoft.com/office/drawing/2014/main" id="{FB24943A-E56A-95E7-9896-29FBE6535DA3}"/>
              </a:ext>
            </a:extLst>
          </p:cNvPr>
          <p:cNvSpPr/>
          <p:nvPr/>
        </p:nvSpPr>
        <p:spPr>
          <a:xfrm rot="5400000">
            <a:off x="11953800" y="2650321"/>
            <a:ext cx="1088817" cy="382221"/>
          </a:xfrm>
          <a:prstGeom prst="triangle">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47" name="二等辺三角形 46">
            <a:extLst>
              <a:ext uri="{FF2B5EF4-FFF2-40B4-BE49-F238E27FC236}">
                <a16:creationId xmlns:a16="http://schemas.microsoft.com/office/drawing/2014/main" id="{209168D4-0C78-B8B1-95A7-156D2C5B8541}"/>
              </a:ext>
            </a:extLst>
          </p:cNvPr>
          <p:cNvSpPr/>
          <p:nvPr/>
        </p:nvSpPr>
        <p:spPr>
          <a:xfrm rot="5400000">
            <a:off x="11953800" y="4292604"/>
            <a:ext cx="1088817" cy="382221"/>
          </a:xfrm>
          <a:prstGeom prst="triangle">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50" name="テキスト ボックス 49">
            <a:extLst>
              <a:ext uri="{FF2B5EF4-FFF2-40B4-BE49-F238E27FC236}">
                <a16:creationId xmlns:a16="http://schemas.microsoft.com/office/drawing/2014/main" id="{9AC34409-A109-BC74-4071-C9B4D69A5598}"/>
              </a:ext>
            </a:extLst>
          </p:cNvPr>
          <p:cNvSpPr txBox="1"/>
          <p:nvPr/>
        </p:nvSpPr>
        <p:spPr>
          <a:xfrm>
            <a:off x="6815216" y="1909363"/>
            <a:ext cx="5096267" cy="461665"/>
          </a:xfrm>
          <a:prstGeom prst="rect">
            <a:avLst/>
          </a:prstGeom>
          <a:noFill/>
        </p:spPr>
        <p:txBody>
          <a:bodyPr wrap="none" rtlCol="0">
            <a:spAutoFit/>
          </a:bodyPr>
          <a:lstStyle/>
          <a:p>
            <a:pPr algn="l"/>
            <a:r>
              <a:rPr kumimoji="1" lang="en-US" altLang="ja-JP" sz="2400" b="1">
                <a:solidFill>
                  <a:schemeClr val="bg1">
                    <a:lumMod val="10000"/>
                  </a:schemeClr>
                </a:solidFill>
                <a:latin typeface="Meiryo UI" panose="020B0604030504040204" pitchFamily="50" charset="-128"/>
                <a:ea typeface="Meiryo UI" panose="020B0604030504040204" pitchFamily="50" charset="-128"/>
              </a:rPr>
              <a:t>POS</a:t>
            </a:r>
            <a:r>
              <a:rPr kumimoji="1" lang="ja-JP" altLang="en-US" sz="2400" b="1">
                <a:solidFill>
                  <a:schemeClr val="bg1">
                    <a:lumMod val="10000"/>
                  </a:schemeClr>
                </a:solidFill>
                <a:latin typeface="Meiryo UI" panose="020B0604030504040204" pitchFamily="50" charset="-128"/>
                <a:ea typeface="Meiryo UI" panose="020B0604030504040204" pitchFamily="50" charset="-128"/>
              </a:rPr>
              <a:t>と店内端末で異なるアプリを使用</a:t>
            </a:r>
          </a:p>
        </p:txBody>
      </p:sp>
      <p:sp>
        <p:nvSpPr>
          <p:cNvPr id="51" name="テキスト ボックス 50">
            <a:extLst>
              <a:ext uri="{FF2B5EF4-FFF2-40B4-BE49-F238E27FC236}">
                <a16:creationId xmlns:a16="http://schemas.microsoft.com/office/drawing/2014/main" id="{1300123A-2964-14CB-16B2-500CF6B64905}"/>
              </a:ext>
            </a:extLst>
          </p:cNvPr>
          <p:cNvSpPr txBox="1"/>
          <p:nvPr/>
        </p:nvSpPr>
        <p:spPr>
          <a:xfrm>
            <a:off x="6815217" y="2303005"/>
            <a:ext cx="5491882" cy="1015663"/>
          </a:xfrm>
          <a:prstGeom prst="rect">
            <a:avLst/>
          </a:prstGeom>
          <a:noFill/>
        </p:spPr>
        <p:txBody>
          <a:bodyPr wrap="square" rtlCol="0">
            <a:spAutoFit/>
          </a:bodyPr>
          <a:lstStyle/>
          <a:p>
            <a:pPr marL="342900" indent="-342900" algn="l">
              <a:buFont typeface="Arial" panose="020B0604020202020204" pitchFamily="34" charset="0"/>
              <a:buChar char="•"/>
            </a:pPr>
            <a:r>
              <a:rPr kumimoji="1" lang="ja-JP" altLang="en-US" sz="2000">
                <a:solidFill>
                  <a:schemeClr val="bg1">
                    <a:lumMod val="10000"/>
                  </a:schemeClr>
                </a:solidFill>
                <a:latin typeface="Meiryo UI" panose="020B0604030504040204" pitchFamily="50" charset="-128"/>
                <a:ea typeface="Meiryo UI" panose="020B0604030504040204" pitchFamily="50" charset="-128"/>
              </a:rPr>
              <a:t>操作が複雑でレジ操作負担が大きい</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a:p>
            <a:pPr marL="342900" indent="-342900" algn="l">
              <a:buFont typeface="Arial" panose="020B0604020202020204" pitchFamily="34" charset="0"/>
              <a:buChar char="•"/>
            </a:pPr>
            <a:r>
              <a:rPr lang="ja-JP" altLang="en-US" sz="2000">
                <a:solidFill>
                  <a:schemeClr val="bg1">
                    <a:lumMod val="10000"/>
                  </a:schemeClr>
                </a:solidFill>
                <a:latin typeface="Meiryo UI" panose="020B0604030504040204" pitchFamily="50" charset="-128"/>
                <a:ea typeface="Meiryo UI" panose="020B0604030504040204" pitchFamily="50" charset="-128"/>
              </a:rPr>
              <a:t>システム改修時にそれぞれの画面と機能を製作する必要があり、開発費用と納期がかかる</a:t>
            </a:r>
            <a:endParaRPr kumimoji="1"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52" name="テキスト ボックス 51">
            <a:extLst>
              <a:ext uri="{FF2B5EF4-FFF2-40B4-BE49-F238E27FC236}">
                <a16:creationId xmlns:a16="http://schemas.microsoft.com/office/drawing/2014/main" id="{91BA6070-5DA4-E67C-BCF5-6246848C85CD}"/>
              </a:ext>
            </a:extLst>
          </p:cNvPr>
          <p:cNvSpPr txBox="1"/>
          <p:nvPr/>
        </p:nvSpPr>
        <p:spPr>
          <a:xfrm>
            <a:off x="12706755" y="1909363"/>
            <a:ext cx="3932487" cy="461665"/>
          </a:xfrm>
          <a:prstGeom prst="rect">
            <a:avLst/>
          </a:prstGeom>
          <a:noFill/>
        </p:spPr>
        <p:txBody>
          <a:bodyPr wrap="none" rtlCol="0">
            <a:spAutoFit/>
          </a:bodyPr>
          <a:lstStyle/>
          <a:p>
            <a:pPr algn="l"/>
            <a:r>
              <a:rPr kumimoji="1" lang="en-US" altLang="ja-JP" sz="2400" b="1">
                <a:solidFill>
                  <a:schemeClr val="bg1">
                    <a:lumMod val="10000"/>
                  </a:schemeClr>
                </a:solidFill>
                <a:latin typeface="Meiryo UI" panose="020B0604030504040204" pitchFamily="50" charset="-128"/>
                <a:ea typeface="Meiryo UI" panose="020B0604030504040204" pitchFamily="50" charset="-128"/>
              </a:rPr>
              <a:t>POS</a:t>
            </a:r>
            <a:r>
              <a:rPr kumimoji="1" lang="ja-JP" altLang="en-US" sz="2400" b="1">
                <a:solidFill>
                  <a:schemeClr val="bg1">
                    <a:lumMod val="10000"/>
                  </a:schemeClr>
                </a:solidFill>
                <a:latin typeface="Meiryo UI" panose="020B0604030504040204" pitchFamily="50" charset="-128"/>
                <a:ea typeface="Meiryo UI" panose="020B0604030504040204" pitchFamily="50" charset="-128"/>
              </a:rPr>
              <a:t>と店内端末のアプリ統一</a:t>
            </a:r>
          </a:p>
        </p:txBody>
      </p:sp>
      <p:sp>
        <p:nvSpPr>
          <p:cNvPr id="53" name="テキスト ボックス 52">
            <a:extLst>
              <a:ext uri="{FF2B5EF4-FFF2-40B4-BE49-F238E27FC236}">
                <a16:creationId xmlns:a16="http://schemas.microsoft.com/office/drawing/2014/main" id="{18FD426B-031E-28A5-E764-11B6BF32F356}"/>
              </a:ext>
            </a:extLst>
          </p:cNvPr>
          <p:cNvSpPr txBox="1"/>
          <p:nvPr/>
        </p:nvSpPr>
        <p:spPr>
          <a:xfrm>
            <a:off x="12706756" y="2253254"/>
            <a:ext cx="5491882" cy="1323439"/>
          </a:xfrm>
          <a:prstGeom prst="rect">
            <a:avLst/>
          </a:prstGeom>
          <a:noFill/>
        </p:spPr>
        <p:txBody>
          <a:bodyPr wrap="square" rtlCol="0">
            <a:spAutoFit/>
          </a:bodyPr>
          <a:lstStyle/>
          <a:p>
            <a:pPr marL="342900" indent="-342900" algn="l">
              <a:buFont typeface="Arial" panose="020B0604020202020204" pitchFamily="34" charset="0"/>
              <a:buChar char="•"/>
            </a:pPr>
            <a:r>
              <a:rPr kumimoji="1" lang="ja-JP" altLang="en-US" sz="2000">
                <a:solidFill>
                  <a:schemeClr val="bg1">
                    <a:lumMod val="10000"/>
                  </a:schemeClr>
                </a:solidFill>
                <a:latin typeface="Meiryo UI" panose="020B0604030504040204" pitchFamily="50" charset="-128"/>
                <a:ea typeface="Meiryo UI" panose="020B0604030504040204" pitchFamily="50" charset="-128"/>
              </a:rPr>
              <a:t>レジ操作の簡素化による、業務負荷軽減と接客時間の拡大化</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a:p>
            <a:pPr marL="342900" indent="-342900" algn="l">
              <a:buFont typeface="Arial" panose="020B0604020202020204" pitchFamily="34" charset="0"/>
              <a:buChar char="•"/>
            </a:pPr>
            <a:r>
              <a:rPr lang="ja-JP" altLang="en-US" sz="2000">
                <a:solidFill>
                  <a:schemeClr val="bg1">
                    <a:lumMod val="10000"/>
                  </a:schemeClr>
                </a:solidFill>
                <a:latin typeface="Meiryo UI" panose="020B0604030504040204" pitchFamily="50" charset="-128"/>
                <a:ea typeface="Meiryo UI" panose="020B0604030504040204" pitchFamily="50" charset="-128"/>
              </a:rPr>
              <a:t>システム改修箇所減少により、開発費用削減と納期短縮</a:t>
            </a:r>
            <a:endParaRPr kumimoji="1"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54" name="テキスト ボックス 53">
            <a:extLst>
              <a:ext uri="{FF2B5EF4-FFF2-40B4-BE49-F238E27FC236}">
                <a16:creationId xmlns:a16="http://schemas.microsoft.com/office/drawing/2014/main" id="{1ADF2BF9-9279-1DED-3B45-0316229DB214}"/>
              </a:ext>
            </a:extLst>
          </p:cNvPr>
          <p:cNvSpPr txBox="1"/>
          <p:nvPr/>
        </p:nvSpPr>
        <p:spPr>
          <a:xfrm>
            <a:off x="6815216" y="3736130"/>
            <a:ext cx="4261103" cy="461665"/>
          </a:xfrm>
          <a:prstGeom prst="rect">
            <a:avLst/>
          </a:prstGeom>
          <a:noFill/>
        </p:spPr>
        <p:txBody>
          <a:bodyPr wrap="none" rtlCol="0">
            <a:spAutoFit/>
          </a:bodyPr>
          <a:lstStyle/>
          <a:p>
            <a:pPr algn="l"/>
            <a:r>
              <a:rPr lang="ja-JP" altLang="en-US" sz="2400" b="1">
                <a:solidFill>
                  <a:schemeClr val="bg1">
                    <a:lumMod val="10000"/>
                  </a:schemeClr>
                </a:solidFill>
                <a:latin typeface="Meiryo UI" panose="020B0604030504040204" pitchFamily="50" charset="-128"/>
                <a:ea typeface="Meiryo UI" panose="020B0604030504040204" pitchFamily="50" charset="-128"/>
              </a:rPr>
              <a:t>紙で商談メモ記入し</a:t>
            </a:r>
            <a:r>
              <a:rPr lang="en-US" altLang="ja-JP" sz="2400" b="1">
                <a:solidFill>
                  <a:schemeClr val="bg1">
                    <a:lumMod val="10000"/>
                  </a:schemeClr>
                </a:solidFill>
                <a:latin typeface="Meiryo UI" panose="020B0604030504040204" pitchFamily="50" charset="-128"/>
                <a:ea typeface="Meiryo UI" panose="020B0604030504040204" pitchFamily="50" charset="-128"/>
              </a:rPr>
              <a:t>POS</a:t>
            </a:r>
            <a:r>
              <a:rPr lang="ja-JP" altLang="en-US" sz="2400" b="1">
                <a:solidFill>
                  <a:schemeClr val="bg1">
                    <a:lumMod val="10000"/>
                  </a:schemeClr>
                </a:solidFill>
                <a:latin typeface="Meiryo UI" panose="020B0604030504040204" pitchFamily="50" charset="-128"/>
                <a:ea typeface="Meiryo UI" panose="020B0604030504040204" pitchFamily="50" charset="-128"/>
              </a:rPr>
              <a:t>で売上</a:t>
            </a:r>
            <a:endParaRPr kumimoji="1" lang="ja-JP" altLang="en-US" sz="2400" b="1">
              <a:solidFill>
                <a:schemeClr val="bg1">
                  <a:lumMod val="10000"/>
                </a:schemeClr>
              </a:solidFill>
              <a:latin typeface="Meiryo UI" panose="020B0604030504040204" pitchFamily="50" charset="-128"/>
              <a:ea typeface="Meiryo UI" panose="020B0604030504040204" pitchFamily="50" charset="-128"/>
            </a:endParaRPr>
          </a:p>
        </p:txBody>
      </p:sp>
      <p:sp>
        <p:nvSpPr>
          <p:cNvPr id="55" name="テキスト ボックス 54">
            <a:extLst>
              <a:ext uri="{FF2B5EF4-FFF2-40B4-BE49-F238E27FC236}">
                <a16:creationId xmlns:a16="http://schemas.microsoft.com/office/drawing/2014/main" id="{DAB3E809-7315-7A98-9D51-58CFEC1DF445}"/>
              </a:ext>
            </a:extLst>
          </p:cNvPr>
          <p:cNvSpPr txBox="1"/>
          <p:nvPr/>
        </p:nvSpPr>
        <p:spPr>
          <a:xfrm>
            <a:off x="6815217" y="4129772"/>
            <a:ext cx="5491882" cy="707886"/>
          </a:xfrm>
          <a:prstGeom prst="rect">
            <a:avLst/>
          </a:prstGeom>
          <a:noFill/>
        </p:spPr>
        <p:txBody>
          <a:bodyPr wrap="square" rtlCol="0">
            <a:spAutoFit/>
          </a:bodyPr>
          <a:lstStyle/>
          <a:p>
            <a:pPr algn="l"/>
            <a:r>
              <a:rPr lang="ja-JP" altLang="en-US" sz="2000" dirty="0">
                <a:solidFill>
                  <a:schemeClr val="bg1">
                    <a:lumMod val="10000"/>
                  </a:schemeClr>
                </a:solidFill>
                <a:latin typeface="Meiryo UI" panose="020B0604030504040204" pitchFamily="50" charset="-128"/>
                <a:ea typeface="Meiryo UI" panose="020B0604030504040204" pitchFamily="50" charset="-128"/>
              </a:rPr>
              <a:t>商談コーナーにて紙で商談情報を入力する必要があるため、従業員負荷が大きい</a:t>
            </a:r>
            <a:endParaRPr kumimoji="1" lang="en-US" altLang="ja-JP" sz="2000" dirty="0">
              <a:solidFill>
                <a:schemeClr val="bg1">
                  <a:lumMod val="10000"/>
                </a:schemeClr>
              </a:solidFill>
              <a:latin typeface="Meiryo UI" panose="020B0604030504040204" pitchFamily="50" charset="-128"/>
              <a:ea typeface="Meiryo UI" panose="020B0604030504040204" pitchFamily="50" charset="-128"/>
            </a:endParaRPr>
          </a:p>
        </p:txBody>
      </p:sp>
      <p:sp>
        <p:nvSpPr>
          <p:cNvPr id="56" name="テキスト ボックス 55">
            <a:extLst>
              <a:ext uri="{FF2B5EF4-FFF2-40B4-BE49-F238E27FC236}">
                <a16:creationId xmlns:a16="http://schemas.microsoft.com/office/drawing/2014/main" id="{053DD8C5-AF5D-0A60-40CA-117C46A82263}"/>
              </a:ext>
            </a:extLst>
          </p:cNvPr>
          <p:cNvSpPr txBox="1"/>
          <p:nvPr/>
        </p:nvSpPr>
        <p:spPr>
          <a:xfrm>
            <a:off x="12706755" y="3736130"/>
            <a:ext cx="4301177" cy="461665"/>
          </a:xfrm>
          <a:prstGeom prst="rect">
            <a:avLst/>
          </a:prstGeom>
          <a:noFill/>
        </p:spPr>
        <p:txBody>
          <a:bodyPr wrap="none" rtlCol="0">
            <a:spAutoFit/>
          </a:bodyPr>
          <a:lstStyle/>
          <a:p>
            <a:pPr algn="l"/>
            <a:r>
              <a:rPr kumimoji="1" lang="ja-JP" altLang="en-US" sz="2400" b="1">
                <a:solidFill>
                  <a:schemeClr val="bg1">
                    <a:lumMod val="10000"/>
                  </a:schemeClr>
                </a:solidFill>
                <a:latin typeface="Meiryo UI" panose="020B0604030504040204" pitchFamily="50" charset="-128"/>
                <a:ea typeface="Meiryo UI" panose="020B0604030504040204" pitchFamily="50" charset="-128"/>
              </a:rPr>
              <a:t>店内端末の商談メモ機能で売上</a:t>
            </a:r>
          </a:p>
        </p:txBody>
      </p:sp>
      <p:sp>
        <p:nvSpPr>
          <p:cNvPr id="57" name="テキスト ボックス 56">
            <a:extLst>
              <a:ext uri="{FF2B5EF4-FFF2-40B4-BE49-F238E27FC236}">
                <a16:creationId xmlns:a16="http://schemas.microsoft.com/office/drawing/2014/main" id="{FAA566AC-6D9F-9ECF-9EE6-B9847FEA9488}"/>
              </a:ext>
            </a:extLst>
          </p:cNvPr>
          <p:cNvSpPr txBox="1"/>
          <p:nvPr/>
        </p:nvSpPr>
        <p:spPr>
          <a:xfrm>
            <a:off x="12706756" y="4080021"/>
            <a:ext cx="5491882" cy="1015663"/>
          </a:xfrm>
          <a:prstGeom prst="rect">
            <a:avLst/>
          </a:prstGeom>
          <a:noFill/>
        </p:spPr>
        <p:txBody>
          <a:bodyPr wrap="square" rtlCol="0">
            <a:spAutoFit/>
          </a:bodyPr>
          <a:lstStyle/>
          <a:p>
            <a:pPr marL="342900" indent="-342900" algn="l">
              <a:buFont typeface="Arial" panose="020B0604020202020204" pitchFamily="34" charset="0"/>
              <a:buChar char="•"/>
            </a:pPr>
            <a:r>
              <a:rPr lang="ja-JP" altLang="en-US" sz="2000">
                <a:solidFill>
                  <a:schemeClr val="bg1">
                    <a:lumMod val="10000"/>
                  </a:schemeClr>
                </a:solidFill>
                <a:latin typeface="Meiryo UI" panose="020B0604030504040204" pitchFamily="50" charset="-128"/>
                <a:ea typeface="Meiryo UI" panose="020B0604030504040204" pitchFamily="50" charset="-128"/>
              </a:rPr>
              <a:t>タブレットの商談メモ機能で売上情報を事前入力し、レジコーナーで呼び出すことで</a:t>
            </a:r>
            <a:r>
              <a:rPr lang="en-US" altLang="ja-JP" sz="2000">
                <a:solidFill>
                  <a:schemeClr val="bg1">
                    <a:lumMod val="10000"/>
                  </a:schemeClr>
                </a:solidFill>
                <a:latin typeface="Meiryo UI" panose="020B0604030504040204" pitchFamily="50" charset="-128"/>
                <a:ea typeface="Meiryo UI" panose="020B0604030504040204" pitchFamily="50" charset="-128"/>
              </a:rPr>
              <a:t>2</a:t>
            </a:r>
            <a:r>
              <a:rPr lang="ja-JP" altLang="en-US" sz="2000">
                <a:solidFill>
                  <a:schemeClr val="bg1">
                    <a:lumMod val="10000"/>
                  </a:schemeClr>
                </a:solidFill>
                <a:latin typeface="Meiryo UI" panose="020B0604030504040204" pitchFamily="50" charset="-128"/>
                <a:ea typeface="Meiryo UI" panose="020B0604030504040204" pitchFamily="50" charset="-128"/>
              </a:rPr>
              <a:t>重入力の改善</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a:p>
            <a:pPr marL="342900" indent="-342900" algn="l">
              <a:buFont typeface="Arial" panose="020B0604020202020204" pitchFamily="34" charset="0"/>
              <a:buChar char="•"/>
            </a:pPr>
            <a:r>
              <a:rPr lang="ja-JP" altLang="en-US" sz="2000">
                <a:solidFill>
                  <a:schemeClr val="bg1">
                    <a:lumMod val="10000"/>
                  </a:schemeClr>
                </a:solidFill>
                <a:latin typeface="Meiryo UI" panose="020B0604030504040204" pitchFamily="50" charset="-128"/>
                <a:ea typeface="Meiryo UI" panose="020B0604030504040204" pitchFamily="50" charset="-128"/>
              </a:rPr>
              <a:t>見積書もタブレットで作成し、印刷可能</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61DF664F-7B91-35A6-2D17-653CB0639367}"/>
              </a:ext>
            </a:extLst>
          </p:cNvPr>
          <p:cNvSpPr/>
          <p:nvPr/>
        </p:nvSpPr>
        <p:spPr>
          <a:xfrm>
            <a:off x="6815216" y="5213436"/>
            <a:ext cx="11298993" cy="140123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en-US" sz="1800">
              <a:solidFill>
                <a:schemeClr val="tx1"/>
              </a:solidFill>
              <a:latin typeface="Meiryo UI" panose="020B0604030504040204" pitchFamily="50" charset="-128"/>
              <a:ea typeface="Meiryo UI" panose="020B0604030504040204" pitchFamily="50" charset="-128"/>
            </a:endParaRPr>
          </a:p>
        </p:txBody>
      </p:sp>
      <p:sp>
        <p:nvSpPr>
          <p:cNvPr id="71" name="二等辺三角形 70">
            <a:extLst>
              <a:ext uri="{FF2B5EF4-FFF2-40B4-BE49-F238E27FC236}">
                <a16:creationId xmlns:a16="http://schemas.microsoft.com/office/drawing/2014/main" id="{4DBAC74D-5B9C-800E-C7B3-B789720F56F9}"/>
              </a:ext>
            </a:extLst>
          </p:cNvPr>
          <p:cNvSpPr/>
          <p:nvPr/>
        </p:nvSpPr>
        <p:spPr>
          <a:xfrm rot="5400000">
            <a:off x="11953800" y="5811595"/>
            <a:ext cx="1088817" cy="382221"/>
          </a:xfrm>
          <a:prstGeom prst="triangle">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72" name="テキスト ボックス 71">
            <a:extLst>
              <a:ext uri="{FF2B5EF4-FFF2-40B4-BE49-F238E27FC236}">
                <a16:creationId xmlns:a16="http://schemas.microsoft.com/office/drawing/2014/main" id="{D07EB427-9862-E4D9-C656-1EB7884E0BB5}"/>
              </a:ext>
            </a:extLst>
          </p:cNvPr>
          <p:cNvSpPr txBox="1"/>
          <p:nvPr/>
        </p:nvSpPr>
        <p:spPr>
          <a:xfrm>
            <a:off x="6815216" y="5255121"/>
            <a:ext cx="3209533" cy="461665"/>
          </a:xfrm>
          <a:prstGeom prst="rect">
            <a:avLst/>
          </a:prstGeom>
          <a:noFill/>
        </p:spPr>
        <p:txBody>
          <a:bodyPr wrap="none" rtlCol="0">
            <a:spAutoFit/>
          </a:bodyPr>
          <a:lstStyle/>
          <a:p>
            <a:pPr algn="l"/>
            <a:r>
              <a:rPr kumimoji="1" lang="ja-JP" altLang="en-US" sz="2400" b="1">
                <a:solidFill>
                  <a:schemeClr val="bg1">
                    <a:lumMod val="10000"/>
                  </a:schemeClr>
                </a:solidFill>
                <a:latin typeface="Meiryo UI" panose="020B0604030504040204" pitchFamily="50" charset="-128"/>
                <a:ea typeface="Meiryo UI" panose="020B0604030504040204" pitchFamily="50" charset="-128"/>
              </a:rPr>
              <a:t>手動で値引き操作実施</a:t>
            </a:r>
          </a:p>
        </p:txBody>
      </p:sp>
      <p:sp>
        <p:nvSpPr>
          <p:cNvPr id="73" name="テキスト ボックス 72">
            <a:extLst>
              <a:ext uri="{FF2B5EF4-FFF2-40B4-BE49-F238E27FC236}">
                <a16:creationId xmlns:a16="http://schemas.microsoft.com/office/drawing/2014/main" id="{4D24B574-72F3-2A9E-107E-A2E13A34579C}"/>
              </a:ext>
            </a:extLst>
          </p:cNvPr>
          <p:cNvSpPr txBox="1"/>
          <p:nvPr/>
        </p:nvSpPr>
        <p:spPr>
          <a:xfrm>
            <a:off x="6815217" y="5648763"/>
            <a:ext cx="5491882" cy="1015663"/>
          </a:xfrm>
          <a:prstGeom prst="rect">
            <a:avLst/>
          </a:prstGeom>
          <a:noFill/>
        </p:spPr>
        <p:txBody>
          <a:bodyPr wrap="square" rtlCol="0">
            <a:spAutoFit/>
          </a:bodyPr>
          <a:lstStyle/>
          <a:p>
            <a:pPr algn="l"/>
            <a:r>
              <a:rPr kumimoji="1" lang="ja-JP" altLang="en-US" sz="2000">
                <a:solidFill>
                  <a:schemeClr val="bg1">
                    <a:lumMod val="10000"/>
                  </a:schemeClr>
                </a:solidFill>
                <a:latin typeface="Meiryo UI" panose="020B0604030504040204" pitchFamily="50" charset="-128"/>
                <a:ea typeface="Meiryo UI" panose="020B0604030504040204" pitchFamily="50" charset="-128"/>
              </a:rPr>
              <a:t>各施策値引き、キャンペーン値引き情報は画面下部に表示が出るものもあるが、基本的にはレジ操作が必要になり、すべて把握するのは困難。</a:t>
            </a:r>
            <a:endParaRPr kumimoji="1"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74" name="テキスト ボックス 73">
            <a:extLst>
              <a:ext uri="{FF2B5EF4-FFF2-40B4-BE49-F238E27FC236}">
                <a16:creationId xmlns:a16="http://schemas.microsoft.com/office/drawing/2014/main" id="{700AA44D-30DD-569E-9AC6-A16167DE2C0C}"/>
              </a:ext>
            </a:extLst>
          </p:cNvPr>
          <p:cNvSpPr txBox="1"/>
          <p:nvPr/>
        </p:nvSpPr>
        <p:spPr>
          <a:xfrm>
            <a:off x="12706755" y="5255121"/>
            <a:ext cx="2295821" cy="461665"/>
          </a:xfrm>
          <a:prstGeom prst="rect">
            <a:avLst/>
          </a:prstGeom>
          <a:noFill/>
        </p:spPr>
        <p:txBody>
          <a:bodyPr wrap="none" rtlCol="0">
            <a:spAutoFit/>
          </a:bodyPr>
          <a:lstStyle/>
          <a:p>
            <a:pPr algn="l"/>
            <a:r>
              <a:rPr lang="ja-JP" altLang="en-US" sz="2400" b="1">
                <a:solidFill>
                  <a:schemeClr val="bg1">
                    <a:lumMod val="10000"/>
                  </a:schemeClr>
                </a:solidFill>
                <a:latin typeface="Meiryo UI" panose="020B0604030504040204" pitchFamily="50" charset="-128"/>
                <a:ea typeface="Meiryo UI" panose="020B0604030504040204" pitchFamily="50" charset="-128"/>
              </a:rPr>
              <a:t>施策自動値引き</a:t>
            </a:r>
            <a:endParaRPr kumimoji="1" lang="ja-JP" altLang="en-US" sz="2400" b="1">
              <a:solidFill>
                <a:schemeClr val="bg1">
                  <a:lumMod val="10000"/>
                </a:schemeClr>
              </a:solidFill>
              <a:latin typeface="Meiryo UI" panose="020B0604030504040204" pitchFamily="50" charset="-128"/>
              <a:ea typeface="Meiryo UI" panose="020B0604030504040204" pitchFamily="50" charset="-128"/>
            </a:endParaRPr>
          </a:p>
        </p:txBody>
      </p:sp>
      <p:sp>
        <p:nvSpPr>
          <p:cNvPr id="75" name="テキスト ボックス 74">
            <a:extLst>
              <a:ext uri="{FF2B5EF4-FFF2-40B4-BE49-F238E27FC236}">
                <a16:creationId xmlns:a16="http://schemas.microsoft.com/office/drawing/2014/main" id="{B070D59B-C2AC-BC49-6809-61CF0CDDB343}"/>
              </a:ext>
            </a:extLst>
          </p:cNvPr>
          <p:cNvSpPr txBox="1"/>
          <p:nvPr/>
        </p:nvSpPr>
        <p:spPr>
          <a:xfrm>
            <a:off x="12706756" y="5599012"/>
            <a:ext cx="5491882" cy="1015663"/>
          </a:xfrm>
          <a:prstGeom prst="rect">
            <a:avLst/>
          </a:prstGeom>
          <a:noFill/>
        </p:spPr>
        <p:txBody>
          <a:bodyPr wrap="square" rtlCol="0">
            <a:spAutoFit/>
          </a:bodyPr>
          <a:lstStyle/>
          <a:p>
            <a:pPr algn="l"/>
            <a:r>
              <a:rPr lang="ja-JP" altLang="en-US" sz="2000">
                <a:solidFill>
                  <a:schemeClr val="bg1">
                    <a:lumMod val="10000"/>
                  </a:schemeClr>
                </a:solidFill>
                <a:latin typeface="Meiryo UI" panose="020B0604030504040204" pitchFamily="50" charset="-128"/>
                <a:ea typeface="Meiryo UI" panose="020B0604030504040204" pitchFamily="50" charset="-128"/>
              </a:rPr>
              <a:t>値引き施策を自動で判断して、必要であれば対象のコミッション</a:t>
            </a:r>
            <a:r>
              <a:rPr lang="en-US" altLang="ja-JP" sz="2000">
                <a:solidFill>
                  <a:schemeClr val="bg1">
                    <a:lumMod val="10000"/>
                  </a:schemeClr>
                </a:solidFill>
                <a:latin typeface="Meiryo UI" panose="020B0604030504040204" pitchFamily="50" charset="-128"/>
                <a:ea typeface="Meiryo UI" panose="020B0604030504040204" pitchFamily="50" charset="-128"/>
              </a:rPr>
              <a:t>JAN</a:t>
            </a:r>
            <a:r>
              <a:rPr lang="ja-JP" altLang="en-US" sz="2000">
                <a:solidFill>
                  <a:schemeClr val="bg1">
                    <a:lumMod val="10000"/>
                  </a:schemeClr>
                </a:solidFill>
                <a:latin typeface="Meiryo UI" panose="020B0604030504040204" pitchFamily="50" charset="-128"/>
                <a:ea typeface="Meiryo UI" panose="020B0604030504040204" pitchFamily="50" charset="-128"/>
              </a:rPr>
              <a:t>を提案。または、自動で値下げを反映させることにより、レジ負担軽減</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DF9140CF-54F5-594E-DB82-765E4CE4F9B6}"/>
              </a:ext>
            </a:extLst>
          </p:cNvPr>
          <p:cNvSpPr/>
          <p:nvPr/>
        </p:nvSpPr>
        <p:spPr>
          <a:xfrm>
            <a:off x="6815216" y="6717632"/>
            <a:ext cx="11298993" cy="140123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en-US" sz="1800">
              <a:solidFill>
                <a:schemeClr val="tx1"/>
              </a:solidFill>
              <a:latin typeface="Meiryo UI" panose="020B0604030504040204" pitchFamily="50" charset="-128"/>
              <a:ea typeface="Meiryo UI" panose="020B0604030504040204" pitchFamily="50" charset="-128"/>
            </a:endParaRPr>
          </a:p>
        </p:txBody>
      </p:sp>
      <p:sp>
        <p:nvSpPr>
          <p:cNvPr id="77" name="二等辺三角形 76">
            <a:extLst>
              <a:ext uri="{FF2B5EF4-FFF2-40B4-BE49-F238E27FC236}">
                <a16:creationId xmlns:a16="http://schemas.microsoft.com/office/drawing/2014/main" id="{C66A3A2F-3ADD-8199-3D25-91E5F8AD452E}"/>
              </a:ext>
            </a:extLst>
          </p:cNvPr>
          <p:cNvSpPr/>
          <p:nvPr/>
        </p:nvSpPr>
        <p:spPr>
          <a:xfrm rot="5400000">
            <a:off x="11953800" y="7315791"/>
            <a:ext cx="1088817" cy="382221"/>
          </a:xfrm>
          <a:prstGeom prst="triangle">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78" name="テキスト ボックス 77">
            <a:extLst>
              <a:ext uri="{FF2B5EF4-FFF2-40B4-BE49-F238E27FC236}">
                <a16:creationId xmlns:a16="http://schemas.microsoft.com/office/drawing/2014/main" id="{B144B821-50E3-03DD-7BB7-61D3FEB46ADB}"/>
              </a:ext>
            </a:extLst>
          </p:cNvPr>
          <p:cNvSpPr txBox="1"/>
          <p:nvPr/>
        </p:nvSpPr>
        <p:spPr>
          <a:xfrm>
            <a:off x="6815216" y="6759317"/>
            <a:ext cx="2321469" cy="461665"/>
          </a:xfrm>
          <a:prstGeom prst="rect">
            <a:avLst/>
          </a:prstGeom>
          <a:noFill/>
        </p:spPr>
        <p:txBody>
          <a:bodyPr wrap="none" rtlCol="0">
            <a:spAutoFit/>
          </a:bodyPr>
          <a:lstStyle/>
          <a:p>
            <a:pPr algn="l"/>
            <a:r>
              <a:rPr kumimoji="1" lang="ja-JP" altLang="en-US" sz="2400" b="1">
                <a:solidFill>
                  <a:schemeClr val="bg1">
                    <a:lumMod val="10000"/>
                  </a:schemeClr>
                </a:solidFill>
                <a:latin typeface="Meiryo UI" panose="020B0604030504040204" pitchFamily="50" charset="-128"/>
                <a:ea typeface="Meiryo UI" panose="020B0604030504040204" pitchFamily="50" charset="-128"/>
              </a:rPr>
              <a:t>返品処理</a:t>
            </a:r>
            <a:r>
              <a:rPr lang="ja-JP" altLang="en-US" sz="2400" b="1">
                <a:solidFill>
                  <a:schemeClr val="bg1">
                    <a:lumMod val="10000"/>
                  </a:schemeClr>
                </a:solidFill>
                <a:latin typeface="Meiryo UI" panose="020B0604030504040204" pitchFamily="50" charset="-128"/>
                <a:ea typeface="Meiryo UI" panose="020B0604030504040204" pitchFamily="50" charset="-128"/>
              </a:rPr>
              <a:t>が</a:t>
            </a:r>
            <a:r>
              <a:rPr kumimoji="1" lang="ja-JP" altLang="en-US" sz="2400" b="1">
                <a:solidFill>
                  <a:schemeClr val="bg1">
                    <a:lumMod val="10000"/>
                  </a:schemeClr>
                </a:solidFill>
                <a:latin typeface="Meiryo UI" panose="020B0604030504040204" pitchFamily="50" charset="-128"/>
                <a:ea typeface="Meiryo UI" panose="020B0604030504040204" pitchFamily="50" charset="-128"/>
              </a:rPr>
              <a:t>複雑</a:t>
            </a:r>
          </a:p>
        </p:txBody>
      </p:sp>
      <p:sp>
        <p:nvSpPr>
          <p:cNvPr id="79" name="テキスト ボックス 78">
            <a:extLst>
              <a:ext uri="{FF2B5EF4-FFF2-40B4-BE49-F238E27FC236}">
                <a16:creationId xmlns:a16="http://schemas.microsoft.com/office/drawing/2014/main" id="{A98B0AD2-F847-10C8-2C4B-5B93F9F38177}"/>
              </a:ext>
            </a:extLst>
          </p:cNvPr>
          <p:cNvSpPr txBox="1"/>
          <p:nvPr/>
        </p:nvSpPr>
        <p:spPr>
          <a:xfrm>
            <a:off x="6815217" y="7152959"/>
            <a:ext cx="5491882" cy="707886"/>
          </a:xfrm>
          <a:prstGeom prst="rect">
            <a:avLst/>
          </a:prstGeom>
          <a:noFill/>
        </p:spPr>
        <p:txBody>
          <a:bodyPr wrap="square" rtlCol="0">
            <a:spAutoFit/>
          </a:bodyPr>
          <a:lstStyle/>
          <a:p>
            <a:pPr algn="l"/>
            <a:r>
              <a:rPr kumimoji="1" lang="ja-JP" altLang="en-US" sz="2000">
                <a:solidFill>
                  <a:schemeClr val="bg1">
                    <a:lumMod val="10000"/>
                  </a:schemeClr>
                </a:solidFill>
                <a:latin typeface="Meiryo UI" panose="020B0604030504040204" pitchFamily="50" charset="-128"/>
                <a:ea typeface="Meiryo UI" panose="020B0604030504040204" pitchFamily="50" charset="-128"/>
              </a:rPr>
              <a:t>返品メニューが分かれており、レジ担当者が使用メニューを判断して操作する必要あり負担が大きい。</a:t>
            </a:r>
            <a:endParaRPr kumimoji="1"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80" name="テキスト ボックス 79">
            <a:extLst>
              <a:ext uri="{FF2B5EF4-FFF2-40B4-BE49-F238E27FC236}">
                <a16:creationId xmlns:a16="http://schemas.microsoft.com/office/drawing/2014/main" id="{4A3EBF4C-6782-3AA8-8794-E901B218F0FC}"/>
              </a:ext>
            </a:extLst>
          </p:cNvPr>
          <p:cNvSpPr txBox="1"/>
          <p:nvPr/>
        </p:nvSpPr>
        <p:spPr>
          <a:xfrm>
            <a:off x="12706755" y="6759317"/>
            <a:ext cx="2395207" cy="461665"/>
          </a:xfrm>
          <a:prstGeom prst="rect">
            <a:avLst/>
          </a:prstGeom>
          <a:noFill/>
        </p:spPr>
        <p:txBody>
          <a:bodyPr wrap="none" rtlCol="0">
            <a:spAutoFit/>
          </a:bodyPr>
          <a:lstStyle/>
          <a:p>
            <a:pPr algn="l"/>
            <a:r>
              <a:rPr lang="ja-JP" altLang="en-US" sz="2400" b="1">
                <a:solidFill>
                  <a:schemeClr val="bg1">
                    <a:lumMod val="10000"/>
                  </a:schemeClr>
                </a:solidFill>
                <a:latin typeface="Meiryo UI" panose="020B0604030504040204" pitchFamily="50" charset="-128"/>
                <a:ea typeface="Meiryo UI" panose="020B0604030504040204" pitchFamily="50" charset="-128"/>
              </a:rPr>
              <a:t>返品メニュー統合</a:t>
            </a:r>
            <a:endParaRPr kumimoji="1" lang="ja-JP" altLang="en-US" sz="2400" b="1">
              <a:solidFill>
                <a:schemeClr val="bg1">
                  <a:lumMod val="10000"/>
                </a:schemeClr>
              </a:solidFill>
              <a:latin typeface="Meiryo UI" panose="020B0604030504040204" pitchFamily="50" charset="-128"/>
              <a:ea typeface="Meiryo UI" panose="020B0604030504040204" pitchFamily="50" charset="-128"/>
            </a:endParaRPr>
          </a:p>
        </p:txBody>
      </p:sp>
      <p:sp>
        <p:nvSpPr>
          <p:cNvPr id="81" name="テキスト ボックス 80">
            <a:extLst>
              <a:ext uri="{FF2B5EF4-FFF2-40B4-BE49-F238E27FC236}">
                <a16:creationId xmlns:a16="http://schemas.microsoft.com/office/drawing/2014/main" id="{63954A2C-555F-A016-48E1-5B308EA4EC6F}"/>
              </a:ext>
            </a:extLst>
          </p:cNvPr>
          <p:cNvSpPr txBox="1"/>
          <p:nvPr/>
        </p:nvSpPr>
        <p:spPr>
          <a:xfrm>
            <a:off x="12706756" y="7306846"/>
            <a:ext cx="5491882" cy="400110"/>
          </a:xfrm>
          <a:prstGeom prst="rect">
            <a:avLst/>
          </a:prstGeom>
          <a:noFill/>
        </p:spPr>
        <p:txBody>
          <a:bodyPr wrap="square" rtlCol="0">
            <a:spAutoFit/>
          </a:bodyPr>
          <a:lstStyle/>
          <a:p>
            <a:pPr algn="l"/>
            <a:r>
              <a:rPr lang="ja-JP" altLang="en-US" sz="2000">
                <a:solidFill>
                  <a:schemeClr val="bg1">
                    <a:lumMod val="10000"/>
                  </a:schemeClr>
                </a:solidFill>
                <a:latin typeface="Meiryo UI" panose="020B0604030504040204" pitchFamily="50" charset="-128"/>
                <a:ea typeface="Meiryo UI" panose="020B0604030504040204" pitchFamily="50" charset="-128"/>
              </a:rPr>
              <a:t>返品メニューの統合により、レジ操作が簡素化</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8AE04293-9961-1954-1F1E-9D2D49714C63}"/>
              </a:ext>
            </a:extLst>
          </p:cNvPr>
          <p:cNvSpPr/>
          <p:nvPr/>
        </p:nvSpPr>
        <p:spPr>
          <a:xfrm>
            <a:off x="6815216" y="8221828"/>
            <a:ext cx="11298993" cy="1714172"/>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en-US" sz="1800">
              <a:solidFill>
                <a:schemeClr val="tx1"/>
              </a:solidFill>
              <a:latin typeface="Meiryo UI" panose="020B0604030504040204" pitchFamily="50" charset="-128"/>
              <a:ea typeface="Meiryo UI" panose="020B0604030504040204" pitchFamily="50" charset="-128"/>
            </a:endParaRPr>
          </a:p>
        </p:txBody>
      </p:sp>
      <p:sp>
        <p:nvSpPr>
          <p:cNvPr id="83" name="二等辺三角形 82">
            <a:extLst>
              <a:ext uri="{FF2B5EF4-FFF2-40B4-BE49-F238E27FC236}">
                <a16:creationId xmlns:a16="http://schemas.microsoft.com/office/drawing/2014/main" id="{8BF00DA7-A612-C166-3DF9-1F42C3DCB0D5}"/>
              </a:ext>
            </a:extLst>
          </p:cNvPr>
          <p:cNvSpPr/>
          <p:nvPr/>
        </p:nvSpPr>
        <p:spPr>
          <a:xfrm rot="5400000">
            <a:off x="11953800" y="8819987"/>
            <a:ext cx="1088817" cy="382221"/>
          </a:xfrm>
          <a:prstGeom prst="triangle">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84" name="テキスト ボックス 83">
            <a:extLst>
              <a:ext uri="{FF2B5EF4-FFF2-40B4-BE49-F238E27FC236}">
                <a16:creationId xmlns:a16="http://schemas.microsoft.com/office/drawing/2014/main" id="{55114F50-FEC8-972F-3159-16651F2FE210}"/>
              </a:ext>
            </a:extLst>
          </p:cNvPr>
          <p:cNvSpPr txBox="1"/>
          <p:nvPr/>
        </p:nvSpPr>
        <p:spPr>
          <a:xfrm>
            <a:off x="6815216" y="8263513"/>
            <a:ext cx="3034805" cy="461665"/>
          </a:xfrm>
          <a:prstGeom prst="rect">
            <a:avLst/>
          </a:prstGeom>
          <a:noFill/>
        </p:spPr>
        <p:txBody>
          <a:bodyPr wrap="none" rtlCol="0">
            <a:spAutoFit/>
          </a:bodyPr>
          <a:lstStyle/>
          <a:p>
            <a:pPr algn="l"/>
            <a:r>
              <a:rPr kumimoji="1" lang="en-US" altLang="ja-JP" sz="2400" b="1">
                <a:solidFill>
                  <a:schemeClr val="bg1">
                    <a:lumMod val="10000"/>
                  </a:schemeClr>
                </a:solidFill>
                <a:latin typeface="Meiryo UI" panose="020B0604030504040204" pitchFamily="50" charset="-128"/>
                <a:ea typeface="Meiryo UI" panose="020B0604030504040204" pitchFamily="50" charset="-128"/>
              </a:rPr>
              <a:t>POS</a:t>
            </a:r>
            <a:r>
              <a:rPr kumimoji="1" lang="ja-JP" altLang="en-US" sz="2400" b="1">
                <a:solidFill>
                  <a:schemeClr val="bg1">
                    <a:lumMod val="10000"/>
                  </a:schemeClr>
                </a:solidFill>
                <a:latin typeface="Meiryo UI" panose="020B0604030504040204" pitchFamily="50" charset="-128"/>
                <a:ea typeface="Meiryo UI" panose="020B0604030504040204" pitchFamily="50" charset="-128"/>
              </a:rPr>
              <a:t>メニューの肥大化</a:t>
            </a:r>
          </a:p>
        </p:txBody>
      </p:sp>
      <p:sp>
        <p:nvSpPr>
          <p:cNvPr id="85" name="テキスト ボックス 84">
            <a:extLst>
              <a:ext uri="{FF2B5EF4-FFF2-40B4-BE49-F238E27FC236}">
                <a16:creationId xmlns:a16="http://schemas.microsoft.com/office/drawing/2014/main" id="{E8D3F027-9EFB-5348-7223-A046CD7C2513}"/>
              </a:ext>
            </a:extLst>
          </p:cNvPr>
          <p:cNvSpPr txBox="1"/>
          <p:nvPr/>
        </p:nvSpPr>
        <p:spPr>
          <a:xfrm>
            <a:off x="6815217" y="8590895"/>
            <a:ext cx="5491882" cy="1015663"/>
          </a:xfrm>
          <a:prstGeom prst="rect">
            <a:avLst/>
          </a:prstGeom>
          <a:noFill/>
        </p:spPr>
        <p:txBody>
          <a:bodyPr wrap="square" rtlCol="0">
            <a:spAutoFit/>
          </a:bodyPr>
          <a:lstStyle/>
          <a:p>
            <a:pPr marL="342900" indent="-342900" algn="l">
              <a:buFont typeface="Arial" panose="020B0604020202020204" pitchFamily="34" charset="0"/>
              <a:buChar char="•"/>
            </a:pPr>
            <a:r>
              <a:rPr lang="ja-JP" altLang="en-US" sz="2000">
                <a:solidFill>
                  <a:schemeClr val="bg1">
                    <a:lumMod val="10000"/>
                  </a:schemeClr>
                </a:solidFill>
                <a:latin typeface="Meiryo UI" panose="020B0604030504040204" pitchFamily="50" charset="-128"/>
                <a:ea typeface="Meiryo UI" panose="020B0604030504040204" pitchFamily="50" charset="-128"/>
              </a:rPr>
              <a:t>機能数が</a:t>
            </a:r>
            <a:r>
              <a:rPr lang="en-US" altLang="ja-JP" sz="2000">
                <a:solidFill>
                  <a:schemeClr val="bg1">
                    <a:lumMod val="10000"/>
                  </a:schemeClr>
                </a:solidFill>
                <a:latin typeface="Meiryo UI" panose="020B0604030504040204" pitchFamily="50" charset="-128"/>
                <a:ea typeface="Meiryo UI" panose="020B0604030504040204" pitchFamily="50" charset="-128"/>
              </a:rPr>
              <a:t>330</a:t>
            </a:r>
            <a:r>
              <a:rPr lang="ja-JP" altLang="en-US" sz="2000">
                <a:solidFill>
                  <a:schemeClr val="bg1">
                    <a:lumMod val="10000"/>
                  </a:schemeClr>
                </a:solidFill>
                <a:latin typeface="Meiryo UI" panose="020B0604030504040204" pitchFamily="50" charset="-128"/>
                <a:ea typeface="Meiryo UI" panose="020B0604030504040204" pitchFamily="50" charset="-128"/>
              </a:rPr>
              <a:t>もあり、操作が複雑になっている</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a:p>
            <a:pPr marL="342900" indent="-342900" algn="l">
              <a:buFont typeface="Arial" panose="020B0604020202020204" pitchFamily="34" charset="0"/>
              <a:buChar char="•"/>
            </a:pPr>
            <a:r>
              <a:rPr kumimoji="1" lang="ja-JP" altLang="en-US" sz="2000">
                <a:solidFill>
                  <a:schemeClr val="bg1">
                    <a:lumMod val="10000"/>
                  </a:schemeClr>
                </a:solidFill>
                <a:latin typeface="Meiryo UI" panose="020B0604030504040204" pitchFamily="50" charset="-128"/>
                <a:ea typeface="Meiryo UI" panose="020B0604030504040204" pitchFamily="50" charset="-128"/>
              </a:rPr>
              <a:t>改修スピードも遅くなり、改修時に他への不具合を意識する必要があり、負担大</a:t>
            </a:r>
            <a:endParaRPr kumimoji="1"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86" name="テキスト ボックス 85">
            <a:extLst>
              <a:ext uri="{FF2B5EF4-FFF2-40B4-BE49-F238E27FC236}">
                <a16:creationId xmlns:a16="http://schemas.microsoft.com/office/drawing/2014/main" id="{F9F20238-F261-A347-5928-C60D0B5A3CC4}"/>
              </a:ext>
            </a:extLst>
          </p:cNvPr>
          <p:cNvSpPr txBox="1"/>
          <p:nvPr/>
        </p:nvSpPr>
        <p:spPr>
          <a:xfrm>
            <a:off x="12706755" y="8263513"/>
            <a:ext cx="2677336" cy="461665"/>
          </a:xfrm>
          <a:prstGeom prst="rect">
            <a:avLst/>
          </a:prstGeom>
          <a:noFill/>
        </p:spPr>
        <p:txBody>
          <a:bodyPr wrap="none" rtlCol="0">
            <a:spAutoFit/>
          </a:bodyPr>
          <a:lstStyle/>
          <a:p>
            <a:pPr algn="l"/>
            <a:r>
              <a:rPr lang="ja-JP" altLang="en-US" sz="2400" b="1">
                <a:solidFill>
                  <a:schemeClr val="bg1">
                    <a:lumMod val="10000"/>
                  </a:schemeClr>
                </a:solidFill>
                <a:latin typeface="Meiryo UI" panose="020B0604030504040204" pitchFamily="50" charset="-128"/>
                <a:ea typeface="Meiryo UI" panose="020B0604030504040204" pitchFamily="50" charset="-128"/>
              </a:rPr>
              <a:t>各メニューの統廃合</a:t>
            </a:r>
            <a:endParaRPr kumimoji="1" lang="ja-JP" altLang="en-US" sz="2400" b="1">
              <a:solidFill>
                <a:schemeClr val="bg1">
                  <a:lumMod val="10000"/>
                </a:schemeClr>
              </a:solidFill>
              <a:latin typeface="Meiryo UI" panose="020B0604030504040204" pitchFamily="50" charset="-128"/>
              <a:ea typeface="Meiryo UI" panose="020B0604030504040204" pitchFamily="50" charset="-128"/>
            </a:endParaRPr>
          </a:p>
        </p:txBody>
      </p:sp>
      <p:sp>
        <p:nvSpPr>
          <p:cNvPr id="87" name="テキスト ボックス 86">
            <a:extLst>
              <a:ext uri="{FF2B5EF4-FFF2-40B4-BE49-F238E27FC236}">
                <a16:creationId xmlns:a16="http://schemas.microsoft.com/office/drawing/2014/main" id="{02A830B7-84C9-681C-F72C-3D47124F3EB3}"/>
              </a:ext>
            </a:extLst>
          </p:cNvPr>
          <p:cNvSpPr txBox="1"/>
          <p:nvPr/>
        </p:nvSpPr>
        <p:spPr>
          <a:xfrm>
            <a:off x="12706756" y="8590895"/>
            <a:ext cx="5491882" cy="1323439"/>
          </a:xfrm>
          <a:prstGeom prst="rect">
            <a:avLst/>
          </a:prstGeom>
          <a:noFill/>
        </p:spPr>
        <p:txBody>
          <a:bodyPr wrap="square" rtlCol="0">
            <a:spAutoFit/>
          </a:bodyPr>
          <a:lstStyle/>
          <a:p>
            <a:pPr marL="342900" indent="-342900" algn="l">
              <a:buFont typeface="Arial" panose="020B0604020202020204" pitchFamily="34" charset="0"/>
              <a:buChar char="•"/>
            </a:pPr>
            <a:r>
              <a:rPr lang="ja-JP" altLang="en-US" sz="2000">
                <a:solidFill>
                  <a:schemeClr val="bg1">
                    <a:lumMod val="10000"/>
                  </a:schemeClr>
                </a:solidFill>
                <a:latin typeface="Meiryo UI" panose="020B0604030504040204" pitchFamily="50" charset="-128"/>
                <a:ea typeface="Meiryo UI" panose="020B0604030504040204" pitchFamily="50" charset="-128"/>
              </a:rPr>
              <a:t>赤メニューの統廃合（検討中）により、メニューを</a:t>
            </a:r>
            <a:br>
              <a:rPr lang="en-US" altLang="ja-JP" sz="2000">
                <a:solidFill>
                  <a:schemeClr val="bg1">
                    <a:lumMod val="10000"/>
                  </a:schemeClr>
                </a:solidFill>
                <a:latin typeface="Meiryo UI" panose="020B0604030504040204" pitchFamily="50" charset="-128"/>
                <a:ea typeface="Meiryo UI" panose="020B0604030504040204" pitchFamily="50" charset="-128"/>
              </a:rPr>
            </a:br>
            <a:r>
              <a:rPr lang="ja-JP" altLang="en-US" sz="2000">
                <a:solidFill>
                  <a:schemeClr val="bg1">
                    <a:lumMod val="10000"/>
                  </a:schemeClr>
                </a:solidFill>
                <a:latin typeface="Meiryo UI" panose="020B0604030504040204" pitchFamily="50" charset="-128"/>
                <a:ea typeface="Meiryo UI" panose="020B0604030504040204" pitchFamily="50" charset="-128"/>
              </a:rPr>
              <a:t>探しやすくなる</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a:p>
            <a:pPr marL="342900" indent="-342900" algn="l">
              <a:buFont typeface="Arial" panose="020B0604020202020204" pitchFamily="34" charset="0"/>
              <a:buChar char="•"/>
            </a:pPr>
            <a:r>
              <a:rPr lang="ja-JP" altLang="en-US" sz="2000">
                <a:solidFill>
                  <a:srgbClr val="FF0000"/>
                </a:solidFill>
                <a:latin typeface="Meiryo UI" panose="020B0604030504040204" pitchFamily="50" charset="-128"/>
                <a:ea typeface="Meiryo UI" panose="020B0604030504040204" pitchFamily="50" charset="-128"/>
              </a:rPr>
              <a:t>かんたん</a:t>
            </a:r>
            <a:r>
              <a:rPr lang="en-US" altLang="ja-JP" sz="2000">
                <a:solidFill>
                  <a:srgbClr val="FF0000"/>
                </a:solidFill>
                <a:latin typeface="Meiryo UI" panose="020B0604030504040204" pitchFamily="50" charset="-128"/>
                <a:ea typeface="Meiryo UI" panose="020B0604030504040204" pitchFamily="50" charset="-128"/>
              </a:rPr>
              <a:t>UI</a:t>
            </a:r>
            <a:r>
              <a:rPr lang="ja-JP" altLang="en-US" sz="2000">
                <a:solidFill>
                  <a:schemeClr val="bg1">
                    <a:lumMod val="10000"/>
                  </a:schemeClr>
                </a:solidFill>
                <a:latin typeface="Meiryo UI" panose="020B0604030504040204" pitchFamily="50" charset="-128"/>
                <a:ea typeface="Meiryo UI" panose="020B0604030504040204" pitchFamily="50" charset="-128"/>
              </a:rPr>
              <a:t>で、初心者に優しく直感的な操作、</a:t>
            </a:r>
            <a:br>
              <a:rPr lang="en-US" altLang="ja-JP" sz="2000">
                <a:solidFill>
                  <a:schemeClr val="bg1">
                    <a:lumMod val="10000"/>
                  </a:schemeClr>
                </a:solidFill>
                <a:latin typeface="Meiryo UI" panose="020B0604030504040204" pitchFamily="50" charset="-128"/>
                <a:ea typeface="Meiryo UI" panose="020B0604030504040204" pitchFamily="50" charset="-128"/>
              </a:rPr>
            </a:br>
            <a:r>
              <a:rPr lang="ja-JP" altLang="en-US" sz="2000">
                <a:solidFill>
                  <a:schemeClr val="bg1">
                    <a:lumMod val="10000"/>
                  </a:schemeClr>
                </a:solidFill>
                <a:latin typeface="Meiryo UI" panose="020B0604030504040204" pitchFamily="50" charset="-128"/>
                <a:ea typeface="Meiryo UI" panose="020B0604030504040204" pitchFamily="50" charset="-128"/>
              </a:rPr>
              <a:t>各メニューもわかりやすい表現にする</a:t>
            </a:r>
            <a:endParaRPr lang="en-US" altLang="ja-JP" sz="2000">
              <a:solidFill>
                <a:schemeClr val="bg1">
                  <a:lumMod val="10000"/>
                </a:schemeClr>
              </a:solidFill>
              <a:latin typeface="Meiryo UI" panose="020B0604030504040204" pitchFamily="50" charset="-128"/>
              <a:ea typeface="Meiryo UI" panose="020B0604030504040204" pitchFamily="50" charset="-128"/>
            </a:endParaRPr>
          </a:p>
        </p:txBody>
      </p:sp>
      <p:sp>
        <p:nvSpPr>
          <p:cNvPr id="88" name="テキスト プレースホルダー 11">
            <a:extLst>
              <a:ext uri="{FF2B5EF4-FFF2-40B4-BE49-F238E27FC236}">
                <a16:creationId xmlns:a16="http://schemas.microsoft.com/office/drawing/2014/main" id="{BCAEC3BA-6CA8-BE4A-A953-4513B91B8BA5}"/>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4" name="フッター プレースホルダー 3">
            <a:extLst>
              <a:ext uri="{FF2B5EF4-FFF2-40B4-BE49-F238E27FC236}">
                <a16:creationId xmlns:a16="http://schemas.microsoft.com/office/drawing/2014/main" id="{3D0F3086-728D-72E5-018C-B2AA394E3A90}"/>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Tree>
    <p:extLst>
      <p:ext uri="{BB962C8B-B14F-4D97-AF65-F5344CB8AC3E}">
        <p14:creationId xmlns:p14="http://schemas.microsoft.com/office/powerpoint/2010/main" val="4068913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EB7E8B2D-4C6C-ACE7-B602-B64C12541CEC}"/>
              </a:ext>
            </a:extLst>
          </p:cNvPr>
          <p:cNvSpPr>
            <a:spLocks noGrp="1"/>
          </p:cNvSpPr>
          <p:nvPr>
            <p:ph type="ctrTitle"/>
          </p:nvPr>
        </p:nvSpPr>
        <p:spPr>
          <a:xfrm>
            <a:off x="0" y="3969000"/>
            <a:ext cx="18288000" cy="1512000"/>
          </a:xfrm>
        </p:spPr>
        <p:txBody>
          <a:bodyPr wrap="none" anchor="ctr">
            <a:normAutofit/>
          </a:bodyPr>
          <a:lstStyle/>
          <a:p>
            <a:r>
              <a:rPr kumimoji="1" lang="ja-JP" altLang="en-US"/>
              <a:t>５．要件整理・対象範囲</a:t>
            </a:r>
          </a:p>
        </p:txBody>
      </p:sp>
      <p:sp>
        <p:nvSpPr>
          <p:cNvPr id="6" name="フッター プレースホルダー 5">
            <a:extLst>
              <a:ext uri="{FF2B5EF4-FFF2-40B4-BE49-F238E27FC236}">
                <a16:creationId xmlns:a16="http://schemas.microsoft.com/office/drawing/2014/main" id="{8AB2D8DF-E047-DBC8-16CC-8B6CCDBFBFE1}"/>
              </a:ext>
            </a:extLst>
          </p:cNvPr>
          <p:cNvSpPr>
            <a:spLocks noGrp="1"/>
          </p:cNvSpPr>
          <p:nvPr>
            <p:ph type="ftr" sz="quarter" idx="16"/>
          </p:nvPr>
        </p:nvSpPr>
        <p:spPr>
          <a:xfrm>
            <a:off x="14294731" y="9903315"/>
            <a:ext cx="2619755" cy="378000"/>
          </a:xfrm>
        </p:spPr>
        <p:txBody>
          <a:bodyPr anchor="ctr">
            <a:normAutofit/>
          </a:bodyPr>
          <a:lstStyle/>
          <a:p>
            <a:pPr>
              <a:spcAft>
                <a:spcPts val="600"/>
              </a:spcAft>
            </a:pPr>
            <a:r>
              <a:rPr kumimoji="1" lang="en-US" altLang="ja-JP"/>
              <a:t>Confidential </a:t>
            </a:r>
            <a:endParaRPr kumimoji="1" lang="ja-JP" altLang="en-US"/>
          </a:p>
        </p:txBody>
      </p:sp>
      <p:sp>
        <p:nvSpPr>
          <p:cNvPr id="3" name="スライド番号プレースホルダー 2" hidden="1">
            <a:extLst>
              <a:ext uri="{FF2B5EF4-FFF2-40B4-BE49-F238E27FC236}">
                <a16:creationId xmlns:a16="http://schemas.microsoft.com/office/drawing/2014/main" id="{AB74122F-16AE-1468-C5AC-38742ED89FBB}"/>
              </a:ext>
            </a:extLst>
          </p:cNvPr>
          <p:cNvSpPr>
            <a:spLocks noGrp="1"/>
          </p:cNvSpPr>
          <p:nvPr>
            <p:ph type="sldNum" sz="quarter" idx="4294967295"/>
          </p:nvPr>
        </p:nvSpPr>
        <p:spPr>
          <a:xfrm>
            <a:off x="17069400" y="9936000"/>
            <a:ext cx="810000" cy="324000"/>
          </a:xfrm>
        </p:spPr>
        <p:txBody>
          <a:bodyPr/>
          <a:lstStyle/>
          <a:p>
            <a:pPr>
              <a:spcAft>
                <a:spcPts val="600"/>
              </a:spcAft>
            </a:pPr>
            <a:fld id="{2A9E37A5-A917-4235-ABF6-8CD72E894915}" type="slidenum">
              <a:rPr kumimoji="1" lang="ja-JP" altLang="en-US" smtClean="0"/>
              <a:pPr>
                <a:spcAft>
                  <a:spcPts val="600"/>
                </a:spcAft>
              </a:pPr>
              <a:t>11</a:t>
            </a:fld>
            <a:endParaRPr kumimoji="1" lang="ja-JP" altLang="en-US"/>
          </a:p>
        </p:txBody>
      </p:sp>
    </p:spTree>
    <p:extLst>
      <p:ext uri="{BB962C8B-B14F-4D97-AF65-F5344CB8AC3E}">
        <p14:creationId xmlns:p14="http://schemas.microsoft.com/office/powerpoint/2010/main" val="2987330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C7A25-BCC9-0492-26EA-29CDA9362D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2D096B-89F0-9EE5-B92F-6A0B94079CFD}"/>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５－１．全体アーキテクチャ（本番環境）（１）</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558FD76-2A98-4CDD-8F7E-2A5B315C7FD8}"/>
              </a:ext>
            </a:extLst>
          </p:cNvPr>
          <p:cNvSpPr>
            <a:spLocks noGrp="1"/>
          </p:cNvSpPr>
          <p:nvPr>
            <p:ph type="sldNum" sz="quarter" idx="12"/>
          </p:nvPr>
        </p:nvSpPr>
        <p:spPr/>
        <p:txBody>
          <a:bodyPr/>
          <a:lstStyle/>
          <a:p>
            <a:fld id="{2A9E37A5-A917-4235-ABF6-8CD72E894915}" type="slidenum">
              <a:rPr lang="en-US" altLang="ja-JP" smtClean="0"/>
              <a:pPr/>
              <a:t>12</a:t>
            </a:fld>
            <a:endParaRPr lang="ja-JP" altLang="en-US"/>
          </a:p>
        </p:txBody>
      </p:sp>
      <p:sp>
        <p:nvSpPr>
          <p:cNvPr id="4" name="フッター プレースホルダー 3">
            <a:extLst>
              <a:ext uri="{FF2B5EF4-FFF2-40B4-BE49-F238E27FC236}">
                <a16:creationId xmlns:a16="http://schemas.microsoft.com/office/drawing/2014/main" id="{94839847-2204-0215-D8AE-B943E80EB25A}"/>
              </a:ext>
            </a:extLst>
          </p:cNvPr>
          <p:cNvSpPr>
            <a:spLocks noGrp="1"/>
          </p:cNvSpPr>
          <p:nvPr>
            <p:ph type="ftr" sz="quarter" idx="11"/>
          </p:nvPr>
        </p:nvSpPr>
        <p:spPr>
          <a:xfrm>
            <a:off x="1450459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CB3A8BF1-78FF-9062-BBBE-A68D4FC957F2}"/>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pic>
        <p:nvPicPr>
          <p:cNvPr id="1026" name="Picture 2" descr="RZ-A471S">
            <a:extLst>
              <a:ext uri="{FF2B5EF4-FFF2-40B4-BE49-F238E27FC236}">
                <a16:creationId xmlns:a16="http://schemas.microsoft.com/office/drawing/2014/main" id="{856303D1-2297-1A5C-841B-7AAFB0B94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118" y="4681646"/>
            <a:ext cx="1875454" cy="2221411"/>
          </a:xfrm>
          <a:prstGeom prst="rect">
            <a:avLst/>
          </a:prstGeom>
          <a:noFill/>
          <a:extLst>
            <a:ext uri="{909E8E84-426E-40DD-AFC4-6F175D3DCCD1}">
              <a14:hiddenFill xmlns:a14="http://schemas.microsoft.com/office/drawing/2010/main">
                <a:solidFill>
                  <a:srgbClr val="FFFFFF"/>
                </a:solidFill>
              </a14:hiddenFill>
            </a:ext>
          </a:extLst>
        </p:spPr>
      </p:pic>
      <p:pic>
        <p:nvPicPr>
          <p:cNvPr id="9" name="図 8">
            <a:extLst>
              <a:ext uri="{FF2B5EF4-FFF2-40B4-BE49-F238E27FC236}">
                <a16:creationId xmlns:a16="http://schemas.microsoft.com/office/drawing/2014/main" id="{7CF40802-30E8-57FE-C8AF-749EA4D2C04D}"/>
              </a:ext>
            </a:extLst>
          </p:cNvPr>
          <p:cNvPicPr>
            <a:picLocks noChangeAspect="1"/>
          </p:cNvPicPr>
          <p:nvPr/>
        </p:nvPicPr>
        <p:blipFill rotWithShape="1">
          <a:blip r:embed="rId3"/>
          <a:srcRect l="80089" t="69813" r="4544" b="17147"/>
          <a:stretch/>
        </p:blipFill>
        <p:spPr>
          <a:xfrm>
            <a:off x="1020158" y="4892088"/>
            <a:ext cx="1706015" cy="913534"/>
          </a:xfrm>
          <a:prstGeom prst="rect">
            <a:avLst/>
          </a:prstGeom>
        </p:spPr>
      </p:pic>
      <p:pic>
        <p:nvPicPr>
          <p:cNvPr id="10" name="図 9">
            <a:extLst>
              <a:ext uri="{FF2B5EF4-FFF2-40B4-BE49-F238E27FC236}">
                <a16:creationId xmlns:a16="http://schemas.microsoft.com/office/drawing/2014/main" id="{16B7F40D-F65F-968B-1231-DBA8A21AFF34}"/>
              </a:ext>
            </a:extLst>
          </p:cNvPr>
          <p:cNvPicPr>
            <a:picLocks noChangeAspect="1"/>
          </p:cNvPicPr>
          <p:nvPr/>
        </p:nvPicPr>
        <p:blipFill>
          <a:blip r:embed="rId4"/>
          <a:stretch>
            <a:fillRect/>
          </a:stretch>
        </p:blipFill>
        <p:spPr>
          <a:xfrm>
            <a:off x="3251052" y="4141901"/>
            <a:ext cx="367736" cy="556947"/>
          </a:xfrm>
          <a:prstGeom prst="rect">
            <a:avLst/>
          </a:prstGeom>
        </p:spPr>
      </p:pic>
      <p:pic>
        <p:nvPicPr>
          <p:cNvPr id="11" name="Picture 3">
            <a:extLst>
              <a:ext uri="{FF2B5EF4-FFF2-40B4-BE49-F238E27FC236}">
                <a16:creationId xmlns:a16="http://schemas.microsoft.com/office/drawing/2014/main" id="{7FA58849-6937-C517-1EB3-CA8A794D2A7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75034" y="5908155"/>
            <a:ext cx="1365394" cy="6974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a:extLst>
              <a:ext uri="{FF2B5EF4-FFF2-40B4-BE49-F238E27FC236}">
                <a16:creationId xmlns:a16="http://schemas.microsoft.com/office/drawing/2014/main" id="{A97D733F-5870-7A8E-54C7-3A347A60638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50745" y="5033965"/>
            <a:ext cx="983654" cy="2784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図 13">
            <a:extLst>
              <a:ext uri="{FF2B5EF4-FFF2-40B4-BE49-F238E27FC236}">
                <a16:creationId xmlns:a16="http://schemas.microsoft.com/office/drawing/2014/main" id="{1C6BE865-9590-C0F8-48FF-9D7E1B7D66DF}"/>
              </a:ext>
            </a:extLst>
          </p:cNvPr>
          <p:cNvPicPr>
            <a:picLocks noChangeAspect="1"/>
          </p:cNvPicPr>
          <p:nvPr/>
        </p:nvPicPr>
        <p:blipFill rotWithShape="1">
          <a:blip r:embed="rId7"/>
          <a:srcRect t="5267"/>
          <a:stretch/>
        </p:blipFill>
        <p:spPr>
          <a:xfrm>
            <a:off x="1385199" y="6075682"/>
            <a:ext cx="772300" cy="529950"/>
          </a:xfrm>
          <a:prstGeom prst="rect">
            <a:avLst/>
          </a:prstGeom>
        </p:spPr>
      </p:pic>
      <p:sp>
        <p:nvSpPr>
          <p:cNvPr id="16" name="四角形: 角を丸くする 15">
            <a:extLst>
              <a:ext uri="{FF2B5EF4-FFF2-40B4-BE49-F238E27FC236}">
                <a16:creationId xmlns:a16="http://schemas.microsoft.com/office/drawing/2014/main" id="{0E3B8AAA-6EB0-F23D-319E-B123C3545A1F}"/>
              </a:ext>
            </a:extLst>
          </p:cNvPr>
          <p:cNvSpPr/>
          <p:nvPr/>
        </p:nvSpPr>
        <p:spPr>
          <a:xfrm>
            <a:off x="578735" y="3468317"/>
            <a:ext cx="7944340" cy="5985424"/>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店舗</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
        <p:nvSpPr>
          <p:cNvPr id="33" name="テキスト ボックス 32">
            <a:extLst>
              <a:ext uri="{FF2B5EF4-FFF2-40B4-BE49-F238E27FC236}">
                <a16:creationId xmlns:a16="http://schemas.microsoft.com/office/drawing/2014/main" id="{62658BC0-7FC3-52C9-8D95-B655EF6A1D39}"/>
              </a:ext>
            </a:extLst>
          </p:cNvPr>
          <p:cNvSpPr txBox="1"/>
          <p:nvPr/>
        </p:nvSpPr>
        <p:spPr>
          <a:xfrm>
            <a:off x="1430515" y="6605632"/>
            <a:ext cx="800219" cy="276999"/>
          </a:xfrm>
          <a:prstGeom prst="rect">
            <a:avLst/>
          </a:prstGeom>
          <a:noFill/>
        </p:spPr>
        <p:txBody>
          <a:bodyPr wrap="none" rtlCol="0">
            <a:spAutoFit/>
          </a:bodyPr>
          <a:lstStyle/>
          <a:p>
            <a:pPr algn="l"/>
            <a:r>
              <a:rPr lang="ja-JP" altLang="en-US" sz="1200">
                <a:solidFill>
                  <a:schemeClr val="bg1">
                    <a:lumMod val="10000"/>
                  </a:schemeClr>
                </a:solidFill>
                <a:latin typeface="Meiryo UI" panose="020B0604030504040204" pitchFamily="50" charset="-128"/>
                <a:ea typeface="Meiryo UI" panose="020B0604030504040204" pitchFamily="50" charset="-128"/>
              </a:rPr>
              <a:t>決済端末</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394DF668-00C5-E13B-D859-9E5BF07F3529}"/>
              </a:ext>
            </a:extLst>
          </p:cNvPr>
          <p:cNvSpPr txBox="1"/>
          <p:nvPr/>
        </p:nvSpPr>
        <p:spPr>
          <a:xfrm>
            <a:off x="2676621" y="5348948"/>
            <a:ext cx="1306768" cy="276999"/>
          </a:xfrm>
          <a:prstGeom prst="rect">
            <a:avLst/>
          </a:prstGeom>
          <a:noFill/>
        </p:spPr>
        <p:txBody>
          <a:bodyPr wrap="none" rtlCol="0">
            <a:spAutoFit/>
          </a:bodyPr>
          <a:lstStyle/>
          <a:p>
            <a:pPr algn="l"/>
            <a:r>
              <a:rPr lang="ja-JP" altLang="en-US" sz="1200">
                <a:solidFill>
                  <a:schemeClr val="bg1">
                    <a:lumMod val="10000"/>
                  </a:schemeClr>
                </a:solidFill>
                <a:latin typeface="Meiryo UI" panose="020B0604030504040204" pitchFamily="50" charset="-128"/>
                <a:ea typeface="Meiryo UI" panose="020B0604030504040204" pitchFamily="50" charset="-128"/>
              </a:rPr>
              <a:t>カスタマディスプレイ</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sp>
        <p:nvSpPr>
          <p:cNvPr id="37" name="テキスト ボックス 36">
            <a:extLst>
              <a:ext uri="{FF2B5EF4-FFF2-40B4-BE49-F238E27FC236}">
                <a16:creationId xmlns:a16="http://schemas.microsoft.com/office/drawing/2014/main" id="{C792985E-85C2-FB3F-C175-DFC9637A04DF}"/>
              </a:ext>
            </a:extLst>
          </p:cNvPr>
          <p:cNvSpPr txBox="1"/>
          <p:nvPr/>
        </p:nvSpPr>
        <p:spPr>
          <a:xfrm>
            <a:off x="1276888" y="5793244"/>
            <a:ext cx="954107" cy="276999"/>
          </a:xfrm>
          <a:prstGeom prst="rect">
            <a:avLst/>
          </a:prstGeom>
          <a:noFill/>
        </p:spPr>
        <p:txBody>
          <a:bodyPr wrap="none" rtlCol="0">
            <a:spAutoFit/>
          </a:bodyPr>
          <a:lstStyle/>
          <a:p>
            <a:pPr algn="l"/>
            <a:r>
              <a:rPr lang="ja-JP" altLang="en-US" sz="1200">
                <a:solidFill>
                  <a:schemeClr val="bg1">
                    <a:lumMod val="10000"/>
                  </a:schemeClr>
                </a:solidFill>
                <a:latin typeface="Meiryo UI" panose="020B0604030504040204" pitchFamily="50" charset="-128"/>
                <a:ea typeface="Meiryo UI" panose="020B0604030504040204" pitchFamily="50" charset="-128"/>
              </a:rPr>
              <a:t>自動釣銭機</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sp>
        <p:nvSpPr>
          <p:cNvPr id="38" name="テキスト ボックス 37">
            <a:extLst>
              <a:ext uri="{FF2B5EF4-FFF2-40B4-BE49-F238E27FC236}">
                <a16:creationId xmlns:a16="http://schemas.microsoft.com/office/drawing/2014/main" id="{78C4F33C-F0FF-D7A7-EC88-56AAD2136E6E}"/>
              </a:ext>
            </a:extLst>
          </p:cNvPr>
          <p:cNvSpPr txBox="1"/>
          <p:nvPr/>
        </p:nvSpPr>
        <p:spPr>
          <a:xfrm>
            <a:off x="2580677" y="6617136"/>
            <a:ext cx="522900" cy="276999"/>
          </a:xfrm>
          <a:prstGeom prst="rect">
            <a:avLst/>
          </a:prstGeom>
          <a:noFill/>
        </p:spPr>
        <p:txBody>
          <a:bodyPr wrap="none" rtlCol="0">
            <a:spAutoFit/>
          </a:bodyPr>
          <a:lstStyle/>
          <a:p>
            <a:pPr algn="l"/>
            <a:r>
              <a:rPr lang="ja-JP" altLang="en-US" sz="1200">
                <a:solidFill>
                  <a:schemeClr val="bg1">
                    <a:lumMod val="10000"/>
                  </a:schemeClr>
                </a:solidFill>
                <a:latin typeface="Meiryo UI" panose="020B0604030504040204" pitchFamily="50" charset="-128"/>
                <a:ea typeface="Meiryo UI" panose="020B0604030504040204" pitchFamily="50" charset="-128"/>
              </a:rPr>
              <a:t>ドロア</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sp>
        <p:nvSpPr>
          <p:cNvPr id="39" name="テキスト ボックス 38">
            <a:extLst>
              <a:ext uri="{FF2B5EF4-FFF2-40B4-BE49-F238E27FC236}">
                <a16:creationId xmlns:a16="http://schemas.microsoft.com/office/drawing/2014/main" id="{8CADE4B1-F98F-22CD-6F9C-4EE85FA25568}"/>
              </a:ext>
            </a:extLst>
          </p:cNvPr>
          <p:cNvSpPr txBox="1"/>
          <p:nvPr/>
        </p:nvSpPr>
        <p:spPr>
          <a:xfrm>
            <a:off x="6137877" y="8759372"/>
            <a:ext cx="937728" cy="276999"/>
          </a:xfrm>
          <a:prstGeom prst="rect">
            <a:avLst/>
          </a:prstGeom>
          <a:noFill/>
        </p:spPr>
        <p:txBody>
          <a:bodyPr wrap="square" rtlCol="0">
            <a:spAutoFit/>
          </a:bodyPr>
          <a:lstStyle/>
          <a:p>
            <a:pPr algn="l"/>
            <a:r>
              <a:rPr kumimoji="1" lang="en-US" altLang="ja-JP" sz="1200">
                <a:solidFill>
                  <a:schemeClr val="bg1">
                    <a:lumMod val="10000"/>
                  </a:schemeClr>
                </a:solidFill>
                <a:latin typeface="Meiryo UI" panose="020B0604030504040204" pitchFamily="50" charset="-128"/>
                <a:ea typeface="Meiryo UI" panose="020B0604030504040204" pitchFamily="50" charset="-128"/>
              </a:rPr>
              <a:t>iPad mini</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28B24247-1929-1689-4FB8-5FCB362EE2D7}"/>
              </a:ext>
            </a:extLst>
          </p:cNvPr>
          <p:cNvSpPr/>
          <p:nvPr/>
        </p:nvSpPr>
        <p:spPr>
          <a:xfrm>
            <a:off x="9080247" y="6708764"/>
            <a:ext cx="8310522" cy="2744976"/>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a:solidFill>
                  <a:srgbClr val="59574C"/>
                </a:solidFill>
                <a:latin typeface="Source Sans Pro" panose="020B0503030403020204" pitchFamily="34" charset="0"/>
                <a:ea typeface="源ノ角ゴシック JP Regular" panose="020B0500000000000000" pitchFamily="34" charset="-128"/>
              </a:rPr>
              <a:t>クラウド（</a:t>
            </a:r>
            <a:r>
              <a:rPr kumimoji="1" lang="en-US" altLang="ja-JP" sz="2000">
                <a:solidFill>
                  <a:srgbClr val="59574C"/>
                </a:solidFill>
                <a:latin typeface="Source Sans Pro" panose="020B0503030403020204" pitchFamily="34" charset="0"/>
                <a:ea typeface="源ノ角ゴシック JP Regular" panose="020B0500000000000000" pitchFamily="34" charset="-128"/>
              </a:rPr>
              <a:t>OCI</a:t>
            </a:r>
            <a:r>
              <a:rPr kumimoji="1" lang="ja-JP" altLang="en-US" sz="2000">
                <a:solidFill>
                  <a:srgbClr val="59574C"/>
                </a:solidFill>
                <a:latin typeface="Source Sans Pro" panose="020B0503030403020204" pitchFamily="34" charset="0"/>
                <a:ea typeface="源ノ角ゴシック JP Regular" panose="020B0500000000000000" pitchFamily="34" charset="-128"/>
              </a:rPr>
              <a:t>）</a:t>
            </a:r>
          </a:p>
        </p:txBody>
      </p:sp>
      <p:pic>
        <p:nvPicPr>
          <p:cNvPr id="41" name="図 40" descr="コンピューターの画面&#10;&#10;自動的に生成された説明">
            <a:extLst>
              <a:ext uri="{FF2B5EF4-FFF2-40B4-BE49-F238E27FC236}">
                <a16:creationId xmlns:a16="http://schemas.microsoft.com/office/drawing/2014/main" id="{F5F40A72-0FAB-365E-1100-DC8BF7BF98AA}"/>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rot="16200000">
            <a:off x="6270769" y="7948312"/>
            <a:ext cx="603364" cy="937728"/>
          </a:xfrm>
          <a:prstGeom prst="rect">
            <a:avLst/>
          </a:prstGeom>
        </p:spPr>
      </p:pic>
      <p:grpSp>
        <p:nvGrpSpPr>
          <p:cNvPr id="1105" name="Graphic 4">
            <a:extLst>
              <a:ext uri="{FF2B5EF4-FFF2-40B4-BE49-F238E27FC236}">
                <a16:creationId xmlns:a16="http://schemas.microsoft.com/office/drawing/2014/main" id="{89879AC1-48F9-54AE-8BD6-47E3B3375C51}"/>
              </a:ext>
            </a:extLst>
          </p:cNvPr>
          <p:cNvGrpSpPr/>
          <p:nvPr/>
        </p:nvGrpSpPr>
        <p:grpSpPr>
          <a:xfrm>
            <a:off x="9582979" y="7655896"/>
            <a:ext cx="829673" cy="817569"/>
            <a:chOff x="7859540" y="2440806"/>
            <a:chExt cx="375193" cy="385010"/>
          </a:xfrm>
        </p:grpSpPr>
        <p:sp>
          <p:nvSpPr>
            <p:cNvPr id="1107" name="Freeform: Shape 905">
              <a:extLst>
                <a:ext uri="{FF2B5EF4-FFF2-40B4-BE49-F238E27FC236}">
                  <a16:creationId xmlns:a16="http://schemas.microsoft.com/office/drawing/2014/main" id="{EAD9147F-8189-FCD2-508D-5729A099EA2B}"/>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108" name="Freeform: Shape 906">
              <a:extLst>
                <a:ext uri="{FF2B5EF4-FFF2-40B4-BE49-F238E27FC236}">
                  <a16:creationId xmlns:a16="http://schemas.microsoft.com/office/drawing/2014/main" id="{F5DB330D-F50C-5C31-DD3B-D4A5926A77F0}"/>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109" name="Freeform: Shape 907">
              <a:extLst>
                <a:ext uri="{FF2B5EF4-FFF2-40B4-BE49-F238E27FC236}">
                  <a16:creationId xmlns:a16="http://schemas.microsoft.com/office/drawing/2014/main" id="{F1D1CFF9-1F41-27EA-479E-400112858571}"/>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110" name="Freeform: Shape 908">
              <a:extLst>
                <a:ext uri="{FF2B5EF4-FFF2-40B4-BE49-F238E27FC236}">
                  <a16:creationId xmlns:a16="http://schemas.microsoft.com/office/drawing/2014/main" id="{91F95766-CAC9-ECDF-7625-E14B43DB5F34}"/>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111" name="Freeform: Shape 909">
              <a:extLst>
                <a:ext uri="{FF2B5EF4-FFF2-40B4-BE49-F238E27FC236}">
                  <a16:creationId xmlns:a16="http://schemas.microsoft.com/office/drawing/2014/main" id="{720E6312-3744-BE26-D1D0-83A778ABCD69}"/>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112" name="Freeform: Shape 910">
              <a:extLst>
                <a:ext uri="{FF2B5EF4-FFF2-40B4-BE49-F238E27FC236}">
                  <a16:creationId xmlns:a16="http://schemas.microsoft.com/office/drawing/2014/main" id="{61FEDA52-CD15-F1CB-F780-F60656891379}"/>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113" name="Freeform: Shape 911">
              <a:extLst>
                <a:ext uri="{FF2B5EF4-FFF2-40B4-BE49-F238E27FC236}">
                  <a16:creationId xmlns:a16="http://schemas.microsoft.com/office/drawing/2014/main" id="{549BE6DA-528E-7B0A-A511-5A9298F6AAD5}"/>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114" name="Freeform: Shape 912">
              <a:extLst>
                <a:ext uri="{FF2B5EF4-FFF2-40B4-BE49-F238E27FC236}">
                  <a16:creationId xmlns:a16="http://schemas.microsoft.com/office/drawing/2014/main" id="{426A37CE-723D-63D0-7AC1-0BF09B9A7F36}"/>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115" name="Freeform: Shape 913">
              <a:extLst>
                <a:ext uri="{FF2B5EF4-FFF2-40B4-BE49-F238E27FC236}">
                  <a16:creationId xmlns:a16="http://schemas.microsoft.com/office/drawing/2014/main" id="{EF0F7D42-5970-1E86-80E6-6E4217340499}"/>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116" name="Freeform: Shape 914">
              <a:extLst>
                <a:ext uri="{FF2B5EF4-FFF2-40B4-BE49-F238E27FC236}">
                  <a16:creationId xmlns:a16="http://schemas.microsoft.com/office/drawing/2014/main" id="{DBC53318-4B57-D401-C752-5DB548FD669F}"/>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117" name="Freeform: Shape 915">
              <a:extLst>
                <a:ext uri="{FF2B5EF4-FFF2-40B4-BE49-F238E27FC236}">
                  <a16:creationId xmlns:a16="http://schemas.microsoft.com/office/drawing/2014/main" id="{1ADD639A-F6E2-EF91-7FD5-09C8D414F3E3}"/>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118" name="Freeform: Shape 916">
              <a:extLst>
                <a:ext uri="{FF2B5EF4-FFF2-40B4-BE49-F238E27FC236}">
                  <a16:creationId xmlns:a16="http://schemas.microsoft.com/office/drawing/2014/main" id="{14B474FF-D7AE-12DF-6434-709A4B48D8D5}"/>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119" name="Freeform: Shape 24">
            <a:extLst>
              <a:ext uri="{FF2B5EF4-FFF2-40B4-BE49-F238E27FC236}">
                <a16:creationId xmlns:a16="http://schemas.microsoft.com/office/drawing/2014/main" id="{A8726C02-47C7-C188-14BD-6CE39B1131DA}"/>
              </a:ext>
            </a:extLst>
          </p:cNvPr>
          <p:cNvSpPr/>
          <p:nvPr/>
        </p:nvSpPr>
        <p:spPr>
          <a:xfrm>
            <a:off x="12786846" y="8174510"/>
            <a:ext cx="742337" cy="782621"/>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130" name="Graphic 6">
            <a:extLst>
              <a:ext uri="{FF2B5EF4-FFF2-40B4-BE49-F238E27FC236}">
                <a16:creationId xmlns:a16="http://schemas.microsoft.com/office/drawing/2014/main" id="{ACB2678F-B76A-B06B-E5DD-AF0BF0436EFB}"/>
              </a:ext>
            </a:extLst>
          </p:cNvPr>
          <p:cNvGrpSpPr/>
          <p:nvPr/>
        </p:nvGrpSpPr>
        <p:grpSpPr>
          <a:xfrm>
            <a:off x="15458508" y="7618068"/>
            <a:ext cx="829673" cy="817569"/>
            <a:chOff x="3637476" y="1556425"/>
            <a:chExt cx="385010" cy="385010"/>
          </a:xfrm>
        </p:grpSpPr>
        <p:grpSp>
          <p:nvGrpSpPr>
            <p:cNvPr id="1131" name="Graphic 6">
              <a:extLst>
                <a:ext uri="{FF2B5EF4-FFF2-40B4-BE49-F238E27FC236}">
                  <a16:creationId xmlns:a16="http://schemas.microsoft.com/office/drawing/2014/main" id="{2BF9601E-066A-049E-EB77-EC64B16B5C7B}"/>
                </a:ext>
              </a:extLst>
            </p:cNvPr>
            <p:cNvGrpSpPr/>
            <p:nvPr/>
          </p:nvGrpSpPr>
          <p:grpSpPr>
            <a:xfrm>
              <a:off x="3637476" y="1556425"/>
              <a:ext cx="385010" cy="385010"/>
              <a:chOff x="3637476" y="1556425"/>
              <a:chExt cx="385010" cy="385010"/>
            </a:xfrm>
            <a:solidFill>
              <a:srgbClr val="FFFFFF"/>
            </a:solidFill>
          </p:grpSpPr>
          <p:sp>
            <p:nvSpPr>
              <p:cNvPr id="1135" name="Freeform: Shape 559">
                <a:extLst>
                  <a:ext uri="{FF2B5EF4-FFF2-40B4-BE49-F238E27FC236}">
                    <a16:creationId xmlns:a16="http://schemas.microsoft.com/office/drawing/2014/main" id="{8F6DE05F-CB87-F005-8573-EC37CFEEDA0F}"/>
                  </a:ext>
                </a:extLst>
              </p:cNvPr>
              <p:cNvSpPr/>
              <p:nvPr/>
            </p:nvSpPr>
            <p:spPr>
              <a:xfrm>
                <a:off x="3642058" y="1561009"/>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51" y="375845"/>
                      <a:pt x="0" y="366675"/>
                      <a:pt x="0" y="355677"/>
                    </a:cubicBezTo>
                    <a:lnTo>
                      <a:pt x="0" y="20167"/>
                    </a:lnTo>
                    <a:cubicBezTo>
                      <a:pt x="0" y="9166"/>
                      <a:pt x="9151"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136" name="Freeform: Shape 560">
                <a:extLst>
                  <a:ext uri="{FF2B5EF4-FFF2-40B4-BE49-F238E27FC236}">
                    <a16:creationId xmlns:a16="http://schemas.microsoft.com/office/drawing/2014/main" id="{B5297B34-49EF-0CA8-E9F6-573DE3B84267}"/>
                  </a:ext>
                </a:extLst>
              </p:cNvPr>
              <p:cNvSpPr/>
              <p:nvPr/>
            </p:nvSpPr>
            <p:spPr>
              <a:xfrm>
                <a:off x="3637476" y="1556425"/>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8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8"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132" name="Graphic 6">
              <a:extLst>
                <a:ext uri="{FF2B5EF4-FFF2-40B4-BE49-F238E27FC236}">
                  <a16:creationId xmlns:a16="http://schemas.microsoft.com/office/drawing/2014/main" id="{5D16E82B-5C04-4CEF-B017-A779D7707480}"/>
                </a:ext>
              </a:extLst>
            </p:cNvPr>
            <p:cNvGrpSpPr/>
            <p:nvPr/>
          </p:nvGrpSpPr>
          <p:grpSpPr>
            <a:xfrm>
              <a:off x="3646627" y="1565596"/>
              <a:ext cx="366716" cy="366676"/>
              <a:chOff x="3646627" y="1565596"/>
              <a:chExt cx="366716" cy="366676"/>
            </a:xfrm>
            <a:solidFill>
              <a:srgbClr val="2D5967"/>
            </a:solidFill>
          </p:grpSpPr>
          <p:sp>
            <p:nvSpPr>
              <p:cNvPr id="1133" name="Freeform: Shape 562">
                <a:extLst>
                  <a:ext uri="{FF2B5EF4-FFF2-40B4-BE49-F238E27FC236}">
                    <a16:creationId xmlns:a16="http://schemas.microsoft.com/office/drawing/2014/main" id="{2D6F074D-959E-9F81-126A-DBC225C6D57B}"/>
                  </a:ext>
                </a:extLst>
              </p:cNvPr>
              <p:cNvSpPr/>
              <p:nvPr/>
            </p:nvSpPr>
            <p:spPr>
              <a:xfrm>
                <a:off x="3646627" y="1565596"/>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69501 w 366716"/>
                  <a:gd name="connsiteY5" fmla="*/ 366676 h 366676"/>
                  <a:gd name="connsiteX6" fmla="*/ 106994 w 366716"/>
                  <a:gd name="connsiteY6" fmla="*/ 366676 h 366676"/>
                  <a:gd name="connsiteX7" fmla="*/ 165522 w 366716"/>
                  <a:gd name="connsiteY7" fmla="*/ 366676 h 366676"/>
                  <a:gd name="connsiteX8" fmla="*/ 203016 w 366716"/>
                  <a:gd name="connsiteY8" fmla="*/ 366676 h 366676"/>
                  <a:gd name="connsiteX9" fmla="*/ 261550 w 366716"/>
                  <a:gd name="connsiteY9" fmla="*/ 366676 h 366676"/>
                  <a:gd name="connsiteX10" fmla="*/ 299044 w 366716"/>
                  <a:gd name="connsiteY10" fmla="*/ 366676 h 366676"/>
                  <a:gd name="connsiteX11" fmla="*/ 351168 w 366716"/>
                  <a:gd name="connsiteY11" fmla="*/ 366676 h 366676"/>
                  <a:gd name="connsiteX12" fmla="*/ 366716 w 366716"/>
                  <a:gd name="connsiteY12" fmla="*/ 351090 h 366676"/>
                  <a:gd name="connsiteX13" fmla="*/ 366716 w 366716"/>
                  <a:gd name="connsiteY13" fmla="*/ 15584 h 366676"/>
                  <a:gd name="connsiteX14" fmla="*/ 350257 w 366716"/>
                  <a:gd name="connsiteY14" fmla="*/ 0 h 366676"/>
                  <a:gd name="connsiteX15" fmla="*/ 13713 w 366716"/>
                  <a:gd name="connsiteY15" fmla="*/ 105420 h 366676"/>
                  <a:gd name="connsiteX16" fmla="*/ 352085 w 366716"/>
                  <a:gd name="connsiteY16" fmla="*/ 105420 h 366676"/>
                  <a:gd name="connsiteX17" fmla="*/ 352085 w 366716"/>
                  <a:gd name="connsiteY17" fmla="*/ 122837 h 366676"/>
                  <a:gd name="connsiteX18" fmla="*/ 276181 w 366716"/>
                  <a:gd name="connsiteY18" fmla="*/ 181505 h 366676"/>
                  <a:gd name="connsiteX19" fmla="*/ 181070 w 366716"/>
                  <a:gd name="connsiteY19" fmla="*/ 155838 h 366676"/>
                  <a:gd name="connsiteX20" fmla="*/ 86878 w 366716"/>
                  <a:gd name="connsiteY20" fmla="*/ 230089 h 366676"/>
                  <a:gd name="connsiteX21" fmla="*/ 13713 w 366716"/>
                  <a:gd name="connsiteY21" fmla="*/ 196172 h 366676"/>
                  <a:gd name="connsiteX22" fmla="*/ 13713 w 366716"/>
                  <a:gd name="connsiteY22" fmla="*/ 105420 h 366676"/>
                  <a:gd name="connsiteX23" fmla="*/ 15542 w 366716"/>
                  <a:gd name="connsiteY23" fmla="*/ 13751 h 366676"/>
                  <a:gd name="connsiteX24" fmla="*/ 351168 w 366716"/>
                  <a:gd name="connsiteY24" fmla="*/ 13751 h 366676"/>
                  <a:gd name="connsiteX25" fmla="*/ 352997 w 366716"/>
                  <a:gd name="connsiteY25" fmla="*/ 15584 h 366676"/>
                  <a:gd name="connsiteX26" fmla="*/ 352997 w 366716"/>
                  <a:gd name="connsiteY26" fmla="*/ 91669 h 366676"/>
                  <a:gd name="connsiteX27" fmla="*/ 14630 w 366716"/>
                  <a:gd name="connsiteY27" fmla="*/ 91669 h 366676"/>
                  <a:gd name="connsiteX28" fmla="*/ 14630 w 366716"/>
                  <a:gd name="connsiteY28" fmla="*/ 15584 h 366676"/>
                  <a:gd name="connsiteX29" fmla="*/ 15542 w 366716"/>
                  <a:gd name="connsiteY29" fmla="*/ 13751 h 366676"/>
                  <a:gd name="connsiteX30" fmla="*/ 83220 w 366716"/>
                  <a:gd name="connsiteY30" fmla="*/ 352925 h 366676"/>
                  <a:gd name="connsiteX31" fmla="*/ 83220 w 366716"/>
                  <a:gd name="connsiteY31" fmla="*/ 295175 h 366676"/>
                  <a:gd name="connsiteX32" fmla="*/ 93275 w 366716"/>
                  <a:gd name="connsiteY32" fmla="*/ 295175 h 366676"/>
                  <a:gd name="connsiteX33" fmla="*/ 93275 w 366716"/>
                  <a:gd name="connsiteY33" fmla="*/ 352925 h 366676"/>
                  <a:gd name="connsiteX34" fmla="*/ 83220 w 366716"/>
                  <a:gd name="connsiteY34" fmla="*/ 352925 h 366676"/>
                  <a:gd name="connsiteX35" fmla="*/ 178330 w 366716"/>
                  <a:gd name="connsiteY35" fmla="*/ 352925 h 366676"/>
                  <a:gd name="connsiteX36" fmla="*/ 178330 w 366716"/>
                  <a:gd name="connsiteY36" fmla="*/ 220923 h 366676"/>
                  <a:gd name="connsiteX37" fmla="*/ 188385 w 366716"/>
                  <a:gd name="connsiteY37" fmla="*/ 220923 h 366676"/>
                  <a:gd name="connsiteX38" fmla="*/ 188385 w 366716"/>
                  <a:gd name="connsiteY38" fmla="*/ 352925 h 366676"/>
                  <a:gd name="connsiteX39" fmla="*/ 178330 w 366716"/>
                  <a:gd name="connsiteY39" fmla="*/ 352925 h 366676"/>
                  <a:gd name="connsiteX40" fmla="*/ 274352 w 366716"/>
                  <a:gd name="connsiteY40" fmla="*/ 352925 h 366676"/>
                  <a:gd name="connsiteX41" fmla="*/ 274352 w 366716"/>
                  <a:gd name="connsiteY41" fmla="*/ 246590 h 366676"/>
                  <a:gd name="connsiteX42" fmla="*/ 284414 w 366716"/>
                  <a:gd name="connsiteY42" fmla="*/ 246590 h 366676"/>
                  <a:gd name="connsiteX43" fmla="*/ 284414 w 366716"/>
                  <a:gd name="connsiteY43" fmla="*/ 353843 h 366676"/>
                  <a:gd name="connsiteX44" fmla="*/ 274352 w 366716"/>
                  <a:gd name="connsiteY44" fmla="*/ 353843 h 366676"/>
                  <a:gd name="connsiteX45" fmla="*/ 274352 w 366716"/>
                  <a:gd name="connsiteY45" fmla="*/ 352925 h 366676"/>
                  <a:gd name="connsiteX46" fmla="*/ 350257 w 366716"/>
                  <a:gd name="connsiteY46" fmla="*/ 352925 h 366676"/>
                  <a:gd name="connsiteX47" fmla="*/ 298126 w 366716"/>
                  <a:gd name="connsiteY47" fmla="*/ 352925 h 366676"/>
                  <a:gd name="connsiteX48" fmla="*/ 298126 w 366716"/>
                  <a:gd name="connsiteY48" fmla="*/ 232840 h 366676"/>
                  <a:gd name="connsiteX49" fmla="*/ 260633 w 366716"/>
                  <a:gd name="connsiteY49" fmla="*/ 232840 h 366676"/>
                  <a:gd name="connsiteX50" fmla="*/ 260633 w 366716"/>
                  <a:gd name="connsiteY50" fmla="*/ 352925 h 366676"/>
                  <a:gd name="connsiteX51" fmla="*/ 202105 w 366716"/>
                  <a:gd name="connsiteY51" fmla="*/ 352925 h 366676"/>
                  <a:gd name="connsiteX52" fmla="*/ 202105 w 366716"/>
                  <a:gd name="connsiteY52" fmla="*/ 207172 h 366676"/>
                  <a:gd name="connsiteX53" fmla="*/ 164611 w 366716"/>
                  <a:gd name="connsiteY53" fmla="*/ 207172 h 366676"/>
                  <a:gd name="connsiteX54" fmla="*/ 164611 w 366716"/>
                  <a:gd name="connsiteY54" fmla="*/ 352925 h 366676"/>
                  <a:gd name="connsiteX55" fmla="*/ 106083 w 366716"/>
                  <a:gd name="connsiteY55" fmla="*/ 352925 h 366676"/>
                  <a:gd name="connsiteX56" fmla="*/ 106083 w 366716"/>
                  <a:gd name="connsiteY56" fmla="*/ 281424 h 366676"/>
                  <a:gd name="connsiteX57" fmla="*/ 69501 w 366716"/>
                  <a:gd name="connsiteY57" fmla="*/ 281424 h 366676"/>
                  <a:gd name="connsiteX58" fmla="*/ 69501 w 366716"/>
                  <a:gd name="connsiteY58" fmla="*/ 352925 h 366676"/>
                  <a:gd name="connsiteX59" fmla="*/ 15542 w 366716"/>
                  <a:gd name="connsiteY59" fmla="*/ 352925 h 366676"/>
                  <a:gd name="connsiteX60" fmla="*/ 13713 w 366716"/>
                  <a:gd name="connsiteY60" fmla="*/ 351090 h 366676"/>
                  <a:gd name="connsiteX61" fmla="*/ 13713 w 366716"/>
                  <a:gd name="connsiteY61" fmla="*/ 210839 h 366676"/>
                  <a:gd name="connsiteX62" fmla="*/ 88706 w 366716"/>
                  <a:gd name="connsiteY62" fmla="*/ 245673 h 366676"/>
                  <a:gd name="connsiteX63" fmla="*/ 183817 w 366716"/>
                  <a:gd name="connsiteY63" fmla="*/ 170505 h 366676"/>
                  <a:gd name="connsiteX64" fmla="*/ 278921 w 366716"/>
                  <a:gd name="connsiteY64" fmla="*/ 196172 h 366676"/>
                  <a:gd name="connsiteX65" fmla="*/ 352085 w 366716"/>
                  <a:gd name="connsiteY65" fmla="*/ 140254 h 366676"/>
                  <a:gd name="connsiteX66" fmla="*/ 352085 w 366716"/>
                  <a:gd name="connsiteY66" fmla="*/ 352008 h 366676"/>
                  <a:gd name="connsiteX67" fmla="*/ 350257 w 366716"/>
                  <a:gd name="connsiteY67" fmla="*/ 352925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69501" y="366676"/>
                    </a:lnTo>
                    <a:lnTo>
                      <a:pt x="106994" y="366676"/>
                    </a:lnTo>
                    <a:lnTo>
                      <a:pt x="165522" y="366676"/>
                    </a:lnTo>
                    <a:lnTo>
                      <a:pt x="203016" y="366676"/>
                    </a:lnTo>
                    <a:lnTo>
                      <a:pt x="261550" y="366676"/>
                    </a:lnTo>
                    <a:lnTo>
                      <a:pt x="299044" y="366676"/>
                    </a:lnTo>
                    <a:lnTo>
                      <a:pt x="351168" y="366676"/>
                    </a:lnTo>
                    <a:cubicBezTo>
                      <a:pt x="359401" y="366676"/>
                      <a:pt x="366716" y="359342"/>
                      <a:pt x="366716" y="351090"/>
                    </a:cubicBezTo>
                    <a:lnTo>
                      <a:pt x="366716" y="15584"/>
                    </a:lnTo>
                    <a:cubicBezTo>
                      <a:pt x="365805" y="7334"/>
                      <a:pt x="358490" y="0"/>
                      <a:pt x="350257" y="0"/>
                    </a:cubicBezTo>
                    <a:close/>
                    <a:moveTo>
                      <a:pt x="13713" y="105420"/>
                    </a:moveTo>
                    <a:lnTo>
                      <a:pt x="352085" y="105420"/>
                    </a:lnTo>
                    <a:lnTo>
                      <a:pt x="352085" y="122837"/>
                    </a:lnTo>
                    <a:lnTo>
                      <a:pt x="276181" y="181505"/>
                    </a:lnTo>
                    <a:lnTo>
                      <a:pt x="181070" y="155838"/>
                    </a:lnTo>
                    <a:lnTo>
                      <a:pt x="86878" y="230089"/>
                    </a:lnTo>
                    <a:lnTo>
                      <a:pt x="13713" y="196172"/>
                    </a:lnTo>
                    <a:lnTo>
                      <a:pt x="13713" y="105420"/>
                    </a:lnTo>
                    <a:close/>
                    <a:moveTo>
                      <a:pt x="15542" y="13751"/>
                    </a:moveTo>
                    <a:lnTo>
                      <a:pt x="351168" y="13751"/>
                    </a:lnTo>
                    <a:cubicBezTo>
                      <a:pt x="352085" y="13751"/>
                      <a:pt x="352997" y="14667"/>
                      <a:pt x="352997" y="15584"/>
                    </a:cubicBezTo>
                    <a:lnTo>
                      <a:pt x="352997" y="91669"/>
                    </a:lnTo>
                    <a:lnTo>
                      <a:pt x="14630" y="91669"/>
                    </a:lnTo>
                    <a:lnTo>
                      <a:pt x="14630" y="15584"/>
                    </a:lnTo>
                    <a:cubicBezTo>
                      <a:pt x="13713" y="14667"/>
                      <a:pt x="14630" y="13751"/>
                      <a:pt x="15542" y="13751"/>
                    </a:cubicBezTo>
                    <a:close/>
                    <a:moveTo>
                      <a:pt x="83220" y="352925"/>
                    </a:moveTo>
                    <a:lnTo>
                      <a:pt x="83220" y="295175"/>
                    </a:lnTo>
                    <a:lnTo>
                      <a:pt x="93275" y="295175"/>
                    </a:lnTo>
                    <a:lnTo>
                      <a:pt x="93275" y="352925"/>
                    </a:lnTo>
                    <a:lnTo>
                      <a:pt x="83220" y="352925"/>
                    </a:lnTo>
                    <a:close/>
                    <a:moveTo>
                      <a:pt x="178330" y="352925"/>
                    </a:moveTo>
                    <a:lnTo>
                      <a:pt x="178330" y="220923"/>
                    </a:lnTo>
                    <a:lnTo>
                      <a:pt x="188385" y="220923"/>
                    </a:lnTo>
                    <a:lnTo>
                      <a:pt x="188385" y="352925"/>
                    </a:lnTo>
                    <a:lnTo>
                      <a:pt x="178330" y="352925"/>
                    </a:lnTo>
                    <a:close/>
                    <a:moveTo>
                      <a:pt x="274352" y="352925"/>
                    </a:moveTo>
                    <a:lnTo>
                      <a:pt x="274352" y="246590"/>
                    </a:lnTo>
                    <a:lnTo>
                      <a:pt x="284414" y="246590"/>
                    </a:lnTo>
                    <a:lnTo>
                      <a:pt x="284414" y="353843"/>
                    </a:lnTo>
                    <a:lnTo>
                      <a:pt x="274352" y="353843"/>
                    </a:lnTo>
                    <a:lnTo>
                      <a:pt x="274352" y="352925"/>
                    </a:lnTo>
                    <a:close/>
                    <a:moveTo>
                      <a:pt x="350257" y="352925"/>
                    </a:moveTo>
                    <a:lnTo>
                      <a:pt x="298126" y="352925"/>
                    </a:lnTo>
                    <a:lnTo>
                      <a:pt x="298126" y="232840"/>
                    </a:lnTo>
                    <a:lnTo>
                      <a:pt x="260633" y="232840"/>
                    </a:lnTo>
                    <a:lnTo>
                      <a:pt x="260633" y="352925"/>
                    </a:lnTo>
                    <a:lnTo>
                      <a:pt x="202105" y="352925"/>
                    </a:lnTo>
                    <a:lnTo>
                      <a:pt x="202105" y="207172"/>
                    </a:lnTo>
                    <a:lnTo>
                      <a:pt x="164611" y="207172"/>
                    </a:lnTo>
                    <a:lnTo>
                      <a:pt x="164611" y="352925"/>
                    </a:lnTo>
                    <a:lnTo>
                      <a:pt x="106083" y="352925"/>
                    </a:lnTo>
                    <a:lnTo>
                      <a:pt x="106083" y="281424"/>
                    </a:lnTo>
                    <a:lnTo>
                      <a:pt x="69501" y="281424"/>
                    </a:lnTo>
                    <a:lnTo>
                      <a:pt x="69501" y="352925"/>
                    </a:lnTo>
                    <a:lnTo>
                      <a:pt x="15542" y="352925"/>
                    </a:lnTo>
                    <a:cubicBezTo>
                      <a:pt x="14630" y="352925"/>
                      <a:pt x="13713" y="352008"/>
                      <a:pt x="13713" y="351090"/>
                    </a:cubicBezTo>
                    <a:lnTo>
                      <a:pt x="13713" y="210839"/>
                    </a:lnTo>
                    <a:lnTo>
                      <a:pt x="88706" y="245673"/>
                    </a:lnTo>
                    <a:lnTo>
                      <a:pt x="183817" y="170505"/>
                    </a:lnTo>
                    <a:lnTo>
                      <a:pt x="278921" y="196172"/>
                    </a:lnTo>
                    <a:lnTo>
                      <a:pt x="352085" y="140254"/>
                    </a:lnTo>
                    <a:lnTo>
                      <a:pt x="352085" y="352008"/>
                    </a:lnTo>
                    <a:cubicBezTo>
                      <a:pt x="352085" y="352008"/>
                      <a:pt x="351168" y="352925"/>
                      <a:pt x="350257" y="352925"/>
                    </a:cubicBezTo>
                    <a:close/>
                  </a:path>
                </a:pathLst>
              </a:custGeom>
              <a:solidFill>
                <a:srgbClr val="2D5967"/>
              </a:solidFill>
              <a:ln w="6417" cap="flat">
                <a:noFill/>
                <a:prstDash val="solid"/>
                <a:miter/>
              </a:ln>
            </p:spPr>
            <p:txBody>
              <a:bodyPr rtlCol="0" anchor="ctr"/>
              <a:lstStyle/>
              <a:p>
                <a:endParaRPr lang="en-US" sz="810"/>
              </a:p>
            </p:txBody>
          </p:sp>
          <p:sp>
            <p:nvSpPr>
              <p:cNvPr id="1134" name="Freeform: Shape 563">
                <a:extLst>
                  <a:ext uri="{FF2B5EF4-FFF2-40B4-BE49-F238E27FC236}">
                    <a16:creationId xmlns:a16="http://schemas.microsoft.com/office/drawing/2014/main" id="{A0EBC91A-CC1F-5873-80D5-D65CAFD78F55}"/>
                  </a:ext>
                </a:extLst>
              </p:cNvPr>
              <p:cNvSpPr/>
              <p:nvPr/>
            </p:nvSpPr>
            <p:spPr>
              <a:xfrm>
                <a:off x="3676799" y="1595841"/>
                <a:ext cx="43897" cy="44000"/>
              </a:xfrm>
              <a:custGeom>
                <a:avLst/>
                <a:gdLst>
                  <a:gd name="connsiteX0" fmla="*/ 43898 w 43897"/>
                  <a:gd name="connsiteY0" fmla="*/ 0 h 44000"/>
                  <a:gd name="connsiteX1" fmla="*/ 0 w 43897"/>
                  <a:gd name="connsiteY1" fmla="*/ 0 h 44000"/>
                  <a:gd name="connsiteX2" fmla="*/ 0 w 43897"/>
                  <a:gd name="connsiteY2" fmla="*/ 44001 h 44000"/>
                  <a:gd name="connsiteX3" fmla="*/ 43898 w 43897"/>
                  <a:gd name="connsiteY3" fmla="*/ 44001 h 44000"/>
                  <a:gd name="connsiteX4" fmla="*/ 43898 w 43897"/>
                  <a:gd name="connsiteY4" fmla="*/ 0 h 44000"/>
                  <a:gd name="connsiteX5" fmla="*/ 31090 w 43897"/>
                  <a:gd name="connsiteY5" fmla="*/ 31167 h 44000"/>
                  <a:gd name="connsiteX6" fmla="*/ 13713 w 43897"/>
                  <a:gd name="connsiteY6" fmla="*/ 31167 h 44000"/>
                  <a:gd name="connsiteX7" fmla="*/ 13713 w 43897"/>
                  <a:gd name="connsiteY7" fmla="*/ 13750 h 44000"/>
                  <a:gd name="connsiteX8" fmla="*/ 30178 w 43897"/>
                  <a:gd name="connsiteY8" fmla="*/ 13750 h 44000"/>
                  <a:gd name="connsiteX9" fmla="*/ 31090 w 43897"/>
                  <a:gd name="connsiteY9" fmla="*/ 31167 h 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97" h="44000">
                    <a:moveTo>
                      <a:pt x="43898" y="0"/>
                    </a:moveTo>
                    <a:lnTo>
                      <a:pt x="0" y="0"/>
                    </a:lnTo>
                    <a:lnTo>
                      <a:pt x="0" y="44001"/>
                    </a:lnTo>
                    <a:lnTo>
                      <a:pt x="43898" y="44001"/>
                    </a:lnTo>
                    <a:lnTo>
                      <a:pt x="43898" y="0"/>
                    </a:lnTo>
                    <a:close/>
                    <a:moveTo>
                      <a:pt x="31090" y="31167"/>
                    </a:moveTo>
                    <a:lnTo>
                      <a:pt x="13713" y="31167"/>
                    </a:lnTo>
                    <a:lnTo>
                      <a:pt x="13713" y="13750"/>
                    </a:lnTo>
                    <a:lnTo>
                      <a:pt x="30178" y="13750"/>
                    </a:lnTo>
                    <a:lnTo>
                      <a:pt x="31090" y="31167"/>
                    </a:lnTo>
                    <a:close/>
                  </a:path>
                </a:pathLst>
              </a:custGeom>
              <a:solidFill>
                <a:srgbClr val="2D5967"/>
              </a:solidFill>
              <a:ln w="6417" cap="flat">
                <a:noFill/>
                <a:prstDash val="solid"/>
                <a:miter/>
              </a:ln>
            </p:spPr>
            <p:txBody>
              <a:bodyPr rtlCol="0" anchor="ctr"/>
              <a:lstStyle/>
              <a:p>
                <a:endParaRPr lang="en-US" sz="810"/>
              </a:p>
            </p:txBody>
          </p:sp>
        </p:grpSp>
      </p:grpSp>
      <p:grpSp>
        <p:nvGrpSpPr>
          <p:cNvPr id="1137" name="Graphic 1518">
            <a:extLst>
              <a:ext uri="{FF2B5EF4-FFF2-40B4-BE49-F238E27FC236}">
                <a16:creationId xmlns:a16="http://schemas.microsoft.com/office/drawing/2014/main" id="{1715CEB7-825B-F4D7-116E-08E21A787D4B}"/>
              </a:ext>
            </a:extLst>
          </p:cNvPr>
          <p:cNvGrpSpPr/>
          <p:nvPr/>
        </p:nvGrpSpPr>
        <p:grpSpPr>
          <a:xfrm>
            <a:off x="11010661" y="8003429"/>
            <a:ext cx="829673" cy="817569"/>
            <a:chOff x="2747486" y="3069656"/>
            <a:chExt cx="385010" cy="385010"/>
          </a:xfrm>
        </p:grpSpPr>
        <p:grpSp>
          <p:nvGrpSpPr>
            <p:cNvPr id="1138" name="Graphic 1518">
              <a:extLst>
                <a:ext uri="{FF2B5EF4-FFF2-40B4-BE49-F238E27FC236}">
                  <a16:creationId xmlns:a16="http://schemas.microsoft.com/office/drawing/2014/main" id="{EBF16B4D-D5D6-259C-5E67-71C211E1F969}"/>
                </a:ext>
              </a:extLst>
            </p:cNvPr>
            <p:cNvGrpSpPr/>
            <p:nvPr/>
          </p:nvGrpSpPr>
          <p:grpSpPr>
            <a:xfrm>
              <a:off x="2747486" y="3069656"/>
              <a:ext cx="385010" cy="385010"/>
              <a:chOff x="2747486" y="3069656"/>
              <a:chExt cx="385010" cy="385010"/>
            </a:xfrm>
            <a:solidFill>
              <a:srgbClr val="FFFFFF"/>
            </a:solidFill>
          </p:grpSpPr>
          <p:sp>
            <p:nvSpPr>
              <p:cNvPr id="1147" name="Freeform: Shape 1557">
                <a:extLst>
                  <a:ext uri="{FF2B5EF4-FFF2-40B4-BE49-F238E27FC236}">
                    <a16:creationId xmlns:a16="http://schemas.microsoft.com/office/drawing/2014/main" id="{DDDB9C79-546B-A82A-B9FC-1CAB5FF47E47}"/>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148" name="Freeform: Shape 1558">
                <a:extLst>
                  <a:ext uri="{FF2B5EF4-FFF2-40B4-BE49-F238E27FC236}">
                    <a16:creationId xmlns:a16="http://schemas.microsoft.com/office/drawing/2014/main" id="{C68697EA-7684-944E-0B1F-E27D72A757B9}"/>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139" name="Graphic 1518">
              <a:extLst>
                <a:ext uri="{FF2B5EF4-FFF2-40B4-BE49-F238E27FC236}">
                  <a16:creationId xmlns:a16="http://schemas.microsoft.com/office/drawing/2014/main" id="{5D0CA9B0-28A7-2825-1F93-1159ACC8CF85}"/>
                </a:ext>
              </a:extLst>
            </p:cNvPr>
            <p:cNvGrpSpPr/>
            <p:nvPr/>
          </p:nvGrpSpPr>
          <p:grpSpPr>
            <a:xfrm>
              <a:off x="2756636" y="3078827"/>
              <a:ext cx="366716" cy="366676"/>
              <a:chOff x="2756636" y="3078827"/>
              <a:chExt cx="366716" cy="366676"/>
            </a:xfrm>
            <a:solidFill>
              <a:srgbClr val="2D5967"/>
            </a:solidFill>
          </p:grpSpPr>
          <p:sp>
            <p:nvSpPr>
              <p:cNvPr id="1140" name="Freeform: Shape 1560">
                <a:extLst>
                  <a:ext uri="{FF2B5EF4-FFF2-40B4-BE49-F238E27FC236}">
                    <a16:creationId xmlns:a16="http://schemas.microsoft.com/office/drawing/2014/main" id="{C3C7FC35-D7D0-3098-5868-9D7A5D95F0EB}"/>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141" name="Freeform: Shape 1561">
                <a:extLst>
                  <a:ext uri="{FF2B5EF4-FFF2-40B4-BE49-F238E27FC236}">
                    <a16:creationId xmlns:a16="http://schemas.microsoft.com/office/drawing/2014/main" id="{463107B7-604D-CC51-5FA1-39B1D1CA16F3}"/>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142" name="Freeform: Shape 1562">
                <a:extLst>
                  <a:ext uri="{FF2B5EF4-FFF2-40B4-BE49-F238E27FC236}">
                    <a16:creationId xmlns:a16="http://schemas.microsoft.com/office/drawing/2014/main" id="{20B2B37C-4B7A-94A4-3E76-2E45412DF2F7}"/>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143" name="Freeform: Shape 1563">
                <a:extLst>
                  <a:ext uri="{FF2B5EF4-FFF2-40B4-BE49-F238E27FC236}">
                    <a16:creationId xmlns:a16="http://schemas.microsoft.com/office/drawing/2014/main" id="{8852CAA2-ABA7-8398-3487-1B8EC46ED72F}"/>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144" name="Freeform: Shape 1564">
                <a:extLst>
                  <a:ext uri="{FF2B5EF4-FFF2-40B4-BE49-F238E27FC236}">
                    <a16:creationId xmlns:a16="http://schemas.microsoft.com/office/drawing/2014/main" id="{07C012F9-489D-59A7-80B0-FFDA9C477AAC}"/>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145" name="Freeform: Shape 1565">
                <a:extLst>
                  <a:ext uri="{FF2B5EF4-FFF2-40B4-BE49-F238E27FC236}">
                    <a16:creationId xmlns:a16="http://schemas.microsoft.com/office/drawing/2014/main" id="{E218A6C2-A3E1-945D-F481-D065331F412B}"/>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146" name="Freeform: Shape 1566">
                <a:extLst>
                  <a:ext uri="{FF2B5EF4-FFF2-40B4-BE49-F238E27FC236}">
                    <a16:creationId xmlns:a16="http://schemas.microsoft.com/office/drawing/2014/main" id="{0612AD10-9061-FED4-6EBC-5A504E65E313}"/>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sp>
        <p:nvSpPr>
          <p:cNvPr id="1149" name="テキスト ボックス 1148">
            <a:extLst>
              <a:ext uri="{FF2B5EF4-FFF2-40B4-BE49-F238E27FC236}">
                <a16:creationId xmlns:a16="http://schemas.microsoft.com/office/drawing/2014/main" id="{7372768F-D67E-DF59-7295-7567F68D6800}"/>
              </a:ext>
            </a:extLst>
          </p:cNvPr>
          <p:cNvSpPr txBox="1"/>
          <p:nvPr/>
        </p:nvSpPr>
        <p:spPr>
          <a:xfrm>
            <a:off x="15250417" y="8460672"/>
            <a:ext cx="1245854" cy="338554"/>
          </a:xfrm>
          <a:prstGeom prst="rect">
            <a:avLst/>
          </a:prstGeom>
          <a:noFill/>
        </p:spPr>
        <p:txBody>
          <a:bodyPr wrap="none" rtlCol="0">
            <a:spAutoFit/>
          </a:bodyPr>
          <a:lstStyle/>
          <a:p>
            <a:pPr algn="ctr"/>
            <a:r>
              <a:rPr kumimoji="1" lang="en-US" altLang="ja-JP" sz="1600">
                <a:solidFill>
                  <a:schemeClr val="bg1">
                    <a:lumMod val="10000"/>
                  </a:schemeClr>
                </a:solidFill>
                <a:latin typeface="Meiryo UI" panose="020B0604030504040204" pitchFamily="50" charset="-128"/>
                <a:ea typeface="Meiryo UI" panose="020B0604030504040204" pitchFamily="50" charset="-128"/>
              </a:rPr>
              <a:t>Monitoring</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
        <p:nvSpPr>
          <p:cNvPr id="1150" name="テキスト ボックス 1149">
            <a:extLst>
              <a:ext uri="{FF2B5EF4-FFF2-40B4-BE49-F238E27FC236}">
                <a16:creationId xmlns:a16="http://schemas.microsoft.com/office/drawing/2014/main" id="{B4481B54-3A10-90BD-AE71-673095769ECA}"/>
              </a:ext>
            </a:extLst>
          </p:cNvPr>
          <p:cNvSpPr txBox="1"/>
          <p:nvPr/>
        </p:nvSpPr>
        <p:spPr>
          <a:xfrm>
            <a:off x="12591993" y="8968951"/>
            <a:ext cx="1132041" cy="338554"/>
          </a:xfrm>
          <a:prstGeom prst="rect">
            <a:avLst/>
          </a:prstGeom>
          <a:noFill/>
        </p:spPr>
        <p:txBody>
          <a:bodyPr wrap="none" rtlCol="0">
            <a:spAutoFit/>
          </a:bodyPr>
          <a:lstStyle/>
          <a:p>
            <a:pPr algn="ctr"/>
            <a:r>
              <a:rPr lang="en-US" altLang="ja-JP" sz="1600" err="1">
                <a:solidFill>
                  <a:schemeClr val="bg1">
                    <a:lumMod val="10000"/>
                  </a:schemeClr>
                </a:solidFill>
                <a:latin typeface="Meiryo UI" panose="020B0604030504040204" pitchFamily="50" charset="-128"/>
                <a:ea typeface="Meiryo UI" panose="020B0604030504040204" pitchFamily="50" charset="-128"/>
              </a:rPr>
              <a:t>DataBase</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
        <p:nvSpPr>
          <p:cNvPr id="1152" name="テキスト ボックス 1151">
            <a:extLst>
              <a:ext uri="{FF2B5EF4-FFF2-40B4-BE49-F238E27FC236}">
                <a16:creationId xmlns:a16="http://schemas.microsoft.com/office/drawing/2014/main" id="{67291CED-AC75-C680-62A4-2F9F47B748A0}"/>
              </a:ext>
            </a:extLst>
          </p:cNvPr>
          <p:cNvSpPr txBox="1"/>
          <p:nvPr/>
        </p:nvSpPr>
        <p:spPr>
          <a:xfrm>
            <a:off x="4046489" y="6679640"/>
            <a:ext cx="2010786" cy="276999"/>
          </a:xfrm>
          <a:prstGeom prst="rect">
            <a:avLst/>
          </a:prstGeom>
          <a:noFill/>
        </p:spPr>
        <p:txBody>
          <a:bodyPr wrap="square" rtlCol="0">
            <a:spAutoFit/>
          </a:bodyPr>
          <a:lstStyle/>
          <a:p>
            <a:pPr algn="ctr"/>
            <a:r>
              <a:rPr kumimoji="1" lang="ja-JP" altLang="en-US" sz="1200">
                <a:solidFill>
                  <a:schemeClr val="bg1">
                    <a:lumMod val="10000"/>
                  </a:schemeClr>
                </a:solidFill>
                <a:latin typeface="Meiryo UI" panose="020B0604030504040204" pitchFamily="50" charset="-128"/>
                <a:ea typeface="Meiryo UI" panose="020B0604030504040204" pitchFamily="50" charset="-128"/>
              </a:rPr>
              <a:t>据置</a:t>
            </a:r>
            <a:r>
              <a:rPr kumimoji="1" lang="en-US" altLang="ja-JP" sz="1200">
                <a:solidFill>
                  <a:schemeClr val="bg1">
                    <a:lumMod val="10000"/>
                  </a:schemeClr>
                </a:solidFill>
                <a:latin typeface="Meiryo UI" panose="020B0604030504040204" pitchFamily="50" charset="-128"/>
                <a:ea typeface="Meiryo UI" panose="020B0604030504040204" pitchFamily="50" charset="-128"/>
              </a:rPr>
              <a:t>POS</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cxnSp>
        <p:nvCxnSpPr>
          <p:cNvPr id="1154" name="直線コネクタ 1153">
            <a:extLst>
              <a:ext uri="{FF2B5EF4-FFF2-40B4-BE49-F238E27FC236}">
                <a16:creationId xmlns:a16="http://schemas.microsoft.com/office/drawing/2014/main" id="{B4018054-EE11-9B49-FC14-19D03BA79BC6}"/>
              </a:ext>
            </a:extLst>
          </p:cNvPr>
          <p:cNvCxnSpPr>
            <a:cxnSpLocks/>
            <a:stCxn id="1026" idx="3"/>
            <a:endCxn id="1114" idx="5"/>
          </p:cNvCxnSpPr>
          <p:nvPr/>
        </p:nvCxnSpPr>
        <p:spPr>
          <a:xfrm>
            <a:off x="5989572" y="5792352"/>
            <a:ext cx="3642791" cy="2066523"/>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57" name="直線コネクタ 1156">
            <a:extLst>
              <a:ext uri="{FF2B5EF4-FFF2-40B4-BE49-F238E27FC236}">
                <a16:creationId xmlns:a16="http://schemas.microsoft.com/office/drawing/2014/main" id="{B875BFDC-3A76-702D-98E4-B420C7E94BC6}"/>
              </a:ext>
            </a:extLst>
          </p:cNvPr>
          <p:cNvCxnSpPr>
            <a:cxnSpLocks/>
            <a:stCxn id="1115" idx="2"/>
            <a:endCxn id="1140" idx="13"/>
          </p:cNvCxnSpPr>
          <p:nvPr/>
        </p:nvCxnSpPr>
        <p:spPr>
          <a:xfrm>
            <a:off x="10363270" y="7858871"/>
            <a:ext cx="696660" cy="197126"/>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60" name="テキスト ボックス 1159">
            <a:extLst>
              <a:ext uri="{FF2B5EF4-FFF2-40B4-BE49-F238E27FC236}">
                <a16:creationId xmlns:a16="http://schemas.microsoft.com/office/drawing/2014/main" id="{F00937CF-B5E3-2A67-E1EE-5D5FDE402A5C}"/>
              </a:ext>
            </a:extLst>
          </p:cNvPr>
          <p:cNvSpPr txBox="1"/>
          <p:nvPr/>
        </p:nvSpPr>
        <p:spPr>
          <a:xfrm>
            <a:off x="9506266" y="8612128"/>
            <a:ext cx="1051890" cy="584775"/>
          </a:xfrm>
          <a:prstGeom prst="rect">
            <a:avLst/>
          </a:prstGeom>
          <a:noFill/>
        </p:spPr>
        <p:txBody>
          <a:bodyPr wrap="none" rtlCol="0">
            <a:spAutoFit/>
          </a:bodyPr>
          <a:lstStyle/>
          <a:p>
            <a:pPr algn="ctr"/>
            <a:r>
              <a:rPr lang="en-US" altLang="ja-JP" sz="1600">
                <a:solidFill>
                  <a:schemeClr val="bg1">
                    <a:lumMod val="10000"/>
                  </a:schemeClr>
                </a:solidFill>
                <a:latin typeface="Meiryo UI" panose="020B0604030504040204" pitchFamily="50" charset="-128"/>
                <a:ea typeface="Meiryo UI" panose="020B0604030504040204" pitchFamily="50" charset="-128"/>
              </a:rPr>
              <a:t>API</a:t>
            </a:r>
          </a:p>
          <a:p>
            <a:pPr algn="ctr"/>
            <a:r>
              <a:rPr lang="en-US" altLang="ja-JP" sz="1600">
                <a:solidFill>
                  <a:schemeClr val="bg1">
                    <a:lumMod val="10000"/>
                  </a:schemeClr>
                </a:solidFill>
                <a:latin typeface="Meiryo UI" panose="020B0604030504040204" pitchFamily="50" charset="-128"/>
                <a:ea typeface="Meiryo UI" panose="020B0604030504040204" pitchFamily="50" charset="-128"/>
              </a:rPr>
              <a:t>Gateway</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
        <p:nvSpPr>
          <p:cNvPr id="1169" name="テキスト ボックス 1168">
            <a:extLst>
              <a:ext uri="{FF2B5EF4-FFF2-40B4-BE49-F238E27FC236}">
                <a16:creationId xmlns:a16="http://schemas.microsoft.com/office/drawing/2014/main" id="{5D34068A-425F-0DE2-1878-1C73E74DE24A}"/>
              </a:ext>
            </a:extLst>
          </p:cNvPr>
          <p:cNvSpPr txBox="1"/>
          <p:nvPr/>
        </p:nvSpPr>
        <p:spPr>
          <a:xfrm>
            <a:off x="10870382" y="8794411"/>
            <a:ext cx="1140826" cy="584775"/>
          </a:xfrm>
          <a:prstGeom prst="rect">
            <a:avLst/>
          </a:prstGeom>
          <a:noFill/>
        </p:spPr>
        <p:txBody>
          <a:bodyPr wrap="none" rtlCol="0">
            <a:spAutoFit/>
          </a:bodyPr>
          <a:lstStyle/>
          <a:p>
            <a:pPr algn="ctr"/>
            <a:r>
              <a:rPr lang="en-US" altLang="ja-JP" sz="1600">
                <a:solidFill>
                  <a:schemeClr val="bg1">
                    <a:lumMod val="10000"/>
                  </a:schemeClr>
                </a:solidFill>
                <a:latin typeface="Meiryo UI" panose="020B0604030504040204" pitchFamily="50" charset="-128"/>
                <a:ea typeface="Meiryo UI" panose="020B0604030504040204" pitchFamily="50" charset="-128"/>
              </a:rPr>
              <a:t>OCI</a:t>
            </a:r>
          </a:p>
          <a:p>
            <a:pPr algn="ctr"/>
            <a:r>
              <a:rPr kumimoji="1" lang="en-US" altLang="ja-JP" sz="1600">
                <a:solidFill>
                  <a:schemeClr val="bg1">
                    <a:lumMod val="10000"/>
                  </a:schemeClr>
                </a:solidFill>
                <a:latin typeface="Meiryo UI" panose="020B0604030504040204" pitchFamily="50" charset="-128"/>
                <a:ea typeface="Meiryo UI" panose="020B0604030504040204" pitchFamily="50" charset="-128"/>
              </a:rPr>
              <a:t>Functions</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cxnSp>
        <p:nvCxnSpPr>
          <p:cNvPr id="1173" name="直線コネクタ 1172">
            <a:extLst>
              <a:ext uri="{FF2B5EF4-FFF2-40B4-BE49-F238E27FC236}">
                <a16:creationId xmlns:a16="http://schemas.microsoft.com/office/drawing/2014/main" id="{4EFC6321-5215-5A5B-DF5A-0208EDCAC835}"/>
              </a:ext>
            </a:extLst>
          </p:cNvPr>
          <p:cNvCxnSpPr>
            <a:cxnSpLocks/>
            <a:stCxn id="1147" idx="4"/>
            <a:endCxn id="1119" idx="12"/>
          </p:cNvCxnSpPr>
          <p:nvPr/>
        </p:nvCxnSpPr>
        <p:spPr>
          <a:xfrm>
            <a:off x="11787111" y="8013163"/>
            <a:ext cx="1041439" cy="509614"/>
          </a:xfrm>
          <a:prstGeom prst="line">
            <a:avLst/>
          </a:prstGeom>
          <a:ln w="1905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nvGrpSpPr>
          <p:cNvPr id="1177" name="Graphic 6">
            <a:extLst>
              <a:ext uri="{FF2B5EF4-FFF2-40B4-BE49-F238E27FC236}">
                <a16:creationId xmlns:a16="http://schemas.microsoft.com/office/drawing/2014/main" id="{FFD2C507-740F-ED9D-68F8-7D41668EEA8A}"/>
              </a:ext>
            </a:extLst>
          </p:cNvPr>
          <p:cNvGrpSpPr/>
          <p:nvPr/>
        </p:nvGrpSpPr>
        <p:grpSpPr>
          <a:xfrm>
            <a:off x="13868096" y="7558728"/>
            <a:ext cx="808932" cy="858448"/>
            <a:chOff x="1632213" y="1559624"/>
            <a:chExt cx="385012" cy="381805"/>
          </a:xfrm>
        </p:grpSpPr>
        <p:grpSp>
          <p:nvGrpSpPr>
            <p:cNvPr id="1178" name="Graphic 6">
              <a:extLst>
                <a:ext uri="{FF2B5EF4-FFF2-40B4-BE49-F238E27FC236}">
                  <a16:creationId xmlns:a16="http://schemas.microsoft.com/office/drawing/2014/main" id="{77D17408-83B7-67A1-F844-E40FA07969C8}"/>
                </a:ext>
              </a:extLst>
            </p:cNvPr>
            <p:cNvGrpSpPr/>
            <p:nvPr/>
          </p:nvGrpSpPr>
          <p:grpSpPr>
            <a:xfrm>
              <a:off x="1632213" y="1559624"/>
              <a:ext cx="385012" cy="381805"/>
              <a:chOff x="1632213" y="1559624"/>
              <a:chExt cx="385012" cy="381805"/>
            </a:xfrm>
            <a:solidFill>
              <a:srgbClr val="FFFFFF"/>
            </a:solidFill>
          </p:grpSpPr>
          <p:sp>
            <p:nvSpPr>
              <p:cNvPr id="1201" name="Freeform: Shape 229">
                <a:extLst>
                  <a:ext uri="{FF2B5EF4-FFF2-40B4-BE49-F238E27FC236}">
                    <a16:creationId xmlns:a16="http://schemas.microsoft.com/office/drawing/2014/main" id="{8556E28A-7DD8-F96C-D605-39F2AF3DE93E}"/>
                  </a:ext>
                </a:extLst>
              </p:cNvPr>
              <p:cNvSpPr/>
              <p:nvPr/>
            </p:nvSpPr>
            <p:spPr>
              <a:xfrm>
                <a:off x="1636692" y="1564101"/>
                <a:ext cx="375175" cy="369281"/>
              </a:xfrm>
              <a:custGeom>
                <a:avLst/>
                <a:gdLst>
                  <a:gd name="connsiteX0" fmla="*/ 113514 w 375175"/>
                  <a:gd name="connsiteY0" fmla="*/ 365707 h 369281"/>
                  <a:gd name="connsiteX1" fmla="*/ 101001 w 375175"/>
                  <a:gd name="connsiteY1" fmla="*/ 362133 h 369281"/>
                  <a:gd name="connsiteX2" fmla="*/ 86698 w 375175"/>
                  <a:gd name="connsiteY2" fmla="*/ 347823 h 369281"/>
                  <a:gd name="connsiteX3" fmla="*/ 18769 w 375175"/>
                  <a:gd name="connsiteY3" fmla="*/ 347823 h 369281"/>
                  <a:gd name="connsiteX4" fmla="*/ 0 w 375175"/>
                  <a:gd name="connsiteY4" fmla="*/ 329047 h 369281"/>
                  <a:gd name="connsiteX5" fmla="*/ 0 w 375175"/>
                  <a:gd name="connsiteY5" fmla="*/ 18777 h 369281"/>
                  <a:gd name="connsiteX6" fmla="*/ 18769 w 375175"/>
                  <a:gd name="connsiteY6" fmla="*/ 0 h 369281"/>
                  <a:gd name="connsiteX7" fmla="*/ 328921 w 375175"/>
                  <a:gd name="connsiteY7" fmla="*/ 0 h 369281"/>
                  <a:gd name="connsiteX8" fmla="*/ 347690 w 375175"/>
                  <a:gd name="connsiteY8" fmla="*/ 18777 h 369281"/>
                  <a:gd name="connsiteX9" fmla="*/ 347690 w 375175"/>
                  <a:gd name="connsiteY9" fmla="*/ 102827 h 369281"/>
                  <a:gd name="connsiteX10" fmla="*/ 347690 w 375175"/>
                  <a:gd name="connsiteY10" fmla="*/ 253939 h 369281"/>
                  <a:gd name="connsiteX11" fmla="*/ 347690 w 375175"/>
                  <a:gd name="connsiteY11" fmla="*/ 329047 h 369281"/>
                  <a:gd name="connsiteX12" fmla="*/ 328921 w 375175"/>
                  <a:gd name="connsiteY12" fmla="*/ 347823 h 369281"/>
                  <a:gd name="connsiteX13" fmla="*/ 137648 w 375175"/>
                  <a:gd name="connsiteY13" fmla="*/ 347823 h 369281"/>
                  <a:gd name="connsiteX14" fmla="*/ 116196 w 375175"/>
                  <a:gd name="connsiteY14" fmla="*/ 369281 h 369281"/>
                  <a:gd name="connsiteX15" fmla="*/ 113514 w 375175"/>
                  <a:gd name="connsiteY15" fmla="*/ 365707 h 369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5175" h="369281">
                    <a:moveTo>
                      <a:pt x="113514" y="365707"/>
                    </a:moveTo>
                    <a:lnTo>
                      <a:pt x="101001" y="362133"/>
                    </a:lnTo>
                    <a:lnTo>
                      <a:pt x="86698" y="347823"/>
                    </a:lnTo>
                    <a:lnTo>
                      <a:pt x="18769" y="347823"/>
                    </a:lnTo>
                    <a:cubicBezTo>
                      <a:pt x="8939" y="347823"/>
                      <a:pt x="0" y="339776"/>
                      <a:pt x="0" y="329047"/>
                    </a:cubicBezTo>
                    <a:lnTo>
                      <a:pt x="0" y="18777"/>
                    </a:lnTo>
                    <a:cubicBezTo>
                      <a:pt x="0" y="8941"/>
                      <a:pt x="8040" y="0"/>
                      <a:pt x="18769" y="0"/>
                    </a:cubicBezTo>
                    <a:lnTo>
                      <a:pt x="328921" y="0"/>
                    </a:lnTo>
                    <a:cubicBezTo>
                      <a:pt x="339650" y="0"/>
                      <a:pt x="347690" y="8047"/>
                      <a:pt x="347690" y="18777"/>
                    </a:cubicBezTo>
                    <a:lnTo>
                      <a:pt x="347690" y="102827"/>
                    </a:lnTo>
                    <a:cubicBezTo>
                      <a:pt x="384337" y="145746"/>
                      <a:pt x="384337" y="210125"/>
                      <a:pt x="347690" y="253939"/>
                    </a:cubicBezTo>
                    <a:lnTo>
                      <a:pt x="347690" y="329047"/>
                    </a:lnTo>
                    <a:cubicBezTo>
                      <a:pt x="347690" y="339776"/>
                      <a:pt x="339650" y="347823"/>
                      <a:pt x="328921" y="347823"/>
                    </a:cubicBezTo>
                    <a:lnTo>
                      <a:pt x="137648" y="347823"/>
                    </a:lnTo>
                    <a:lnTo>
                      <a:pt x="116196" y="369281"/>
                    </a:lnTo>
                    <a:lnTo>
                      <a:pt x="113514" y="365707"/>
                    </a:lnTo>
                    <a:close/>
                  </a:path>
                </a:pathLst>
              </a:custGeom>
              <a:solidFill>
                <a:srgbClr val="FFFFFF"/>
              </a:solidFill>
              <a:ln w="6417" cap="flat">
                <a:noFill/>
                <a:prstDash val="solid"/>
                <a:miter/>
              </a:ln>
            </p:spPr>
            <p:txBody>
              <a:bodyPr rtlCol="0" anchor="ctr"/>
              <a:lstStyle/>
              <a:p>
                <a:endParaRPr lang="en-US" sz="810"/>
              </a:p>
            </p:txBody>
          </p:sp>
          <p:sp>
            <p:nvSpPr>
              <p:cNvPr id="1202" name="Freeform: Shape 231">
                <a:extLst>
                  <a:ext uri="{FF2B5EF4-FFF2-40B4-BE49-F238E27FC236}">
                    <a16:creationId xmlns:a16="http://schemas.microsoft.com/office/drawing/2014/main" id="{4B2CD0D7-9A93-567D-73E8-390B70272870}"/>
                  </a:ext>
                </a:extLst>
              </p:cNvPr>
              <p:cNvSpPr/>
              <p:nvPr/>
            </p:nvSpPr>
            <p:spPr>
              <a:xfrm>
                <a:off x="1632213" y="1559624"/>
                <a:ext cx="385012" cy="381805"/>
              </a:xfrm>
              <a:custGeom>
                <a:avLst/>
                <a:gdLst>
                  <a:gd name="connsiteX0" fmla="*/ 333393 w 385012"/>
                  <a:gd name="connsiteY0" fmla="*/ 8942 h 381805"/>
                  <a:gd name="connsiteX1" fmla="*/ 347697 w 385012"/>
                  <a:gd name="connsiteY1" fmla="*/ 23248 h 381805"/>
                  <a:gd name="connsiteX2" fmla="*/ 347697 w 385012"/>
                  <a:gd name="connsiteY2" fmla="*/ 109086 h 381805"/>
                  <a:gd name="connsiteX3" fmla="*/ 347697 w 385012"/>
                  <a:gd name="connsiteY3" fmla="*/ 256621 h 381805"/>
                  <a:gd name="connsiteX4" fmla="*/ 347697 w 385012"/>
                  <a:gd name="connsiteY4" fmla="*/ 333519 h 381805"/>
                  <a:gd name="connsiteX5" fmla="*/ 333393 w 385012"/>
                  <a:gd name="connsiteY5" fmla="*/ 347822 h 381805"/>
                  <a:gd name="connsiteX6" fmla="*/ 139438 w 385012"/>
                  <a:gd name="connsiteY6" fmla="*/ 347822 h 381805"/>
                  <a:gd name="connsiteX7" fmla="*/ 120662 w 385012"/>
                  <a:gd name="connsiteY7" fmla="*/ 366604 h 381805"/>
                  <a:gd name="connsiteX8" fmla="*/ 108149 w 385012"/>
                  <a:gd name="connsiteY8" fmla="*/ 362131 h 381805"/>
                  <a:gd name="connsiteX9" fmla="*/ 92954 w 385012"/>
                  <a:gd name="connsiteY9" fmla="*/ 346930 h 381805"/>
                  <a:gd name="connsiteX10" fmla="*/ 23242 w 385012"/>
                  <a:gd name="connsiteY10" fmla="*/ 346930 h 381805"/>
                  <a:gd name="connsiteX11" fmla="*/ 8939 w 385012"/>
                  <a:gd name="connsiteY11" fmla="*/ 332627 h 381805"/>
                  <a:gd name="connsiteX12" fmla="*/ 8939 w 385012"/>
                  <a:gd name="connsiteY12" fmla="*/ 23248 h 381805"/>
                  <a:gd name="connsiteX13" fmla="*/ 23242 w 385012"/>
                  <a:gd name="connsiteY13" fmla="*/ 8942 h 381805"/>
                  <a:gd name="connsiteX14" fmla="*/ 333393 w 385012"/>
                  <a:gd name="connsiteY14" fmla="*/ 8942 h 381805"/>
                  <a:gd name="connsiteX15" fmla="*/ 333393 w 385012"/>
                  <a:gd name="connsiteY15" fmla="*/ 0 h 381805"/>
                  <a:gd name="connsiteX16" fmla="*/ 23242 w 385012"/>
                  <a:gd name="connsiteY16" fmla="*/ 0 h 381805"/>
                  <a:gd name="connsiteX17" fmla="*/ 0 w 385012"/>
                  <a:gd name="connsiteY17" fmla="*/ 23248 h 381805"/>
                  <a:gd name="connsiteX18" fmla="*/ 0 w 385012"/>
                  <a:gd name="connsiteY18" fmla="*/ 333519 h 381805"/>
                  <a:gd name="connsiteX19" fmla="*/ 23242 w 385012"/>
                  <a:gd name="connsiteY19" fmla="*/ 356767 h 381805"/>
                  <a:gd name="connsiteX20" fmla="*/ 89380 w 385012"/>
                  <a:gd name="connsiteY20" fmla="*/ 356767 h 381805"/>
                  <a:gd name="connsiteX21" fmla="*/ 101893 w 385012"/>
                  <a:gd name="connsiteY21" fmla="*/ 369286 h 381805"/>
                  <a:gd name="connsiteX22" fmla="*/ 103683 w 385012"/>
                  <a:gd name="connsiteY22" fmla="*/ 371070 h 381805"/>
                  <a:gd name="connsiteX23" fmla="*/ 105467 w 385012"/>
                  <a:gd name="connsiteY23" fmla="*/ 371968 h 381805"/>
                  <a:gd name="connsiteX24" fmla="*/ 115304 w 385012"/>
                  <a:gd name="connsiteY24" fmla="*/ 375543 h 381805"/>
                  <a:gd name="connsiteX25" fmla="*/ 119770 w 385012"/>
                  <a:gd name="connsiteY25" fmla="*/ 381805 h 381805"/>
                  <a:gd name="connsiteX26" fmla="*/ 127817 w 385012"/>
                  <a:gd name="connsiteY26" fmla="*/ 374651 h 381805"/>
                  <a:gd name="connsiteX27" fmla="*/ 144796 w 385012"/>
                  <a:gd name="connsiteY27" fmla="*/ 358557 h 381805"/>
                  <a:gd name="connsiteX28" fmla="*/ 334285 w 385012"/>
                  <a:gd name="connsiteY28" fmla="*/ 358557 h 381805"/>
                  <a:gd name="connsiteX29" fmla="*/ 357527 w 385012"/>
                  <a:gd name="connsiteY29" fmla="*/ 335309 h 381805"/>
                  <a:gd name="connsiteX30" fmla="*/ 357527 w 385012"/>
                  <a:gd name="connsiteY30" fmla="*/ 259304 h 381805"/>
                  <a:gd name="connsiteX31" fmla="*/ 357527 w 385012"/>
                  <a:gd name="connsiteY31" fmla="*/ 105510 h 381805"/>
                  <a:gd name="connsiteX32" fmla="*/ 357527 w 385012"/>
                  <a:gd name="connsiteY32" fmla="*/ 23248 h 381805"/>
                  <a:gd name="connsiteX33" fmla="*/ 333393 w 385012"/>
                  <a:gd name="connsiteY33" fmla="*/ 0 h 38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12" h="381805">
                    <a:moveTo>
                      <a:pt x="333393" y="8942"/>
                    </a:moveTo>
                    <a:cubicBezTo>
                      <a:pt x="341440" y="8942"/>
                      <a:pt x="347697" y="15201"/>
                      <a:pt x="347697" y="23248"/>
                    </a:cubicBezTo>
                    <a:lnTo>
                      <a:pt x="347697" y="109086"/>
                    </a:lnTo>
                    <a:cubicBezTo>
                      <a:pt x="384343" y="151112"/>
                      <a:pt x="384343" y="214597"/>
                      <a:pt x="347697" y="256621"/>
                    </a:cubicBezTo>
                    <a:lnTo>
                      <a:pt x="347697" y="333519"/>
                    </a:lnTo>
                    <a:cubicBezTo>
                      <a:pt x="347697" y="341565"/>
                      <a:pt x="341440" y="347822"/>
                      <a:pt x="333393" y="347822"/>
                    </a:cubicBezTo>
                    <a:lnTo>
                      <a:pt x="139438" y="347822"/>
                    </a:lnTo>
                    <a:lnTo>
                      <a:pt x="120662" y="366604"/>
                    </a:lnTo>
                    <a:lnTo>
                      <a:pt x="108149" y="362131"/>
                    </a:lnTo>
                    <a:lnTo>
                      <a:pt x="92954" y="346930"/>
                    </a:lnTo>
                    <a:lnTo>
                      <a:pt x="23242" y="346930"/>
                    </a:lnTo>
                    <a:cubicBezTo>
                      <a:pt x="15195" y="346930"/>
                      <a:pt x="8939" y="340673"/>
                      <a:pt x="8939" y="332627"/>
                    </a:cubicBezTo>
                    <a:lnTo>
                      <a:pt x="8939" y="23248"/>
                    </a:lnTo>
                    <a:cubicBezTo>
                      <a:pt x="8939" y="15201"/>
                      <a:pt x="15195" y="8942"/>
                      <a:pt x="23242" y="8942"/>
                    </a:cubicBezTo>
                    <a:lnTo>
                      <a:pt x="333393" y="8942"/>
                    </a:lnTo>
                    <a:close/>
                    <a:moveTo>
                      <a:pt x="333393" y="0"/>
                    </a:moveTo>
                    <a:lnTo>
                      <a:pt x="23242" y="0"/>
                    </a:lnTo>
                    <a:cubicBezTo>
                      <a:pt x="10729" y="0"/>
                      <a:pt x="0" y="10730"/>
                      <a:pt x="0" y="23248"/>
                    </a:cubicBezTo>
                    <a:lnTo>
                      <a:pt x="0" y="333519"/>
                    </a:lnTo>
                    <a:cubicBezTo>
                      <a:pt x="0" y="346038"/>
                      <a:pt x="10729" y="356767"/>
                      <a:pt x="23242" y="356767"/>
                    </a:cubicBezTo>
                    <a:lnTo>
                      <a:pt x="89380" y="356767"/>
                    </a:lnTo>
                    <a:lnTo>
                      <a:pt x="101893" y="369286"/>
                    </a:lnTo>
                    <a:lnTo>
                      <a:pt x="103683" y="371070"/>
                    </a:lnTo>
                    <a:lnTo>
                      <a:pt x="105467" y="371968"/>
                    </a:lnTo>
                    <a:lnTo>
                      <a:pt x="115304" y="375543"/>
                    </a:lnTo>
                    <a:lnTo>
                      <a:pt x="119770" y="381805"/>
                    </a:lnTo>
                    <a:lnTo>
                      <a:pt x="127817" y="374651"/>
                    </a:lnTo>
                    <a:lnTo>
                      <a:pt x="144796" y="358557"/>
                    </a:lnTo>
                    <a:lnTo>
                      <a:pt x="334285" y="358557"/>
                    </a:lnTo>
                    <a:cubicBezTo>
                      <a:pt x="346798" y="358557"/>
                      <a:pt x="357527" y="347822"/>
                      <a:pt x="357527" y="335309"/>
                    </a:cubicBezTo>
                    <a:lnTo>
                      <a:pt x="357527" y="259304"/>
                    </a:lnTo>
                    <a:cubicBezTo>
                      <a:pt x="394174" y="214597"/>
                      <a:pt x="394174" y="149323"/>
                      <a:pt x="357527" y="105510"/>
                    </a:cubicBezTo>
                    <a:lnTo>
                      <a:pt x="357527" y="23248"/>
                    </a:lnTo>
                    <a:cubicBezTo>
                      <a:pt x="356629" y="10730"/>
                      <a:pt x="345906" y="0"/>
                      <a:pt x="333393" y="0"/>
                    </a:cubicBezTo>
                    <a:close/>
                  </a:path>
                </a:pathLst>
              </a:custGeom>
              <a:solidFill>
                <a:srgbClr val="FFFFFF"/>
              </a:solidFill>
              <a:ln w="6417" cap="flat">
                <a:noFill/>
                <a:prstDash val="solid"/>
                <a:miter/>
              </a:ln>
            </p:spPr>
            <p:txBody>
              <a:bodyPr rtlCol="0" anchor="ctr"/>
              <a:lstStyle/>
              <a:p>
                <a:endParaRPr lang="en-US" sz="810"/>
              </a:p>
            </p:txBody>
          </p:sp>
        </p:grpSp>
        <p:grpSp>
          <p:nvGrpSpPr>
            <p:cNvPr id="1179" name="Graphic 6">
              <a:extLst>
                <a:ext uri="{FF2B5EF4-FFF2-40B4-BE49-F238E27FC236}">
                  <a16:creationId xmlns:a16="http://schemas.microsoft.com/office/drawing/2014/main" id="{FA41F0EA-696A-4701-A60F-048D1A24D241}"/>
                </a:ext>
              </a:extLst>
            </p:cNvPr>
            <p:cNvGrpSpPr/>
            <p:nvPr/>
          </p:nvGrpSpPr>
          <p:grpSpPr>
            <a:xfrm>
              <a:off x="1641145" y="1569371"/>
              <a:ext cx="366246" cy="356849"/>
              <a:chOff x="1641145" y="1569371"/>
              <a:chExt cx="366246" cy="356849"/>
            </a:xfrm>
            <a:solidFill>
              <a:srgbClr val="2D5967"/>
            </a:solidFill>
          </p:grpSpPr>
          <p:sp>
            <p:nvSpPr>
              <p:cNvPr id="1180" name="Freeform: Shape 233">
                <a:extLst>
                  <a:ext uri="{FF2B5EF4-FFF2-40B4-BE49-F238E27FC236}">
                    <a16:creationId xmlns:a16="http://schemas.microsoft.com/office/drawing/2014/main" id="{212377D1-E813-B130-8C06-A224E1F1CC04}"/>
                  </a:ext>
                </a:extLst>
              </p:cNvPr>
              <p:cNvSpPr/>
              <p:nvPr/>
            </p:nvSpPr>
            <p:spPr>
              <a:xfrm>
                <a:off x="1785935" y="1829667"/>
                <a:ext cx="193955" cy="77791"/>
              </a:xfrm>
              <a:custGeom>
                <a:avLst/>
                <a:gdLst>
                  <a:gd name="connsiteX0" fmla="*/ 181443 w 193955"/>
                  <a:gd name="connsiteY0" fmla="*/ 63482 h 77791"/>
                  <a:gd name="connsiteX1" fmla="*/ 179652 w 193955"/>
                  <a:gd name="connsiteY1" fmla="*/ 65272 h 77791"/>
                  <a:gd name="connsiteX2" fmla="*/ 12513 w 193955"/>
                  <a:gd name="connsiteY2" fmla="*/ 65272 h 77791"/>
                  <a:gd name="connsiteX3" fmla="*/ 9831 w 193955"/>
                  <a:gd name="connsiteY3" fmla="*/ 67954 h 77791"/>
                  <a:gd name="connsiteX4" fmla="*/ 0 w 193955"/>
                  <a:gd name="connsiteY4" fmla="*/ 77791 h 77791"/>
                  <a:gd name="connsiteX5" fmla="*/ 179652 w 193955"/>
                  <a:gd name="connsiteY5" fmla="*/ 77791 h 77791"/>
                  <a:gd name="connsiteX6" fmla="*/ 193956 w 193955"/>
                  <a:gd name="connsiteY6" fmla="*/ 63482 h 77791"/>
                  <a:gd name="connsiteX7" fmla="*/ 193956 w 193955"/>
                  <a:gd name="connsiteY7" fmla="*/ 0 h 77791"/>
                  <a:gd name="connsiteX8" fmla="*/ 181443 w 193955"/>
                  <a:gd name="connsiteY8" fmla="*/ 10730 h 77791"/>
                  <a:gd name="connsiteX9" fmla="*/ 181443 w 193955"/>
                  <a:gd name="connsiteY9" fmla="*/ 63482 h 77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955" h="77791">
                    <a:moveTo>
                      <a:pt x="181443" y="63482"/>
                    </a:moveTo>
                    <a:cubicBezTo>
                      <a:pt x="181443" y="64380"/>
                      <a:pt x="180551" y="65272"/>
                      <a:pt x="179652" y="65272"/>
                    </a:cubicBezTo>
                    <a:lnTo>
                      <a:pt x="12513" y="65272"/>
                    </a:lnTo>
                    <a:cubicBezTo>
                      <a:pt x="11621" y="66170"/>
                      <a:pt x="10723" y="67062"/>
                      <a:pt x="9831" y="67954"/>
                    </a:cubicBezTo>
                    <a:lnTo>
                      <a:pt x="0" y="77791"/>
                    </a:lnTo>
                    <a:lnTo>
                      <a:pt x="179652" y="77791"/>
                    </a:lnTo>
                    <a:cubicBezTo>
                      <a:pt x="187699" y="77791"/>
                      <a:pt x="193956" y="71535"/>
                      <a:pt x="193956" y="63482"/>
                    </a:cubicBezTo>
                    <a:lnTo>
                      <a:pt x="193956" y="0"/>
                    </a:lnTo>
                    <a:cubicBezTo>
                      <a:pt x="190381" y="3577"/>
                      <a:pt x="185915" y="7153"/>
                      <a:pt x="181443" y="10730"/>
                    </a:cubicBezTo>
                    <a:lnTo>
                      <a:pt x="181443" y="63482"/>
                    </a:lnTo>
                    <a:close/>
                  </a:path>
                </a:pathLst>
              </a:custGeom>
              <a:solidFill>
                <a:srgbClr val="2D5967"/>
              </a:solidFill>
              <a:ln w="6417" cap="flat">
                <a:noFill/>
                <a:prstDash val="solid"/>
                <a:miter/>
              </a:ln>
            </p:spPr>
            <p:txBody>
              <a:bodyPr rtlCol="0" anchor="ctr"/>
              <a:lstStyle/>
              <a:p>
                <a:endParaRPr lang="en-US" sz="810"/>
              </a:p>
            </p:txBody>
          </p:sp>
          <p:sp>
            <p:nvSpPr>
              <p:cNvPr id="1181" name="Freeform: Shape 235">
                <a:extLst>
                  <a:ext uri="{FF2B5EF4-FFF2-40B4-BE49-F238E27FC236}">
                    <a16:creationId xmlns:a16="http://schemas.microsoft.com/office/drawing/2014/main" id="{CE06596F-2C16-6D23-3B65-47BD61CC6AB4}"/>
                  </a:ext>
                </a:extLst>
              </p:cNvPr>
              <p:cNvSpPr/>
              <p:nvPr/>
            </p:nvSpPr>
            <p:spPr>
              <a:xfrm>
                <a:off x="1641145" y="1569371"/>
                <a:ext cx="338757" cy="338073"/>
              </a:xfrm>
              <a:custGeom>
                <a:avLst/>
                <a:gdLst>
                  <a:gd name="connsiteX0" fmla="*/ 66145 w 338757"/>
                  <a:gd name="connsiteY0" fmla="*/ 332709 h 338073"/>
                  <a:gd name="connsiteX1" fmla="*/ 65253 w 338757"/>
                  <a:gd name="connsiteY1" fmla="*/ 330919 h 338073"/>
                  <a:gd name="connsiteX2" fmla="*/ 63463 w 338757"/>
                  <a:gd name="connsiteY2" fmla="*/ 325555 h 338073"/>
                  <a:gd name="connsiteX3" fmla="*/ 14303 w 338757"/>
                  <a:gd name="connsiteY3" fmla="*/ 325555 h 338073"/>
                  <a:gd name="connsiteX4" fmla="*/ 12513 w 338757"/>
                  <a:gd name="connsiteY4" fmla="*/ 323764 h 338073"/>
                  <a:gd name="connsiteX5" fmla="*/ 12513 w 338757"/>
                  <a:gd name="connsiteY5" fmla="*/ 13497 h 338073"/>
                  <a:gd name="connsiteX6" fmla="*/ 14303 w 338757"/>
                  <a:gd name="connsiteY6" fmla="*/ 11709 h 338073"/>
                  <a:gd name="connsiteX7" fmla="*/ 324455 w 338757"/>
                  <a:gd name="connsiteY7" fmla="*/ 11709 h 338073"/>
                  <a:gd name="connsiteX8" fmla="*/ 326245 w 338757"/>
                  <a:gd name="connsiteY8" fmla="*/ 13497 h 338073"/>
                  <a:gd name="connsiteX9" fmla="*/ 326245 w 338757"/>
                  <a:gd name="connsiteY9" fmla="*/ 75194 h 338073"/>
                  <a:gd name="connsiteX10" fmla="*/ 338758 w 338757"/>
                  <a:gd name="connsiteY10" fmla="*/ 85923 h 338073"/>
                  <a:gd name="connsiteX11" fmla="*/ 338758 w 338757"/>
                  <a:gd name="connsiteY11" fmla="*/ 14392 h 338073"/>
                  <a:gd name="connsiteX12" fmla="*/ 324455 w 338757"/>
                  <a:gd name="connsiteY12" fmla="*/ 85 h 338073"/>
                  <a:gd name="connsiteX13" fmla="*/ 14303 w 338757"/>
                  <a:gd name="connsiteY13" fmla="*/ 85 h 338073"/>
                  <a:gd name="connsiteX14" fmla="*/ 0 w 338757"/>
                  <a:gd name="connsiteY14" fmla="*/ 13497 h 338073"/>
                  <a:gd name="connsiteX15" fmla="*/ 0 w 338757"/>
                  <a:gd name="connsiteY15" fmla="*/ 323764 h 338073"/>
                  <a:gd name="connsiteX16" fmla="*/ 14303 w 338757"/>
                  <a:gd name="connsiteY16" fmla="*/ 338074 h 338073"/>
                  <a:gd name="connsiteX17" fmla="*/ 71509 w 338757"/>
                  <a:gd name="connsiteY17" fmla="*/ 338074 h 338073"/>
                  <a:gd name="connsiteX18" fmla="*/ 67935 w 338757"/>
                  <a:gd name="connsiteY18" fmla="*/ 334500 h 338073"/>
                  <a:gd name="connsiteX19" fmla="*/ 66145 w 338757"/>
                  <a:gd name="connsiteY19" fmla="*/ 332709 h 338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8757" h="338073">
                    <a:moveTo>
                      <a:pt x="66145" y="332709"/>
                    </a:moveTo>
                    <a:lnTo>
                      <a:pt x="65253" y="330919"/>
                    </a:lnTo>
                    <a:lnTo>
                      <a:pt x="63463" y="325555"/>
                    </a:lnTo>
                    <a:lnTo>
                      <a:pt x="14303" y="325555"/>
                    </a:lnTo>
                    <a:cubicBezTo>
                      <a:pt x="13411" y="325555"/>
                      <a:pt x="12513" y="324663"/>
                      <a:pt x="12513" y="323764"/>
                    </a:cubicBezTo>
                    <a:lnTo>
                      <a:pt x="12513" y="13497"/>
                    </a:lnTo>
                    <a:cubicBezTo>
                      <a:pt x="12513" y="12603"/>
                      <a:pt x="13411" y="11709"/>
                      <a:pt x="14303" y="11709"/>
                    </a:cubicBezTo>
                    <a:lnTo>
                      <a:pt x="324455" y="11709"/>
                    </a:lnTo>
                    <a:cubicBezTo>
                      <a:pt x="325353" y="11709"/>
                      <a:pt x="326245" y="12603"/>
                      <a:pt x="326245" y="13497"/>
                    </a:cubicBezTo>
                    <a:lnTo>
                      <a:pt x="326245" y="75194"/>
                    </a:lnTo>
                    <a:cubicBezTo>
                      <a:pt x="330711" y="78770"/>
                      <a:pt x="335184" y="82347"/>
                      <a:pt x="338758" y="85923"/>
                    </a:cubicBezTo>
                    <a:lnTo>
                      <a:pt x="338758" y="14392"/>
                    </a:lnTo>
                    <a:cubicBezTo>
                      <a:pt x="338758" y="6344"/>
                      <a:pt x="332502" y="85"/>
                      <a:pt x="324455" y="85"/>
                    </a:cubicBezTo>
                    <a:lnTo>
                      <a:pt x="14303" y="85"/>
                    </a:lnTo>
                    <a:cubicBezTo>
                      <a:pt x="6256" y="-809"/>
                      <a:pt x="0" y="5450"/>
                      <a:pt x="0" y="13497"/>
                    </a:cubicBezTo>
                    <a:lnTo>
                      <a:pt x="0" y="323764"/>
                    </a:lnTo>
                    <a:cubicBezTo>
                      <a:pt x="0" y="331817"/>
                      <a:pt x="6256" y="338074"/>
                      <a:pt x="14303" y="338074"/>
                    </a:cubicBezTo>
                    <a:lnTo>
                      <a:pt x="71509" y="338074"/>
                    </a:lnTo>
                    <a:lnTo>
                      <a:pt x="67935" y="334500"/>
                    </a:lnTo>
                    <a:lnTo>
                      <a:pt x="66145" y="332709"/>
                    </a:lnTo>
                    <a:close/>
                  </a:path>
                </a:pathLst>
              </a:custGeom>
              <a:solidFill>
                <a:srgbClr val="2D5967"/>
              </a:solidFill>
              <a:ln w="6417" cap="flat">
                <a:noFill/>
                <a:prstDash val="solid"/>
                <a:miter/>
              </a:ln>
            </p:spPr>
            <p:txBody>
              <a:bodyPr rtlCol="0" anchor="ctr"/>
              <a:lstStyle/>
              <a:p>
                <a:endParaRPr lang="en-US" sz="810"/>
              </a:p>
            </p:txBody>
          </p:sp>
          <p:sp>
            <p:nvSpPr>
              <p:cNvPr id="1182" name="Freeform: Shape 237">
                <a:extLst>
                  <a:ext uri="{FF2B5EF4-FFF2-40B4-BE49-F238E27FC236}">
                    <a16:creationId xmlns:a16="http://schemas.microsoft.com/office/drawing/2014/main" id="{79D8D4AF-724A-9F58-0786-B58B1E58B1B0}"/>
                  </a:ext>
                </a:extLst>
              </p:cNvPr>
              <p:cNvSpPr/>
              <p:nvPr/>
            </p:nvSpPr>
            <p:spPr>
              <a:xfrm>
                <a:off x="1668853" y="1600760"/>
                <a:ext cx="17877" cy="39342"/>
              </a:xfrm>
              <a:custGeom>
                <a:avLst/>
                <a:gdLst>
                  <a:gd name="connsiteX0" fmla="*/ 8939 w 17877"/>
                  <a:gd name="connsiteY0" fmla="*/ 39342 h 39342"/>
                  <a:gd name="connsiteX1" fmla="*/ 17877 w 17877"/>
                  <a:gd name="connsiteY1" fmla="*/ 39342 h 39342"/>
                  <a:gd name="connsiteX2" fmla="*/ 17877 w 17877"/>
                  <a:gd name="connsiteY2" fmla="*/ 0 h 39342"/>
                  <a:gd name="connsiteX3" fmla="*/ 11621 w 17877"/>
                  <a:gd name="connsiteY3" fmla="*/ 0 h 39342"/>
                  <a:gd name="connsiteX4" fmla="*/ 0 w 17877"/>
                  <a:gd name="connsiteY4" fmla="*/ 8047 h 39342"/>
                  <a:gd name="connsiteX5" fmla="*/ 0 w 17877"/>
                  <a:gd name="connsiteY5" fmla="*/ 13412 h 39342"/>
                  <a:gd name="connsiteX6" fmla="*/ 8939 w 17877"/>
                  <a:gd name="connsiteY6" fmla="*/ 9836 h 39342"/>
                  <a:gd name="connsiteX7" fmla="*/ 8939 w 17877"/>
                  <a:gd name="connsiteY7" fmla="*/ 39342 h 39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77" h="39342">
                    <a:moveTo>
                      <a:pt x="8939" y="39342"/>
                    </a:moveTo>
                    <a:lnTo>
                      <a:pt x="17877" y="39342"/>
                    </a:lnTo>
                    <a:lnTo>
                      <a:pt x="17877" y="0"/>
                    </a:lnTo>
                    <a:lnTo>
                      <a:pt x="11621" y="0"/>
                    </a:lnTo>
                    <a:lnTo>
                      <a:pt x="0" y="8047"/>
                    </a:lnTo>
                    <a:lnTo>
                      <a:pt x="0" y="13412"/>
                    </a:lnTo>
                    <a:lnTo>
                      <a:pt x="8939" y="9836"/>
                    </a:lnTo>
                    <a:lnTo>
                      <a:pt x="8939" y="39342"/>
                    </a:lnTo>
                    <a:close/>
                  </a:path>
                </a:pathLst>
              </a:custGeom>
              <a:solidFill>
                <a:srgbClr val="2D5967"/>
              </a:solidFill>
              <a:ln w="6417" cap="flat">
                <a:noFill/>
                <a:prstDash val="solid"/>
                <a:miter/>
              </a:ln>
            </p:spPr>
            <p:txBody>
              <a:bodyPr rtlCol="0" anchor="ctr"/>
              <a:lstStyle/>
              <a:p>
                <a:endParaRPr lang="en-US" sz="810"/>
              </a:p>
            </p:txBody>
          </p:sp>
          <p:sp>
            <p:nvSpPr>
              <p:cNvPr id="1183" name="Freeform: Shape 239">
                <a:extLst>
                  <a:ext uri="{FF2B5EF4-FFF2-40B4-BE49-F238E27FC236}">
                    <a16:creationId xmlns:a16="http://schemas.microsoft.com/office/drawing/2014/main" id="{76123D38-BB1D-8927-EAA3-96A335F3B60A}"/>
                  </a:ext>
                </a:extLst>
              </p:cNvPr>
              <p:cNvSpPr/>
              <p:nvPr/>
            </p:nvSpPr>
            <p:spPr>
              <a:xfrm>
                <a:off x="1701919" y="1632051"/>
                <a:ext cx="8938" cy="8044"/>
              </a:xfrm>
              <a:custGeom>
                <a:avLst/>
                <a:gdLst>
                  <a:gd name="connsiteX0" fmla="*/ 8939 w 8938"/>
                  <a:gd name="connsiteY0" fmla="*/ 0 h 8044"/>
                  <a:gd name="connsiteX1" fmla="*/ 0 w 8938"/>
                  <a:gd name="connsiteY1" fmla="*/ 0 h 8044"/>
                  <a:gd name="connsiteX2" fmla="*/ 0 w 8938"/>
                  <a:gd name="connsiteY2" fmla="*/ 8045 h 8044"/>
                  <a:gd name="connsiteX3" fmla="*/ 8939 w 8938"/>
                  <a:gd name="connsiteY3" fmla="*/ 8045 h 8044"/>
                  <a:gd name="connsiteX4" fmla="*/ 8939 w 8938"/>
                  <a:gd name="connsiteY4" fmla="*/ 0 h 8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8" h="8044">
                    <a:moveTo>
                      <a:pt x="8939" y="0"/>
                    </a:moveTo>
                    <a:lnTo>
                      <a:pt x="0" y="0"/>
                    </a:lnTo>
                    <a:lnTo>
                      <a:pt x="0" y="8045"/>
                    </a:lnTo>
                    <a:lnTo>
                      <a:pt x="8939" y="8045"/>
                    </a:lnTo>
                    <a:lnTo>
                      <a:pt x="8939" y="0"/>
                    </a:lnTo>
                    <a:close/>
                  </a:path>
                </a:pathLst>
              </a:custGeom>
              <a:solidFill>
                <a:srgbClr val="2D5967"/>
              </a:solidFill>
              <a:ln w="6417" cap="flat">
                <a:noFill/>
                <a:prstDash val="solid"/>
                <a:miter/>
              </a:ln>
            </p:spPr>
            <p:txBody>
              <a:bodyPr rtlCol="0" anchor="ctr"/>
              <a:lstStyle/>
              <a:p>
                <a:endParaRPr lang="en-US" sz="810"/>
              </a:p>
            </p:txBody>
          </p:sp>
          <p:sp>
            <p:nvSpPr>
              <p:cNvPr id="1184" name="Freeform: Shape 241">
                <a:extLst>
                  <a:ext uri="{FF2B5EF4-FFF2-40B4-BE49-F238E27FC236}">
                    <a16:creationId xmlns:a16="http://schemas.microsoft.com/office/drawing/2014/main" id="{2EC7A7D9-BB5E-1840-31C2-7092EF9EC870}"/>
                  </a:ext>
                </a:extLst>
              </p:cNvPr>
              <p:cNvSpPr/>
              <p:nvPr/>
            </p:nvSpPr>
            <p:spPr>
              <a:xfrm>
                <a:off x="1701919" y="1610592"/>
                <a:ext cx="8938" cy="8044"/>
              </a:xfrm>
              <a:custGeom>
                <a:avLst/>
                <a:gdLst>
                  <a:gd name="connsiteX0" fmla="*/ 8939 w 8938"/>
                  <a:gd name="connsiteY0" fmla="*/ 0 h 8044"/>
                  <a:gd name="connsiteX1" fmla="*/ 0 w 8938"/>
                  <a:gd name="connsiteY1" fmla="*/ 0 h 8044"/>
                  <a:gd name="connsiteX2" fmla="*/ 0 w 8938"/>
                  <a:gd name="connsiteY2" fmla="*/ 8044 h 8044"/>
                  <a:gd name="connsiteX3" fmla="*/ 8939 w 8938"/>
                  <a:gd name="connsiteY3" fmla="*/ 8044 h 8044"/>
                  <a:gd name="connsiteX4" fmla="*/ 8939 w 8938"/>
                  <a:gd name="connsiteY4" fmla="*/ 0 h 8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8" h="8044">
                    <a:moveTo>
                      <a:pt x="8939" y="0"/>
                    </a:moveTo>
                    <a:lnTo>
                      <a:pt x="0" y="0"/>
                    </a:lnTo>
                    <a:lnTo>
                      <a:pt x="0" y="8044"/>
                    </a:lnTo>
                    <a:lnTo>
                      <a:pt x="8939" y="8044"/>
                    </a:lnTo>
                    <a:lnTo>
                      <a:pt x="8939" y="0"/>
                    </a:lnTo>
                    <a:close/>
                  </a:path>
                </a:pathLst>
              </a:custGeom>
              <a:solidFill>
                <a:srgbClr val="2D5967"/>
              </a:solidFill>
              <a:ln w="6417" cap="flat">
                <a:noFill/>
                <a:prstDash val="solid"/>
                <a:miter/>
              </a:ln>
            </p:spPr>
            <p:txBody>
              <a:bodyPr rtlCol="0" anchor="ctr"/>
              <a:lstStyle/>
              <a:p>
                <a:endParaRPr lang="en-US" sz="810"/>
              </a:p>
            </p:txBody>
          </p:sp>
          <p:sp>
            <p:nvSpPr>
              <p:cNvPr id="1185" name="Freeform: Shape 243">
                <a:extLst>
                  <a:ext uri="{FF2B5EF4-FFF2-40B4-BE49-F238E27FC236}">
                    <a16:creationId xmlns:a16="http://schemas.microsoft.com/office/drawing/2014/main" id="{D31BC001-0834-D13E-C987-779BC13B1387}"/>
                  </a:ext>
                </a:extLst>
              </p:cNvPr>
              <p:cNvSpPr/>
              <p:nvPr/>
            </p:nvSpPr>
            <p:spPr>
              <a:xfrm>
                <a:off x="1726047" y="1599860"/>
                <a:ext cx="36646" cy="40236"/>
              </a:xfrm>
              <a:custGeom>
                <a:avLst/>
                <a:gdLst>
                  <a:gd name="connsiteX0" fmla="*/ 8939 w 36646"/>
                  <a:gd name="connsiteY0" fmla="*/ 40237 h 40236"/>
                  <a:gd name="connsiteX1" fmla="*/ 17877 w 36646"/>
                  <a:gd name="connsiteY1" fmla="*/ 25037 h 40236"/>
                  <a:gd name="connsiteX2" fmla="*/ 26816 w 36646"/>
                  <a:gd name="connsiteY2" fmla="*/ 40237 h 40236"/>
                  <a:gd name="connsiteX3" fmla="*/ 36647 w 36646"/>
                  <a:gd name="connsiteY3" fmla="*/ 40237 h 40236"/>
                  <a:gd name="connsiteX4" fmla="*/ 24134 w 36646"/>
                  <a:gd name="connsiteY4" fmla="*/ 19671 h 40236"/>
                  <a:gd name="connsiteX5" fmla="*/ 35755 w 36646"/>
                  <a:gd name="connsiteY5" fmla="*/ 0 h 40236"/>
                  <a:gd name="connsiteX6" fmla="*/ 25924 w 36646"/>
                  <a:gd name="connsiteY6" fmla="*/ 0 h 40236"/>
                  <a:gd name="connsiteX7" fmla="*/ 17877 w 36646"/>
                  <a:gd name="connsiteY7" fmla="*/ 14307 h 40236"/>
                  <a:gd name="connsiteX8" fmla="*/ 9831 w 36646"/>
                  <a:gd name="connsiteY8" fmla="*/ 0 h 40236"/>
                  <a:gd name="connsiteX9" fmla="*/ 0 w 36646"/>
                  <a:gd name="connsiteY9" fmla="*/ 0 h 40236"/>
                  <a:gd name="connsiteX10" fmla="*/ 11621 w 36646"/>
                  <a:gd name="connsiteY10" fmla="*/ 19671 h 40236"/>
                  <a:gd name="connsiteX11" fmla="*/ 0 w 36646"/>
                  <a:gd name="connsiteY11" fmla="*/ 40237 h 40236"/>
                  <a:gd name="connsiteX12" fmla="*/ 8939 w 36646"/>
                  <a:gd name="connsiteY12" fmla="*/ 40237 h 4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646" h="40236">
                    <a:moveTo>
                      <a:pt x="8939" y="40237"/>
                    </a:moveTo>
                    <a:lnTo>
                      <a:pt x="17877" y="25037"/>
                    </a:lnTo>
                    <a:lnTo>
                      <a:pt x="26816" y="40237"/>
                    </a:lnTo>
                    <a:lnTo>
                      <a:pt x="36647" y="40237"/>
                    </a:lnTo>
                    <a:lnTo>
                      <a:pt x="24134" y="19671"/>
                    </a:lnTo>
                    <a:lnTo>
                      <a:pt x="35755" y="0"/>
                    </a:lnTo>
                    <a:lnTo>
                      <a:pt x="25924" y="0"/>
                    </a:lnTo>
                    <a:lnTo>
                      <a:pt x="17877" y="14307"/>
                    </a:lnTo>
                    <a:lnTo>
                      <a:pt x="9831" y="0"/>
                    </a:lnTo>
                    <a:lnTo>
                      <a:pt x="0" y="0"/>
                    </a:lnTo>
                    <a:lnTo>
                      <a:pt x="11621" y="19671"/>
                    </a:lnTo>
                    <a:lnTo>
                      <a:pt x="0" y="40237"/>
                    </a:lnTo>
                    <a:lnTo>
                      <a:pt x="8939" y="40237"/>
                    </a:lnTo>
                    <a:close/>
                  </a:path>
                </a:pathLst>
              </a:custGeom>
              <a:solidFill>
                <a:srgbClr val="2D5967"/>
              </a:solidFill>
              <a:ln w="6417" cap="flat">
                <a:noFill/>
                <a:prstDash val="solid"/>
                <a:miter/>
              </a:ln>
            </p:spPr>
            <p:txBody>
              <a:bodyPr rtlCol="0" anchor="ctr"/>
              <a:lstStyle/>
              <a:p>
                <a:endParaRPr lang="en-US" sz="810"/>
              </a:p>
            </p:txBody>
          </p:sp>
          <p:sp>
            <p:nvSpPr>
              <p:cNvPr id="1186" name="Freeform: Shape 249">
                <a:extLst>
                  <a:ext uri="{FF2B5EF4-FFF2-40B4-BE49-F238E27FC236}">
                    <a16:creationId xmlns:a16="http://schemas.microsoft.com/office/drawing/2014/main" id="{97AAD775-F9BA-54E7-9807-925AECFD8570}"/>
                  </a:ext>
                </a:extLst>
              </p:cNvPr>
              <p:cNvSpPr/>
              <p:nvPr/>
            </p:nvSpPr>
            <p:spPr>
              <a:xfrm>
                <a:off x="1772530" y="1598952"/>
                <a:ext cx="35754" cy="41131"/>
              </a:xfrm>
              <a:custGeom>
                <a:avLst/>
                <a:gdLst>
                  <a:gd name="connsiteX0" fmla="*/ 18769 w 35754"/>
                  <a:gd name="connsiteY0" fmla="*/ 0 h 41131"/>
                  <a:gd name="connsiteX1" fmla="*/ 5364 w 35754"/>
                  <a:gd name="connsiteY1" fmla="*/ 5365 h 41131"/>
                  <a:gd name="connsiteX2" fmla="*/ 0 w 35754"/>
                  <a:gd name="connsiteY2" fmla="*/ 20566 h 41131"/>
                  <a:gd name="connsiteX3" fmla="*/ 4466 w 35754"/>
                  <a:gd name="connsiteY3" fmla="*/ 35766 h 41131"/>
                  <a:gd name="connsiteX4" fmla="*/ 17877 w 35754"/>
                  <a:gd name="connsiteY4" fmla="*/ 41131 h 41131"/>
                  <a:gd name="connsiteX5" fmla="*/ 31282 w 35754"/>
                  <a:gd name="connsiteY5" fmla="*/ 35766 h 41131"/>
                  <a:gd name="connsiteX6" fmla="*/ 35755 w 35754"/>
                  <a:gd name="connsiteY6" fmla="*/ 20566 h 41131"/>
                  <a:gd name="connsiteX7" fmla="*/ 31282 w 35754"/>
                  <a:gd name="connsiteY7" fmla="*/ 5365 h 41131"/>
                  <a:gd name="connsiteX8" fmla="*/ 18769 w 35754"/>
                  <a:gd name="connsiteY8" fmla="*/ 0 h 41131"/>
                  <a:gd name="connsiteX9" fmla="*/ 26816 w 35754"/>
                  <a:gd name="connsiteY9" fmla="*/ 31296 h 41131"/>
                  <a:gd name="connsiteX10" fmla="*/ 19661 w 35754"/>
                  <a:gd name="connsiteY10" fmla="*/ 34872 h 41131"/>
                  <a:gd name="connsiteX11" fmla="*/ 11621 w 35754"/>
                  <a:gd name="connsiteY11" fmla="*/ 31296 h 41131"/>
                  <a:gd name="connsiteX12" fmla="*/ 8939 w 35754"/>
                  <a:gd name="connsiteY12" fmla="*/ 21460 h 41131"/>
                  <a:gd name="connsiteX13" fmla="*/ 11621 w 35754"/>
                  <a:gd name="connsiteY13" fmla="*/ 11624 h 41131"/>
                  <a:gd name="connsiteX14" fmla="*/ 18769 w 35754"/>
                  <a:gd name="connsiteY14" fmla="*/ 8047 h 41131"/>
                  <a:gd name="connsiteX15" fmla="*/ 25918 w 35754"/>
                  <a:gd name="connsiteY15" fmla="*/ 11624 h 41131"/>
                  <a:gd name="connsiteX16" fmla="*/ 28600 w 35754"/>
                  <a:gd name="connsiteY16" fmla="*/ 21460 h 41131"/>
                  <a:gd name="connsiteX17" fmla="*/ 26816 w 35754"/>
                  <a:gd name="connsiteY17" fmla="*/ 31296 h 4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754" h="41131">
                    <a:moveTo>
                      <a:pt x="18769" y="0"/>
                    </a:moveTo>
                    <a:cubicBezTo>
                      <a:pt x="12513" y="0"/>
                      <a:pt x="8047" y="1788"/>
                      <a:pt x="5364" y="5365"/>
                    </a:cubicBezTo>
                    <a:cubicBezTo>
                      <a:pt x="1790" y="8942"/>
                      <a:pt x="0" y="14306"/>
                      <a:pt x="0" y="20566"/>
                    </a:cubicBezTo>
                    <a:cubicBezTo>
                      <a:pt x="0" y="26825"/>
                      <a:pt x="1790" y="32189"/>
                      <a:pt x="4466" y="35766"/>
                    </a:cubicBezTo>
                    <a:cubicBezTo>
                      <a:pt x="8047" y="39343"/>
                      <a:pt x="12513" y="41131"/>
                      <a:pt x="17877" y="41131"/>
                    </a:cubicBezTo>
                    <a:cubicBezTo>
                      <a:pt x="24134" y="41131"/>
                      <a:pt x="28600" y="39343"/>
                      <a:pt x="31282" y="35766"/>
                    </a:cubicBezTo>
                    <a:cubicBezTo>
                      <a:pt x="34856" y="32189"/>
                      <a:pt x="35755" y="26825"/>
                      <a:pt x="35755" y="20566"/>
                    </a:cubicBezTo>
                    <a:cubicBezTo>
                      <a:pt x="35755" y="14306"/>
                      <a:pt x="33964" y="8942"/>
                      <a:pt x="31282" y="5365"/>
                    </a:cubicBezTo>
                    <a:cubicBezTo>
                      <a:pt x="29498" y="1788"/>
                      <a:pt x="25026" y="0"/>
                      <a:pt x="18769" y="0"/>
                    </a:cubicBezTo>
                    <a:close/>
                    <a:moveTo>
                      <a:pt x="26816" y="31296"/>
                    </a:moveTo>
                    <a:cubicBezTo>
                      <a:pt x="25026" y="33978"/>
                      <a:pt x="22343" y="34872"/>
                      <a:pt x="19661" y="34872"/>
                    </a:cubicBezTo>
                    <a:cubicBezTo>
                      <a:pt x="16979" y="34872"/>
                      <a:pt x="13405" y="33084"/>
                      <a:pt x="11621" y="31296"/>
                    </a:cubicBezTo>
                    <a:cubicBezTo>
                      <a:pt x="9830" y="29507"/>
                      <a:pt x="8939" y="25930"/>
                      <a:pt x="8939" y="21460"/>
                    </a:cubicBezTo>
                    <a:cubicBezTo>
                      <a:pt x="8939" y="16989"/>
                      <a:pt x="9830" y="13413"/>
                      <a:pt x="11621" y="11624"/>
                    </a:cubicBezTo>
                    <a:cubicBezTo>
                      <a:pt x="13405" y="8942"/>
                      <a:pt x="16087" y="8047"/>
                      <a:pt x="18769" y="8047"/>
                    </a:cubicBezTo>
                    <a:cubicBezTo>
                      <a:pt x="21451" y="8047"/>
                      <a:pt x="24134" y="8942"/>
                      <a:pt x="25918" y="11624"/>
                    </a:cubicBezTo>
                    <a:cubicBezTo>
                      <a:pt x="27708" y="14306"/>
                      <a:pt x="28600" y="16989"/>
                      <a:pt x="28600" y="21460"/>
                    </a:cubicBezTo>
                    <a:cubicBezTo>
                      <a:pt x="28600" y="25037"/>
                      <a:pt x="27708" y="28613"/>
                      <a:pt x="26816" y="31296"/>
                    </a:cubicBezTo>
                    <a:close/>
                  </a:path>
                </a:pathLst>
              </a:custGeom>
              <a:solidFill>
                <a:srgbClr val="2D5967"/>
              </a:solidFill>
              <a:ln w="6417" cap="flat">
                <a:noFill/>
                <a:prstDash val="solid"/>
                <a:miter/>
              </a:ln>
            </p:spPr>
            <p:txBody>
              <a:bodyPr rtlCol="0" anchor="ctr"/>
              <a:lstStyle/>
              <a:p>
                <a:endParaRPr lang="en-US" sz="810"/>
              </a:p>
            </p:txBody>
          </p:sp>
          <p:sp>
            <p:nvSpPr>
              <p:cNvPr id="1187" name="Freeform: Shape 274">
                <a:extLst>
                  <a:ext uri="{FF2B5EF4-FFF2-40B4-BE49-F238E27FC236}">
                    <a16:creationId xmlns:a16="http://schemas.microsoft.com/office/drawing/2014/main" id="{9B3D5C02-9527-440B-8D1C-A6DB1953108D}"/>
                  </a:ext>
                </a:extLst>
              </p:cNvPr>
              <p:cNvSpPr/>
              <p:nvPr/>
            </p:nvSpPr>
            <p:spPr>
              <a:xfrm>
                <a:off x="1820804" y="1599860"/>
                <a:ext cx="35754" cy="40236"/>
              </a:xfrm>
              <a:custGeom>
                <a:avLst/>
                <a:gdLst>
                  <a:gd name="connsiteX0" fmla="*/ 35755 w 35754"/>
                  <a:gd name="connsiteY0" fmla="*/ 0 h 40236"/>
                  <a:gd name="connsiteX1" fmla="*/ 25924 w 35754"/>
                  <a:gd name="connsiteY1" fmla="*/ 0 h 40236"/>
                  <a:gd name="connsiteX2" fmla="*/ 17877 w 35754"/>
                  <a:gd name="connsiteY2" fmla="*/ 13412 h 40236"/>
                  <a:gd name="connsiteX3" fmla="*/ 9837 w 35754"/>
                  <a:gd name="connsiteY3" fmla="*/ 0 h 40236"/>
                  <a:gd name="connsiteX4" fmla="*/ 0 w 35754"/>
                  <a:gd name="connsiteY4" fmla="*/ 0 h 40236"/>
                  <a:gd name="connsiteX5" fmla="*/ 11621 w 35754"/>
                  <a:gd name="connsiteY5" fmla="*/ 19671 h 40236"/>
                  <a:gd name="connsiteX6" fmla="*/ 0 w 35754"/>
                  <a:gd name="connsiteY6" fmla="*/ 40237 h 40236"/>
                  <a:gd name="connsiteX7" fmla="*/ 8939 w 35754"/>
                  <a:gd name="connsiteY7" fmla="*/ 40237 h 40236"/>
                  <a:gd name="connsiteX8" fmla="*/ 9837 w 35754"/>
                  <a:gd name="connsiteY8" fmla="*/ 39343 h 40236"/>
                  <a:gd name="connsiteX9" fmla="*/ 17877 w 35754"/>
                  <a:gd name="connsiteY9" fmla="*/ 25037 h 40236"/>
                  <a:gd name="connsiteX10" fmla="*/ 22350 w 35754"/>
                  <a:gd name="connsiteY10" fmla="*/ 32189 h 40236"/>
                  <a:gd name="connsiteX11" fmla="*/ 30390 w 35754"/>
                  <a:gd name="connsiteY11" fmla="*/ 28613 h 40236"/>
                  <a:gd name="connsiteX12" fmla="*/ 25032 w 35754"/>
                  <a:gd name="connsiteY12" fmla="*/ 18778 h 40236"/>
                  <a:gd name="connsiteX13" fmla="*/ 35755 w 35754"/>
                  <a:gd name="connsiteY13" fmla="*/ 0 h 4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754" h="40236">
                    <a:moveTo>
                      <a:pt x="35755" y="0"/>
                    </a:moveTo>
                    <a:lnTo>
                      <a:pt x="25924" y="0"/>
                    </a:lnTo>
                    <a:lnTo>
                      <a:pt x="17877" y="13412"/>
                    </a:lnTo>
                    <a:lnTo>
                      <a:pt x="9837" y="0"/>
                    </a:lnTo>
                    <a:lnTo>
                      <a:pt x="0" y="0"/>
                    </a:lnTo>
                    <a:lnTo>
                      <a:pt x="11621" y="19671"/>
                    </a:lnTo>
                    <a:lnTo>
                      <a:pt x="0" y="40237"/>
                    </a:lnTo>
                    <a:lnTo>
                      <a:pt x="8939" y="40237"/>
                    </a:lnTo>
                    <a:cubicBezTo>
                      <a:pt x="8939" y="40237"/>
                      <a:pt x="9837" y="40237"/>
                      <a:pt x="9837" y="39343"/>
                    </a:cubicBezTo>
                    <a:lnTo>
                      <a:pt x="17877" y="25037"/>
                    </a:lnTo>
                    <a:lnTo>
                      <a:pt x="22350" y="32189"/>
                    </a:lnTo>
                    <a:cubicBezTo>
                      <a:pt x="25032" y="31296"/>
                      <a:pt x="27708" y="29507"/>
                      <a:pt x="30390" y="28613"/>
                    </a:cubicBezTo>
                    <a:lnTo>
                      <a:pt x="25032" y="18778"/>
                    </a:lnTo>
                    <a:lnTo>
                      <a:pt x="35755" y="0"/>
                    </a:lnTo>
                    <a:close/>
                  </a:path>
                </a:pathLst>
              </a:custGeom>
              <a:solidFill>
                <a:srgbClr val="2D5967"/>
              </a:solidFill>
              <a:ln w="6417" cap="flat">
                <a:noFill/>
                <a:prstDash val="solid"/>
                <a:miter/>
              </a:ln>
            </p:spPr>
            <p:txBody>
              <a:bodyPr rtlCol="0" anchor="ctr"/>
              <a:lstStyle/>
              <a:p>
                <a:endParaRPr lang="en-US" sz="810"/>
              </a:p>
            </p:txBody>
          </p:sp>
          <p:sp>
            <p:nvSpPr>
              <p:cNvPr id="1188" name="Freeform: Shape 276">
                <a:extLst>
                  <a:ext uri="{FF2B5EF4-FFF2-40B4-BE49-F238E27FC236}">
                    <a16:creationId xmlns:a16="http://schemas.microsoft.com/office/drawing/2014/main" id="{D04EEF60-69CF-AEE8-F955-A2508E153801}"/>
                  </a:ext>
                </a:extLst>
              </p:cNvPr>
              <p:cNvSpPr/>
              <p:nvPr/>
            </p:nvSpPr>
            <p:spPr>
              <a:xfrm>
                <a:off x="1869065" y="1598952"/>
                <a:ext cx="36646" cy="24133"/>
              </a:xfrm>
              <a:custGeom>
                <a:avLst/>
                <a:gdLst>
                  <a:gd name="connsiteX0" fmla="*/ 31282 w 36646"/>
                  <a:gd name="connsiteY0" fmla="*/ 5363 h 24133"/>
                  <a:gd name="connsiteX1" fmla="*/ 17871 w 36646"/>
                  <a:gd name="connsiteY1" fmla="*/ 0 h 24133"/>
                  <a:gd name="connsiteX2" fmla="*/ 4466 w 36646"/>
                  <a:gd name="connsiteY2" fmla="*/ 5363 h 24133"/>
                  <a:gd name="connsiteX3" fmla="*/ 0 w 36646"/>
                  <a:gd name="connsiteY3" fmla="*/ 20558 h 24133"/>
                  <a:gd name="connsiteX4" fmla="*/ 0 w 36646"/>
                  <a:gd name="connsiteY4" fmla="*/ 24133 h 24133"/>
                  <a:gd name="connsiteX5" fmla="*/ 8040 w 36646"/>
                  <a:gd name="connsiteY5" fmla="*/ 23239 h 24133"/>
                  <a:gd name="connsiteX6" fmla="*/ 8040 w 36646"/>
                  <a:gd name="connsiteY6" fmla="*/ 21452 h 24133"/>
                  <a:gd name="connsiteX7" fmla="*/ 10722 w 36646"/>
                  <a:gd name="connsiteY7" fmla="*/ 11620 h 24133"/>
                  <a:gd name="connsiteX8" fmla="*/ 17871 w 36646"/>
                  <a:gd name="connsiteY8" fmla="*/ 8045 h 24133"/>
                  <a:gd name="connsiteX9" fmla="*/ 25026 w 36646"/>
                  <a:gd name="connsiteY9" fmla="*/ 11620 h 24133"/>
                  <a:gd name="connsiteX10" fmla="*/ 27708 w 36646"/>
                  <a:gd name="connsiteY10" fmla="*/ 21452 h 24133"/>
                  <a:gd name="connsiteX11" fmla="*/ 27708 w 36646"/>
                  <a:gd name="connsiteY11" fmla="*/ 22345 h 24133"/>
                  <a:gd name="connsiteX12" fmla="*/ 36647 w 36646"/>
                  <a:gd name="connsiteY12" fmla="*/ 22345 h 24133"/>
                  <a:gd name="connsiteX13" fmla="*/ 36647 w 36646"/>
                  <a:gd name="connsiteY13" fmla="*/ 21452 h 24133"/>
                  <a:gd name="connsiteX14" fmla="*/ 31282 w 36646"/>
                  <a:gd name="connsiteY14" fmla="*/ 5363 h 2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646" h="24133">
                    <a:moveTo>
                      <a:pt x="31282" y="5363"/>
                    </a:moveTo>
                    <a:cubicBezTo>
                      <a:pt x="27708" y="1788"/>
                      <a:pt x="23235" y="0"/>
                      <a:pt x="17871" y="0"/>
                    </a:cubicBezTo>
                    <a:cubicBezTo>
                      <a:pt x="11614" y="0"/>
                      <a:pt x="7148" y="1788"/>
                      <a:pt x="4466" y="5363"/>
                    </a:cubicBezTo>
                    <a:cubicBezTo>
                      <a:pt x="892" y="8939"/>
                      <a:pt x="0" y="14301"/>
                      <a:pt x="0" y="20558"/>
                    </a:cubicBezTo>
                    <a:cubicBezTo>
                      <a:pt x="0" y="22345"/>
                      <a:pt x="0" y="23239"/>
                      <a:pt x="0" y="24133"/>
                    </a:cubicBezTo>
                    <a:cubicBezTo>
                      <a:pt x="1784" y="24133"/>
                      <a:pt x="4466" y="23239"/>
                      <a:pt x="8040" y="23239"/>
                    </a:cubicBezTo>
                    <a:cubicBezTo>
                      <a:pt x="8040" y="22345"/>
                      <a:pt x="8040" y="21452"/>
                      <a:pt x="8040" y="21452"/>
                    </a:cubicBezTo>
                    <a:cubicBezTo>
                      <a:pt x="8040" y="16983"/>
                      <a:pt x="8939" y="13407"/>
                      <a:pt x="10722" y="11620"/>
                    </a:cubicBezTo>
                    <a:cubicBezTo>
                      <a:pt x="12513" y="8939"/>
                      <a:pt x="15195" y="8045"/>
                      <a:pt x="17871" y="8045"/>
                    </a:cubicBezTo>
                    <a:cubicBezTo>
                      <a:pt x="20553" y="8045"/>
                      <a:pt x="23235" y="8939"/>
                      <a:pt x="25026" y="11620"/>
                    </a:cubicBezTo>
                    <a:cubicBezTo>
                      <a:pt x="26809" y="14301"/>
                      <a:pt x="27708" y="16983"/>
                      <a:pt x="27708" y="21452"/>
                    </a:cubicBezTo>
                    <a:lnTo>
                      <a:pt x="27708" y="22345"/>
                    </a:lnTo>
                    <a:cubicBezTo>
                      <a:pt x="30390" y="22345"/>
                      <a:pt x="33964" y="22345"/>
                      <a:pt x="36647" y="22345"/>
                    </a:cubicBezTo>
                    <a:lnTo>
                      <a:pt x="36647" y="21452"/>
                    </a:lnTo>
                    <a:cubicBezTo>
                      <a:pt x="35748" y="14301"/>
                      <a:pt x="34856" y="8939"/>
                      <a:pt x="31282" y="5363"/>
                    </a:cubicBezTo>
                    <a:close/>
                  </a:path>
                </a:pathLst>
              </a:custGeom>
              <a:solidFill>
                <a:srgbClr val="2D5967"/>
              </a:solidFill>
              <a:ln w="6417" cap="flat">
                <a:noFill/>
                <a:prstDash val="solid"/>
                <a:miter/>
              </a:ln>
            </p:spPr>
            <p:txBody>
              <a:bodyPr rtlCol="0" anchor="ctr"/>
              <a:lstStyle/>
              <a:p>
                <a:endParaRPr lang="en-US" sz="810"/>
              </a:p>
            </p:txBody>
          </p:sp>
          <p:sp>
            <p:nvSpPr>
              <p:cNvPr id="1189" name="Freeform: Shape 511">
                <a:extLst>
                  <a:ext uri="{FF2B5EF4-FFF2-40B4-BE49-F238E27FC236}">
                    <a16:creationId xmlns:a16="http://schemas.microsoft.com/office/drawing/2014/main" id="{E1A20A9B-7CFF-C0B4-5D6A-40873A1B3A42}"/>
                  </a:ext>
                </a:extLst>
              </p:cNvPr>
              <p:cNvSpPr/>
              <p:nvPr/>
            </p:nvSpPr>
            <p:spPr>
              <a:xfrm>
                <a:off x="1916441" y="1599860"/>
                <a:ext cx="35754" cy="33083"/>
              </a:xfrm>
              <a:custGeom>
                <a:avLst/>
                <a:gdLst>
                  <a:gd name="connsiteX0" fmla="*/ 35755 w 35754"/>
                  <a:gd name="connsiteY0" fmla="*/ 0 h 33083"/>
                  <a:gd name="connsiteX1" fmla="*/ 25924 w 35754"/>
                  <a:gd name="connsiteY1" fmla="*/ 0 h 33083"/>
                  <a:gd name="connsiteX2" fmla="*/ 17877 w 35754"/>
                  <a:gd name="connsiteY2" fmla="*/ 13412 h 33083"/>
                  <a:gd name="connsiteX3" fmla="*/ 9837 w 35754"/>
                  <a:gd name="connsiteY3" fmla="*/ 0 h 33083"/>
                  <a:gd name="connsiteX4" fmla="*/ 0 w 35754"/>
                  <a:gd name="connsiteY4" fmla="*/ 0 h 33083"/>
                  <a:gd name="connsiteX5" fmla="*/ 11621 w 35754"/>
                  <a:gd name="connsiteY5" fmla="*/ 19671 h 33083"/>
                  <a:gd name="connsiteX6" fmla="*/ 8939 w 35754"/>
                  <a:gd name="connsiteY6" fmla="*/ 25037 h 33083"/>
                  <a:gd name="connsiteX7" fmla="*/ 16985 w 35754"/>
                  <a:gd name="connsiteY7" fmla="*/ 26825 h 33083"/>
                  <a:gd name="connsiteX8" fmla="*/ 17877 w 35754"/>
                  <a:gd name="connsiteY8" fmla="*/ 25037 h 33083"/>
                  <a:gd name="connsiteX9" fmla="*/ 19668 w 35754"/>
                  <a:gd name="connsiteY9" fmla="*/ 27719 h 33083"/>
                  <a:gd name="connsiteX10" fmla="*/ 32180 w 35754"/>
                  <a:gd name="connsiteY10" fmla="*/ 33084 h 33083"/>
                  <a:gd name="connsiteX11" fmla="*/ 24134 w 35754"/>
                  <a:gd name="connsiteY11" fmla="*/ 19671 h 33083"/>
                  <a:gd name="connsiteX12" fmla="*/ 35755 w 35754"/>
                  <a:gd name="connsiteY12" fmla="*/ 0 h 33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54" h="33083">
                    <a:moveTo>
                      <a:pt x="35755" y="0"/>
                    </a:moveTo>
                    <a:lnTo>
                      <a:pt x="25924" y="0"/>
                    </a:lnTo>
                    <a:lnTo>
                      <a:pt x="17877" y="13412"/>
                    </a:lnTo>
                    <a:lnTo>
                      <a:pt x="9837" y="0"/>
                    </a:lnTo>
                    <a:lnTo>
                      <a:pt x="0" y="0"/>
                    </a:lnTo>
                    <a:lnTo>
                      <a:pt x="11621" y="19671"/>
                    </a:lnTo>
                    <a:lnTo>
                      <a:pt x="8939" y="25037"/>
                    </a:lnTo>
                    <a:cubicBezTo>
                      <a:pt x="11621" y="25930"/>
                      <a:pt x="14303" y="26825"/>
                      <a:pt x="16985" y="26825"/>
                    </a:cubicBezTo>
                    <a:lnTo>
                      <a:pt x="17877" y="25037"/>
                    </a:lnTo>
                    <a:lnTo>
                      <a:pt x="19668" y="27719"/>
                    </a:lnTo>
                    <a:cubicBezTo>
                      <a:pt x="24134" y="29507"/>
                      <a:pt x="28606" y="31296"/>
                      <a:pt x="32180" y="33084"/>
                    </a:cubicBezTo>
                    <a:lnTo>
                      <a:pt x="24134" y="19671"/>
                    </a:lnTo>
                    <a:lnTo>
                      <a:pt x="35755" y="0"/>
                    </a:lnTo>
                    <a:close/>
                  </a:path>
                </a:pathLst>
              </a:custGeom>
              <a:solidFill>
                <a:srgbClr val="2D5967"/>
              </a:solidFill>
              <a:ln w="6417" cap="flat">
                <a:noFill/>
                <a:prstDash val="solid"/>
                <a:miter/>
              </a:ln>
            </p:spPr>
            <p:txBody>
              <a:bodyPr rtlCol="0" anchor="ctr"/>
              <a:lstStyle/>
              <a:p>
                <a:endParaRPr lang="en-US" sz="810"/>
              </a:p>
            </p:txBody>
          </p:sp>
          <p:sp>
            <p:nvSpPr>
              <p:cNvPr id="1190" name="Freeform: Shape 512">
                <a:extLst>
                  <a:ext uri="{FF2B5EF4-FFF2-40B4-BE49-F238E27FC236}">
                    <a16:creationId xmlns:a16="http://schemas.microsoft.com/office/drawing/2014/main" id="{8879BDAA-E8EA-0459-0321-8CB772E110E5}"/>
                  </a:ext>
                </a:extLst>
              </p:cNvPr>
              <p:cNvSpPr/>
              <p:nvPr/>
            </p:nvSpPr>
            <p:spPr>
              <a:xfrm>
                <a:off x="1669745" y="1672289"/>
                <a:ext cx="25025" cy="39342"/>
              </a:xfrm>
              <a:custGeom>
                <a:avLst/>
                <a:gdLst>
                  <a:gd name="connsiteX0" fmla="*/ 15195 w 25025"/>
                  <a:gd name="connsiteY0" fmla="*/ 26824 h 39342"/>
                  <a:gd name="connsiteX1" fmla="*/ 20553 w 25025"/>
                  <a:gd name="connsiteY1" fmla="*/ 20565 h 39342"/>
                  <a:gd name="connsiteX2" fmla="*/ 23235 w 25025"/>
                  <a:gd name="connsiteY2" fmla="*/ 15200 h 39342"/>
                  <a:gd name="connsiteX3" fmla="*/ 25026 w 25025"/>
                  <a:gd name="connsiteY3" fmla="*/ 10730 h 39342"/>
                  <a:gd name="connsiteX4" fmla="*/ 21451 w 25025"/>
                  <a:gd name="connsiteY4" fmla="*/ 2682 h 39342"/>
                  <a:gd name="connsiteX5" fmla="*/ 11614 w 25025"/>
                  <a:gd name="connsiteY5" fmla="*/ 0 h 39342"/>
                  <a:gd name="connsiteX6" fmla="*/ 5358 w 25025"/>
                  <a:gd name="connsiteY6" fmla="*/ 894 h 39342"/>
                  <a:gd name="connsiteX7" fmla="*/ 0 w 25025"/>
                  <a:gd name="connsiteY7" fmla="*/ 2682 h 39342"/>
                  <a:gd name="connsiteX8" fmla="*/ 0 w 25025"/>
                  <a:gd name="connsiteY8" fmla="*/ 9835 h 39342"/>
                  <a:gd name="connsiteX9" fmla="*/ 9831 w 25025"/>
                  <a:gd name="connsiteY9" fmla="*/ 7153 h 39342"/>
                  <a:gd name="connsiteX10" fmla="*/ 16087 w 25025"/>
                  <a:gd name="connsiteY10" fmla="*/ 12518 h 39342"/>
                  <a:gd name="connsiteX11" fmla="*/ 16087 w 25025"/>
                  <a:gd name="connsiteY11" fmla="*/ 14306 h 39342"/>
                  <a:gd name="connsiteX12" fmla="*/ 14297 w 25025"/>
                  <a:gd name="connsiteY12" fmla="*/ 17882 h 39342"/>
                  <a:gd name="connsiteX13" fmla="*/ 9831 w 25025"/>
                  <a:gd name="connsiteY13" fmla="*/ 23248 h 39342"/>
                  <a:gd name="connsiteX14" fmla="*/ 0 w 25025"/>
                  <a:gd name="connsiteY14" fmla="*/ 33977 h 39342"/>
                  <a:gd name="connsiteX15" fmla="*/ 0 w 25025"/>
                  <a:gd name="connsiteY15" fmla="*/ 39342 h 39342"/>
                  <a:gd name="connsiteX16" fmla="*/ 25026 w 25025"/>
                  <a:gd name="connsiteY16" fmla="*/ 39342 h 39342"/>
                  <a:gd name="connsiteX17" fmla="*/ 25026 w 25025"/>
                  <a:gd name="connsiteY17" fmla="*/ 32189 h 39342"/>
                  <a:gd name="connsiteX18" fmla="*/ 9831 w 25025"/>
                  <a:gd name="connsiteY18" fmla="*/ 32189 h 39342"/>
                  <a:gd name="connsiteX19" fmla="*/ 15195 w 25025"/>
                  <a:gd name="connsiteY19" fmla="*/ 26824 h 39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025" h="39342">
                    <a:moveTo>
                      <a:pt x="15195" y="26824"/>
                    </a:moveTo>
                    <a:cubicBezTo>
                      <a:pt x="16979" y="24141"/>
                      <a:pt x="18769" y="22354"/>
                      <a:pt x="20553" y="20565"/>
                    </a:cubicBezTo>
                    <a:cubicBezTo>
                      <a:pt x="22343" y="18777"/>
                      <a:pt x="23235" y="16989"/>
                      <a:pt x="23235" y="15200"/>
                    </a:cubicBezTo>
                    <a:cubicBezTo>
                      <a:pt x="24134" y="13412"/>
                      <a:pt x="25026" y="12518"/>
                      <a:pt x="25026" y="10730"/>
                    </a:cubicBezTo>
                    <a:cubicBezTo>
                      <a:pt x="25026" y="7153"/>
                      <a:pt x="24134" y="4471"/>
                      <a:pt x="21451" y="2682"/>
                    </a:cubicBezTo>
                    <a:cubicBezTo>
                      <a:pt x="18769" y="894"/>
                      <a:pt x="16087" y="0"/>
                      <a:pt x="11614" y="0"/>
                    </a:cubicBezTo>
                    <a:cubicBezTo>
                      <a:pt x="9831" y="0"/>
                      <a:pt x="8040" y="0"/>
                      <a:pt x="5358" y="894"/>
                    </a:cubicBezTo>
                    <a:cubicBezTo>
                      <a:pt x="3574" y="1788"/>
                      <a:pt x="1784" y="1788"/>
                      <a:pt x="0" y="2682"/>
                    </a:cubicBezTo>
                    <a:lnTo>
                      <a:pt x="0" y="9835"/>
                    </a:lnTo>
                    <a:cubicBezTo>
                      <a:pt x="3574" y="8047"/>
                      <a:pt x="7148" y="7153"/>
                      <a:pt x="9831" y="7153"/>
                    </a:cubicBezTo>
                    <a:cubicBezTo>
                      <a:pt x="14297" y="7153"/>
                      <a:pt x="16087" y="8941"/>
                      <a:pt x="16087" y="12518"/>
                    </a:cubicBezTo>
                    <a:cubicBezTo>
                      <a:pt x="16087" y="12518"/>
                      <a:pt x="16087" y="13412"/>
                      <a:pt x="16087" y="14306"/>
                    </a:cubicBezTo>
                    <a:cubicBezTo>
                      <a:pt x="16087" y="15200"/>
                      <a:pt x="15195" y="16094"/>
                      <a:pt x="14297" y="17882"/>
                    </a:cubicBezTo>
                    <a:cubicBezTo>
                      <a:pt x="13405" y="18777"/>
                      <a:pt x="11614" y="20565"/>
                      <a:pt x="9831" y="23248"/>
                    </a:cubicBezTo>
                    <a:lnTo>
                      <a:pt x="0" y="33977"/>
                    </a:lnTo>
                    <a:lnTo>
                      <a:pt x="0" y="39342"/>
                    </a:lnTo>
                    <a:lnTo>
                      <a:pt x="25026" y="39342"/>
                    </a:lnTo>
                    <a:lnTo>
                      <a:pt x="25026" y="32189"/>
                    </a:lnTo>
                    <a:lnTo>
                      <a:pt x="9831" y="32189"/>
                    </a:lnTo>
                    <a:lnTo>
                      <a:pt x="15195" y="26824"/>
                    </a:lnTo>
                    <a:close/>
                  </a:path>
                </a:pathLst>
              </a:custGeom>
              <a:solidFill>
                <a:srgbClr val="2D5967"/>
              </a:solidFill>
              <a:ln w="6417" cap="flat">
                <a:noFill/>
                <a:prstDash val="solid"/>
                <a:miter/>
              </a:ln>
            </p:spPr>
            <p:txBody>
              <a:bodyPr rtlCol="0" anchor="ctr"/>
              <a:lstStyle/>
              <a:p>
                <a:endParaRPr lang="en-US" sz="810"/>
              </a:p>
            </p:txBody>
          </p:sp>
          <p:sp>
            <p:nvSpPr>
              <p:cNvPr id="1191" name="Freeform: Shape 513">
                <a:extLst>
                  <a:ext uri="{FF2B5EF4-FFF2-40B4-BE49-F238E27FC236}">
                    <a16:creationId xmlns:a16="http://schemas.microsoft.com/office/drawing/2014/main" id="{E2696A6B-8FD4-182A-D2AA-0BFDA352243B}"/>
                  </a:ext>
                </a:extLst>
              </p:cNvPr>
              <p:cNvSpPr/>
              <p:nvPr/>
            </p:nvSpPr>
            <p:spPr>
              <a:xfrm>
                <a:off x="1701919" y="1703589"/>
                <a:ext cx="8938" cy="8044"/>
              </a:xfrm>
              <a:custGeom>
                <a:avLst/>
                <a:gdLst>
                  <a:gd name="connsiteX0" fmla="*/ 8939 w 8938"/>
                  <a:gd name="connsiteY0" fmla="*/ 0 h 8044"/>
                  <a:gd name="connsiteX1" fmla="*/ 0 w 8938"/>
                  <a:gd name="connsiteY1" fmla="*/ 0 h 8044"/>
                  <a:gd name="connsiteX2" fmla="*/ 0 w 8938"/>
                  <a:gd name="connsiteY2" fmla="*/ 8044 h 8044"/>
                  <a:gd name="connsiteX3" fmla="*/ 8939 w 8938"/>
                  <a:gd name="connsiteY3" fmla="*/ 8044 h 8044"/>
                  <a:gd name="connsiteX4" fmla="*/ 8939 w 8938"/>
                  <a:gd name="connsiteY4" fmla="*/ 0 h 8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8" h="8044">
                    <a:moveTo>
                      <a:pt x="8939" y="0"/>
                    </a:moveTo>
                    <a:lnTo>
                      <a:pt x="0" y="0"/>
                    </a:lnTo>
                    <a:lnTo>
                      <a:pt x="0" y="8044"/>
                    </a:lnTo>
                    <a:lnTo>
                      <a:pt x="8939" y="8044"/>
                    </a:lnTo>
                    <a:lnTo>
                      <a:pt x="8939" y="0"/>
                    </a:lnTo>
                    <a:close/>
                  </a:path>
                </a:pathLst>
              </a:custGeom>
              <a:solidFill>
                <a:srgbClr val="2D5967"/>
              </a:solidFill>
              <a:ln w="6417" cap="flat">
                <a:noFill/>
                <a:prstDash val="solid"/>
                <a:miter/>
              </a:ln>
            </p:spPr>
            <p:txBody>
              <a:bodyPr rtlCol="0" anchor="ctr"/>
              <a:lstStyle/>
              <a:p>
                <a:endParaRPr lang="en-US" sz="810"/>
              </a:p>
            </p:txBody>
          </p:sp>
          <p:sp>
            <p:nvSpPr>
              <p:cNvPr id="1192" name="Freeform: Shape 514">
                <a:extLst>
                  <a:ext uri="{FF2B5EF4-FFF2-40B4-BE49-F238E27FC236}">
                    <a16:creationId xmlns:a16="http://schemas.microsoft.com/office/drawing/2014/main" id="{37D0738E-D4EA-B7B7-DDE3-D07F43759721}"/>
                  </a:ext>
                </a:extLst>
              </p:cNvPr>
              <p:cNvSpPr/>
              <p:nvPr/>
            </p:nvSpPr>
            <p:spPr>
              <a:xfrm>
                <a:off x="1701919" y="1683016"/>
                <a:ext cx="8938" cy="8044"/>
              </a:xfrm>
              <a:custGeom>
                <a:avLst/>
                <a:gdLst>
                  <a:gd name="connsiteX0" fmla="*/ 8939 w 8938"/>
                  <a:gd name="connsiteY0" fmla="*/ 0 h 8044"/>
                  <a:gd name="connsiteX1" fmla="*/ 0 w 8938"/>
                  <a:gd name="connsiteY1" fmla="*/ 0 h 8044"/>
                  <a:gd name="connsiteX2" fmla="*/ 0 w 8938"/>
                  <a:gd name="connsiteY2" fmla="*/ 8045 h 8044"/>
                  <a:gd name="connsiteX3" fmla="*/ 8939 w 8938"/>
                  <a:gd name="connsiteY3" fmla="*/ 8045 h 8044"/>
                  <a:gd name="connsiteX4" fmla="*/ 8939 w 8938"/>
                  <a:gd name="connsiteY4" fmla="*/ 0 h 8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8" h="8044">
                    <a:moveTo>
                      <a:pt x="8939" y="0"/>
                    </a:moveTo>
                    <a:lnTo>
                      <a:pt x="0" y="0"/>
                    </a:lnTo>
                    <a:lnTo>
                      <a:pt x="0" y="8045"/>
                    </a:lnTo>
                    <a:lnTo>
                      <a:pt x="8939" y="8045"/>
                    </a:lnTo>
                    <a:lnTo>
                      <a:pt x="8939" y="0"/>
                    </a:lnTo>
                    <a:close/>
                  </a:path>
                </a:pathLst>
              </a:custGeom>
              <a:solidFill>
                <a:srgbClr val="2D5967"/>
              </a:solidFill>
              <a:ln w="6417" cap="flat">
                <a:noFill/>
                <a:prstDash val="solid"/>
                <a:miter/>
              </a:ln>
            </p:spPr>
            <p:txBody>
              <a:bodyPr rtlCol="0" anchor="ctr"/>
              <a:lstStyle/>
              <a:p>
                <a:endParaRPr lang="en-US" sz="810"/>
              </a:p>
            </p:txBody>
          </p:sp>
          <p:sp>
            <p:nvSpPr>
              <p:cNvPr id="1193" name="Freeform: Shape 515">
                <a:extLst>
                  <a:ext uri="{FF2B5EF4-FFF2-40B4-BE49-F238E27FC236}">
                    <a16:creationId xmlns:a16="http://schemas.microsoft.com/office/drawing/2014/main" id="{D7FF1EB9-D146-2C52-4740-73448E6C7FBA}"/>
                  </a:ext>
                </a:extLst>
              </p:cNvPr>
              <p:cNvSpPr/>
              <p:nvPr/>
            </p:nvSpPr>
            <p:spPr>
              <a:xfrm>
                <a:off x="1726945" y="1672289"/>
                <a:ext cx="36646" cy="39342"/>
              </a:xfrm>
              <a:custGeom>
                <a:avLst/>
                <a:gdLst>
                  <a:gd name="connsiteX0" fmla="*/ 35755 w 36646"/>
                  <a:gd name="connsiteY0" fmla="*/ 0 h 39342"/>
                  <a:gd name="connsiteX1" fmla="*/ 25924 w 36646"/>
                  <a:gd name="connsiteY1" fmla="*/ 0 h 39342"/>
                  <a:gd name="connsiteX2" fmla="*/ 17877 w 36646"/>
                  <a:gd name="connsiteY2" fmla="*/ 13412 h 39342"/>
                  <a:gd name="connsiteX3" fmla="*/ 9831 w 36646"/>
                  <a:gd name="connsiteY3" fmla="*/ 0 h 39342"/>
                  <a:gd name="connsiteX4" fmla="*/ 0 w 36646"/>
                  <a:gd name="connsiteY4" fmla="*/ 0 h 39342"/>
                  <a:gd name="connsiteX5" fmla="*/ 11621 w 36646"/>
                  <a:gd name="connsiteY5" fmla="*/ 18777 h 39342"/>
                  <a:gd name="connsiteX6" fmla="*/ 0 w 36646"/>
                  <a:gd name="connsiteY6" fmla="*/ 39342 h 39342"/>
                  <a:gd name="connsiteX7" fmla="*/ 8939 w 36646"/>
                  <a:gd name="connsiteY7" fmla="*/ 39342 h 39342"/>
                  <a:gd name="connsiteX8" fmla="*/ 17877 w 36646"/>
                  <a:gd name="connsiteY8" fmla="*/ 25036 h 39342"/>
                  <a:gd name="connsiteX9" fmla="*/ 26816 w 36646"/>
                  <a:gd name="connsiteY9" fmla="*/ 39342 h 39342"/>
                  <a:gd name="connsiteX10" fmla="*/ 36647 w 36646"/>
                  <a:gd name="connsiteY10" fmla="*/ 39342 h 39342"/>
                  <a:gd name="connsiteX11" fmla="*/ 24134 w 36646"/>
                  <a:gd name="connsiteY11" fmla="*/ 18777 h 39342"/>
                  <a:gd name="connsiteX12" fmla="*/ 35755 w 36646"/>
                  <a:gd name="connsiteY12" fmla="*/ 0 h 39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646" h="39342">
                    <a:moveTo>
                      <a:pt x="35755" y="0"/>
                    </a:moveTo>
                    <a:lnTo>
                      <a:pt x="25924" y="0"/>
                    </a:lnTo>
                    <a:lnTo>
                      <a:pt x="17877" y="13412"/>
                    </a:lnTo>
                    <a:lnTo>
                      <a:pt x="9831" y="0"/>
                    </a:lnTo>
                    <a:lnTo>
                      <a:pt x="0" y="0"/>
                    </a:lnTo>
                    <a:lnTo>
                      <a:pt x="11621" y="18777"/>
                    </a:lnTo>
                    <a:lnTo>
                      <a:pt x="0" y="39342"/>
                    </a:lnTo>
                    <a:lnTo>
                      <a:pt x="8939" y="39342"/>
                    </a:lnTo>
                    <a:lnTo>
                      <a:pt x="17877" y="25036"/>
                    </a:lnTo>
                    <a:lnTo>
                      <a:pt x="26816" y="39342"/>
                    </a:lnTo>
                    <a:lnTo>
                      <a:pt x="36647" y="39342"/>
                    </a:lnTo>
                    <a:lnTo>
                      <a:pt x="24134" y="18777"/>
                    </a:lnTo>
                    <a:lnTo>
                      <a:pt x="35755" y="0"/>
                    </a:lnTo>
                    <a:close/>
                  </a:path>
                </a:pathLst>
              </a:custGeom>
              <a:solidFill>
                <a:srgbClr val="2D5967"/>
              </a:solidFill>
              <a:ln w="6417" cap="flat">
                <a:noFill/>
                <a:prstDash val="solid"/>
                <a:miter/>
              </a:ln>
            </p:spPr>
            <p:txBody>
              <a:bodyPr rtlCol="0" anchor="ctr"/>
              <a:lstStyle/>
              <a:p>
                <a:endParaRPr lang="en-US" sz="810"/>
              </a:p>
            </p:txBody>
          </p:sp>
          <p:sp>
            <p:nvSpPr>
              <p:cNvPr id="1194" name="Freeform: Shape 516">
                <a:extLst>
                  <a:ext uri="{FF2B5EF4-FFF2-40B4-BE49-F238E27FC236}">
                    <a16:creationId xmlns:a16="http://schemas.microsoft.com/office/drawing/2014/main" id="{A4ADE713-2B22-8163-F46A-D586256566A2}"/>
                  </a:ext>
                </a:extLst>
              </p:cNvPr>
              <p:cNvSpPr/>
              <p:nvPr/>
            </p:nvSpPr>
            <p:spPr>
              <a:xfrm>
                <a:off x="1773422" y="1670502"/>
                <a:ext cx="22343" cy="36660"/>
              </a:xfrm>
              <a:custGeom>
                <a:avLst/>
                <a:gdLst>
                  <a:gd name="connsiteX0" fmla="*/ 5364 w 22343"/>
                  <a:gd name="connsiteY0" fmla="*/ 6259 h 36660"/>
                  <a:gd name="connsiteX1" fmla="*/ 0 w 22343"/>
                  <a:gd name="connsiteY1" fmla="*/ 21460 h 36660"/>
                  <a:gd name="connsiteX2" fmla="*/ 4466 w 22343"/>
                  <a:gd name="connsiteY2" fmla="*/ 36660 h 36660"/>
                  <a:gd name="connsiteX3" fmla="*/ 8040 w 22343"/>
                  <a:gd name="connsiteY3" fmla="*/ 25037 h 36660"/>
                  <a:gd name="connsiteX4" fmla="*/ 8040 w 22343"/>
                  <a:gd name="connsiteY4" fmla="*/ 20565 h 36660"/>
                  <a:gd name="connsiteX5" fmla="*/ 10722 w 22343"/>
                  <a:gd name="connsiteY5" fmla="*/ 10730 h 36660"/>
                  <a:gd name="connsiteX6" fmla="*/ 17877 w 22343"/>
                  <a:gd name="connsiteY6" fmla="*/ 7153 h 36660"/>
                  <a:gd name="connsiteX7" fmla="*/ 22343 w 22343"/>
                  <a:gd name="connsiteY7" fmla="*/ 0 h 36660"/>
                  <a:gd name="connsiteX8" fmla="*/ 17877 w 22343"/>
                  <a:gd name="connsiteY8" fmla="*/ 0 h 36660"/>
                  <a:gd name="connsiteX9" fmla="*/ 5364 w 22343"/>
                  <a:gd name="connsiteY9" fmla="*/ 6259 h 3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343" h="36660">
                    <a:moveTo>
                      <a:pt x="5364" y="6259"/>
                    </a:moveTo>
                    <a:cubicBezTo>
                      <a:pt x="1784" y="9836"/>
                      <a:pt x="0" y="15201"/>
                      <a:pt x="0" y="21460"/>
                    </a:cubicBezTo>
                    <a:cubicBezTo>
                      <a:pt x="0" y="27719"/>
                      <a:pt x="1784" y="33084"/>
                      <a:pt x="4466" y="36660"/>
                    </a:cubicBezTo>
                    <a:cubicBezTo>
                      <a:pt x="5364" y="33084"/>
                      <a:pt x="7148" y="28613"/>
                      <a:pt x="8040" y="25037"/>
                    </a:cubicBezTo>
                    <a:cubicBezTo>
                      <a:pt x="8040" y="24142"/>
                      <a:pt x="8040" y="22354"/>
                      <a:pt x="8040" y="20565"/>
                    </a:cubicBezTo>
                    <a:cubicBezTo>
                      <a:pt x="8040" y="16095"/>
                      <a:pt x="8939" y="12519"/>
                      <a:pt x="10722" y="10730"/>
                    </a:cubicBezTo>
                    <a:cubicBezTo>
                      <a:pt x="12513" y="8942"/>
                      <a:pt x="14303" y="7153"/>
                      <a:pt x="17877" y="7153"/>
                    </a:cubicBezTo>
                    <a:cubicBezTo>
                      <a:pt x="19661" y="4471"/>
                      <a:pt x="20559" y="2683"/>
                      <a:pt x="22343" y="0"/>
                    </a:cubicBezTo>
                    <a:cubicBezTo>
                      <a:pt x="21451" y="0"/>
                      <a:pt x="19661" y="0"/>
                      <a:pt x="17877" y="0"/>
                    </a:cubicBezTo>
                    <a:cubicBezTo>
                      <a:pt x="13405" y="894"/>
                      <a:pt x="8939" y="2683"/>
                      <a:pt x="5364" y="6259"/>
                    </a:cubicBezTo>
                    <a:close/>
                  </a:path>
                </a:pathLst>
              </a:custGeom>
              <a:solidFill>
                <a:srgbClr val="2D5967"/>
              </a:solidFill>
              <a:ln w="6417" cap="flat">
                <a:noFill/>
                <a:prstDash val="solid"/>
                <a:miter/>
              </a:ln>
            </p:spPr>
            <p:txBody>
              <a:bodyPr rtlCol="0" anchor="ctr"/>
              <a:lstStyle/>
              <a:p>
                <a:endParaRPr lang="en-US" sz="810"/>
              </a:p>
            </p:txBody>
          </p:sp>
          <p:sp>
            <p:nvSpPr>
              <p:cNvPr id="1195" name="Freeform: Shape 517">
                <a:extLst>
                  <a:ext uri="{FF2B5EF4-FFF2-40B4-BE49-F238E27FC236}">
                    <a16:creationId xmlns:a16="http://schemas.microsoft.com/office/drawing/2014/main" id="{7BC2DB27-8082-B225-8B20-27B20E86FA85}"/>
                  </a:ext>
                </a:extLst>
              </p:cNvPr>
              <p:cNvSpPr/>
              <p:nvPr/>
            </p:nvSpPr>
            <p:spPr>
              <a:xfrm>
                <a:off x="1722473" y="1810880"/>
                <a:ext cx="105473" cy="103719"/>
              </a:xfrm>
              <a:custGeom>
                <a:avLst/>
                <a:gdLst>
                  <a:gd name="connsiteX0" fmla="*/ 95643 w 105473"/>
                  <a:gd name="connsiteY0" fmla="*/ 25036 h 103719"/>
                  <a:gd name="connsiteX1" fmla="*/ 78658 w 105473"/>
                  <a:gd name="connsiteY1" fmla="*/ 46496 h 103719"/>
                  <a:gd name="connsiteX2" fmla="*/ 58098 w 105473"/>
                  <a:gd name="connsiteY2" fmla="*/ 70635 h 103719"/>
                  <a:gd name="connsiteX3" fmla="*/ 42903 w 105473"/>
                  <a:gd name="connsiteY3" fmla="*/ 85836 h 103719"/>
                  <a:gd name="connsiteX4" fmla="*/ 17877 w 105473"/>
                  <a:gd name="connsiteY4" fmla="*/ 61696 h 103719"/>
                  <a:gd name="connsiteX5" fmla="*/ 33072 w 105473"/>
                  <a:gd name="connsiteY5" fmla="*/ 46496 h 103719"/>
                  <a:gd name="connsiteX6" fmla="*/ 57206 w 105473"/>
                  <a:gd name="connsiteY6" fmla="*/ 25930 h 103719"/>
                  <a:gd name="connsiteX7" fmla="*/ 79550 w 105473"/>
                  <a:gd name="connsiteY7" fmla="*/ 9836 h 103719"/>
                  <a:gd name="connsiteX8" fmla="*/ 71509 w 105473"/>
                  <a:gd name="connsiteY8" fmla="*/ 0 h 103719"/>
                  <a:gd name="connsiteX9" fmla="*/ 49159 w 105473"/>
                  <a:gd name="connsiteY9" fmla="*/ 16095 h 103719"/>
                  <a:gd name="connsiteX10" fmla="*/ 24134 w 105473"/>
                  <a:gd name="connsiteY10" fmla="*/ 37555 h 103719"/>
                  <a:gd name="connsiteX11" fmla="*/ 0 w 105473"/>
                  <a:gd name="connsiteY11" fmla="*/ 61696 h 103719"/>
                  <a:gd name="connsiteX12" fmla="*/ 42011 w 105473"/>
                  <a:gd name="connsiteY12" fmla="*/ 103720 h 103719"/>
                  <a:gd name="connsiteX13" fmla="*/ 66145 w 105473"/>
                  <a:gd name="connsiteY13" fmla="*/ 79580 h 103719"/>
                  <a:gd name="connsiteX14" fmla="*/ 87596 w 105473"/>
                  <a:gd name="connsiteY14" fmla="*/ 54543 h 103719"/>
                  <a:gd name="connsiteX15" fmla="*/ 105474 w 105473"/>
                  <a:gd name="connsiteY15" fmla="*/ 33083 h 103719"/>
                  <a:gd name="connsiteX16" fmla="*/ 95643 w 105473"/>
                  <a:gd name="connsiteY16" fmla="*/ 25036 h 10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473" h="103719">
                    <a:moveTo>
                      <a:pt x="95643" y="25036"/>
                    </a:moveTo>
                    <a:lnTo>
                      <a:pt x="78658" y="46496"/>
                    </a:lnTo>
                    <a:cubicBezTo>
                      <a:pt x="72401" y="54543"/>
                      <a:pt x="65253" y="62591"/>
                      <a:pt x="58098" y="70635"/>
                    </a:cubicBezTo>
                    <a:lnTo>
                      <a:pt x="42903" y="85836"/>
                    </a:lnTo>
                    <a:lnTo>
                      <a:pt x="17877" y="61696"/>
                    </a:lnTo>
                    <a:lnTo>
                      <a:pt x="33072" y="46496"/>
                    </a:lnTo>
                    <a:cubicBezTo>
                      <a:pt x="40227" y="39342"/>
                      <a:pt x="48268" y="32189"/>
                      <a:pt x="57206" y="25930"/>
                    </a:cubicBezTo>
                    <a:lnTo>
                      <a:pt x="79550" y="9836"/>
                    </a:lnTo>
                    <a:cubicBezTo>
                      <a:pt x="76874" y="6259"/>
                      <a:pt x="74191" y="3577"/>
                      <a:pt x="71509" y="0"/>
                    </a:cubicBezTo>
                    <a:lnTo>
                      <a:pt x="49159" y="16095"/>
                    </a:lnTo>
                    <a:cubicBezTo>
                      <a:pt x="40227" y="22354"/>
                      <a:pt x="32180" y="30401"/>
                      <a:pt x="24134" y="37555"/>
                    </a:cubicBezTo>
                    <a:lnTo>
                      <a:pt x="0" y="61696"/>
                    </a:lnTo>
                    <a:lnTo>
                      <a:pt x="42011" y="103720"/>
                    </a:lnTo>
                    <a:lnTo>
                      <a:pt x="66145" y="79580"/>
                    </a:lnTo>
                    <a:cubicBezTo>
                      <a:pt x="74191" y="71533"/>
                      <a:pt x="81340" y="63484"/>
                      <a:pt x="87596" y="54543"/>
                    </a:cubicBezTo>
                    <a:lnTo>
                      <a:pt x="105474" y="33083"/>
                    </a:lnTo>
                    <a:cubicBezTo>
                      <a:pt x="102791" y="30401"/>
                      <a:pt x="99217" y="27719"/>
                      <a:pt x="95643" y="25036"/>
                    </a:cubicBezTo>
                    <a:close/>
                  </a:path>
                </a:pathLst>
              </a:custGeom>
              <a:solidFill>
                <a:srgbClr val="2D5967"/>
              </a:solidFill>
              <a:ln w="6417" cap="flat">
                <a:noFill/>
                <a:prstDash val="solid"/>
                <a:miter/>
              </a:ln>
            </p:spPr>
            <p:txBody>
              <a:bodyPr rtlCol="0" anchor="ctr"/>
              <a:lstStyle/>
              <a:p>
                <a:endParaRPr lang="en-US" sz="810"/>
              </a:p>
            </p:txBody>
          </p:sp>
          <p:sp>
            <p:nvSpPr>
              <p:cNvPr id="1196" name="Freeform: Shape 518">
                <a:extLst>
                  <a:ext uri="{FF2B5EF4-FFF2-40B4-BE49-F238E27FC236}">
                    <a16:creationId xmlns:a16="http://schemas.microsoft.com/office/drawing/2014/main" id="{86D4E8B9-8573-3A42-65FB-2640D4ABABC0}"/>
                  </a:ext>
                </a:extLst>
              </p:cNvPr>
              <p:cNvSpPr/>
              <p:nvPr/>
            </p:nvSpPr>
            <p:spPr>
              <a:xfrm>
                <a:off x="1710864" y="1880617"/>
                <a:ext cx="46477" cy="45604"/>
              </a:xfrm>
              <a:custGeom>
                <a:avLst/>
                <a:gdLst>
                  <a:gd name="connsiteX0" fmla="*/ 4466 w 46477"/>
                  <a:gd name="connsiteY0" fmla="*/ 0 h 45604"/>
                  <a:gd name="connsiteX1" fmla="*/ 0 w 46477"/>
                  <a:gd name="connsiteY1" fmla="*/ 3581 h 45604"/>
                  <a:gd name="connsiteX2" fmla="*/ 4466 w 46477"/>
                  <a:gd name="connsiteY2" fmla="*/ 16992 h 45604"/>
                  <a:gd name="connsiteX3" fmla="*/ 29492 w 46477"/>
                  <a:gd name="connsiteY3" fmla="*/ 41132 h 45604"/>
                  <a:gd name="connsiteX4" fmla="*/ 42005 w 46477"/>
                  <a:gd name="connsiteY4" fmla="*/ 45604 h 45604"/>
                  <a:gd name="connsiteX5" fmla="*/ 46477 w 46477"/>
                  <a:gd name="connsiteY5" fmla="*/ 41132 h 45604"/>
                  <a:gd name="connsiteX6" fmla="*/ 4466 w 46477"/>
                  <a:gd name="connsiteY6" fmla="*/ 0 h 4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77" h="45604">
                    <a:moveTo>
                      <a:pt x="4466" y="0"/>
                    </a:moveTo>
                    <a:lnTo>
                      <a:pt x="0" y="3581"/>
                    </a:lnTo>
                    <a:lnTo>
                      <a:pt x="4466" y="16992"/>
                    </a:lnTo>
                    <a:lnTo>
                      <a:pt x="29492" y="41132"/>
                    </a:lnTo>
                    <a:lnTo>
                      <a:pt x="42005" y="45604"/>
                    </a:lnTo>
                    <a:lnTo>
                      <a:pt x="46477" y="41132"/>
                    </a:lnTo>
                    <a:lnTo>
                      <a:pt x="4466" y="0"/>
                    </a:lnTo>
                    <a:close/>
                  </a:path>
                </a:pathLst>
              </a:custGeom>
              <a:solidFill>
                <a:srgbClr val="2D5967"/>
              </a:solidFill>
              <a:ln w="6417" cap="flat">
                <a:noFill/>
                <a:prstDash val="solid"/>
                <a:miter/>
              </a:ln>
            </p:spPr>
            <p:txBody>
              <a:bodyPr rtlCol="0" anchor="ctr"/>
              <a:lstStyle/>
              <a:p>
                <a:endParaRPr lang="en-US" sz="810"/>
              </a:p>
            </p:txBody>
          </p:sp>
          <p:sp>
            <p:nvSpPr>
              <p:cNvPr id="1197" name="Freeform: Shape 519">
                <a:extLst>
                  <a:ext uri="{FF2B5EF4-FFF2-40B4-BE49-F238E27FC236}">
                    <a16:creationId xmlns:a16="http://schemas.microsoft.com/office/drawing/2014/main" id="{69B14505-89ED-BFA5-992B-D1783DDC3043}"/>
                  </a:ext>
                </a:extLst>
              </p:cNvPr>
              <p:cNvSpPr/>
              <p:nvPr/>
            </p:nvSpPr>
            <p:spPr>
              <a:xfrm>
                <a:off x="1783492" y="1629598"/>
                <a:ext cx="223899" cy="224208"/>
              </a:xfrm>
              <a:custGeom>
                <a:avLst/>
                <a:gdLst>
                  <a:gd name="connsiteX0" fmla="*/ 111504 w 223899"/>
                  <a:gd name="connsiteY0" fmla="*/ 224208 h 224208"/>
                  <a:gd name="connsiteX1" fmla="*/ 191054 w 223899"/>
                  <a:gd name="connsiteY1" fmla="*/ 191125 h 224208"/>
                  <a:gd name="connsiteX2" fmla="*/ 191054 w 223899"/>
                  <a:gd name="connsiteY2" fmla="*/ 32860 h 224208"/>
                  <a:gd name="connsiteX3" fmla="*/ 32846 w 223899"/>
                  <a:gd name="connsiteY3" fmla="*/ 32860 h 224208"/>
                  <a:gd name="connsiteX4" fmla="*/ 32846 w 223899"/>
                  <a:gd name="connsiteY4" fmla="*/ 191125 h 224208"/>
                  <a:gd name="connsiteX5" fmla="*/ 111504 w 223899"/>
                  <a:gd name="connsiteY5" fmla="*/ 224208 h 224208"/>
                  <a:gd name="connsiteX6" fmla="*/ 41785 w 223899"/>
                  <a:gd name="connsiteY6" fmla="*/ 41802 h 224208"/>
                  <a:gd name="connsiteX7" fmla="*/ 112396 w 223899"/>
                  <a:gd name="connsiteY7" fmla="*/ 12294 h 224208"/>
                  <a:gd name="connsiteX8" fmla="*/ 183007 w 223899"/>
                  <a:gd name="connsiteY8" fmla="*/ 41802 h 224208"/>
                  <a:gd name="connsiteX9" fmla="*/ 183007 w 223899"/>
                  <a:gd name="connsiteY9" fmla="*/ 182183 h 224208"/>
                  <a:gd name="connsiteX10" fmla="*/ 41785 w 223899"/>
                  <a:gd name="connsiteY10" fmla="*/ 182183 h 224208"/>
                  <a:gd name="connsiteX11" fmla="*/ 41785 w 223899"/>
                  <a:gd name="connsiteY11" fmla="*/ 41802 h 22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899" h="224208">
                    <a:moveTo>
                      <a:pt x="111504" y="224208"/>
                    </a:moveTo>
                    <a:cubicBezTo>
                      <a:pt x="140104" y="224208"/>
                      <a:pt x="168704" y="213478"/>
                      <a:pt x="191054" y="191125"/>
                    </a:cubicBezTo>
                    <a:cubicBezTo>
                      <a:pt x="234849" y="147311"/>
                      <a:pt x="234849" y="76673"/>
                      <a:pt x="191054" y="32860"/>
                    </a:cubicBezTo>
                    <a:cubicBezTo>
                      <a:pt x="147252" y="-10953"/>
                      <a:pt x="76641" y="-10953"/>
                      <a:pt x="32846" y="32860"/>
                    </a:cubicBezTo>
                    <a:cubicBezTo>
                      <a:pt x="-10949" y="76673"/>
                      <a:pt x="-10949" y="147311"/>
                      <a:pt x="32846" y="191125"/>
                    </a:cubicBezTo>
                    <a:cubicBezTo>
                      <a:pt x="54298" y="213478"/>
                      <a:pt x="82898" y="224208"/>
                      <a:pt x="111504" y="224208"/>
                    </a:cubicBezTo>
                    <a:close/>
                    <a:moveTo>
                      <a:pt x="41785" y="41802"/>
                    </a:moveTo>
                    <a:cubicBezTo>
                      <a:pt x="61446" y="22130"/>
                      <a:pt x="86472" y="12294"/>
                      <a:pt x="112396" y="12294"/>
                    </a:cubicBezTo>
                    <a:cubicBezTo>
                      <a:pt x="138314" y="12294"/>
                      <a:pt x="163346" y="22130"/>
                      <a:pt x="183007" y="41802"/>
                    </a:cubicBezTo>
                    <a:cubicBezTo>
                      <a:pt x="221444" y="80250"/>
                      <a:pt x="221444" y="143734"/>
                      <a:pt x="183007" y="182183"/>
                    </a:cubicBezTo>
                    <a:cubicBezTo>
                      <a:pt x="144570" y="220631"/>
                      <a:pt x="81114" y="220631"/>
                      <a:pt x="41785" y="182183"/>
                    </a:cubicBezTo>
                    <a:cubicBezTo>
                      <a:pt x="2456" y="143734"/>
                      <a:pt x="2456" y="81144"/>
                      <a:pt x="41785" y="41802"/>
                    </a:cubicBezTo>
                    <a:close/>
                  </a:path>
                </a:pathLst>
              </a:custGeom>
              <a:solidFill>
                <a:srgbClr val="2D5967"/>
              </a:solidFill>
              <a:ln w="6417" cap="flat">
                <a:noFill/>
                <a:prstDash val="solid"/>
                <a:miter/>
              </a:ln>
            </p:spPr>
            <p:txBody>
              <a:bodyPr rtlCol="0" anchor="ctr"/>
              <a:lstStyle/>
              <a:p>
                <a:endParaRPr lang="en-US" sz="810"/>
              </a:p>
            </p:txBody>
          </p:sp>
          <p:sp>
            <p:nvSpPr>
              <p:cNvPr id="1198" name="Freeform: Shape 520">
                <a:extLst>
                  <a:ext uri="{FF2B5EF4-FFF2-40B4-BE49-F238E27FC236}">
                    <a16:creationId xmlns:a16="http://schemas.microsoft.com/office/drawing/2014/main" id="{F3525780-CA1B-C4D0-29B0-5215CCC11FA2}"/>
                  </a:ext>
                </a:extLst>
              </p:cNvPr>
              <p:cNvSpPr/>
              <p:nvPr/>
            </p:nvSpPr>
            <p:spPr>
              <a:xfrm>
                <a:off x="1828838" y="1705375"/>
                <a:ext cx="66144" cy="72426"/>
              </a:xfrm>
              <a:custGeom>
                <a:avLst/>
                <a:gdLst>
                  <a:gd name="connsiteX0" fmla="*/ 33964 w 66144"/>
                  <a:gd name="connsiteY0" fmla="*/ 72426 h 72426"/>
                  <a:gd name="connsiteX1" fmla="*/ 58098 w 66144"/>
                  <a:gd name="connsiteY1" fmla="*/ 63484 h 72426"/>
                  <a:gd name="connsiteX2" fmla="*/ 66145 w 66144"/>
                  <a:gd name="connsiteY2" fmla="*/ 36660 h 72426"/>
                  <a:gd name="connsiteX3" fmla="*/ 57206 w 66144"/>
                  <a:gd name="connsiteY3" fmla="*/ 9836 h 72426"/>
                  <a:gd name="connsiteX4" fmla="*/ 33072 w 66144"/>
                  <a:gd name="connsiteY4" fmla="*/ 0 h 72426"/>
                  <a:gd name="connsiteX5" fmla="*/ 8939 w 66144"/>
                  <a:gd name="connsiteY5" fmla="*/ 9836 h 72426"/>
                  <a:gd name="connsiteX6" fmla="*/ 0 w 66144"/>
                  <a:gd name="connsiteY6" fmla="*/ 36660 h 72426"/>
                  <a:gd name="connsiteX7" fmla="*/ 8939 w 66144"/>
                  <a:gd name="connsiteY7" fmla="*/ 63484 h 72426"/>
                  <a:gd name="connsiteX8" fmla="*/ 33964 w 66144"/>
                  <a:gd name="connsiteY8" fmla="*/ 72426 h 72426"/>
                  <a:gd name="connsiteX9" fmla="*/ 21451 w 66144"/>
                  <a:gd name="connsiteY9" fmla="*/ 18777 h 72426"/>
                  <a:gd name="connsiteX10" fmla="*/ 34856 w 66144"/>
                  <a:gd name="connsiteY10" fmla="*/ 12518 h 72426"/>
                  <a:gd name="connsiteX11" fmla="*/ 48268 w 66144"/>
                  <a:gd name="connsiteY11" fmla="*/ 18777 h 72426"/>
                  <a:gd name="connsiteX12" fmla="*/ 52734 w 66144"/>
                  <a:gd name="connsiteY12" fmla="*/ 35766 h 72426"/>
                  <a:gd name="connsiteX13" fmla="*/ 48268 w 66144"/>
                  <a:gd name="connsiteY13" fmla="*/ 53649 h 72426"/>
                  <a:gd name="connsiteX14" fmla="*/ 33964 w 66144"/>
                  <a:gd name="connsiteY14" fmla="*/ 59908 h 72426"/>
                  <a:gd name="connsiteX15" fmla="*/ 20560 w 66144"/>
                  <a:gd name="connsiteY15" fmla="*/ 53649 h 72426"/>
                  <a:gd name="connsiteX16" fmla="*/ 16087 w 66144"/>
                  <a:gd name="connsiteY16" fmla="*/ 35766 h 72426"/>
                  <a:gd name="connsiteX17" fmla="*/ 21451 w 66144"/>
                  <a:gd name="connsiteY17" fmla="*/ 18777 h 7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6144" h="72426">
                    <a:moveTo>
                      <a:pt x="33964" y="72426"/>
                    </a:moveTo>
                    <a:cubicBezTo>
                      <a:pt x="44693" y="72426"/>
                      <a:pt x="52734" y="68850"/>
                      <a:pt x="58098" y="63484"/>
                    </a:cubicBezTo>
                    <a:cubicBezTo>
                      <a:pt x="63463" y="57225"/>
                      <a:pt x="66145" y="48284"/>
                      <a:pt x="66145" y="36660"/>
                    </a:cubicBezTo>
                    <a:cubicBezTo>
                      <a:pt x="66145" y="25036"/>
                      <a:pt x="63463" y="16095"/>
                      <a:pt x="57206" y="9836"/>
                    </a:cubicBezTo>
                    <a:cubicBezTo>
                      <a:pt x="51842" y="3577"/>
                      <a:pt x="43795" y="0"/>
                      <a:pt x="33072" y="0"/>
                    </a:cubicBezTo>
                    <a:cubicBezTo>
                      <a:pt x="22343" y="0"/>
                      <a:pt x="15195" y="3577"/>
                      <a:pt x="8939" y="9836"/>
                    </a:cubicBezTo>
                    <a:cubicBezTo>
                      <a:pt x="3574" y="16095"/>
                      <a:pt x="0" y="25036"/>
                      <a:pt x="0" y="36660"/>
                    </a:cubicBezTo>
                    <a:cubicBezTo>
                      <a:pt x="0" y="48284"/>
                      <a:pt x="2682" y="57225"/>
                      <a:pt x="8939" y="63484"/>
                    </a:cubicBezTo>
                    <a:cubicBezTo>
                      <a:pt x="16087" y="68850"/>
                      <a:pt x="23242" y="72426"/>
                      <a:pt x="33964" y="72426"/>
                    </a:cubicBezTo>
                    <a:close/>
                    <a:moveTo>
                      <a:pt x="21451" y="18777"/>
                    </a:moveTo>
                    <a:cubicBezTo>
                      <a:pt x="24134" y="14306"/>
                      <a:pt x="28600" y="12518"/>
                      <a:pt x="34856" y="12518"/>
                    </a:cubicBezTo>
                    <a:cubicBezTo>
                      <a:pt x="40221" y="12518"/>
                      <a:pt x="44693" y="14306"/>
                      <a:pt x="48268" y="18777"/>
                    </a:cubicBezTo>
                    <a:cubicBezTo>
                      <a:pt x="50950" y="23248"/>
                      <a:pt x="52734" y="28613"/>
                      <a:pt x="52734" y="35766"/>
                    </a:cubicBezTo>
                    <a:cubicBezTo>
                      <a:pt x="52734" y="42919"/>
                      <a:pt x="50950" y="49178"/>
                      <a:pt x="48268" y="53649"/>
                    </a:cubicBezTo>
                    <a:cubicBezTo>
                      <a:pt x="45585" y="58120"/>
                      <a:pt x="40221" y="59908"/>
                      <a:pt x="33964" y="59908"/>
                    </a:cubicBezTo>
                    <a:cubicBezTo>
                      <a:pt x="28600" y="59908"/>
                      <a:pt x="24134" y="58120"/>
                      <a:pt x="20560" y="53649"/>
                    </a:cubicBezTo>
                    <a:cubicBezTo>
                      <a:pt x="17877" y="49178"/>
                      <a:pt x="16087" y="43814"/>
                      <a:pt x="16087" y="35766"/>
                    </a:cubicBezTo>
                    <a:cubicBezTo>
                      <a:pt x="16985" y="28613"/>
                      <a:pt x="17877" y="22354"/>
                      <a:pt x="21451" y="18777"/>
                    </a:cubicBezTo>
                    <a:close/>
                  </a:path>
                </a:pathLst>
              </a:custGeom>
              <a:solidFill>
                <a:srgbClr val="2D5967"/>
              </a:solidFill>
              <a:ln w="6417" cap="flat">
                <a:noFill/>
                <a:prstDash val="solid"/>
                <a:miter/>
              </a:ln>
            </p:spPr>
            <p:txBody>
              <a:bodyPr rtlCol="0" anchor="ctr"/>
              <a:lstStyle/>
              <a:p>
                <a:endParaRPr lang="en-US" sz="810"/>
              </a:p>
            </p:txBody>
          </p:sp>
          <p:sp>
            <p:nvSpPr>
              <p:cNvPr id="1199" name="Freeform: Shape 521">
                <a:extLst>
                  <a:ext uri="{FF2B5EF4-FFF2-40B4-BE49-F238E27FC236}">
                    <a16:creationId xmlns:a16="http://schemas.microsoft.com/office/drawing/2014/main" id="{25517588-BB48-7AB6-F035-19E8D8254F91}"/>
                  </a:ext>
                </a:extLst>
              </p:cNvPr>
              <p:cNvSpPr/>
              <p:nvPr/>
            </p:nvSpPr>
            <p:spPr>
              <a:xfrm>
                <a:off x="1903928" y="1705375"/>
                <a:ext cx="54523" cy="69743"/>
              </a:xfrm>
              <a:custGeom>
                <a:avLst/>
                <a:gdLst>
                  <a:gd name="connsiteX0" fmla="*/ 32181 w 54523"/>
                  <a:gd name="connsiteY0" fmla="*/ 25036 h 69743"/>
                  <a:gd name="connsiteX1" fmla="*/ 17877 w 54523"/>
                  <a:gd name="connsiteY1" fmla="*/ 894 h 69743"/>
                  <a:gd name="connsiteX2" fmla="*/ 898 w 54523"/>
                  <a:gd name="connsiteY2" fmla="*/ 894 h 69743"/>
                  <a:gd name="connsiteX3" fmla="*/ 21452 w 54523"/>
                  <a:gd name="connsiteY3" fmla="*/ 33978 h 69743"/>
                  <a:gd name="connsiteX4" fmla="*/ 0 w 54523"/>
                  <a:gd name="connsiteY4" fmla="*/ 69743 h 69743"/>
                  <a:gd name="connsiteX5" fmla="*/ 16093 w 54523"/>
                  <a:gd name="connsiteY5" fmla="*/ 69743 h 69743"/>
                  <a:gd name="connsiteX6" fmla="*/ 31289 w 54523"/>
                  <a:gd name="connsiteY6" fmla="*/ 43814 h 69743"/>
                  <a:gd name="connsiteX7" fmla="*/ 46484 w 54523"/>
                  <a:gd name="connsiteY7" fmla="*/ 69743 h 69743"/>
                  <a:gd name="connsiteX8" fmla="*/ 48268 w 54523"/>
                  <a:gd name="connsiteY8" fmla="*/ 69743 h 69743"/>
                  <a:gd name="connsiteX9" fmla="*/ 54524 w 54523"/>
                  <a:gd name="connsiteY9" fmla="*/ 55437 h 69743"/>
                  <a:gd name="connsiteX10" fmla="*/ 41119 w 54523"/>
                  <a:gd name="connsiteY10" fmla="*/ 33978 h 69743"/>
                  <a:gd name="connsiteX11" fmla="*/ 53632 w 54523"/>
                  <a:gd name="connsiteY11" fmla="*/ 13412 h 69743"/>
                  <a:gd name="connsiteX12" fmla="*/ 47376 w 54523"/>
                  <a:gd name="connsiteY12" fmla="*/ 0 h 69743"/>
                  <a:gd name="connsiteX13" fmla="*/ 45585 w 54523"/>
                  <a:gd name="connsiteY13" fmla="*/ 0 h 69743"/>
                  <a:gd name="connsiteX14" fmla="*/ 32181 w 54523"/>
                  <a:gd name="connsiteY14" fmla="*/ 25036 h 6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523" h="69743">
                    <a:moveTo>
                      <a:pt x="32181" y="25036"/>
                    </a:moveTo>
                    <a:lnTo>
                      <a:pt x="17877" y="894"/>
                    </a:lnTo>
                    <a:lnTo>
                      <a:pt x="898" y="894"/>
                    </a:lnTo>
                    <a:lnTo>
                      <a:pt x="21452" y="33978"/>
                    </a:lnTo>
                    <a:lnTo>
                      <a:pt x="0" y="69743"/>
                    </a:lnTo>
                    <a:lnTo>
                      <a:pt x="16093" y="69743"/>
                    </a:lnTo>
                    <a:lnTo>
                      <a:pt x="31289" y="43814"/>
                    </a:lnTo>
                    <a:lnTo>
                      <a:pt x="46484" y="69743"/>
                    </a:lnTo>
                    <a:lnTo>
                      <a:pt x="48268" y="69743"/>
                    </a:lnTo>
                    <a:cubicBezTo>
                      <a:pt x="50950" y="65273"/>
                      <a:pt x="52740" y="60802"/>
                      <a:pt x="54524" y="55437"/>
                    </a:cubicBezTo>
                    <a:lnTo>
                      <a:pt x="41119" y="33978"/>
                    </a:lnTo>
                    <a:lnTo>
                      <a:pt x="53632" y="13412"/>
                    </a:lnTo>
                    <a:cubicBezTo>
                      <a:pt x="51842" y="8941"/>
                      <a:pt x="50058" y="4471"/>
                      <a:pt x="47376" y="0"/>
                    </a:cubicBezTo>
                    <a:lnTo>
                      <a:pt x="45585" y="0"/>
                    </a:lnTo>
                    <a:lnTo>
                      <a:pt x="32181" y="25036"/>
                    </a:lnTo>
                    <a:close/>
                  </a:path>
                </a:pathLst>
              </a:custGeom>
              <a:solidFill>
                <a:srgbClr val="2D5967"/>
              </a:solidFill>
              <a:ln w="6417" cap="flat">
                <a:noFill/>
                <a:prstDash val="solid"/>
                <a:miter/>
              </a:ln>
            </p:spPr>
            <p:txBody>
              <a:bodyPr rtlCol="0" anchor="ctr"/>
              <a:lstStyle/>
              <a:p>
                <a:endParaRPr lang="en-US" sz="810"/>
              </a:p>
            </p:txBody>
          </p:sp>
          <p:sp>
            <p:nvSpPr>
              <p:cNvPr id="1200" name="Freeform: Shape 522">
                <a:extLst>
                  <a:ext uri="{FF2B5EF4-FFF2-40B4-BE49-F238E27FC236}">
                    <a16:creationId xmlns:a16="http://schemas.microsoft.com/office/drawing/2014/main" id="{F11373E4-167D-8153-5179-7A1F102749A8}"/>
                  </a:ext>
                </a:extLst>
              </p:cNvPr>
              <p:cNvSpPr/>
              <p:nvPr/>
            </p:nvSpPr>
            <p:spPr>
              <a:xfrm>
                <a:off x="1806501" y="1653282"/>
                <a:ext cx="177194" cy="177265"/>
              </a:xfrm>
              <a:custGeom>
                <a:avLst/>
                <a:gdLst>
                  <a:gd name="connsiteX0" fmla="*/ 88488 w 177194"/>
                  <a:gd name="connsiteY0" fmla="*/ 177265 h 177265"/>
                  <a:gd name="connsiteX1" fmla="*/ 151052 w 177194"/>
                  <a:gd name="connsiteY1" fmla="*/ 151335 h 177265"/>
                  <a:gd name="connsiteX2" fmla="*/ 151052 w 177194"/>
                  <a:gd name="connsiteY2" fmla="*/ 26154 h 177265"/>
                  <a:gd name="connsiteX3" fmla="*/ 25918 w 177194"/>
                  <a:gd name="connsiteY3" fmla="*/ 26154 h 177265"/>
                  <a:gd name="connsiteX4" fmla="*/ 0 w 177194"/>
                  <a:gd name="connsiteY4" fmla="*/ 88745 h 177265"/>
                  <a:gd name="connsiteX5" fmla="*/ 25918 w 177194"/>
                  <a:gd name="connsiteY5" fmla="*/ 151335 h 177265"/>
                  <a:gd name="connsiteX6" fmla="*/ 88488 w 177194"/>
                  <a:gd name="connsiteY6" fmla="*/ 177265 h 177265"/>
                  <a:gd name="connsiteX7" fmla="*/ 34856 w 177194"/>
                  <a:gd name="connsiteY7" fmla="*/ 35095 h 177265"/>
                  <a:gd name="connsiteX8" fmla="*/ 88488 w 177194"/>
                  <a:gd name="connsiteY8" fmla="*/ 12742 h 177265"/>
                  <a:gd name="connsiteX9" fmla="*/ 142114 w 177194"/>
                  <a:gd name="connsiteY9" fmla="*/ 35095 h 177265"/>
                  <a:gd name="connsiteX10" fmla="*/ 142114 w 177194"/>
                  <a:gd name="connsiteY10" fmla="*/ 142393 h 177265"/>
                  <a:gd name="connsiteX11" fmla="*/ 34856 w 177194"/>
                  <a:gd name="connsiteY11" fmla="*/ 142393 h 177265"/>
                  <a:gd name="connsiteX12" fmla="*/ 12513 w 177194"/>
                  <a:gd name="connsiteY12" fmla="*/ 88745 h 177265"/>
                  <a:gd name="connsiteX13" fmla="*/ 34856 w 177194"/>
                  <a:gd name="connsiteY13" fmla="*/ 35095 h 177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7194" h="177265">
                    <a:moveTo>
                      <a:pt x="88488" y="177265"/>
                    </a:moveTo>
                    <a:cubicBezTo>
                      <a:pt x="110832" y="177265"/>
                      <a:pt x="134067" y="168324"/>
                      <a:pt x="151052" y="151335"/>
                    </a:cubicBezTo>
                    <a:cubicBezTo>
                      <a:pt x="185909" y="116463"/>
                      <a:pt x="185909" y="61026"/>
                      <a:pt x="151052" y="26154"/>
                    </a:cubicBezTo>
                    <a:cubicBezTo>
                      <a:pt x="116196" y="-8718"/>
                      <a:pt x="60774" y="-8718"/>
                      <a:pt x="25918" y="26154"/>
                    </a:cubicBezTo>
                    <a:cubicBezTo>
                      <a:pt x="8939" y="43143"/>
                      <a:pt x="0" y="65497"/>
                      <a:pt x="0" y="88745"/>
                    </a:cubicBezTo>
                    <a:cubicBezTo>
                      <a:pt x="0" y="111992"/>
                      <a:pt x="8939" y="134346"/>
                      <a:pt x="25918" y="151335"/>
                    </a:cubicBezTo>
                    <a:cubicBezTo>
                      <a:pt x="43795" y="168324"/>
                      <a:pt x="66138" y="177265"/>
                      <a:pt x="88488" y="177265"/>
                    </a:cubicBezTo>
                    <a:close/>
                    <a:moveTo>
                      <a:pt x="34856" y="35095"/>
                    </a:moveTo>
                    <a:cubicBezTo>
                      <a:pt x="50051" y="19895"/>
                      <a:pt x="68820" y="12742"/>
                      <a:pt x="88488" y="12742"/>
                    </a:cubicBezTo>
                    <a:cubicBezTo>
                      <a:pt x="108149" y="12742"/>
                      <a:pt x="127811" y="19895"/>
                      <a:pt x="142114" y="35095"/>
                    </a:cubicBezTo>
                    <a:cubicBezTo>
                      <a:pt x="171612" y="64603"/>
                      <a:pt x="171612" y="112887"/>
                      <a:pt x="142114" y="142393"/>
                    </a:cubicBezTo>
                    <a:cubicBezTo>
                      <a:pt x="112616" y="171901"/>
                      <a:pt x="64354" y="171901"/>
                      <a:pt x="34856" y="142393"/>
                    </a:cubicBezTo>
                    <a:cubicBezTo>
                      <a:pt x="20553" y="128087"/>
                      <a:pt x="12513" y="109310"/>
                      <a:pt x="12513" y="88745"/>
                    </a:cubicBezTo>
                    <a:cubicBezTo>
                      <a:pt x="12513" y="68179"/>
                      <a:pt x="20553" y="49402"/>
                      <a:pt x="34856" y="35095"/>
                    </a:cubicBezTo>
                    <a:close/>
                  </a:path>
                </a:pathLst>
              </a:custGeom>
              <a:solidFill>
                <a:srgbClr val="2D5967"/>
              </a:solidFill>
              <a:ln w="6417" cap="flat">
                <a:noFill/>
                <a:prstDash val="solid"/>
                <a:miter/>
              </a:ln>
            </p:spPr>
            <p:txBody>
              <a:bodyPr rtlCol="0" anchor="ctr"/>
              <a:lstStyle/>
              <a:p>
                <a:endParaRPr lang="en-US" sz="810"/>
              </a:p>
            </p:txBody>
          </p:sp>
        </p:grpSp>
      </p:grpSp>
      <p:sp>
        <p:nvSpPr>
          <p:cNvPr id="1203" name="テキスト ボックス 1202">
            <a:extLst>
              <a:ext uri="{FF2B5EF4-FFF2-40B4-BE49-F238E27FC236}">
                <a16:creationId xmlns:a16="http://schemas.microsoft.com/office/drawing/2014/main" id="{DBF44851-2EC8-34A8-8E7E-B7B52FE6D09C}"/>
              </a:ext>
            </a:extLst>
          </p:cNvPr>
          <p:cNvSpPr txBox="1"/>
          <p:nvPr/>
        </p:nvSpPr>
        <p:spPr>
          <a:xfrm>
            <a:off x="13798466" y="8415339"/>
            <a:ext cx="974947" cy="338554"/>
          </a:xfrm>
          <a:prstGeom prst="rect">
            <a:avLst/>
          </a:prstGeom>
          <a:noFill/>
        </p:spPr>
        <p:txBody>
          <a:bodyPr wrap="none" rtlCol="0">
            <a:spAutoFit/>
          </a:bodyPr>
          <a:lstStyle/>
          <a:p>
            <a:pPr algn="ctr"/>
            <a:r>
              <a:rPr lang="en-US" altLang="ja-JP" sz="1600">
                <a:solidFill>
                  <a:schemeClr val="bg1">
                    <a:lumMod val="10000"/>
                  </a:schemeClr>
                </a:solidFill>
                <a:latin typeface="Meiryo UI" panose="020B0604030504040204" pitchFamily="50" charset="-128"/>
                <a:ea typeface="Meiryo UI" panose="020B0604030504040204" pitchFamily="50" charset="-128"/>
              </a:rPr>
              <a:t>Logging</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cxnSp>
        <p:nvCxnSpPr>
          <p:cNvPr id="1204" name="直線コネクタ 1203">
            <a:extLst>
              <a:ext uri="{FF2B5EF4-FFF2-40B4-BE49-F238E27FC236}">
                <a16:creationId xmlns:a16="http://schemas.microsoft.com/office/drawing/2014/main" id="{567FEE05-F91F-6FF9-32DC-C3A0A18A8138}"/>
              </a:ext>
            </a:extLst>
          </p:cNvPr>
          <p:cNvCxnSpPr>
            <a:cxnSpLocks/>
            <a:stCxn id="1147" idx="4"/>
            <a:endCxn id="1181" idx="5"/>
          </p:cNvCxnSpPr>
          <p:nvPr/>
        </p:nvCxnSpPr>
        <p:spPr>
          <a:xfrm flipV="1">
            <a:off x="11787111" y="7610990"/>
            <a:ext cx="2126043" cy="402173"/>
          </a:xfrm>
          <a:prstGeom prst="line">
            <a:avLst/>
          </a:prstGeom>
          <a:ln w="1905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1208" name="直線コネクタ 1207">
            <a:extLst>
              <a:ext uri="{FF2B5EF4-FFF2-40B4-BE49-F238E27FC236}">
                <a16:creationId xmlns:a16="http://schemas.microsoft.com/office/drawing/2014/main" id="{A36BA7F7-9EFB-AD1E-3ED6-82F729C6ED74}"/>
              </a:ext>
            </a:extLst>
          </p:cNvPr>
          <p:cNvCxnSpPr>
            <a:cxnSpLocks/>
            <a:stCxn id="41" idx="2"/>
            <a:endCxn id="1114" idx="5"/>
          </p:cNvCxnSpPr>
          <p:nvPr/>
        </p:nvCxnSpPr>
        <p:spPr>
          <a:xfrm flipV="1">
            <a:off x="7041315" y="7858875"/>
            <a:ext cx="2591048" cy="558301"/>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211" name="図 1210">
            <a:extLst>
              <a:ext uri="{FF2B5EF4-FFF2-40B4-BE49-F238E27FC236}">
                <a16:creationId xmlns:a16="http://schemas.microsoft.com/office/drawing/2014/main" id="{ACDB3256-0706-01E7-AC97-7F942C6D474A}"/>
              </a:ext>
            </a:extLst>
          </p:cNvPr>
          <p:cNvPicPr>
            <a:picLocks noChangeAspect="1"/>
          </p:cNvPicPr>
          <p:nvPr/>
        </p:nvPicPr>
        <p:blipFill>
          <a:blip r:embed="rId10"/>
          <a:stretch>
            <a:fillRect/>
          </a:stretch>
        </p:blipFill>
        <p:spPr>
          <a:xfrm flipH="1">
            <a:off x="2929019" y="8071724"/>
            <a:ext cx="477161" cy="705177"/>
          </a:xfrm>
          <a:prstGeom prst="rect">
            <a:avLst/>
          </a:prstGeom>
        </p:spPr>
      </p:pic>
      <p:sp>
        <p:nvSpPr>
          <p:cNvPr id="1212" name="テキスト ボックス 1211">
            <a:extLst>
              <a:ext uri="{FF2B5EF4-FFF2-40B4-BE49-F238E27FC236}">
                <a16:creationId xmlns:a16="http://schemas.microsoft.com/office/drawing/2014/main" id="{3DA0B407-26E4-947B-C4C3-1A14BE233292}"/>
              </a:ext>
            </a:extLst>
          </p:cNvPr>
          <p:cNvSpPr txBox="1"/>
          <p:nvPr/>
        </p:nvSpPr>
        <p:spPr>
          <a:xfrm>
            <a:off x="2632590" y="8829053"/>
            <a:ext cx="1085554" cy="276999"/>
          </a:xfrm>
          <a:prstGeom prst="rect">
            <a:avLst/>
          </a:prstGeom>
          <a:noFill/>
        </p:spPr>
        <p:txBody>
          <a:bodyPr wrap="none" rtlCol="0">
            <a:spAutoFit/>
          </a:bodyPr>
          <a:lstStyle/>
          <a:p>
            <a:pPr algn="l"/>
            <a:r>
              <a:rPr kumimoji="1" lang="ja-JP" altLang="en-US" sz="1200">
                <a:solidFill>
                  <a:schemeClr val="bg1">
                    <a:lumMod val="10000"/>
                  </a:schemeClr>
                </a:solidFill>
                <a:latin typeface="Meiryo UI" panose="020B0604030504040204" pitchFamily="50" charset="-128"/>
                <a:ea typeface="Meiryo UI" panose="020B0604030504040204" pitchFamily="50" charset="-128"/>
              </a:rPr>
              <a:t>レシートプリンタ</a:t>
            </a:r>
          </a:p>
        </p:txBody>
      </p:sp>
      <p:sp>
        <p:nvSpPr>
          <p:cNvPr id="1216" name="四角形: 角を丸くする 1215">
            <a:extLst>
              <a:ext uri="{FF2B5EF4-FFF2-40B4-BE49-F238E27FC236}">
                <a16:creationId xmlns:a16="http://schemas.microsoft.com/office/drawing/2014/main" id="{6D64FEBF-9E26-389E-4C7A-1B18F6647A19}"/>
              </a:ext>
            </a:extLst>
          </p:cNvPr>
          <p:cNvSpPr/>
          <p:nvPr/>
        </p:nvSpPr>
        <p:spPr>
          <a:xfrm>
            <a:off x="907774" y="4052508"/>
            <a:ext cx="3093960" cy="2915753"/>
          </a:xfrm>
          <a:prstGeom prst="roundRect">
            <a:avLst>
              <a:gd name="adj" fmla="val 10297"/>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1600">
                <a:solidFill>
                  <a:srgbClr val="59574C"/>
                </a:solidFill>
                <a:latin typeface="Source Sans Pro" panose="020B0503030403020204" pitchFamily="34" charset="0"/>
                <a:ea typeface="源ノ角ゴシック JP Regular" panose="020B0500000000000000" pitchFamily="34" charset="-128"/>
              </a:rPr>
              <a:t>POS</a:t>
            </a:r>
            <a:r>
              <a:rPr kumimoji="1" lang="ja-JP" altLang="en-US" sz="1600">
                <a:solidFill>
                  <a:srgbClr val="59574C"/>
                </a:solidFill>
                <a:latin typeface="Source Sans Pro" panose="020B0503030403020204" pitchFamily="34" charset="0"/>
                <a:ea typeface="源ノ角ゴシック JP Regular" panose="020B0500000000000000" pitchFamily="34" charset="-128"/>
              </a:rPr>
              <a:t>周辺デバイス</a:t>
            </a:r>
          </a:p>
        </p:txBody>
      </p:sp>
      <p:cxnSp>
        <p:nvCxnSpPr>
          <p:cNvPr id="1217" name="直線コネクタ 1216">
            <a:extLst>
              <a:ext uri="{FF2B5EF4-FFF2-40B4-BE49-F238E27FC236}">
                <a16:creationId xmlns:a16="http://schemas.microsoft.com/office/drawing/2014/main" id="{B8404F12-85EE-7E16-46C8-605E4256071E}"/>
              </a:ext>
            </a:extLst>
          </p:cNvPr>
          <p:cNvCxnSpPr>
            <a:cxnSpLocks/>
            <a:stCxn id="1211" idx="1"/>
            <a:endCxn id="41" idx="0"/>
          </p:cNvCxnSpPr>
          <p:nvPr/>
        </p:nvCxnSpPr>
        <p:spPr>
          <a:xfrm flipV="1">
            <a:off x="3406180" y="8417176"/>
            <a:ext cx="2697407" cy="7137"/>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21" name="直線コネクタ 1220">
            <a:extLst>
              <a:ext uri="{FF2B5EF4-FFF2-40B4-BE49-F238E27FC236}">
                <a16:creationId xmlns:a16="http://schemas.microsoft.com/office/drawing/2014/main" id="{D164B08D-4D6E-200A-959B-B684F8298DC6}"/>
              </a:ext>
            </a:extLst>
          </p:cNvPr>
          <p:cNvCxnSpPr>
            <a:cxnSpLocks/>
            <a:stCxn id="1216" idx="3"/>
            <a:endCxn id="1026" idx="1"/>
          </p:cNvCxnSpPr>
          <p:nvPr/>
        </p:nvCxnSpPr>
        <p:spPr>
          <a:xfrm>
            <a:off x="4001734" y="5510385"/>
            <a:ext cx="112384" cy="281967"/>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E47C2488-8918-63EC-0679-0CF42E7BB194}"/>
              </a:ext>
            </a:extLst>
          </p:cNvPr>
          <p:cNvSpPr txBox="1"/>
          <p:nvPr/>
        </p:nvSpPr>
        <p:spPr>
          <a:xfrm>
            <a:off x="3079251" y="4675012"/>
            <a:ext cx="652743" cy="276999"/>
          </a:xfrm>
          <a:prstGeom prst="rect">
            <a:avLst/>
          </a:prstGeom>
          <a:noFill/>
        </p:spPr>
        <p:txBody>
          <a:bodyPr wrap="none" rtlCol="0">
            <a:spAutoFit/>
          </a:bodyPr>
          <a:lstStyle/>
          <a:p>
            <a:pPr algn="l"/>
            <a:r>
              <a:rPr lang="ja-JP" altLang="en-US" sz="1200">
                <a:solidFill>
                  <a:schemeClr val="bg1">
                    <a:lumMod val="10000"/>
                  </a:schemeClr>
                </a:solidFill>
                <a:latin typeface="Meiryo UI" panose="020B0604030504040204" pitchFamily="50" charset="-128"/>
                <a:ea typeface="Meiryo UI" panose="020B0604030504040204" pitchFamily="50" charset="-128"/>
              </a:rPr>
              <a:t>スキャナ</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9AA065A2-F908-2CD3-E143-898EE3514292}"/>
              </a:ext>
            </a:extLst>
          </p:cNvPr>
          <p:cNvSpPr txBox="1"/>
          <p:nvPr/>
        </p:nvSpPr>
        <p:spPr>
          <a:xfrm>
            <a:off x="544207" y="1273473"/>
            <a:ext cx="17199585" cy="1615827"/>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個別のアプリ改修を減らし、改修サイクル短縮のため、業務機能（ロジック）をクラウド上の</a:t>
            </a:r>
            <a:r>
              <a:rPr lang="en-US" altLang="ja-JP" sz="2400">
                <a:latin typeface="メイリオ" panose="020B0604030504040204" pitchFamily="50" charset="-128"/>
                <a:ea typeface="メイリオ" panose="020B0604030504040204" pitchFamily="50" charset="-128"/>
              </a:rPr>
              <a:t>API</a:t>
            </a:r>
            <a:r>
              <a:rPr lang="ja-JP" altLang="en-US" sz="2400">
                <a:latin typeface="メイリオ" panose="020B0604030504040204" pitchFamily="50" charset="-128"/>
                <a:ea typeface="メイリオ" panose="020B0604030504040204" pitchFamily="50" charset="-128"/>
              </a:rPr>
              <a:t>として実装します。</a:t>
            </a:r>
            <a:br>
              <a:rPr lang="en-US" altLang="ja-JP" sz="2400">
                <a:latin typeface="メイリオ" panose="020B0604030504040204" pitchFamily="50" charset="-128"/>
                <a:ea typeface="メイリオ" panose="020B0604030504040204" pitchFamily="50" charset="-128"/>
              </a:rPr>
            </a:br>
            <a:r>
              <a:rPr lang="en-US" altLang="ja-JP" sz="2400">
                <a:latin typeface="メイリオ" panose="020B0604030504040204" pitchFamily="50" charset="-128"/>
                <a:ea typeface="メイリオ" panose="020B0604030504040204" pitchFamily="50" charset="-128"/>
              </a:rPr>
              <a:t>※</a:t>
            </a:r>
            <a:r>
              <a:rPr lang="ja-JP" altLang="en-US" sz="2400">
                <a:latin typeface="メイリオ" panose="020B0604030504040204" pitchFamily="50" charset="-128"/>
                <a:ea typeface="メイリオ" panose="020B0604030504040204" pitchFamily="50" charset="-128"/>
              </a:rPr>
              <a:t>オフライン機能を実現するため、端末アプリにも業務ロジックは残ります。</a:t>
            </a:r>
            <a:endParaRPr lang="en-US" altLang="ja-JP" sz="24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en-US" altLang="ja-JP" sz="2400">
                <a:latin typeface="メイリオ" panose="020B0604030504040204" pitchFamily="50" charset="-128"/>
                <a:ea typeface="メイリオ" panose="020B0604030504040204" pitchFamily="50" charset="-128"/>
              </a:rPr>
              <a:t>API</a:t>
            </a:r>
            <a:r>
              <a:rPr lang="ja-JP" altLang="en-US" sz="2400">
                <a:latin typeface="メイリオ" panose="020B0604030504040204" pitchFamily="50" charset="-128"/>
                <a:ea typeface="メイリオ" panose="020B0604030504040204" pitchFamily="50" charset="-128"/>
              </a:rPr>
              <a:t>は将来的にタブレット</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以外のシステムからも利用できるマイクロサービス化を目指します。</a:t>
            </a:r>
            <a:endParaRPr lang="en-US" altLang="ja-JP" sz="2400">
              <a:latin typeface="メイリオ" panose="020B0604030504040204" pitchFamily="50" charset="-128"/>
              <a:ea typeface="メイリオ" panose="020B0604030504040204" pitchFamily="50" charset="-128"/>
            </a:endParaRPr>
          </a:p>
        </p:txBody>
      </p:sp>
      <p:pic>
        <p:nvPicPr>
          <p:cNvPr id="18" name="図 17">
            <a:extLst>
              <a:ext uri="{FF2B5EF4-FFF2-40B4-BE49-F238E27FC236}">
                <a16:creationId xmlns:a16="http://schemas.microsoft.com/office/drawing/2014/main" id="{07B18080-2CC1-CF1E-CD80-9484FF884A7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29910" y="5175836"/>
            <a:ext cx="719491" cy="719491"/>
          </a:xfrm>
          <a:prstGeom prst="rect">
            <a:avLst/>
          </a:prstGeom>
        </p:spPr>
      </p:pic>
      <p:pic>
        <p:nvPicPr>
          <p:cNvPr id="19" name="図 18">
            <a:extLst>
              <a:ext uri="{FF2B5EF4-FFF2-40B4-BE49-F238E27FC236}">
                <a16:creationId xmlns:a16="http://schemas.microsoft.com/office/drawing/2014/main" id="{74D68C59-2492-841F-B75E-529A4C20F8A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291924" y="8168329"/>
            <a:ext cx="570676" cy="570676"/>
          </a:xfrm>
          <a:prstGeom prst="rect">
            <a:avLst/>
          </a:prstGeom>
        </p:spPr>
      </p:pic>
      <p:cxnSp>
        <p:nvCxnSpPr>
          <p:cNvPr id="22" name="直線コネクタ 21">
            <a:extLst>
              <a:ext uri="{FF2B5EF4-FFF2-40B4-BE49-F238E27FC236}">
                <a16:creationId xmlns:a16="http://schemas.microsoft.com/office/drawing/2014/main" id="{54E10ED4-E03D-8ED8-550E-ADE46CC310E5}"/>
              </a:ext>
            </a:extLst>
          </p:cNvPr>
          <p:cNvCxnSpPr>
            <a:cxnSpLocks/>
          </p:cNvCxnSpPr>
          <p:nvPr/>
        </p:nvCxnSpPr>
        <p:spPr>
          <a:xfrm>
            <a:off x="4001734" y="6085739"/>
            <a:ext cx="446544" cy="1401977"/>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41BB2DF3-C05D-2A57-6FE1-4F7B24272E98}"/>
              </a:ext>
            </a:extLst>
          </p:cNvPr>
          <p:cNvCxnSpPr>
            <a:cxnSpLocks/>
            <a:endCxn id="1113" idx="1"/>
          </p:cNvCxnSpPr>
          <p:nvPr/>
        </p:nvCxnSpPr>
        <p:spPr>
          <a:xfrm>
            <a:off x="6202176" y="7487716"/>
            <a:ext cx="3430184" cy="371155"/>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20" name="テキスト ボックス 1119">
            <a:extLst>
              <a:ext uri="{FF2B5EF4-FFF2-40B4-BE49-F238E27FC236}">
                <a16:creationId xmlns:a16="http://schemas.microsoft.com/office/drawing/2014/main" id="{08003D54-AD01-5CAE-9D09-C3A1CFDD3745}"/>
              </a:ext>
            </a:extLst>
          </p:cNvPr>
          <p:cNvSpPr txBox="1"/>
          <p:nvPr/>
        </p:nvSpPr>
        <p:spPr>
          <a:xfrm>
            <a:off x="4490264" y="8046883"/>
            <a:ext cx="1544039" cy="276999"/>
          </a:xfrm>
          <a:prstGeom prst="rect">
            <a:avLst/>
          </a:prstGeom>
          <a:noFill/>
        </p:spPr>
        <p:txBody>
          <a:bodyPr wrap="square" rtlCol="0">
            <a:spAutoFit/>
          </a:bodyPr>
          <a:lstStyle/>
          <a:p>
            <a:pPr algn="l"/>
            <a:r>
              <a:rPr kumimoji="1" lang="ja-JP" altLang="en-US" sz="1200">
                <a:solidFill>
                  <a:schemeClr val="bg1">
                    <a:lumMod val="10000"/>
                  </a:schemeClr>
                </a:solidFill>
                <a:latin typeface="Meiryo UI" panose="020B0604030504040204" pitchFamily="50" charset="-128"/>
                <a:ea typeface="Meiryo UI" panose="020B0604030504040204" pitchFamily="50" charset="-128"/>
              </a:rPr>
              <a:t>新</a:t>
            </a:r>
            <a:r>
              <a:rPr kumimoji="1" lang="en-US" altLang="ja-JP" sz="1200">
                <a:solidFill>
                  <a:schemeClr val="bg1">
                    <a:lumMod val="10000"/>
                  </a:schemeClr>
                </a:solidFill>
                <a:latin typeface="Meiryo UI" panose="020B0604030504040204" pitchFamily="50" charset="-128"/>
                <a:ea typeface="Meiryo UI" panose="020B0604030504040204" pitchFamily="50" charset="-128"/>
              </a:rPr>
              <a:t>Windows POS</a:t>
            </a:r>
            <a:endParaRPr kumimoji="1" lang="ja-JP" altLang="en-US" sz="1200">
              <a:solidFill>
                <a:schemeClr val="bg1">
                  <a:lumMod val="10000"/>
                </a:schemeClr>
              </a:solidFill>
              <a:latin typeface="Meiryo UI" panose="020B0604030504040204" pitchFamily="50" charset="-128"/>
              <a:ea typeface="Meiryo UI" panose="020B0604030504040204" pitchFamily="50" charset="-128"/>
            </a:endParaRPr>
          </a:p>
        </p:txBody>
      </p:sp>
      <p:pic>
        <p:nvPicPr>
          <p:cNvPr id="1159" name="図 1158" descr="電子機器, コンピュータ が含まれている画像&#10;&#10;AI によって生成されたコンテンツは間違っている可能性があります。">
            <a:extLst>
              <a:ext uri="{FF2B5EF4-FFF2-40B4-BE49-F238E27FC236}">
                <a16:creationId xmlns:a16="http://schemas.microsoft.com/office/drawing/2014/main" id="{7D5F4829-4F55-49A9-B3F4-9129893D1268}"/>
              </a:ext>
            </a:extLst>
          </p:cNvPr>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994799" y="3690334"/>
            <a:ext cx="1456767" cy="1957572"/>
          </a:xfrm>
          <a:prstGeom prst="rect">
            <a:avLst/>
          </a:prstGeom>
        </p:spPr>
      </p:pic>
      <p:pic>
        <p:nvPicPr>
          <p:cNvPr id="1161" name="図 1160">
            <a:extLst>
              <a:ext uri="{FF2B5EF4-FFF2-40B4-BE49-F238E27FC236}">
                <a16:creationId xmlns:a16="http://schemas.microsoft.com/office/drawing/2014/main" id="{489B3F1D-1FFD-FA0F-B08E-3CA1A681EC6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323531" y="4172057"/>
            <a:ext cx="719491" cy="719491"/>
          </a:xfrm>
          <a:prstGeom prst="rect">
            <a:avLst/>
          </a:prstGeom>
        </p:spPr>
      </p:pic>
      <p:sp>
        <p:nvSpPr>
          <p:cNvPr id="1162" name="四角形: 角を丸くする 1161">
            <a:extLst>
              <a:ext uri="{FF2B5EF4-FFF2-40B4-BE49-F238E27FC236}">
                <a16:creationId xmlns:a16="http://schemas.microsoft.com/office/drawing/2014/main" id="{3B72FBEB-AD36-1FBE-2E88-EDAD853AA1EA}"/>
              </a:ext>
            </a:extLst>
          </p:cNvPr>
          <p:cNvSpPr/>
          <p:nvPr/>
        </p:nvSpPr>
        <p:spPr>
          <a:xfrm>
            <a:off x="9080247" y="4178885"/>
            <a:ext cx="5066200" cy="2007635"/>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現行サーバー群</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
        <p:nvSpPr>
          <p:cNvPr id="1163" name="Freeform: Shape 24">
            <a:extLst>
              <a:ext uri="{FF2B5EF4-FFF2-40B4-BE49-F238E27FC236}">
                <a16:creationId xmlns:a16="http://schemas.microsoft.com/office/drawing/2014/main" id="{D3ED479D-4204-9794-11C4-34D587544277}"/>
              </a:ext>
            </a:extLst>
          </p:cNvPr>
          <p:cNvSpPr/>
          <p:nvPr/>
        </p:nvSpPr>
        <p:spPr>
          <a:xfrm>
            <a:off x="9693312" y="4889370"/>
            <a:ext cx="742337" cy="782621"/>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164" name="Freeform: Shape 24">
            <a:extLst>
              <a:ext uri="{FF2B5EF4-FFF2-40B4-BE49-F238E27FC236}">
                <a16:creationId xmlns:a16="http://schemas.microsoft.com/office/drawing/2014/main" id="{C67A4187-858A-8FC6-22FA-7441E2FF2AB5}"/>
              </a:ext>
            </a:extLst>
          </p:cNvPr>
          <p:cNvSpPr/>
          <p:nvPr/>
        </p:nvSpPr>
        <p:spPr>
          <a:xfrm>
            <a:off x="10768823" y="4889369"/>
            <a:ext cx="742337" cy="782621"/>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165" name="Freeform: Shape 24">
            <a:extLst>
              <a:ext uri="{FF2B5EF4-FFF2-40B4-BE49-F238E27FC236}">
                <a16:creationId xmlns:a16="http://schemas.microsoft.com/office/drawing/2014/main" id="{C7676828-5891-969C-8C0B-4964A85C30CC}"/>
              </a:ext>
            </a:extLst>
          </p:cNvPr>
          <p:cNvSpPr/>
          <p:nvPr/>
        </p:nvSpPr>
        <p:spPr>
          <a:xfrm>
            <a:off x="11844334" y="4889368"/>
            <a:ext cx="742337" cy="782621"/>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166" name="Freeform: Shape 24">
            <a:extLst>
              <a:ext uri="{FF2B5EF4-FFF2-40B4-BE49-F238E27FC236}">
                <a16:creationId xmlns:a16="http://schemas.microsoft.com/office/drawing/2014/main" id="{EDF6E785-EFEA-5A4A-D202-7CD155739483}"/>
              </a:ext>
            </a:extLst>
          </p:cNvPr>
          <p:cNvSpPr/>
          <p:nvPr/>
        </p:nvSpPr>
        <p:spPr>
          <a:xfrm>
            <a:off x="12919845" y="4889367"/>
            <a:ext cx="742337" cy="782621"/>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167" name="テキスト ボックス 1166">
            <a:extLst>
              <a:ext uri="{FF2B5EF4-FFF2-40B4-BE49-F238E27FC236}">
                <a16:creationId xmlns:a16="http://schemas.microsoft.com/office/drawing/2014/main" id="{4B886A7B-9CB2-53C2-FD4D-A157B5C7992B}"/>
              </a:ext>
            </a:extLst>
          </p:cNvPr>
          <p:cNvSpPr txBox="1"/>
          <p:nvPr/>
        </p:nvSpPr>
        <p:spPr>
          <a:xfrm>
            <a:off x="9650893" y="5719891"/>
            <a:ext cx="808235" cy="338554"/>
          </a:xfrm>
          <a:prstGeom prst="rect">
            <a:avLst/>
          </a:prstGeom>
          <a:noFill/>
        </p:spPr>
        <p:txBody>
          <a:bodyPr wrap="none" rtlCol="0">
            <a:spAutoFit/>
          </a:bodyPr>
          <a:lstStyle/>
          <a:p>
            <a:pPr algn="ctr"/>
            <a:r>
              <a:rPr lang="ja-JP" altLang="en-US" sz="1600">
                <a:solidFill>
                  <a:schemeClr val="bg1">
                    <a:lumMod val="10000"/>
                  </a:schemeClr>
                </a:solidFill>
                <a:latin typeface="Meiryo UI" panose="020B0604030504040204" pitchFamily="50" charset="-128"/>
                <a:ea typeface="Meiryo UI" panose="020B0604030504040204" pitchFamily="50" charset="-128"/>
              </a:rPr>
              <a:t>マスター</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
        <p:nvSpPr>
          <p:cNvPr id="1168" name="テキスト ボックス 1167">
            <a:extLst>
              <a:ext uri="{FF2B5EF4-FFF2-40B4-BE49-F238E27FC236}">
                <a16:creationId xmlns:a16="http://schemas.microsoft.com/office/drawing/2014/main" id="{B1FA6139-FE6B-20C9-12AE-C2D76EF1A67F}"/>
              </a:ext>
            </a:extLst>
          </p:cNvPr>
          <p:cNvSpPr txBox="1"/>
          <p:nvPr/>
        </p:nvSpPr>
        <p:spPr>
          <a:xfrm>
            <a:off x="10684008" y="5696171"/>
            <a:ext cx="1005403" cy="338554"/>
          </a:xfrm>
          <a:prstGeom prst="rect">
            <a:avLst/>
          </a:prstGeom>
          <a:noFill/>
        </p:spPr>
        <p:txBody>
          <a:bodyPr wrap="none" rtlCol="0">
            <a:spAutoFit/>
          </a:bodyPr>
          <a:lstStyle/>
          <a:p>
            <a:pPr algn="ctr"/>
            <a:r>
              <a:rPr lang="ja-JP" altLang="en-US" sz="1600">
                <a:solidFill>
                  <a:schemeClr val="bg1">
                    <a:lumMod val="10000"/>
                  </a:schemeClr>
                </a:solidFill>
                <a:latin typeface="Meiryo UI" panose="020B0604030504040204" pitchFamily="50" charset="-128"/>
                <a:ea typeface="Meiryo UI" panose="020B0604030504040204" pitchFamily="50" charset="-128"/>
              </a:rPr>
              <a:t>顧客管理</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
        <p:nvSpPr>
          <p:cNvPr id="1171" name="テキスト ボックス 1170">
            <a:extLst>
              <a:ext uri="{FF2B5EF4-FFF2-40B4-BE49-F238E27FC236}">
                <a16:creationId xmlns:a16="http://schemas.microsoft.com/office/drawing/2014/main" id="{6FAC4F14-E8A3-77D6-ECF3-010A84E5D468}"/>
              </a:ext>
            </a:extLst>
          </p:cNvPr>
          <p:cNvSpPr txBox="1"/>
          <p:nvPr/>
        </p:nvSpPr>
        <p:spPr>
          <a:xfrm>
            <a:off x="11847964" y="5692269"/>
            <a:ext cx="740203" cy="338554"/>
          </a:xfrm>
          <a:prstGeom prst="rect">
            <a:avLst/>
          </a:prstGeom>
          <a:noFill/>
        </p:spPr>
        <p:txBody>
          <a:bodyPr wrap="none" rtlCol="0">
            <a:spAutoFit/>
          </a:bodyPr>
          <a:lstStyle/>
          <a:p>
            <a:pPr algn="ctr"/>
            <a:r>
              <a:rPr lang="en-US" altLang="ja-JP" sz="1600">
                <a:solidFill>
                  <a:schemeClr val="bg1">
                    <a:lumMod val="10000"/>
                  </a:schemeClr>
                </a:solidFill>
                <a:latin typeface="Meiryo UI" panose="020B0604030504040204" pitchFamily="50" charset="-128"/>
                <a:ea typeface="Meiryo UI" panose="020B0604030504040204" pitchFamily="50" charset="-128"/>
              </a:rPr>
              <a:t>TCDC</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
        <p:nvSpPr>
          <p:cNvPr id="1172" name="テキスト ボックス 1171">
            <a:extLst>
              <a:ext uri="{FF2B5EF4-FFF2-40B4-BE49-F238E27FC236}">
                <a16:creationId xmlns:a16="http://schemas.microsoft.com/office/drawing/2014/main" id="{10DBFFFD-212E-121C-C327-5A787510FD69}"/>
              </a:ext>
            </a:extLst>
          </p:cNvPr>
          <p:cNvSpPr txBox="1"/>
          <p:nvPr/>
        </p:nvSpPr>
        <p:spPr>
          <a:xfrm>
            <a:off x="13007381" y="5687617"/>
            <a:ext cx="627095" cy="338554"/>
          </a:xfrm>
          <a:prstGeom prst="rect">
            <a:avLst/>
          </a:prstGeom>
          <a:noFill/>
        </p:spPr>
        <p:txBody>
          <a:bodyPr wrap="none" rtlCol="0">
            <a:spAutoFit/>
          </a:bodyPr>
          <a:lstStyle/>
          <a:p>
            <a:pPr algn="ctr"/>
            <a:r>
              <a:rPr lang="ja-JP" altLang="en-US" sz="1600">
                <a:solidFill>
                  <a:schemeClr val="bg1">
                    <a:lumMod val="10000"/>
                  </a:schemeClr>
                </a:solidFill>
                <a:latin typeface="Meiryo UI" panose="020B0604030504040204" pitchFamily="50" charset="-128"/>
                <a:ea typeface="Meiryo UI" panose="020B0604030504040204" pitchFamily="50" charset="-128"/>
              </a:rPr>
              <a:t>トラン</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cxnSp>
        <p:nvCxnSpPr>
          <p:cNvPr id="1174" name="直線コネクタ 1173">
            <a:extLst>
              <a:ext uri="{FF2B5EF4-FFF2-40B4-BE49-F238E27FC236}">
                <a16:creationId xmlns:a16="http://schemas.microsoft.com/office/drawing/2014/main" id="{673346C3-BB06-9EF8-CD18-E54832E85145}"/>
              </a:ext>
            </a:extLst>
          </p:cNvPr>
          <p:cNvCxnSpPr>
            <a:cxnSpLocks/>
            <a:stCxn id="1162" idx="2"/>
            <a:endCxn id="40" idx="0"/>
          </p:cNvCxnSpPr>
          <p:nvPr/>
        </p:nvCxnSpPr>
        <p:spPr>
          <a:xfrm>
            <a:off x="11613347" y="6186520"/>
            <a:ext cx="1622161" cy="522244"/>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05" name="直線コネクタ 1204">
            <a:extLst>
              <a:ext uri="{FF2B5EF4-FFF2-40B4-BE49-F238E27FC236}">
                <a16:creationId xmlns:a16="http://schemas.microsoft.com/office/drawing/2014/main" id="{C600C2DC-A07F-8577-7131-E2CFAC76FE23}"/>
              </a:ext>
            </a:extLst>
          </p:cNvPr>
          <p:cNvCxnSpPr>
            <a:cxnSpLocks/>
            <a:stCxn id="1161" idx="3"/>
            <a:endCxn id="13" idx="21"/>
          </p:cNvCxnSpPr>
          <p:nvPr/>
        </p:nvCxnSpPr>
        <p:spPr>
          <a:xfrm>
            <a:off x="7043022" y="4531803"/>
            <a:ext cx="711201" cy="239106"/>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210" name="テキスト ボックス 1209">
            <a:extLst>
              <a:ext uri="{FF2B5EF4-FFF2-40B4-BE49-F238E27FC236}">
                <a16:creationId xmlns:a16="http://schemas.microsoft.com/office/drawing/2014/main" id="{84998ADC-344B-3C3E-1630-2959DF2495C0}"/>
              </a:ext>
            </a:extLst>
          </p:cNvPr>
          <p:cNvSpPr txBox="1"/>
          <p:nvPr/>
        </p:nvSpPr>
        <p:spPr>
          <a:xfrm>
            <a:off x="11661524" y="6903057"/>
            <a:ext cx="3735318" cy="400110"/>
          </a:xfrm>
          <a:prstGeom prst="rect">
            <a:avLst/>
          </a:prstGeom>
          <a:solidFill>
            <a:schemeClr val="bg1">
              <a:lumMod val="90000"/>
            </a:schemeClr>
          </a:solidFill>
        </p:spPr>
        <p:txBody>
          <a:bodyPr wrap="none" rtlCol="0">
            <a:spAutoFit/>
          </a:bodyPr>
          <a:lstStyle/>
          <a:p>
            <a:pPr algn="l"/>
            <a:r>
              <a:rPr kumimoji="1" lang="ja-JP" altLang="en-US" sz="2000">
                <a:solidFill>
                  <a:schemeClr val="bg1">
                    <a:lumMod val="10000"/>
                  </a:schemeClr>
                </a:solidFill>
                <a:latin typeface="Meiryo UI" panose="020B0604030504040204" pitchFamily="50" charset="-128"/>
                <a:ea typeface="Meiryo UI" panose="020B0604030504040204" pitchFamily="50" charset="-128"/>
              </a:rPr>
              <a:t>業務機能はクラウド上で実行します</a:t>
            </a:r>
            <a:endParaRPr kumimoji="1" lang="ja-JP" altLang="en-US" sz="2000" dirty="0">
              <a:solidFill>
                <a:schemeClr val="bg1">
                  <a:lumMod val="10000"/>
                </a:schemeClr>
              </a:solidFill>
              <a:latin typeface="Meiryo UI" panose="020B0604030504040204" pitchFamily="50" charset="-128"/>
              <a:ea typeface="Meiryo UI" panose="020B0604030504040204" pitchFamily="50" charset="-128"/>
            </a:endParaRPr>
          </a:p>
        </p:txBody>
      </p:sp>
      <p:sp>
        <p:nvSpPr>
          <p:cNvPr id="1223" name="テキスト ボックス 1222">
            <a:extLst>
              <a:ext uri="{FF2B5EF4-FFF2-40B4-BE49-F238E27FC236}">
                <a16:creationId xmlns:a16="http://schemas.microsoft.com/office/drawing/2014/main" id="{56A948F3-8306-2A10-E7C7-A9D6C6600F72}"/>
              </a:ext>
            </a:extLst>
          </p:cNvPr>
          <p:cNvSpPr txBox="1"/>
          <p:nvPr/>
        </p:nvSpPr>
        <p:spPr>
          <a:xfrm>
            <a:off x="1873165" y="9158204"/>
            <a:ext cx="6058069" cy="707886"/>
          </a:xfrm>
          <a:prstGeom prst="rect">
            <a:avLst/>
          </a:prstGeom>
          <a:solidFill>
            <a:schemeClr val="bg1">
              <a:lumMod val="90000"/>
            </a:schemeClr>
          </a:solidFill>
        </p:spPr>
        <p:txBody>
          <a:bodyPr wrap="non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rPr>
              <a:t>現行</a:t>
            </a:r>
            <a:r>
              <a:rPr kumimoji="1" lang="en-US" altLang="ja-JP" sz="2000" dirty="0">
                <a:solidFill>
                  <a:schemeClr val="bg1">
                    <a:lumMod val="10000"/>
                  </a:schemeClr>
                </a:solidFill>
                <a:latin typeface="Meiryo UI" panose="020B0604030504040204" pitchFamily="50" charset="-128"/>
                <a:ea typeface="Meiryo UI" panose="020B0604030504040204" pitchFamily="50" charset="-128"/>
              </a:rPr>
              <a:t>POS</a:t>
            </a:r>
            <a:r>
              <a:rPr kumimoji="1" lang="ja-JP" altLang="en-US" sz="2000" dirty="0">
                <a:solidFill>
                  <a:schemeClr val="bg1">
                    <a:lumMod val="10000"/>
                  </a:schemeClr>
                </a:solidFill>
                <a:latin typeface="Meiryo UI" panose="020B0604030504040204" pitchFamily="50" charset="-128"/>
                <a:ea typeface="Meiryo UI" panose="020B0604030504040204" pitchFamily="50" charset="-128"/>
              </a:rPr>
              <a:t>で登録したデータをタブレット</a:t>
            </a:r>
            <a:r>
              <a:rPr kumimoji="1" lang="en-US" altLang="ja-JP" sz="2000" dirty="0">
                <a:solidFill>
                  <a:schemeClr val="bg1">
                    <a:lumMod val="10000"/>
                  </a:schemeClr>
                </a:solidFill>
                <a:latin typeface="Meiryo UI" panose="020B0604030504040204" pitchFamily="50" charset="-128"/>
                <a:ea typeface="Meiryo UI" panose="020B0604030504040204" pitchFamily="50" charset="-128"/>
              </a:rPr>
              <a:t>POS</a:t>
            </a:r>
            <a:r>
              <a:rPr kumimoji="1" lang="ja-JP" altLang="en-US" sz="2000" dirty="0">
                <a:solidFill>
                  <a:schemeClr val="bg1">
                    <a:lumMod val="10000"/>
                  </a:schemeClr>
                </a:solidFill>
                <a:latin typeface="Meiryo UI" panose="020B0604030504040204" pitchFamily="50" charset="-128"/>
                <a:ea typeface="Meiryo UI" panose="020B0604030504040204" pitchFamily="50" charset="-128"/>
              </a:rPr>
              <a:t>で利用できます</a:t>
            </a:r>
            <a:endParaRPr kumimoji="1" lang="en-US" altLang="ja-JP" sz="2000" dirty="0">
              <a:solidFill>
                <a:schemeClr val="bg1">
                  <a:lumMod val="10000"/>
                </a:schemeClr>
              </a:solidFill>
              <a:latin typeface="Meiryo UI" panose="020B0604030504040204" pitchFamily="50" charset="-128"/>
              <a:ea typeface="Meiryo UI" panose="020B0604030504040204" pitchFamily="50" charset="-128"/>
            </a:endParaRPr>
          </a:p>
          <a:p>
            <a:pPr algn="l"/>
            <a:r>
              <a:rPr lang="ja-JP" altLang="en-US" sz="2000" dirty="0">
                <a:solidFill>
                  <a:schemeClr val="bg1">
                    <a:lumMod val="10000"/>
                  </a:schemeClr>
                </a:solidFill>
                <a:latin typeface="Meiryo UI" panose="020B0604030504040204" pitchFamily="50" charset="-128"/>
                <a:ea typeface="Meiryo UI" panose="020B0604030504040204" pitchFamily="50" charset="-128"/>
              </a:rPr>
              <a:t>オフライン機能・デバイス制御はアプリで実行</a:t>
            </a:r>
            <a:endParaRPr kumimoji="1" lang="ja-JP" altLang="en-US" sz="2000" dirty="0">
              <a:solidFill>
                <a:schemeClr val="bg1">
                  <a:lumMod val="10000"/>
                </a:schemeClr>
              </a:solidFill>
              <a:latin typeface="Meiryo UI" panose="020B0604030504040204" pitchFamily="50" charset="-128"/>
              <a:ea typeface="Meiryo UI" panose="020B0604030504040204" pitchFamily="50" charset="-128"/>
            </a:endParaRPr>
          </a:p>
        </p:txBody>
      </p:sp>
      <p:sp>
        <p:nvSpPr>
          <p:cNvPr id="1224" name="テキスト ボックス 1223">
            <a:extLst>
              <a:ext uri="{FF2B5EF4-FFF2-40B4-BE49-F238E27FC236}">
                <a16:creationId xmlns:a16="http://schemas.microsoft.com/office/drawing/2014/main" id="{61504AAE-3054-9CBD-A6AE-E3E53675B89B}"/>
              </a:ext>
            </a:extLst>
          </p:cNvPr>
          <p:cNvSpPr txBox="1"/>
          <p:nvPr/>
        </p:nvSpPr>
        <p:spPr>
          <a:xfrm>
            <a:off x="4581137" y="3590805"/>
            <a:ext cx="6058069" cy="400110"/>
          </a:xfrm>
          <a:prstGeom prst="rect">
            <a:avLst/>
          </a:prstGeom>
          <a:solidFill>
            <a:schemeClr val="bg1">
              <a:lumMod val="90000"/>
            </a:schemeClr>
          </a:solidFill>
        </p:spPr>
        <p:txBody>
          <a:bodyPr wrap="none" rtlCol="0">
            <a:spAutoFit/>
          </a:bodyPr>
          <a:lstStyle/>
          <a:p>
            <a:pPr algn="l"/>
            <a:r>
              <a:rPr lang="ja-JP" altLang="en-US" sz="2000">
                <a:solidFill>
                  <a:schemeClr val="bg1">
                    <a:lumMod val="10000"/>
                  </a:schemeClr>
                </a:solidFill>
                <a:latin typeface="Meiryo UI" panose="020B0604030504040204" pitchFamily="50" charset="-128"/>
                <a:ea typeface="Meiryo UI" panose="020B0604030504040204" pitchFamily="50" charset="-128"/>
              </a:rPr>
              <a:t>タブレット</a:t>
            </a:r>
            <a:r>
              <a:rPr lang="en-US" altLang="ja-JP" sz="2000">
                <a:solidFill>
                  <a:schemeClr val="bg1">
                    <a:lumMod val="10000"/>
                  </a:schemeClr>
                </a:solidFill>
                <a:latin typeface="Meiryo UI" panose="020B0604030504040204" pitchFamily="50" charset="-128"/>
                <a:ea typeface="Meiryo UI" panose="020B0604030504040204" pitchFamily="50" charset="-128"/>
              </a:rPr>
              <a:t>POS</a:t>
            </a:r>
            <a:r>
              <a:rPr lang="ja-JP" altLang="en-US" sz="2000">
                <a:solidFill>
                  <a:schemeClr val="bg1">
                    <a:lumMod val="10000"/>
                  </a:schemeClr>
                </a:solidFill>
                <a:latin typeface="Meiryo UI" panose="020B0604030504040204" pitchFamily="50" charset="-128"/>
                <a:ea typeface="Meiryo UI" panose="020B0604030504040204" pitchFamily="50" charset="-128"/>
              </a:rPr>
              <a:t>で登録したデータを現行</a:t>
            </a:r>
            <a:r>
              <a:rPr lang="en-US" altLang="ja-JP" sz="2000">
                <a:solidFill>
                  <a:schemeClr val="bg1">
                    <a:lumMod val="10000"/>
                  </a:schemeClr>
                </a:solidFill>
                <a:latin typeface="Meiryo UI" panose="020B0604030504040204" pitchFamily="50" charset="-128"/>
                <a:ea typeface="Meiryo UI" panose="020B0604030504040204" pitchFamily="50" charset="-128"/>
              </a:rPr>
              <a:t>POS</a:t>
            </a:r>
            <a:r>
              <a:rPr lang="ja-JP" altLang="en-US" sz="2000">
                <a:solidFill>
                  <a:schemeClr val="bg1">
                    <a:lumMod val="10000"/>
                  </a:schemeClr>
                </a:solidFill>
                <a:latin typeface="Meiryo UI" panose="020B0604030504040204" pitchFamily="50" charset="-128"/>
                <a:ea typeface="Meiryo UI" panose="020B0604030504040204" pitchFamily="50" charset="-128"/>
              </a:rPr>
              <a:t>で利用できます</a:t>
            </a:r>
            <a:endParaRPr kumimoji="1" lang="ja-JP" altLang="en-US" sz="2000" dirty="0">
              <a:solidFill>
                <a:schemeClr val="bg1">
                  <a:lumMod val="10000"/>
                </a:schemeClr>
              </a:solidFill>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13029A12-41C6-203F-13FE-5A3EC1284F45}"/>
              </a:ext>
            </a:extLst>
          </p:cNvPr>
          <p:cNvSpPr/>
          <p:nvPr/>
        </p:nvSpPr>
        <p:spPr>
          <a:xfrm>
            <a:off x="14294731" y="2979587"/>
            <a:ext cx="3763624" cy="3373632"/>
          </a:xfrm>
          <a:prstGeom prst="rect">
            <a:avLst/>
          </a:prstGeom>
          <a:solidFill>
            <a:srgbClr val="E7E6E6"/>
          </a:solidFill>
          <a:ln>
            <a:solidFill>
              <a:srgbClr val="59574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2000">
                <a:solidFill>
                  <a:srgbClr val="59574C"/>
                </a:solidFill>
                <a:latin typeface="Source Sans Pro" panose="020B0503030403020204" pitchFamily="34" charset="0"/>
                <a:ea typeface="源ノ角ゴシック JP Regular" panose="020B0500000000000000" pitchFamily="34" charset="-128"/>
              </a:rPr>
              <a:t>凡例</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sp>
        <p:nvSpPr>
          <p:cNvPr id="75" name="テキスト ボックス 74">
            <a:extLst>
              <a:ext uri="{FF2B5EF4-FFF2-40B4-BE49-F238E27FC236}">
                <a16:creationId xmlns:a16="http://schemas.microsoft.com/office/drawing/2014/main" id="{9CF76B05-9AE7-39D1-FDA2-C340A22ECA84}"/>
              </a:ext>
            </a:extLst>
          </p:cNvPr>
          <p:cNvSpPr txBox="1"/>
          <p:nvPr/>
        </p:nvSpPr>
        <p:spPr>
          <a:xfrm>
            <a:off x="15950414" y="5160805"/>
            <a:ext cx="1973617" cy="369332"/>
          </a:xfrm>
          <a:prstGeom prst="rect">
            <a:avLst/>
          </a:prstGeom>
          <a:noFill/>
        </p:spPr>
        <p:txBody>
          <a:bodyPr wrap="none" rtlCol="0">
            <a:spAutoFit/>
          </a:bodyPr>
          <a:lstStyle/>
          <a:p>
            <a:pPr algn="l"/>
            <a:r>
              <a:rPr lang="ja-JP" altLang="en-US" sz="1800">
                <a:solidFill>
                  <a:schemeClr val="bg1">
                    <a:lumMod val="10000"/>
                  </a:schemeClr>
                </a:solidFill>
                <a:latin typeface="Meiryo UI" panose="020B0604030504040204" pitchFamily="50" charset="-128"/>
                <a:ea typeface="Meiryo UI" panose="020B0604030504040204" pitchFamily="50" charset="-128"/>
              </a:rPr>
              <a:t>新</a:t>
            </a:r>
            <a:r>
              <a:rPr kumimoji="1" lang="en-US" altLang="ja-JP" sz="1800">
                <a:solidFill>
                  <a:schemeClr val="bg1">
                    <a:lumMod val="10000"/>
                  </a:schemeClr>
                </a:solidFill>
                <a:latin typeface="Meiryo UI" panose="020B0604030504040204" pitchFamily="50" charset="-128"/>
                <a:ea typeface="Meiryo UI" panose="020B0604030504040204" pitchFamily="50" charset="-128"/>
              </a:rPr>
              <a:t>Windows </a:t>
            </a:r>
            <a:r>
              <a:rPr lang="en-US" altLang="ja-JP" sz="1800">
                <a:solidFill>
                  <a:schemeClr val="bg1">
                    <a:lumMod val="10000"/>
                  </a:schemeClr>
                </a:solidFill>
                <a:latin typeface="Meiryo UI" panose="020B0604030504040204" pitchFamily="50" charset="-128"/>
                <a:ea typeface="Meiryo UI" panose="020B0604030504040204" pitchFamily="50" charset="-128"/>
              </a:rPr>
              <a:t>POS</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sp>
        <p:nvSpPr>
          <p:cNvPr id="76" name="テキスト ボックス 75">
            <a:extLst>
              <a:ext uri="{FF2B5EF4-FFF2-40B4-BE49-F238E27FC236}">
                <a16:creationId xmlns:a16="http://schemas.microsoft.com/office/drawing/2014/main" id="{3342C542-217A-408F-F820-AE291FF82F2D}"/>
              </a:ext>
            </a:extLst>
          </p:cNvPr>
          <p:cNvSpPr txBox="1"/>
          <p:nvPr/>
        </p:nvSpPr>
        <p:spPr>
          <a:xfrm>
            <a:off x="16053057" y="5770345"/>
            <a:ext cx="1213089" cy="369332"/>
          </a:xfrm>
          <a:prstGeom prst="rect">
            <a:avLst/>
          </a:prstGeom>
          <a:noFill/>
        </p:spPr>
        <p:txBody>
          <a:bodyPr wrap="none" rtlCol="0">
            <a:spAutoFit/>
          </a:bodyPr>
          <a:lstStyle/>
          <a:p>
            <a:pPr algn="l"/>
            <a:r>
              <a:rPr kumimoji="1" lang="en-US" altLang="ja-JP" sz="1800">
                <a:solidFill>
                  <a:schemeClr val="bg1">
                    <a:lumMod val="10000"/>
                  </a:schemeClr>
                </a:solidFill>
                <a:latin typeface="Meiryo UI" panose="020B0604030504040204" pitchFamily="50" charset="-128"/>
                <a:ea typeface="Meiryo UI" panose="020B0604030504040204" pitchFamily="50" charset="-128"/>
              </a:rPr>
              <a:t>iPad mini</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pic>
        <p:nvPicPr>
          <p:cNvPr id="77" name="図 76" descr="電子機器, コンピュータ が含まれている画像&#10;&#10;AI によって生成されたコンテンツは間違っている可能性があります。">
            <a:extLst>
              <a:ext uri="{FF2B5EF4-FFF2-40B4-BE49-F238E27FC236}">
                <a16:creationId xmlns:a16="http://schemas.microsoft.com/office/drawing/2014/main" id="{0830EBF0-CCF1-6FC2-9B2F-EC6412F1CF06}"/>
              </a:ext>
            </a:extLst>
          </p:cNvPr>
          <p:cNvPicPr>
            <a:picLocks noChangeAspect="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922513" y="3902193"/>
            <a:ext cx="848871" cy="1041415"/>
          </a:xfrm>
          <a:prstGeom prst="rect">
            <a:avLst/>
          </a:prstGeom>
        </p:spPr>
      </p:pic>
      <p:sp>
        <p:nvSpPr>
          <p:cNvPr id="78" name="テキスト ボックス 77">
            <a:extLst>
              <a:ext uri="{FF2B5EF4-FFF2-40B4-BE49-F238E27FC236}">
                <a16:creationId xmlns:a16="http://schemas.microsoft.com/office/drawing/2014/main" id="{75D7B602-E676-AB23-91B3-B140991B5D87}"/>
              </a:ext>
            </a:extLst>
          </p:cNvPr>
          <p:cNvSpPr txBox="1"/>
          <p:nvPr/>
        </p:nvSpPr>
        <p:spPr>
          <a:xfrm>
            <a:off x="15727652" y="4473516"/>
            <a:ext cx="1106393" cy="369332"/>
          </a:xfrm>
          <a:prstGeom prst="rect">
            <a:avLst/>
          </a:prstGeom>
          <a:noFill/>
        </p:spPr>
        <p:txBody>
          <a:bodyPr wrap="none" rtlCol="0">
            <a:spAutoFit/>
          </a:bodyPr>
          <a:lstStyle/>
          <a:p>
            <a:pPr algn="l"/>
            <a:r>
              <a:rPr lang="ja-JP" altLang="en-US" sz="1800">
                <a:solidFill>
                  <a:schemeClr val="bg1">
                    <a:lumMod val="10000"/>
                  </a:schemeClr>
                </a:solidFill>
                <a:latin typeface="Meiryo UI" panose="020B0604030504040204" pitchFamily="50" charset="-128"/>
                <a:ea typeface="Meiryo UI" panose="020B0604030504040204" pitchFamily="50" charset="-128"/>
              </a:rPr>
              <a:t>据置</a:t>
            </a:r>
            <a:r>
              <a:rPr lang="en-US" altLang="ja-JP" sz="1800">
                <a:solidFill>
                  <a:schemeClr val="bg1">
                    <a:lumMod val="10000"/>
                  </a:schemeClr>
                </a:solidFill>
                <a:latin typeface="Meiryo UI" panose="020B0604030504040204" pitchFamily="50" charset="-128"/>
                <a:ea typeface="Meiryo UI" panose="020B0604030504040204" pitchFamily="50" charset="-128"/>
              </a:rPr>
              <a:t>POS</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pic>
        <p:nvPicPr>
          <p:cNvPr id="80" name="図 79">
            <a:extLst>
              <a:ext uri="{FF2B5EF4-FFF2-40B4-BE49-F238E27FC236}">
                <a16:creationId xmlns:a16="http://schemas.microsoft.com/office/drawing/2014/main" id="{F8047900-9B38-8709-AEE0-F6629F7C2BF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5077646" y="3022444"/>
            <a:ext cx="509784" cy="509784"/>
          </a:xfrm>
          <a:prstGeom prst="rect">
            <a:avLst/>
          </a:prstGeom>
        </p:spPr>
      </p:pic>
      <p:sp>
        <p:nvSpPr>
          <p:cNvPr id="81" name="テキスト ボックス 80">
            <a:extLst>
              <a:ext uri="{FF2B5EF4-FFF2-40B4-BE49-F238E27FC236}">
                <a16:creationId xmlns:a16="http://schemas.microsoft.com/office/drawing/2014/main" id="{787B4055-4F48-DAC4-BD43-D6E7EE9CA148}"/>
              </a:ext>
            </a:extLst>
          </p:cNvPr>
          <p:cNvSpPr txBox="1"/>
          <p:nvPr/>
        </p:nvSpPr>
        <p:spPr>
          <a:xfrm>
            <a:off x="15520429" y="3088574"/>
            <a:ext cx="1458572" cy="338554"/>
          </a:xfrm>
          <a:prstGeom prst="rect">
            <a:avLst/>
          </a:prstGeom>
          <a:noFill/>
        </p:spPr>
        <p:txBody>
          <a:bodyPr wrap="squar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現行</a:t>
            </a:r>
            <a:r>
              <a:rPr kumimoji="1" lang="en-US" altLang="ja-JP" sz="1600">
                <a:solidFill>
                  <a:schemeClr val="bg1">
                    <a:lumMod val="10000"/>
                  </a:schemeClr>
                </a:solidFill>
                <a:latin typeface="Meiryo UI" panose="020B0604030504040204" pitchFamily="50" charset="-128"/>
                <a:ea typeface="Meiryo UI" panose="020B0604030504040204" pitchFamily="50" charset="-128"/>
              </a:rPr>
              <a:t>POS</a:t>
            </a:r>
            <a:r>
              <a:rPr kumimoji="1" lang="ja-JP" altLang="en-US" sz="1600">
                <a:solidFill>
                  <a:schemeClr val="bg1">
                    <a:lumMod val="10000"/>
                  </a:schemeClr>
                </a:solidFill>
                <a:latin typeface="Meiryo UI" panose="020B0604030504040204" pitchFamily="50" charset="-128"/>
                <a:ea typeface="Meiryo UI" panose="020B0604030504040204" pitchFamily="50" charset="-128"/>
              </a:rPr>
              <a:t>アプリ</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pic>
        <p:nvPicPr>
          <p:cNvPr id="82" name="図 81">
            <a:extLst>
              <a:ext uri="{FF2B5EF4-FFF2-40B4-BE49-F238E27FC236}">
                <a16:creationId xmlns:a16="http://schemas.microsoft.com/office/drawing/2014/main" id="{4C23566A-B1FE-21AE-1047-9FE62E4333F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5077646" y="3534134"/>
            <a:ext cx="509784" cy="509784"/>
          </a:xfrm>
          <a:prstGeom prst="rect">
            <a:avLst/>
          </a:prstGeom>
        </p:spPr>
      </p:pic>
      <p:sp>
        <p:nvSpPr>
          <p:cNvPr id="83" name="テキスト ボックス 82">
            <a:extLst>
              <a:ext uri="{FF2B5EF4-FFF2-40B4-BE49-F238E27FC236}">
                <a16:creationId xmlns:a16="http://schemas.microsoft.com/office/drawing/2014/main" id="{15CB3276-6992-F247-4D24-0E26CA649D40}"/>
              </a:ext>
            </a:extLst>
          </p:cNvPr>
          <p:cNvSpPr txBox="1"/>
          <p:nvPr/>
        </p:nvSpPr>
        <p:spPr>
          <a:xfrm>
            <a:off x="15587430" y="3586467"/>
            <a:ext cx="1840195" cy="338554"/>
          </a:xfrm>
          <a:prstGeom prst="rect">
            <a:avLst/>
          </a:prstGeom>
          <a:noFill/>
        </p:spPr>
        <p:txBody>
          <a:bodyPr wrap="squar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タブレット</a:t>
            </a:r>
            <a:r>
              <a:rPr kumimoji="1" lang="en-US" altLang="ja-JP" sz="1600">
                <a:solidFill>
                  <a:schemeClr val="bg1">
                    <a:lumMod val="10000"/>
                  </a:schemeClr>
                </a:solidFill>
                <a:latin typeface="Meiryo UI" panose="020B0604030504040204" pitchFamily="50" charset="-128"/>
                <a:ea typeface="Meiryo UI" panose="020B0604030504040204" pitchFamily="50" charset="-128"/>
              </a:rPr>
              <a:t>POS</a:t>
            </a:r>
            <a:r>
              <a:rPr kumimoji="1" lang="ja-JP" altLang="en-US" sz="1600">
                <a:solidFill>
                  <a:schemeClr val="bg1">
                    <a:lumMod val="10000"/>
                  </a:schemeClr>
                </a:solidFill>
                <a:latin typeface="Meiryo UI" panose="020B0604030504040204" pitchFamily="50" charset="-128"/>
                <a:ea typeface="Meiryo UI" panose="020B0604030504040204" pitchFamily="50" charset="-128"/>
              </a:rPr>
              <a:t>アプリ</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pic>
        <p:nvPicPr>
          <p:cNvPr id="88" name="図 87" descr="コンピューターの画面&#10;&#10;自動的に生成された説明">
            <a:extLst>
              <a:ext uri="{FF2B5EF4-FFF2-40B4-BE49-F238E27FC236}">
                <a16:creationId xmlns:a16="http://schemas.microsoft.com/office/drawing/2014/main" id="{90143D86-66E7-B220-1D90-1D43B65694C9}"/>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rot="16200000">
            <a:off x="15191129" y="5538378"/>
            <a:ext cx="470837" cy="731759"/>
          </a:xfrm>
          <a:prstGeom prst="rect">
            <a:avLst/>
          </a:prstGeom>
        </p:spPr>
      </p:pic>
      <p:pic>
        <p:nvPicPr>
          <p:cNvPr id="6" name="図 5">
            <a:extLst>
              <a:ext uri="{FF2B5EF4-FFF2-40B4-BE49-F238E27FC236}">
                <a16:creationId xmlns:a16="http://schemas.microsoft.com/office/drawing/2014/main" id="{A4B4AC88-2366-C47A-2851-908EB442ADFD}"/>
              </a:ext>
            </a:extLst>
          </p:cNvPr>
          <p:cNvPicPr>
            <a:picLocks noChangeAspect="1"/>
          </p:cNvPicPr>
          <p:nvPr/>
        </p:nvPicPr>
        <p:blipFill>
          <a:blip r:embed="rId15" cstate="print">
            <a:extLst>
              <a:ext uri="{28A0092B-C50C-407E-A947-70E740481C1C}">
                <a14:useLocalDpi xmlns:a14="http://schemas.microsoft.com/office/drawing/2010/main" val="0"/>
              </a:ext>
            </a:extLst>
          </a:blip>
          <a:srcRect b="-1505"/>
          <a:stretch/>
        </p:blipFill>
        <p:spPr>
          <a:xfrm>
            <a:off x="4517562" y="6968261"/>
            <a:ext cx="1518737" cy="1291694"/>
          </a:xfrm>
          <a:prstGeom prst="rect">
            <a:avLst/>
          </a:prstGeom>
        </p:spPr>
      </p:pic>
      <p:pic>
        <p:nvPicPr>
          <p:cNvPr id="21" name="図 20">
            <a:extLst>
              <a:ext uri="{FF2B5EF4-FFF2-40B4-BE49-F238E27FC236}">
                <a16:creationId xmlns:a16="http://schemas.microsoft.com/office/drawing/2014/main" id="{DB9247AA-A0E6-B43D-B1A7-115C8E9AC5B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41285" y="7019092"/>
            <a:ext cx="719491" cy="719491"/>
          </a:xfrm>
          <a:prstGeom prst="rect">
            <a:avLst/>
          </a:prstGeom>
        </p:spPr>
      </p:pic>
      <p:pic>
        <p:nvPicPr>
          <p:cNvPr id="7" name="図 6">
            <a:extLst>
              <a:ext uri="{FF2B5EF4-FFF2-40B4-BE49-F238E27FC236}">
                <a16:creationId xmlns:a16="http://schemas.microsoft.com/office/drawing/2014/main" id="{B6A9355C-25A9-B356-9E73-051427D3BC5A}"/>
              </a:ext>
            </a:extLst>
          </p:cNvPr>
          <p:cNvPicPr>
            <a:picLocks noChangeAspect="1"/>
          </p:cNvPicPr>
          <p:nvPr/>
        </p:nvPicPr>
        <p:blipFill>
          <a:blip r:embed="rId16" cstate="print">
            <a:extLst>
              <a:ext uri="{28A0092B-C50C-407E-A947-70E740481C1C}">
                <a14:useLocalDpi xmlns:a14="http://schemas.microsoft.com/office/drawing/2010/main" val="0"/>
              </a:ext>
            </a:extLst>
          </a:blip>
          <a:srcRect b="-1505"/>
          <a:stretch/>
        </p:blipFill>
        <p:spPr>
          <a:xfrm>
            <a:off x="14955073" y="4905412"/>
            <a:ext cx="882393" cy="750480"/>
          </a:xfrm>
          <a:prstGeom prst="rect">
            <a:avLst/>
          </a:prstGeom>
        </p:spPr>
      </p:pic>
      <p:sp>
        <p:nvSpPr>
          <p:cNvPr id="13" name="Freeform: Shape 24">
            <a:extLst>
              <a:ext uri="{FF2B5EF4-FFF2-40B4-BE49-F238E27FC236}">
                <a16:creationId xmlns:a16="http://schemas.microsoft.com/office/drawing/2014/main" id="{E72066D0-8CAC-F0D2-B560-382F7CB67AEB}"/>
              </a:ext>
            </a:extLst>
          </p:cNvPr>
          <p:cNvSpPr/>
          <p:nvPr/>
        </p:nvSpPr>
        <p:spPr>
          <a:xfrm>
            <a:off x="7712519" y="4620255"/>
            <a:ext cx="742337" cy="782621"/>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cxnSp>
        <p:nvCxnSpPr>
          <p:cNvPr id="23" name="直線コネクタ 22">
            <a:extLst>
              <a:ext uri="{FF2B5EF4-FFF2-40B4-BE49-F238E27FC236}">
                <a16:creationId xmlns:a16="http://schemas.microsoft.com/office/drawing/2014/main" id="{E4FB44DB-5721-ECC9-2383-60B991803454}"/>
              </a:ext>
            </a:extLst>
          </p:cNvPr>
          <p:cNvCxnSpPr>
            <a:cxnSpLocks/>
            <a:stCxn id="13" idx="14"/>
            <a:endCxn id="1162" idx="1"/>
          </p:cNvCxnSpPr>
          <p:nvPr/>
        </p:nvCxnSpPr>
        <p:spPr>
          <a:xfrm>
            <a:off x="8415253" y="4968522"/>
            <a:ext cx="664994" cy="214181"/>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C5DEB735-7A6D-6288-B3DB-183A4AD4F4AC}"/>
              </a:ext>
            </a:extLst>
          </p:cNvPr>
          <p:cNvSpPr txBox="1"/>
          <p:nvPr/>
        </p:nvSpPr>
        <p:spPr>
          <a:xfrm>
            <a:off x="7683594" y="5402902"/>
            <a:ext cx="864340" cy="338554"/>
          </a:xfrm>
          <a:prstGeom prst="rect">
            <a:avLst/>
          </a:prstGeom>
          <a:noFill/>
        </p:spPr>
        <p:txBody>
          <a:bodyPr wrap="none" rtlCol="0">
            <a:spAutoFit/>
          </a:bodyPr>
          <a:lstStyle/>
          <a:p>
            <a:pPr algn="ctr"/>
            <a:r>
              <a:rPr kumimoji="1" lang="ja-JP" altLang="en-US" sz="1600">
                <a:solidFill>
                  <a:schemeClr val="bg1">
                    <a:lumMod val="10000"/>
                  </a:schemeClr>
                </a:solidFill>
                <a:latin typeface="Meiryo UI" panose="020B0604030504040204" pitchFamily="50" charset="-128"/>
                <a:ea typeface="Meiryo UI" panose="020B0604030504040204" pitchFamily="50" charset="-128"/>
              </a:rPr>
              <a:t>店舗</a:t>
            </a:r>
            <a:r>
              <a:rPr kumimoji="1" lang="en-US" altLang="ja-JP" sz="1600">
                <a:solidFill>
                  <a:schemeClr val="bg1">
                    <a:lumMod val="10000"/>
                  </a:schemeClr>
                </a:solidFill>
                <a:latin typeface="Meiryo UI" panose="020B0604030504040204" pitchFamily="50" charset="-128"/>
                <a:ea typeface="Meiryo UI" panose="020B0604030504040204" pitchFamily="50" charset="-128"/>
              </a:rPr>
              <a:t>SV</a:t>
            </a:r>
            <a:endParaRPr kumimoji="1" lang="ja-JP" altLang="en-US" sz="1600">
              <a:solidFill>
                <a:schemeClr val="bg1">
                  <a:lumMod val="10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04941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C7A25-BCC9-0492-26EA-29CDA9362D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2D096B-89F0-9EE5-B92F-6A0B94079CFD}"/>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５－１．全体アーキテクチャ（本番環境）（２）</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558FD76-2A98-4CDD-8F7E-2A5B315C7FD8}"/>
              </a:ext>
            </a:extLst>
          </p:cNvPr>
          <p:cNvSpPr>
            <a:spLocks noGrp="1"/>
          </p:cNvSpPr>
          <p:nvPr>
            <p:ph type="sldNum" sz="quarter" idx="12"/>
          </p:nvPr>
        </p:nvSpPr>
        <p:spPr/>
        <p:txBody>
          <a:bodyPr/>
          <a:lstStyle/>
          <a:p>
            <a:fld id="{2A9E37A5-A917-4235-ABF6-8CD72E894915}" type="slidenum">
              <a:rPr lang="en-US" altLang="ja-JP" smtClean="0"/>
              <a:pPr/>
              <a:t>13</a:t>
            </a:fld>
            <a:endParaRPr lang="ja-JP" altLang="en-US"/>
          </a:p>
        </p:txBody>
      </p:sp>
      <p:sp>
        <p:nvSpPr>
          <p:cNvPr id="4" name="フッター プレースホルダー 3">
            <a:extLst>
              <a:ext uri="{FF2B5EF4-FFF2-40B4-BE49-F238E27FC236}">
                <a16:creationId xmlns:a16="http://schemas.microsoft.com/office/drawing/2014/main" id="{94839847-2204-0215-D8AE-B943E80EB25A}"/>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CB3A8BF1-78FF-9062-BBBE-A68D4FC957F2}"/>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1177" name="テキスト ボックス 1176">
            <a:extLst>
              <a:ext uri="{FF2B5EF4-FFF2-40B4-BE49-F238E27FC236}">
                <a16:creationId xmlns:a16="http://schemas.microsoft.com/office/drawing/2014/main" id="{CA0C201F-B023-4BD9-9328-F99C43C6B8DE}"/>
              </a:ext>
            </a:extLst>
          </p:cNvPr>
          <p:cNvSpPr txBox="1"/>
          <p:nvPr/>
        </p:nvSpPr>
        <p:spPr>
          <a:xfrm>
            <a:off x="405608" y="1138709"/>
            <a:ext cx="10622261" cy="5652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2500" dirty="0">
                <a:solidFill>
                  <a:schemeClr val="tx1"/>
                </a:solidFill>
                <a:latin typeface="メイリオ" panose="020B0604030504040204" pitchFamily="50" charset="-128"/>
                <a:ea typeface="メイリオ" panose="020B0604030504040204" pitchFamily="50" charset="-128"/>
              </a:rPr>
              <a:t>■データ連携概要：実績データ作成</a:t>
            </a:r>
            <a:r>
              <a:rPr lang="en-US" altLang="ja-JP" sz="2500" dirty="0">
                <a:solidFill>
                  <a:schemeClr val="tx1"/>
                </a:solidFill>
                <a:latin typeface="メイリオ" panose="020B0604030504040204" pitchFamily="50" charset="-128"/>
                <a:ea typeface="メイリオ" panose="020B0604030504040204" pitchFamily="50" charset="-128"/>
              </a:rPr>
              <a:t>(</a:t>
            </a:r>
            <a:r>
              <a:rPr lang="ja-JP" altLang="en-US" sz="2500" dirty="0">
                <a:solidFill>
                  <a:schemeClr val="tx1"/>
                </a:solidFill>
                <a:latin typeface="メイリオ" panose="020B0604030504040204" pitchFamily="50" charset="-128"/>
                <a:ea typeface="メイリオ" panose="020B0604030504040204" pitchFamily="50" charset="-128"/>
              </a:rPr>
              <a:t>タブレット</a:t>
            </a:r>
            <a:r>
              <a:rPr lang="en-US" altLang="ja-JP" sz="2500" dirty="0">
                <a:solidFill>
                  <a:schemeClr val="tx1"/>
                </a:solidFill>
                <a:latin typeface="メイリオ" panose="020B0604030504040204" pitchFamily="50" charset="-128"/>
                <a:ea typeface="メイリオ" panose="020B0604030504040204" pitchFamily="50" charset="-128"/>
              </a:rPr>
              <a:t>POS</a:t>
            </a:r>
            <a:r>
              <a:rPr lang="ja-JP" altLang="en-US" sz="2500" dirty="0">
                <a:solidFill>
                  <a:schemeClr val="tx1"/>
                </a:solidFill>
                <a:latin typeface="メイリオ" panose="020B0604030504040204" pitchFamily="50" charset="-128"/>
                <a:ea typeface="メイリオ" panose="020B0604030504040204" pitchFamily="50" charset="-128"/>
              </a:rPr>
              <a:t>⇒現行システム</a:t>
            </a:r>
            <a:r>
              <a:rPr lang="en-US" altLang="ja-JP" sz="2500" dirty="0">
                <a:solidFill>
                  <a:schemeClr val="tx1"/>
                </a:solidFill>
                <a:latin typeface="メイリオ" panose="020B0604030504040204" pitchFamily="50" charset="-128"/>
                <a:ea typeface="メイリオ" panose="020B0604030504040204" pitchFamily="50" charset="-128"/>
              </a:rPr>
              <a:t>)</a:t>
            </a:r>
          </a:p>
        </p:txBody>
      </p:sp>
      <p:sp>
        <p:nvSpPr>
          <p:cNvPr id="1178" name="正方形/長方形 1177">
            <a:extLst>
              <a:ext uri="{FF2B5EF4-FFF2-40B4-BE49-F238E27FC236}">
                <a16:creationId xmlns:a16="http://schemas.microsoft.com/office/drawing/2014/main" id="{1495C1A2-0BAD-42D1-5F18-0BAF9EA328C3}"/>
              </a:ext>
            </a:extLst>
          </p:cNvPr>
          <p:cNvSpPr/>
          <p:nvPr/>
        </p:nvSpPr>
        <p:spPr>
          <a:xfrm>
            <a:off x="432784" y="4588631"/>
            <a:ext cx="1274490" cy="874323"/>
          </a:xfrm>
          <a:prstGeom prst="rect">
            <a:avLst/>
          </a:prstGeom>
          <a:solidFill>
            <a:schemeClr val="accent2">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タブレット</a:t>
            </a:r>
            <a:r>
              <a:rPr kumimoji="1" lang="en-US" altLang="ja-JP" sz="1400" dirty="0">
                <a:solidFill>
                  <a:srgbClr val="59574C"/>
                </a:solidFill>
                <a:latin typeface="Meiryo UI" panose="020B0604030504040204" pitchFamily="50" charset="-128"/>
                <a:ea typeface="Meiryo UI" panose="020B0604030504040204" pitchFamily="50" charset="-128"/>
              </a:rPr>
              <a:t>POS</a:t>
            </a:r>
          </a:p>
          <a:p>
            <a:pPr algn="ctr"/>
            <a:r>
              <a:rPr lang="en-US" altLang="ja-JP" sz="1400" dirty="0">
                <a:solidFill>
                  <a:srgbClr val="59574C"/>
                </a:solidFill>
                <a:latin typeface="Meiryo UI" panose="020B0604030504040204" pitchFamily="50" charset="-128"/>
                <a:ea typeface="Meiryo UI" panose="020B0604030504040204" pitchFamily="50" charset="-128"/>
              </a:rPr>
              <a:t>(iPad</a:t>
            </a:r>
            <a:r>
              <a:rPr lang="ja-JP" altLang="en-US" sz="1400" dirty="0">
                <a:solidFill>
                  <a:srgbClr val="59574C"/>
                </a:solidFill>
                <a:latin typeface="Meiryo UI" panose="020B0604030504040204" pitchFamily="50" charset="-128"/>
                <a:ea typeface="Meiryo UI" panose="020B0604030504040204" pitchFamily="50" charset="-128"/>
              </a:rPr>
              <a:t> </a:t>
            </a:r>
            <a:r>
              <a:rPr lang="en-US" altLang="ja-JP" sz="1400" dirty="0">
                <a:solidFill>
                  <a:srgbClr val="59574C"/>
                </a:solidFill>
                <a:latin typeface="Meiryo UI" panose="020B0604030504040204" pitchFamily="50" charset="-128"/>
                <a:ea typeface="Meiryo UI" panose="020B0604030504040204" pitchFamily="50" charset="-128"/>
              </a:rPr>
              <a:t>mini)</a:t>
            </a:r>
          </a:p>
        </p:txBody>
      </p:sp>
      <p:sp>
        <p:nvSpPr>
          <p:cNvPr id="1179" name="正方形/長方形 1178">
            <a:extLst>
              <a:ext uri="{FF2B5EF4-FFF2-40B4-BE49-F238E27FC236}">
                <a16:creationId xmlns:a16="http://schemas.microsoft.com/office/drawing/2014/main" id="{28C7AF18-DBE6-4C05-3B93-9D7D03F56156}"/>
              </a:ext>
            </a:extLst>
          </p:cNvPr>
          <p:cNvSpPr/>
          <p:nvPr/>
        </p:nvSpPr>
        <p:spPr>
          <a:xfrm>
            <a:off x="2113809" y="3752745"/>
            <a:ext cx="14280998" cy="5314639"/>
          </a:xfrm>
          <a:prstGeom prst="rect">
            <a:avLst/>
          </a:prstGeom>
          <a:noFill/>
          <a:ln w="381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kumimoji="1" lang="en-US" altLang="ja-JP" sz="2400" b="1" dirty="0">
                <a:solidFill>
                  <a:srgbClr val="59574C"/>
                </a:solidFill>
                <a:latin typeface="Meiryo UI" panose="020B0604030504040204" pitchFamily="50" charset="-128"/>
                <a:ea typeface="Meiryo UI" panose="020B0604030504040204" pitchFamily="50" charset="-128"/>
              </a:rPr>
              <a:t>OCI</a:t>
            </a:r>
            <a:endParaRPr kumimoji="1" lang="ja-JP" altLang="en-US" sz="2400" b="1" dirty="0">
              <a:solidFill>
                <a:srgbClr val="59574C"/>
              </a:solidFill>
              <a:latin typeface="Meiryo UI" panose="020B0604030504040204" pitchFamily="50" charset="-128"/>
              <a:ea typeface="Meiryo UI" panose="020B0604030504040204" pitchFamily="50" charset="-128"/>
            </a:endParaRPr>
          </a:p>
        </p:txBody>
      </p:sp>
      <p:sp>
        <p:nvSpPr>
          <p:cNvPr id="1180" name="正方形/長方形 1179">
            <a:extLst>
              <a:ext uri="{FF2B5EF4-FFF2-40B4-BE49-F238E27FC236}">
                <a16:creationId xmlns:a16="http://schemas.microsoft.com/office/drawing/2014/main" id="{B7952B98-A08B-FE90-71B0-45C6969D0D85}"/>
              </a:ext>
            </a:extLst>
          </p:cNvPr>
          <p:cNvSpPr/>
          <p:nvPr/>
        </p:nvSpPr>
        <p:spPr>
          <a:xfrm>
            <a:off x="2480282" y="4727970"/>
            <a:ext cx="1183460" cy="591349"/>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データ登録</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API</a:t>
            </a:r>
          </a:p>
        </p:txBody>
      </p:sp>
      <p:sp>
        <p:nvSpPr>
          <p:cNvPr id="1181" name="円柱 1180">
            <a:extLst>
              <a:ext uri="{FF2B5EF4-FFF2-40B4-BE49-F238E27FC236}">
                <a16:creationId xmlns:a16="http://schemas.microsoft.com/office/drawing/2014/main" id="{F3D24F63-2652-104D-1DAC-596B7D4ACAB6}"/>
              </a:ext>
            </a:extLst>
          </p:cNvPr>
          <p:cNvSpPr/>
          <p:nvPr/>
        </p:nvSpPr>
        <p:spPr>
          <a:xfrm>
            <a:off x="4092587" y="5164982"/>
            <a:ext cx="1194231"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400" dirty="0">
                <a:solidFill>
                  <a:srgbClr val="59574C"/>
                </a:solidFill>
                <a:latin typeface="Meiryo UI" panose="020B0604030504040204" pitchFamily="50" charset="-128"/>
                <a:ea typeface="Meiryo UI" panose="020B0604030504040204" pitchFamily="50" charset="-128"/>
              </a:rPr>
              <a:t>受付台帳</a:t>
            </a:r>
            <a:endParaRPr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(INBOX)</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182" name="円柱 1181">
            <a:extLst>
              <a:ext uri="{FF2B5EF4-FFF2-40B4-BE49-F238E27FC236}">
                <a16:creationId xmlns:a16="http://schemas.microsoft.com/office/drawing/2014/main" id="{8D1BD532-9033-DA88-E588-5F5894F8EB64}"/>
              </a:ext>
            </a:extLst>
          </p:cNvPr>
          <p:cNvSpPr/>
          <p:nvPr/>
        </p:nvSpPr>
        <p:spPr>
          <a:xfrm>
            <a:off x="11307805" y="5586668"/>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cxnSp>
        <p:nvCxnSpPr>
          <p:cNvPr id="1183" name="直線矢印コネクタ 1182">
            <a:extLst>
              <a:ext uri="{FF2B5EF4-FFF2-40B4-BE49-F238E27FC236}">
                <a16:creationId xmlns:a16="http://schemas.microsoft.com/office/drawing/2014/main" id="{ABAEE947-DCB6-FDCE-3468-F11FDA823565}"/>
              </a:ext>
            </a:extLst>
          </p:cNvPr>
          <p:cNvCxnSpPr>
            <a:cxnSpLocks/>
            <a:stCxn id="1201" idx="2"/>
            <a:endCxn id="1205" idx="1"/>
          </p:cNvCxnSpPr>
          <p:nvPr/>
        </p:nvCxnSpPr>
        <p:spPr>
          <a:xfrm>
            <a:off x="17338159" y="4904488"/>
            <a:ext cx="228" cy="484594"/>
          </a:xfrm>
          <a:prstGeom prst="straightConnector1">
            <a:avLst/>
          </a:prstGeom>
          <a:ln w="25400">
            <a:solidFill>
              <a:schemeClr val="tx1"/>
            </a:solidFill>
            <a:headEnd type="triangle"/>
            <a:tailEnd type="triangle" w="lg" len="med"/>
          </a:ln>
        </p:spPr>
        <p:style>
          <a:lnRef idx="1">
            <a:schemeClr val="accent1"/>
          </a:lnRef>
          <a:fillRef idx="0">
            <a:schemeClr val="accent1"/>
          </a:fillRef>
          <a:effectRef idx="0">
            <a:schemeClr val="accent1"/>
          </a:effectRef>
          <a:fontRef idx="minor">
            <a:schemeClr val="tx1"/>
          </a:fontRef>
        </p:style>
      </p:cxnSp>
      <p:sp>
        <p:nvSpPr>
          <p:cNvPr id="1184" name="正方形/長方形 1183">
            <a:extLst>
              <a:ext uri="{FF2B5EF4-FFF2-40B4-BE49-F238E27FC236}">
                <a16:creationId xmlns:a16="http://schemas.microsoft.com/office/drawing/2014/main" id="{6D1ABD2A-13F9-294D-AB74-05C4475D45A6}"/>
              </a:ext>
            </a:extLst>
          </p:cNvPr>
          <p:cNvSpPr/>
          <p:nvPr/>
        </p:nvSpPr>
        <p:spPr>
          <a:xfrm>
            <a:off x="11132290" y="6516513"/>
            <a:ext cx="4838829"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800" b="1" dirty="0">
                <a:solidFill>
                  <a:srgbClr val="59574C"/>
                </a:solidFill>
                <a:latin typeface="Meiryo UI" panose="020B0604030504040204" pitchFamily="50" charset="-128"/>
                <a:ea typeface="Meiryo UI" panose="020B0604030504040204" pitchFamily="50" charset="-128"/>
              </a:rPr>
              <a:t>顧客管理</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185" name="正方形/長方形 1184">
            <a:extLst>
              <a:ext uri="{FF2B5EF4-FFF2-40B4-BE49-F238E27FC236}">
                <a16:creationId xmlns:a16="http://schemas.microsoft.com/office/drawing/2014/main" id="{CA09CB79-66D1-2BB6-2D11-0BB77FF6E21E}"/>
              </a:ext>
            </a:extLst>
          </p:cNvPr>
          <p:cNvSpPr/>
          <p:nvPr/>
        </p:nvSpPr>
        <p:spPr>
          <a:xfrm>
            <a:off x="4112493" y="8385233"/>
            <a:ext cx="1183460" cy="591349"/>
          </a:xfrm>
          <a:prstGeom prst="rect">
            <a:avLst/>
          </a:prstGeom>
          <a:solidFill>
            <a:schemeClr val="accent6">
              <a:lumMod val="10000"/>
              <a:lumOff val="9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400" dirty="0">
                <a:solidFill>
                  <a:srgbClr val="59574C"/>
                </a:solidFill>
                <a:latin typeface="Meiryo UI" panose="020B0604030504040204" pitchFamily="50" charset="-128"/>
                <a:ea typeface="Meiryo UI" panose="020B0604030504040204" pitchFamily="50" charset="-128"/>
              </a:rPr>
              <a:t>振り分け</a:t>
            </a:r>
            <a:endParaRPr lang="en-US" altLang="ja-JP" sz="1400" dirty="0">
              <a:solidFill>
                <a:srgbClr val="59574C"/>
              </a:solidFill>
              <a:latin typeface="Meiryo UI" panose="020B0604030504040204" pitchFamily="50" charset="-128"/>
              <a:ea typeface="Meiryo UI" panose="020B0604030504040204" pitchFamily="50" charset="-128"/>
            </a:endParaRPr>
          </a:p>
          <a:p>
            <a:pPr algn="ctr"/>
            <a:r>
              <a:rPr lang="en-US" altLang="ja-JP" sz="1400" dirty="0">
                <a:solidFill>
                  <a:srgbClr val="59574C"/>
                </a:solidFill>
                <a:latin typeface="Meiryo UI" panose="020B0604030504040204" pitchFamily="50" charset="-128"/>
                <a:ea typeface="Meiryo UI" panose="020B0604030504040204" pitchFamily="50" charset="-128"/>
              </a:rPr>
              <a:t>(Dispatcher)</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cxnSp>
        <p:nvCxnSpPr>
          <p:cNvPr id="1186" name="直線矢印コネクタ 1185">
            <a:extLst>
              <a:ext uri="{FF2B5EF4-FFF2-40B4-BE49-F238E27FC236}">
                <a16:creationId xmlns:a16="http://schemas.microsoft.com/office/drawing/2014/main" id="{B28A727A-07EB-ECC2-E011-7B0DECE310AC}"/>
              </a:ext>
            </a:extLst>
          </p:cNvPr>
          <p:cNvCxnSpPr>
            <a:cxnSpLocks/>
            <a:stCxn id="1178" idx="3"/>
            <a:endCxn id="1180" idx="1"/>
          </p:cNvCxnSpPr>
          <p:nvPr/>
        </p:nvCxnSpPr>
        <p:spPr>
          <a:xfrm flipV="1">
            <a:off x="1707274" y="5023645"/>
            <a:ext cx="773008" cy="2148"/>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187" name="円柱 1186">
            <a:extLst>
              <a:ext uri="{FF2B5EF4-FFF2-40B4-BE49-F238E27FC236}">
                <a16:creationId xmlns:a16="http://schemas.microsoft.com/office/drawing/2014/main" id="{4ADA90D5-5764-1124-44E9-FE135B139294}"/>
              </a:ext>
            </a:extLst>
          </p:cNvPr>
          <p:cNvSpPr/>
          <p:nvPr/>
        </p:nvSpPr>
        <p:spPr>
          <a:xfrm>
            <a:off x="5741078" y="4626942"/>
            <a:ext cx="1194231"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400" dirty="0">
                <a:solidFill>
                  <a:srgbClr val="59574C"/>
                </a:solidFill>
                <a:latin typeface="Meiryo UI" panose="020B0604030504040204" pitchFamily="50" charset="-128"/>
                <a:ea typeface="Meiryo UI" panose="020B0604030504040204" pitchFamily="50" charset="-128"/>
              </a:rPr>
              <a:t>JSON</a:t>
            </a:r>
            <a:r>
              <a:rPr kumimoji="1" lang="ja-JP" altLang="en-US" sz="1400" dirty="0">
                <a:solidFill>
                  <a:srgbClr val="59574C"/>
                </a:solidFill>
                <a:latin typeface="Meiryo UI" panose="020B0604030504040204" pitchFamily="50" charset="-128"/>
                <a:ea typeface="Meiryo UI" panose="020B0604030504040204" pitchFamily="50" charset="-128"/>
              </a:rPr>
              <a:t>データ</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lang="en-US" altLang="ja-JP" sz="1400" dirty="0">
                <a:solidFill>
                  <a:srgbClr val="59574C"/>
                </a:solidFill>
                <a:latin typeface="Meiryo UI" panose="020B0604030504040204" pitchFamily="50" charset="-128"/>
                <a:ea typeface="Meiryo UI" panose="020B0604030504040204" pitchFamily="50" charset="-128"/>
              </a:rPr>
              <a:t>(OUTBOX)</a:t>
            </a:r>
            <a:endParaRPr kumimoji="1" lang="en-US" altLang="ja-JP" sz="1400" dirty="0">
              <a:solidFill>
                <a:srgbClr val="59574C"/>
              </a:solidFill>
              <a:latin typeface="Meiryo UI" panose="020B0604030504040204" pitchFamily="50" charset="-128"/>
              <a:ea typeface="Meiryo UI" panose="020B0604030504040204" pitchFamily="50" charset="-128"/>
            </a:endParaRPr>
          </a:p>
        </p:txBody>
      </p:sp>
      <p:cxnSp>
        <p:nvCxnSpPr>
          <p:cNvPr id="1188" name="直線矢印コネクタ 1187">
            <a:extLst>
              <a:ext uri="{FF2B5EF4-FFF2-40B4-BE49-F238E27FC236}">
                <a16:creationId xmlns:a16="http://schemas.microsoft.com/office/drawing/2014/main" id="{935907FE-6039-0FD0-170C-2DD15B4764FB}"/>
              </a:ext>
            </a:extLst>
          </p:cNvPr>
          <p:cNvCxnSpPr>
            <a:cxnSpLocks/>
            <a:stCxn id="1180" idx="3"/>
            <a:endCxn id="1187" idx="2"/>
          </p:cNvCxnSpPr>
          <p:nvPr/>
        </p:nvCxnSpPr>
        <p:spPr>
          <a:xfrm flipV="1">
            <a:off x="3663742" y="4977883"/>
            <a:ext cx="2077336" cy="45762"/>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89" name="直線矢印コネクタ 1188">
            <a:extLst>
              <a:ext uri="{FF2B5EF4-FFF2-40B4-BE49-F238E27FC236}">
                <a16:creationId xmlns:a16="http://schemas.microsoft.com/office/drawing/2014/main" id="{7435976A-2B0C-B0AB-7C67-31D8083E3798}"/>
              </a:ext>
            </a:extLst>
          </p:cNvPr>
          <p:cNvCxnSpPr>
            <a:cxnSpLocks/>
            <a:stCxn id="1180" idx="3"/>
            <a:endCxn id="1181" idx="2"/>
          </p:cNvCxnSpPr>
          <p:nvPr/>
        </p:nvCxnSpPr>
        <p:spPr>
          <a:xfrm>
            <a:off x="3663742" y="5023645"/>
            <a:ext cx="428845" cy="492278"/>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190" name="正方形/長方形 1189">
            <a:extLst>
              <a:ext uri="{FF2B5EF4-FFF2-40B4-BE49-F238E27FC236}">
                <a16:creationId xmlns:a16="http://schemas.microsoft.com/office/drawing/2014/main" id="{2ACE26B9-AADA-A158-A8DD-A58970895915}"/>
              </a:ext>
            </a:extLst>
          </p:cNvPr>
          <p:cNvSpPr/>
          <p:nvPr/>
        </p:nvSpPr>
        <p:spPr>
          <a:xfrm>
            <a:off x="5706161" y="8386938"/>
            <a:ext cx="1183460" cy="591349"/>
          </a:xfrm>
          <a:prstGeom prst="rect">
            <a:avLst/>
          </a:prstGeom>
          <a:solidFill>
            <a:schemeClr val="accent6">
              <a:lumMod val="10000"/>
              <a:lumOff val="9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ja-JP" sz="1400" dirty="0">
                <a:solidFill>
                  <a:srgbClr val="59574C"/>
                </a:solidFill>
                <a:latin typeface="Meiryo UI" panose="020B0604030504040204" pitchFamily="50" charset="-128"/>
                <a:ea typeface="Meiryo UI" panose="020B0604030504040204" pitchFamily="50" charset="-128"/>
              </a:rPr>
              <a:t>OCI</a:t>
            </a:r>
          </a:p>
          <a:p>
            <a:pPr algn="ctr"/>
            <a:r>
              <a:rPr lang="en-US" altLang="ja-JP" sz="1400" dirty="0">
                <a:solidFill>
                  <a:srgbClr val="59574C"/>
                </a:solidFill>
                <a:latin typeface="Meiryo UI" panose="020B0604030504040204" pitchFamily="50" charset="-128"/>
                <a:ea typeface="Meiryo UI" panose="020B0604030504040204" pitchFamily="50" charset="-128"/>
              </a:rPr>
              <a:t>Streaming</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191" name="矢印: 下カーブ 1190">
            <a:extLst>
              <a:ext uri="{FF2B5EF4-FFF2-40B4-BE49-F238E27FC236}">
                <a16:creationId xmlns:a16="http://schemas.microsoft.com/office/drawing/2014/main" id="{C6DF48E0-23C9-974E-C14A-7319E24A60AE}"/>
              </a:ext>
            </a:extLst>
          </p:cNvPr>
          <p:cNvSpPr/>
          <p:nvPr/>
        </p:nvSpPr>
        <p:spPr>
          <a:xfrm>
            <a:off x="6055784" y="5270200"/>
            <a:ext cx="651039" cy="3131714"/>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cxnSp>
        <p:nvCxnSpPr>
          <p:cNvPr id="1192" name="直線矢印コネクタ 1191">
            <a:extLst>
              <a:ext uri="{FF2B5EF4-FFF2-40B4-BE49-F238E27FC236}">
                <a16:creationId xmlns:a16="http://schemas.microsoft.com/office/drawing/2014/main" id="{90BDA796-670C-E106-400D-5460847808B9}"/>
              </a:ext>
            </a:extLst>
          </p:cNvPr>
          <p:cNvCxnSpPr>
            <a:cxnSpLocks/>
            <a:stCxn id="1185" idx="3"/>
            <a:endCxn id="1190" idx="1"/>
          </p:cNvCxnSpPr>
          <p:nvPr/>
        </p:nvCxnSpPr>
        <p:spPr>
          <a:xfrm>
            <a:off x="5295953" y="8680908"/>
            <a:ext cx="410208" cy="1705"/>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93" name="直線矢印コネクタ 1192">
            <a:extLst>
              <a:ext uri="{FF2B5EF4-FFF2-40B4-BE49-F238E27FC236}">
                <a16:creationId xmlns:a16="http://schemas.microsoft.com/office/drawing/2014/main" id="{1F83E047-B644-8699-0CC5-7B72CCD5E21F}"/>
              </a:ext>
            </a:extLst>
          </p:cNvPr>
          <p:cNvCxnSpPr>
            <a:cxnSpLocks/>
            <a:stCxn id="1278" idx="0"/>
            <a:endCxn id="1211" idx="2"/>
          </p:cNvCxnSpPr>
          <p:nvPr/>
        </p:nvCxnSpPr>
        <p:spPr>
          <a:xfrm flipV="1">
            <a:off x="7953967" y="6266816"/>
            <a:ext cx="1300341" cy="2118417"/>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194" name="円柱 1193">
            <a:extLst>
              <a:ext uri="{FF2B5EF4-FFF2-40B4-BE49-F238E27FC236}">
                <a16:creationId xmlns:a16="http://schemas.microsoft.com/office/drawing/2014/main" id="{E25B483F-551E-5BE5-3117-4FB1521FC08B}"/>
              </a:ext>
            </a:extLst>
          </p:cNvPr>
          <p:cNvSpPr/>
          <p:nvPr/>
        </p:nvSpPr>
        <p:spPr>
          <a:xfrm>
            <a:off x="13634653" y="4344492"/>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在庫</a:t>
            </a:r>
          </a:p>
        </p:txBody>
      </p:sp>
      <p:sp>
        <p:nvSpPr>
          <p:cNvPr id="1195" name="正方形/長方形 1194">
            <a:extLst>
              <a:ext uri="{FF2B5EF4-FFF2-40B4-BE49-F238E27FC236}">
                <a16:creationId xmlns:a16="http://schemas.microsoft.com/office/drawing/2014/main" id="{5D1DCF9B-1862-9D8A-25AA-760BC894BFB8}"/>
              </a:ext>
            </a:extLst>
          </p:cNvPr>
          <p:cNvSpPr/>
          <p:nvPr/>
        </p:nvSpPr>
        <p:spPr>
          <a:xfrm>
            <a:off x="11135652" y="4020087"/>
            <a:ext cx="4835469"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800" b="1" dirty="0">
                <a:solidFill>
                  <a:srgbClr val="59574C"/>
                </a:solidFill>
                <a:latin typeface="Meiryo UI" panose="020B0604030504040204" pitchFamily="50" charset="-128"/>
                <a:ea typeface="Meiryo UI" panose="020B0604030504040204" pitchFamily="50" charset="-128"/>
              </a:rPr>
              <a:t>マスター</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196" name="円柱 1195">
            <a:extLst>
              <a:ext uri="{FF2B5EF4-FFF2-40B4-BE49-F238E27FC236}">
                <a16:creationId xmlns:a16="http://schemas.microsoft.com/office/drawing/2014/main" id="{D9CA37BD-D387-45AB-9F22-032F6E387F74}"/>
              </a:ext>
            </a:extLst>
          </p:cNvPr>
          <p:cNvSpPr/>
          <p:nvPr/>
        </p:nvSpPr>
        <p:spPr>
          <a:xfrm>
            <a:off x="11303617" y="8120016"/>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sp>
        <p:nvSpPr>
          <p:cNvPr id="1197" name="円柱 1196">
            <a:extLst>
              <a:ext uri="{FF2B5EF4-FFF2-40B4-BE49-F238E27FC236}">
                <a16:creationId xmlns:a16="http://schemas.microsoft.com/office/drawing/2014/main" id="{620E33EC-0BD8-3915-FC2B-E40F62EF76AB}"/>
              </a:ext>
            </a:extLst>
          </p:cNvPr>
          <p:cNvSpPr/>
          <p:nvPr/>
        </p:nvSpPr>
        <p:spPr>
          <a:xfrm>
            <a:off x="11303617" y="6876960"/>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sp>
        <p:nvSpPr>
          <p:cNvPr id="1198" name="正方形/長方形 1197">
            <a:extLst>
              <a:ext uri="{FF2B5EF4-FFF2-40B4-BE49-F238E27FC236}">
                <a16:creationId xmlns:a16="http://schemas.microsoft.com/office/drawing/2014/main" id="{C4AA3F97-CD9D-D90E-D7DB-21420D883657}"/>
              </a:ext>
            </a:extLst>
          </p:cNvPr>
          <p:cNvSpPr/>
          <p:nvPr/>
        </p:nvSpPr>
        <p:spPr>
          <a:xfrm>
            <a:off x="11131054" y="5270200"/>
            <a:ext cx="4831146"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800" b="1" dirty="0">
                <a:solidFill>
                  <a:srgbClr val="59574C"/>
                </a:solidFill>
                <a:latin typeface="Meiryo UI" panose="020B0604030504040204" pitchFamily="50" charset="-128"/>
                <a:ea typeface="Meiryo UI" panose="020B0604030504040204" pitchFamily="50" charset="-128"/>
              </a:rPr>
              <a:t>トラン</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199" name="円柱 1198">
            <a:extLst>
              <a:ext uri="{FF2B5EF4-FFF2-40B4-BE49-F238E27FC236}">
                <a16:creationId xmlns:a16="http://schemas.microsoft.com/office/drawing/2014/main" id="{28ED07D7-B64A-80E4-B757-2210883221F3}"/>
              </a:ext>
            </a:extLst>
          </p:cNvPr>
          <p:cNvSpPr/>
          <p:nvPr/>
        </p:nvSpPr>
        <p:spPr>
          <a:xfrm>
            <a:off x="12476679" y="8098115"/>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100" dirty="0">
                <a:solidFill>
                  <a:srgbClr val="59574C"/>
                </a:solidFill>
                <a:latin typeface="Meiryo UI" panose="020B0604030504040204" pitchFamily="50" charset="-128"/>
                <a:ea typeface="Meiryo UI" panose="020B0604030504040204" pitchFamily="50" charset="-128"/>
              </a:rPr>
              <a:t>DC</a:t>
            </a:r>
            <a:r>
              <a:rPr kumimoji="1" lang="ja-JP" altLang="en-US" sz="1100" dirty="0">
                <a:solidFill>
                  <a:srgbClr val="59574C"/>
                </a:solidFill>
                <a:latin typeface="Meiryo UI" panose="020B0604030504040204" pitchFamily="50" charset="-128"/>
                <a:ea typeface="Meiryo UI" panose="020B0604030504040204" pitchFamily="50" charset="-128"/>
              </a:rPr>
              <a:t>在庫</a:t>
            </a:r>
          </a:p>
        </p:txBody>
      </p:sp>
      <p:sp>
        <p:nvSpPr>
          <p:cNvPr id="1200" name="円柱 1199">
            <a:extLst>
              <a:ext uri="{FF2B5EF4-FFF2-40B4-BE49-F238E27FC236}">
                <a16:creationId xmlns:a16="http://schemas.microsoft.com/office/drawing/2014/main" id="{92300391-415B-E7FB-300E-F2DF15A7E69E}"/>
              </a:ext>
            </a:extLst>
          </p:cNvPr>
          <p:cNvSpPr/>
          <p:nvPr/>
        </p:nvSpPr>
        <p:spPr>
          <a:xfrm>
            <a:off x="14793067" y="6871135"/>
            <a:ext cx="1058290" cy="70188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配送残</a:t>
            </a:r>
          </a:p>
        </p:txBody>
      </p:sp>
      <p:sp>
        <p:nvSpPr>
          <p:cNvPr id="1201" name="正方形/長方形 1200">
            <a:extLst>
              <a:ext uri="{FF2B5EF4-FFF2-40B4-BE49-F238E27FC236}">
                <a16:creationId xmlns:a16="http://schemas.microsoft.com/office/drawing/2014/main" id="{8411A65E-1E76-38BA-4536-AB452C688E46}"/>
              </a:ext>
            </a:extLst>
          </p:cNvPr>
          <p:cNvSpPr/>
          <p:nvPr/>
        </p:nvSpPr>
        <p:spPr>
          <a:xfrm>
            <a:off x="16809589" y="4331613"/>
            <a:ext cx="1057140" cy="572875"/>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400" dirty="0" err="1">
                <a:solidFill>
                  <a:srgbClr val="59574C"/>
                </a:solidFill>
                <a:latin typeface="Meiryo UI" panose="020B0604030504040204" pitchFamily="50" charset="-128"/>
                <a:ea typeface="Meiryo UI" panose="020B0604030504040204" pitchFamily="50" charset="-128"/>
              </a:rPr>
              <a:t>DataSpider</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202" name="正方形/長方形 1201">
            <a:extLst>
              <a:ext uri="{FF2B5EF4-FFF2-40B4-BE49-F238E27FC236}">
                <a16:creationId xmlns:a16="http://schemas.microsoft.com/office/drawing/2014/main" id="{C1F937E6-7584-D975-4188-7983F98D9A96}"/>
              </a:ext>
            </a:extLst>
          </p:cNvPr>
          <p:cNvSpPr/>
          <p:nvPr/>
        </p:nvSpPr>
        <p:spPr>
          <a:xfrm>
            <a:off x="16699721" y="5084110"/>
            <a:ext cx="1274490" cy="963865"/>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kumimoji="1" lang="ja-JP" altLang="en-US" sz="1100" dirty="0">
                <a:solidFill>
                  <a:srgbClr val="59574C"/>
                </a:solidFill>
                <a:latin typeface="Meiryo UI" panose="020B0604030504040204" pitchFamily="50" charset="-128"/>
                <a:ea typeface="Meiryo UI" panose="020B0604030504040204" pitchFamily="50" charset="-128"/>
              </a:rPr>
              <a:t>配送業務端末</a:t>
            </a:r>
            <a:r>
              <a:rPr kumimoji="1" lang="en-US" altLang="ja-JP" sz="1100" dirty="0">
                <a:solidFill>
                  <a:srgbClr val="59574C"/>
                </a:solidFill>
                <a:latin typeface="Meiryo UI" panose="020B0604030504040204" pitchFamily="50" charset="-128"/>
                <a:ea typeface="Meiryo UI" panose="020B0604030504040204" pitchFamily="50" charset="-128"/>
              </a:rPr>
              <a:t>AWS</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1203" name="正方形/長方形 1202">
            <a:extLst>
              <a:ext uri="{FF2B5EF4-FFF2-40B4-BE49-F238E27FC236}">
                <a16:creationId xmlns:a16="http://schemas.microsoft.com/office/drawing/2014/main" id="{79BDBCC3-847A-E204-1D2E-94BED8E53C2E}"/>
              </a:ext>
            </a:extLst>
          </p:cNvPr>
          <p:cNvSpPr/>
          <p:nvPr/>
        </p:nvSpPr>
        <p:spPr>
          <a:xfrm>
            <a:off x="16699721" y="6236956"/>
            <a:ext cx="1274490" cy="874323"/>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配送</a:t>
            </a:r>
            <a:r>
              <a:rPr lang="ja-JP" altLang="en-US" sz="1400" dirty="0">
                <a:solidFill>
                  <a:srgbClr val="59574C"/>
                </a:solidFill>
                <a:latin typeface="Meiryo UI" panose="020B0604030504040204" pitchFamily="50" charset="-128"/>
                <a:ea typeface="Meiryo UI" panose="020B0604030504040204" pitchFamily="50" charset="-128"/>
              </a:rPr>
              <a:t>業務</a:t>
            </a:r>
            <a:r>
              <a:rPr kumimoji="1" lang="ja-JP" altLang="en-US" sz="1400" dirty="0">
                <a:solidFill>
                  <a:srgbClr val="59574C"/>
                </a:solidFill>
                <a:latin typeface="Meiryo UI" panose="020B0604030504040204" pitchFamily="50" charset="-128"/>
                <a:ea typeface="Meiryo UI" panose="020B0604030504040204" pitchFamily="50" charset="-128"/>
              </a:rPr>
              <a:t>端末</a:t>
            </a:r>
          </a:p>
        </p:txBody>
      </p:sp>
      <p:sp>
        <p:nvSpPr>
          <p:cNvPr id="1204" name="正方形/長方形 1203">
            <a:extLst>
              <a:ext uri="{FF2B5EF4-FFF2-40B4-BE49-F238E27FC236}">
                <a16:creationId xmlns:a16="http://schemas.microsoft.com/office/drawing/2014/main" id="{88DE5A13-430A-C6E9-AF26-8D28B1E0B510}"/>
              </a:ext>
            </a:extLst>
          </p:cNvPr>
          <p:cNvSpPr/>
          <p:nvPr/>
        </p:nvSpPr>
        <p:spPr>
          <a:xfrm>
            <a:off x="16711801" y="8616296"/>
            <a:ext cx="1274490" cy="874323"/>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店内端末</a:t>
            </a:r>
          </a:p>
        </p:txBody>
      </p:sp>
      <p:sp>
        <p:nvSpPr>
          <p:cNvPr id="1205" name="円柱 1204">
            <a:extLst>
              <a:ext uri="{FF2B5EF4-FFF2-40B4-BE49-F238E27FC236}">
                <a16:creationId xmlns:a16="http://schemas.microsoft.com/office/drawing/2014/main" id="{FDBFF56F-487B-1765-9747-5D7B1EA834F0}"/>
              </a:ext>
            </a:extLst>
          </p:cNvPr>
          <p:cNvSpPr/>
          <p:nvPr/>
        </p:nvSpPr>
        <p:spPr>
          <a:xfrm>
            <a:off x="16938490" y="5389082"/>
            <a:ext cx="799793" cy="46196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600" dirty="0">
              <a:solidFill>
                <a:srgbClr val="59574C"/>
              </a:solidFill>
              <a:latin typeface="Meiryo UI" panose="020B0604030504040204" pitchFamily="50" charset="-128"/>
              <a:ea typeface="Meiryo UI" panose="020B0604030504040204" pitchFamily="50" charset="-128"/>
            </a:endParaRPr>
          </a:p>
        </p:txBody>
      </p:sp>
      <p:cxnSp>
        <p:nvCxnSpPr>
          <p:cNvPr id="1206" name="直線矢印コネクタ 1205">
            <a:extLst>
              <a:ext uri="{FF2B5EF4-FFF2-40B4-BE49-F238E27FC236}">
                <a16:creationId xmlns:a16="http://schemas.microsoft.com/office/drawing/2014/main" id="{C57CA19C-363E-BFE7-CC0E-E465AE06D7C6}"/>
              </a:ext>
            </a:extLst>
          </p:cNvPr>
          <p:cNvCxnSpPr>
            <a:cxnSpLocks/>
            <a:stCxn id="1203" idx="0"/>
            <a:endCxn id="1205" idx="3"/>
          </p:cNvCxnSpPr>
          <p:nvPr/>
        </p:nvCxnSpPr>
        <p:spPr>
          <a:xfrm flipV="1">
            <a:off x="17336966" y="5851044"/>
            <a:ext cx="1421" cy="385912"/>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1207" name="直線矢印コネクタ 1206">
            <a:extLst>
              <a:ext uri="{FF2B5EF4-FFF2-40B4-BE49-F238E27FC236}">
                <a16:creationId xmlns:a16="http://schemas.microsoft.com/office/drawing/2014/main" id="{CB523AAA-7FB4-B63A-EEF5-E10D1B07B579}"/>
              </a:ext>
            </a:extLst>
          </p:cNvPr>
          <p:cNvCxnSpPr>
            <a:cxnSpLocks/>
            <a:stCxn id="1195" idx="3"/>
            <a:endCxn id="1213" idx="2"/>
          </p:cNvCxnSpPr>
          <p:nvPr/>
        </p:nvCxnSpPr>
        <p:spPr>
          <a:xfrm>
            <a:off x="15971121" y="4616084"/>
            <a:ext cx="980040" cy="3441993"/>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08" name="直線矢印コネクタ 1207">
            <a:extLst>
              <a:ext uri="{FF2B5EF4-FFF2-40B4-BE49-F238E27FC236}">
                <a16:creationId xmlns:a16="http://schemas.microsoft.com/office/drawing/2014/main" id="{997624AC-6973-E935-1A02-256F56EE40E7}"/>
              </a:ext>
            </a:extLst>
          </p:cNvPr>
          <p:cNvCxnSpPr>
            <a:cxnSpLocks/>
            <a:stCxn id="1220" idx="3"/>
            <a:endCxn id="1213" idx="2"/>
          </p:cNvCxnSpPr>
          <p:nvPr/>
        </p:nvCxnSpPr>
        <p:spPr>
          <a:xfrm flipV="1">
            <a:off x="15971121" y="8058077"/>
            <a:ext cx="980040" cy="301667"/>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209" name="円柱 1208">
            <a:extLst>
              <a:ext uri="{FF2B5EF4-FFF2-40B4-BE49-F238E27FC236}">
                <a16:creationId xmlns:a16="http://schemas.microsoft.com/office/drawing/2014/main" id="{CAFCFC24-1118-A093-A680-A0DF50E1D6AA}"/>
              </a:ext>
            </a:extLst>
          </p:cNvPr>
          <p:cNvSpPr/>
          <p:nvPr/>
        </p:nvSpPr>
        <p:spPr>
          <a:xfrm>
            <a:off x="14793067" y="4331613"/>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マスター</a:t>
            </a:r>
          </a:p>
        </p:txBody>
      </p:sp>
      <p:sp>
        <p:nvSpPr>
          <p:cNvPr id="1210" name="円柱 1209">
            <a:extLst>
              <a:ext uri="{FF2B5EF4-FFF2-40B4-BE49-F238E27FC236}">
                <a16:creationId xmlns:a16="http://schemas.microsoft.com/office/drawing/2014/main" id="{62F50CE5-E22A-2736-B84D-9D4FE8AA81AD}"/>
              </a:ext>
            </a:extLst>
          </p:cNvPr>
          <p:cNvSpPr/>
          <p:nvPr/>
        </p:nvSpPr>
        <p:spPr>
          <a:xfrm>
            <a:off x="13636863" y="8105256"/>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配送工事枠</a:t>
            </a:r>
          </a:p>
        </p:txBody>
      </p:sp>
      <p:sp>
        <p:nvSpPr>
          <p:cNvPr id="1211" name="円柱 1210">
            <a:extLst>
              <a:ext uri="{FF2B5EF4-FFF2-40B4-BE49-F238E27FC236}">
                <a16:creationId xmlns:a16="http://schemas.microsoft.com/office/drawing/2014/main" id="{9773D79B-5BB0-9443-D507-45F51753DF2D}"/>
              </a:ext>
            </a:extLst>
          </p:cNvPr>
          <p:cNvSpPr/>
          <p:nvPr/>
        </p:nvSpPr>
        <p:spPr>
          <a:xfrm>
            <a:off x="9254308" y="5915875"/>
            <a:ext cx="1058290" cy="701882"/>
          </a:xfrm>
          <a:prstGeom prst="can">
            <a:avLst/>
          </a:prstGeom>
          <a:solidFill>
            <a:schemeClr val="accent2">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各種実績</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a:t>
            </a:r>
            <a:r>
              <a:rPr kumimoji="1" lang="ja-JP" altLang="en-US" sz="1400" dirty="0">
                <a:solidFill>
                  <a:srgbClr val="59574C"/>
                </a:solidFill>
                <a:latin typeface="Meiryo UI" panose="020B0604030504040204" pitchFamily="50" charset="-128"/>
                <a:ea typeface="Meiryo UI" panose="020B0604030504040204" pitchFamily="50" charset="-128"/>
              </a:rPr>
              <a:t>次世代</a:t>
            </a:r>
            <a:r>
              <a:rPr kumimoji="1" lang="en-US" altLang="ja-JP" sz="1400" dirty="0">
                <a:solidFill>
                  <a:srgbClr val="59574C"/>
                </a:solidFill>
                <a:latin typeface="Meiryo UI" panose="020B0604030504040204" pitchFamily="50" charset="-128"/>
                <a:ea typeface="Meiryo UI" panose="020B0604030504040204" pitchFamily="50" charset="-128"/>
              </a:rPr>
              <a:t>)</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212" name="正方形/長方形 1211">
            <a:extLst>
              <a:ext uri="{FF2B5EF4-FFF2-40B4-BE49-F238E27FC236}">
                <a16:creationId xmlns:a16="http://schemas.microsoft.com/office/drawing/2014/main" id="{0258A17E-7DCD-6C1B-12ED-CB5E8ACD4F4B}"/>
              </a:ext>
            </a:extLst>
          </p:cNvPr>
          <p:cNvSpPr/>
          <p:nvPr/>
        </p:nvSpPr>
        <p:spPr>
          <a:xfrm>
            <a:off x="16712392" y="7522124"/>
            <a:ext cx="1274490" cy="963865"/>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店内端末</a:t>
            </a:r>
            <a:r>
              <a:rPr kumimoji="1" lang="en-US" altLang="ja-JP" sz="1400" dirty="0">
                <a:solidFill>
                  <a:srgbClr val="59574C"/>
                </a:solidFill>
                <a:latin typeface="Meiryo UI" panose="020B0604030504040204" pitchFamily="50" charset="-128"/>
                <a:ea typeface="Meiryo UI" panose="020B0604030504040204" pitchFamily="50" charset="-128"/>
              </a:rPr>
              <a:t>AWS</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213" name="円柱 1212">
            <a:extLst>
              <a:ext uri="{FF2B5EF4-FFF2-40B4-BE49-F238E27FC236}">
                <a16:creationId xmlns:a16="http://schemas.microsoft.com/office/drawing/2014/main" id="{A013279E-0FCB-2C8D-F130-7B1995ADD88C}"/>
              </a:ext>
            </a:extLst>
          </p:cNvPr>
          <p:cNvSpPr/>
          <p:nvPr/>
        </p:nvSpPr>
        <p:spPr>
          <a:xfrm>
            <a:off x="16951161" y="7827096"/>
            <a:ext cx="799793" cy="46196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600" dirty="0">
              <a:solidFill>
                <a:srgbClr val="59574C"/>
              </a:solidFill>
              <a:latin typeface="Meiryo UI" panose="020B0604030504040204" pitchFamily="50" charset="-128"/>
              <a:ea typeface="Meiryo UI" panose="020B0604030504040204" pitchFamily="50" charset="-128"/>
            </a:endParaRPr>
          </a:p>
        </p:txBody>
      </p:sp>
      <p:cxnSp>
        <p:nvCxnSpPr>
          <p:cNvPr id="1214" name="直線矢印コネクタ 1213">
            <a:extLst>
              <a:ext uri="{FF2B5EF4-FFF2-40B4-BE49-F238E27FC236}">
                <a16:creationId xmlns:a16="http://schemas.microsoft.com/office/drawing/2014/main" id="{EDA4DE2D-2382-CB2F-7075-6D67A8DED35D}"/>
              </a:ext>
            </a:extLst>
          </p:cNvPr>
          <p:cNvCxnSpPr>
            <a:cxnSpLocks/>
            <a:stCxn id="1204" idx="0"/>
            <a:endCxn id="1213" idx="3"/>
          </p:cNvCxnSpPr>
          <p:nvPr/>
        </p:nvCxnSpPr>
        <p:spPr>
          <a:xfrm flipV="1">
            <a:off x="17349046" y="8289058"/>
            <a:ext cx="2012" cy="327238"/>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1215" name="直線矢印コネクタ 1214">
            <a:extLst>
              <a:ext uri="{FF2B5EF4-FFF2-40B4-BE49-F238E27FC236}">
                <a16:creationId xmlns:a16="http://schemas.microsoft.com/office/drawing/2014/main" id="{C05AB30E-7EFB-7C2C-0EEE-923CBA499358}"/>
              </a:ext>
            </a:extLst>
          </p:cNvPr>
          <p:cNvCxnSpPr>
            <a:cxnSpLocks/>
            <a:stCxn id="1184" idx="3"/>
            <a:endCxn id="1201" idx="1"/>
          </p:cNvCxnSpPr>
          <p:nvPr/>
        </p:nvCxnSpPr>
        <p:spPr>
          <a:xfrm flipV="1">
            <a:off x="15971119" y="4618051"/>
            <a:ext cx="838470" cy="2494459"/>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16" name="直線矢印コネクタ 1215">
            <a:extLst>
              <a:ext uri="{FF2B5EF4-FFF2-40B4-BE49-F238E27FC236}">
                <a16:creationId xmlns:a16="http://schemas.microsoft.com/office/drawing/2014/main" id="{29A0777B-85C9-F953-E4C2-743122D48AF9}"/>
              </a:ext>
            </a:extLst>
          </p:cNvPr>
          <p:cNvCxnSpPr>
            <a:cxnSpLocks/>
            <a:stCxn id="1185" idx="0"/>
            <a:endCxn id="1181" idx="3"/>
          </p:cNvCxnSpPr>
          <p:nvPr/>
        </p:nvCxnSpPr>
        <p:spPr>
          <a:xfrm flipH="1" flipV="1">
            <a:off x="4689703" y="5866864"/>
            <a:ext cx="14520" cy="2518369"/>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sp>
        <p:nvSpPr>
          <p:cNvPr id="1217" name="正方形/長方形 1216">
            <a:extLst>
              <a:ext uri="{FF2B5EF4-FFF2-40B4-BE49-F238E27FC236}">
                <a16:creationId xmlns:a16="http://schemas.microsoft.com/office/drawing/2014/main" id="{BC3EFCFB-418C-CF7E-1291-E00AEB1406BA}"/>
              </a:ext>
            </a:extLst>
          </p:cNvPr>
          <p:cNvSpPr/>
          <p:nvPr/>
        </p:nvSpPr>
        <p:spPr>
          <a:xfrm>
            <a:off x="432784" y="5694213"/>
            <a:ext cx="1274490" cy="874323"/>
          </a:xfrm>
          <a:prstGeom prst="rect">
            <a:avLst/>
          </a:prstGeom>
          <a:solidFill>
            <a:schemeClr val="accent2">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400" dirty="0">
                <a:solidFill>
                  <a:srgbClr val="59574C"/>
                </a:solidFill>
                <a:latin typeface="Meiryo UI" panose="020B0604030504040204" pitchFamily="50" charset="-128"/>
                <a:ea typeface="Meiryo UI" panose="020B0604030504040204" pitchFamily="50" charset="-128"/>
              </a:rPr>
              <a:t>据置</a:t>
            </a:r>
            <a:r>
              <a:rPr kumimoji="1" lang="en-US" altLang="ja-JP" sz="1400" dirty="0">
                <a:solidFill>
                  <a:srgbClr val="59574C"/>
                </a:solidFill>
                <a:latin typeface="Meiryo UI" panose="020B0604030504040204" pitchFamily="50" charset="-128"/>
                <a:ea typeface="Meiryo UI" panose="020B0604030504040204" pitchFamily="50" charset="-128"/>
              </a:rPr>
              <a:t>POS</a:t>
            </a:r>
          </a:p>
        </p:txBody>
      </p:sp>
      <p:cxnSp>
        <p:nvCxnSpPr>
          <p:cNvPr id="1218" name="直線矢印コネクタ 1217">
            <a:extLst>
              <a:ext uri="{FF2B5EF4-FFF2-40B4-BE49-F238E27FC236}">
                <a16:creationId xmlns:a16="http://schemas.microsoft.com/office/drawing/2014/main" id="{E1E5806A-B2BA-CD53-0772-C41373E72CF1}"/>
              </a:ext>
            </a:extLst>
          </p:cNvPr>
          <p:cNvCxnSpPr>
            <a:cxnSpLocks/>
            <a:stCxn id="1217" idx="3"/>
            <a:endCxn id="1180" idx="1"/>
          </p:cNvCxnSpPr>
          <p:nvPr/>
        </p:nvCxnSpPr>
        <p:spPr>
          <a:xfrm flipV="1">
            <a:off x="1707274" y="5023645"/>
            <a:ext cx="773008" cy="1107730"/>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9" name="直線矢印コネクタ 1218">
            <a:extLst>
              <a:ext uri="{FF2B5EF4-FFF2-40B4-BE49-F238E27FC236}">
                <a16:creationId xmlns:a16="http://schemas.microsoft.com/office/drawing/2014/main" id="{5AA230DC-FB21-5E44-C904-1DF1DA7AACD7}"/>
              </a:ext>
            </a:extLst>
          </p:cNvPr>
          <p:cNvCxnSpPr>
            <a:cxnSpLocks/>
            <a:stCxn id="1190" idx="0"/>
            <a:endCxn id="1181" idx="4"/>
          </p:cNvCxnSpPr>
          <p:nvPr/>
        </p:nvCxnSpPr>
        <p:spPr>
          <a:xfrm flipH="1" flipV="1">
            <a:off x="5286818" y="5515923"/>
            <a:ext cx="1011073" cy="2871015"/>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20" name="正方形/長方形 1219">
            <a:extLst>
              <a:ext uri="{FF2B5EF4-FFF2-40B4-BE49-F238E27FC236}">
                <a16:creationId xmlns:a16="http://schemas.microsoft.com/office/drawing/2014/main" id="{D3835A2E-74E1-9B19-DBF5-732045D948C7}"/>
              </a:ext>
            </a:extLst>
          </p:cNvPr>
          <p:cNvSpPr/>
          <p:nvPr/>
        </p:nvSpPr>
        <p:spPr>
          <a:xfrm>
            <a:off x="11132290" y="7763747"/>
            <a:ext cx="4838831"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en-US" altLang="ja-JP" sz="1800" b="1" dirty="0">
                <a:solidFill>
                  <a:srgbClr val="59574C"/>
                </a:solidFill>
                <a:latin typeface="Meiryo UI" panose="020B0604030504040204" pitchFamily="50" charset="-128"/>
                <a:ea typeface="Meiryo UI" panose="020B0604030504040204" pitchFamily="50" charset="-128"/>
              </a:rPr>
              <a:t>TC/DC-SV(SJIS)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221" name="正方形/長方形 1220">
            <a:extLst>
              <a:ext uri="{FF2B5EF4-FFF2-40B4-BE49-F238E27FC236}">
                <a16:creationId xmlns:a16="http://schemas.microsoft.com/office/drawing/2014/main" id="{1D7D33A5-7EAE-BA89-8DFC-189E5F38780A}"/>
              </a:ext>
            </a:extLst>
          </p:cNvPr>
          <p:cNvSpPr/>
          <p:nvPr/>
        </p:nvSpPr>
        <p:spPr>
          <a:xfrm>
            <a:off x="3934170" y="4216242"/>
            <a:ext cx="6452514" cy="4031210"/>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r>
              <a:rPr lang="ja-JP" altLang="en-US" sz="1800" b="1" dirty="0">
                <a:solidFill>
                  <a:srgbClr val="59574C"/>
                </a:solidFill>
                <a:latin typeface="Meiryo UI" panose="020B0604030504040204" pitchFamily="50" charset="-128"/>
                <a:ea typeface="Meiryo UI" panose="020B0604030504040204" pitchFamily="50" charset="-128"/>
              </a:rPr>
              <a:t>セントラル</a:t>
            </a:r>
            <a:r>
              <a:rPr lang="en-US" altLang="ja-JP" sz="1800" b="1" dirty="0">
                <a:solidFill>
                  <a:srgbClr val="59574C"/>
                </a:solidFill>
                <a:latin typeface="Meiryo UI" panose="020B0604030504040204" pitchFamily="50" charset="-128"/>
                <a:ea typeface="Meiryo UI" panose="020B0604030504040204" pitchFamily="50" charset="-128"/>
              </a:rPr>
              <a:t>POS</a:t>
            </a:r>
            <a:r>
              <a:rPr lang="ja-JP" altLang="en-US" sz="1800" b="1" dirty="0">
                <a:solidFill>
                  <a:srgbClr val="59574C"/>
                </a:solidFill>
                <a:latin typeface="Meiryo UI" panose="020B0604030504040204" pitchFamily="50" charset="-128"/>
                <a:ea typeface="Meiryo UI" panose="020B0604030504040204" pitchFamily="50" charset="-128"/>
              </a:rPr>
              <a:t> </a:t>
            </a:r>
            <a:r>
              <a:rPr lang="en-US" altLang="ja-JP" sz="1800" b="1" dirty="0">
                <a:solidFill>
                  <a:srgbClr val="59574C"/>
                </a:solidFill>
                <a:latin typeface="Meiryo UI" panose="020B0604030504040204" pitchFamily="50" charset="-128"/>
                <a:ea typeface="Meiryo UI" panose="020B0604030504040204" pitchFamily="50" charset="-128"/>
              </a:rPr>
              <a:t>DB</a:t>
            </a:r>
            <a:r>
              <a:rPr lang="ja-JP" altLang="en-US" sz="1800" b="1" dirty="0">
                <a:solidFill>
                  <a:srgbClr val="59574C"/>
                </a:solidFill>
                <a:latin typeface="Meiryo UI" panose="020B0604030504040204" pitchFamily="50" charset="-128"/>
                <a:ea typeface="Meiryo UI" panose="020B0604030504040204" pitchFamily="50" charset="-128"/>
              </a:rPr>
              <a:t>　</a:t>
            </a:r>
            <a:r>
              <a:rPr lang="en-US" altLang="ja-JP" sz="1800" b="1" dirty="0">
                <a:solidFill>
                  <a:srgbClr val="59574C"/>
                </a:solidFill>
                <a:latin typeface="Meiryo UI" panose="020B0604030504040204" pitchFamily="50" charset="-128"/>
                <a:ea typeface="Meiryo UI" panose="020B0604030504040204" pitchFamily="50" charset="-128"/>
              </a:rPr>
              <a:t> Ver.26ai(AL32UTF8)</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222" name="吹き出し: 折線 1221">
            <a:extLst>
              <a:ext uri="{FF2B5EF4-FFF2-40B4-BE49-F238E27FC236}">
                <a16:creationId xmlns:a16="http://schemas.microsoft.com/office/drawing/2014/main" id="{134E0F87-717D-2DA8-DFF1-C379C3D76712}"/>
              </a:ext>
            </a:extLst>
          </p:cNvPr>
          <p:cNvSpPr/>
          <p:nvPr/>
        </p:nvSpPr>
        <p:spPr>
          <a:xfrm flipH="1">
            <a:off x="2867386" y="7441661"/>
            <a:ext cx="1383711" cy="518599"/>
          </a:xfrm>
          <a:prstGeom prst="borderCallout2">
            <a:avLst>
              <a:gd name="adj1" fmla="val 18750"/>
              <a:gd name="adj2" fmla="val -8333"/>
              <a:gd name="adj3" fmla="val 18750"/>
              <a:gd name="adj4" fmla="val -16667"/>
              <a:gd name="adj5" fmla="val 210261"/>
              <a:gd name="adj6" fmla="val -232175"/>
            </a:avLst>
          </a:prstGeom>
          <a:solidFill>
            <a:srgbClr val="FFFF99"/>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複数処理を</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ja-JP" altLang="en-US" sz="1400" dirty="0">
                <a:solidFill>
                  <a:srgbClr val="59574C"/>
                </a:solidFill>
                <a:latin typeface="Meiryo UI" panose="020B0604030504040204" pitchFamily="50" charset="-128"/>
                <a:ea typeface="Meiryo UI" panose="020B0604030504040204" pitchFamily="50" charset="-128"/>
              </a:rPr>
              <a:t>パラレル実行</a:t>
            </a:r>
          </a:p>
        </p:txBody>
      </p:sp>
      <p:sp>
        <p:nvSpPr>
          <p:cNvPr id="1223" name="円柱 1222">
            <a:extLst>
              <a:ext uri="{FF2B5EF4-FFF2-40B4-BE49-F238E27FC236}">
                <a16:creationId xmlns:a16="http://schemas.microsoft.com/office/drawing/2014/main" id="{8654615D-AC50-9A83-64D0-138BA02AEB41}"/>
              </a:ext>
            </a:extLst>
          </p:cNvPr>
          <p:cNvSpPr/>
          <p:nvPr/>
        </p:nvSpPr>
        <p:spPr>
          <a:xfrm>
            <a:off x="14777564" y="8105256"/>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ロジ関連</a:t>
            </a:r>
          </a:p>
        </p:txBody>
      </p:sp>
      <p:sp>
        <p:nvSpPr>
          <p:cNvPr id="1224" name="円柱 1223">
            <a:extLst>
              <a:ext uri="{FF2B5EF4-FFF2-40B4-BE49-F238E27FC236}">
                <a16:creationId xmlns:a16="http://schemas.microsoft.com/office/drawing/2014/main" id="{8D090785-B55C-C78C-22B0-B8212B04ED82}"/>
              </a:ext>
            </a:extLst>
          </p:cNvPr>
          <p:cNvSpPr/>
          <p:nvPr/>
        </p:nvSpPr>
        <p:spPr>
          <a:xfrm>
            <a:off x="12482886" y="5578644"/>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各種実績</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en-US" altLang="ja-JP" sz="1100" dirty="0">
                <a:solidFill>
                  <a:srgbClr val="59574C"/>
                </a:solidFill>
                <a:latin typeface="Meiryo UI" panose="020B0604030504040204" pitchFamily="50" charset="-128"/>
                <a:ea typeface="Meiryo UI" panose="020B0604030504040204" pitchFamily="50" charset="-128"/>
              </a:rPr>
              <a:t>(</a:t>
            </a:r>
            <a:r>
              <a:rPr lang="ja-JP" altLang="en-US" sz="1100" dirty="0">
                <a:solidFill>
                  <a:srgbClr val="59574C"/>
                </a:solidFill>
                <a:latin typeface="Meiryo UI" panose="020B0604030504040204" pitchFamily="50" charset="-128"/>
                <a:ea typeface="Meiryo UI" panose="020B0604030504040204" pitchFamily="50" charset="-128"/>
              </a:rPr>
              <a:t>現行レイアウト</a:t>
            </a:r>
            <a:r>
              <a:rPr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1225" name="円柱 1224">
            <a:extLst>
              <a:ext uri="{FF2B5EF4-FFF2-40B4-BE49-F238E27FC236}">
                <a16:creationId xmlns:a16="http://schemas.microsoft.com/office/drawing/2014/main" id="{AC507C90-B203-D447-BE0E-3BD7B4E16C82}"/>
              </a:ext>
            </a:extLst>
          </p:cNvPr>
          <p:cNvSpPr/>
          <p:nvPr/>
        </p:nvSpPr>
        <p:spPr>
          <a:xfrm>
            <a:off x="12482886" y="6846695"/>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持込修理</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ja-JP" altLang="en-US" sz="1100" dirty="0">
                <a:solidFill>
                  <a:srgbClr val="59574C"/>
                </a:solidFill>
                <a:latin typeface="Meiryo UI" panose="020B0604030504040204" pitchFamily="50" charset="-128"/>
                <a:ea typeface="Meiryo UI" panose="020B0604030504040204" pitchFamily="50" charset="-128"/>
              </a:rPr>
              <a:t>出張修理</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1226" name="円柱 1225">
            <a:extLst>
              <a:ext uri="{FF2B5EF4-FFF2-40B4-BE49-F238E27FC236}">
                <a16:creationId xmlns:a16="http://schemas.microsoft.com/office/drawing/2014/main" id="{C46686ED-3982-5E11-0A69-55881D49F733}"/>
              </a:ext>
            </a:extLst>
          </p:cNvPr>
          <p:cNvSpPr/>
          <p:nvPr/>
        </p:nvSpPr>
        <p:spPr>
          <a:xfrm>
            <a:off x="13643807" y="6871135"/>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rgbClr val="59574C"/>
                </a:solidFill>
                <a:latin typeface="Meiryo UI" panose="020B0604030504040204" pitchFamily="50" charset="-128"/>
                <a:ea typeface="Meiryo UI" panose="020B0604030504040204" pitchFamily="50" charset="-128"/>
              </a:rPr>
              <a:t>あんしん延長保証</a:t>
            </a:r>
            <a:endParaRPr kumimoji="1" lang="en-US" altLang="ja-JP" sz="1000" dirty="0">
              <a:solidFill>
                <a:srgbClr val="59574C"/>
              </a:solidFill>
              <a:latin typeface="Meiryo UI" panose="020B0604030504040204" pitchFamily="50" charset="-128"/>
              <a:ea typeface="Meiryo UI" panose="020B0604030504040204" pitchFamily="50" charset="-128"/>
            </a:endParaRPr>
          </a:p>
          <a:p>
            <a:pPr algn="ctr"/>
            <a:r>
              <a:rPr lang="ja-JP" altLang="en-US" sz="1000" dirty="0">
                <a:solidFill>
                  <a:srgbClr val="59574C"/>
                </a:solidFill>
                <a:latin typeface="Meiryo UI" panose="020B0604030504040204" pitchFamily="50" charset="-128"/>
                <a:ea typeface="Meiryo UI" panose="020B0604030504040204" pitchFamily="50" charset="-128"/>
              </a:rPr>
              <a:t>長期無料保証</a:t>
            </a:r>
            <a:endParaRPr kumimoji="1" lang="ja-JP" altLang="en-US" sz="1000" dirty="0">
              <a:solidFill>
                <a:srgbClr val="59574C"/>
              </a:solidFill>
              <a:latin typeface="Meiryo UI" panose="020B0604030504040204" pitchFamily="50" charset="-128"/>
              <a:ea typeface="Meiryo UI" panose="020B0604030504040204" pitchFamily="50" charset="-128"/>
            </a:endParaRPr>
          </a:p>
        </p:txBody>
      </p:sp>
      <p:sp>
        <p:nvSpPr>
          <p:cNvPr id="1227" name="正方形/長方形 1226">
            <a:extLst>
              <a:ext uri="{FF2B5EF4-FFF2-40B4-BE49-F238E27FC236}">
                <a16:creationId xmlns:a16="http://schemas.microsoft.com/office/drawing/2014/main" id="{D45EC9BF-BF41-1C7C-31FD-28889FA5AD7B}"/>
              </a:ext>
            </a:extLst>
          </p:cNvPr>
          <p:cNvSpPr/>
          <p:nvPr/>
        </p:nvSpPr>
        <p:spPr>
          <a:xfrm>
            <a:off x="11099195" y="1211407"/>
            <a:ext cx="4871923" cy="2428219"/>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r>
              <a:rPr lang="ja-JP" altLang="en-US" sz="1800" b="1" dirty="0">
                <a:solidFill>
                  <a:srgbClr val="59574C"/>
                </a:solidFill>
                <a:latin typeface="Meiryo UI" panose="020B0604030504040204" pitchFamily="50" charset="-128"/>
                <a:ea typeface="Meiryo UI" panose="020B0604030504040204" pitchFamily="50" charset="-128"/>
              </a:rPr>
              <a:t>店舗</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228" name="正方形/長方形 1227">
            <a:extLst>
              <a:ext uri="{FF2B5EF4-FFF2-40B4-BE49-F238E27FC236}">
                <a16:creationId xmlns:a16="http://schemas.microsoft.com/office/drawing/2014/main" id="{E7472891-8679-0DF1-C461-7BCCEA0CFED0}"/>
              </a:ext>
            </a:extLst>
          </p:cNvPr>
          <p:cNvSpPr/>
          <p:nvPr/>
        </p:nvSpPr>
        <p:spPr>
          <a:xfrm>
            <a:off x="16691356" y="1447087"/>
            <a:ext cx="1274490" cy="874323"/>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現行</a:t>
            </a:r>
            <a:r>
              <a:rPr kumimoji="1" lang="en-US" altLang="ja-JP" sz="1400" dirty="0">
                <a:solidFill>
                  <a:srgbClr val="59574C"/>
                </a:solidFill>
                <a:latin typeface="Meiryo UI" panose="020B0604030504040204" pitchFamily="50" charset="-128"/>
                <a:ea typeface="Meiryo UI" panose="020B0604030504040204" pitchFamily="50" charset="-128"/>
              </a:rPr>
              <a:t>POS</a:t>
            </a:r>
          </a:p>
          <a:p>
            <a:pPr algn="ctr"/>
            <a:r>
              <a:rPr lang="en-US" altLang="ja-JP" sz="1400" dirty="0">
                <a:solidFill>
                  <a:srgbClr val="59574C"/>
                </a:solidFill>
                <a:latin typeface="Meiryo UI" panose="020B0604030504040204" pitchFamily="50" charset="-128"/>
                <a:ea typeface="Meiryo UI" panose="020B0604030504040204" pitchFamily="50" charset="-128"/>
              </a:rPr>
              <a:t>(RZ-A476)</a:t>
            </a:r>
          </a:p>
        </p:txBody>
      </p:sp>
      <p:sp>
        <p:nvSpPr>
          <p:cNvPr id="1229" name="円柱 1228">
            <a:extLst>
              <a:ext uri="{FF2B5EF4-FFF2-40B4-BE49-F238E27FC236}">
                <a16:creationId xmlns:a16="http://schemas.microsoft.com/office/drawing/2014/main" id="{5919B46E-5407-436B-3235-3E89B5E29D73}"/>
              </a:ext>
            </a:extLst>
          </p:cNvPr>
          <p:cNvSpPr/>
          <p:nvPr/>
        </p:nvSpPr>
        <p:spPr>
          <a:xfrm>
            <a:off x="13002475" y="1533376"/>
            <a:ext cx="1058290" cy="70188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sp>
        <p:nvSpPr>
          <p:cNvPr id="1230" name="フローチャート: 定義済み処理 1229">
            <a:extLst>
              <a:ext uri="{FF2B5EF4-FFF2-40B4-BE49-F238E27FC236}">
                <a16:creationId xmlns:a16="http://schemas.microsoft.com/office/drawing/2014/main" id="{13EC671E-47E6-183C-838E-E83AE7F41984}"/>
              </a:ext>
            </a:extLst>
          </p:cNvPr>
          <p:cNvSpPr/>
          <p:nvPr/>
        </p:nvSpPr>
        <p:spPr>
          <a:xfrm>
            <a:off x="11279100" y="1602327"/>
            <a:ext cx="1194231" cy="572874"/>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lang="ja-JP" altLang="en-US" sz="1200" dirty="0">
                <a:solidFill>
                  <a:srgbClr val="59574C"/>
                </a:solidFill>
                <a:latin typeface="Meiryo UI" panose="020B0604030504040204" pitchFamily="50" charset="-128"/>
                <a:ea typeface="Meiryo UI" panose="020B0604030504040204" pitchFamily="50" charset="-128"/>
              </a:rPr>
              <a:t>トラン取込</a:t>
            </a:r>
            <a:endParaRPr lang="en-US" altLang="ja-JP" sz="1200" dirty="0">
              <a:solidFill>
                <a:srgbClr val="59574C"/>
              </a:solidFill>
              <a:latin typeface="Meiryo UI" panose="020B0604030504040204" pitchFamily="50" charset="-128"/>
              <a:ea typeface="Meiryo UI" panose="020B0604030504040204" pitchFamily="50" charset="-128"/>
            </a:endParaRPr>
          </a:p>
          <a:p>
            <a:pPr algn="ctr"/>
            <a:r>
              <a:rPr kumimoji="1" lang="en-US" altLang="ja-JP" sz="1200" dirty="0">
                <a:solidFill>
                  <a:srgbClr val="59574C"/>
                </a:solidFill>
                <a:latin typeface="Meiryo UI" panose="020B0604030504040204" pitchFamily="50" charset="-128"/>
                <a:ea typeface="Meiryo UI" panose="020B0604030504040204" pitchFamily="50" charset="-128"/>
              </a:rPr>
              <a:t>(</a:t>
            </a:r>
            <a:r>
              <a:rPr kumimoji="1" lang="ja-JP" altLang="en-US" sz="1200" dirty="0">
                <a:solidFill>
                  <a:srgbClr val="59574C"/>
                </a:solidFill>
                <a:latin typeface="Meiryo UI" panose="020B0604030504040204" pitchFamily="50" charset="-128"/>
                <a:ea typeface="Meiryo UI" panose="020B0604030504040204" pitchFamily="50" charset="-128"/>
              </a:rPr>
              <a:t>定期実行</a:t>
            </a:r>
            <a:r>
              <a:rPr kumimoji="1" lang="en-US" altLang="ja-JP" sz="1200" dirty="0">
                <a:solidFill>
                  <a:srgbClr val="59574C"/>
                </a:solidFill>
                <a:latin typeface="Meiryo UI" panose="020B0604030504040204" pitchFamily="50" charset="-128"/>
                <a:ea typeface="Meiryo UI" panose="020B0604030504040204" pitchFamily="50" charset="-128"/>
              </a:rPr>
              <a:t>)</a:t>
            </a:r>
            <a:endParaRPr kumimoji="1" lang="ja-JP" altLang="en-US" sz="1200" dirty="0">
              <a:solidFill>
                <a:srgbClr val="59574C"/>
              </a:solidFill>
              <a:latin typeface="Meiryo UI" panose="020B0604030504040204" pitchFamily="50" charset="-128"/>
              <a:ea typeface="Meiryo UI" panose="020B0604030504040204" pitchFamily="50" charset="-128"/>
            </a:endParaRPr>
          </a:p>
        </p:txBody>
      </p:sp>
      <p:sp>
        <p:nvSpPr>
          <p:cNvPr id="1231" name="円柱 1230">
            <a:extLst>
              <a:ext uri="{FF2B5EF4-FFF2-40B4-BE49-F238E27FC236}">
                <a16:creationId xmlns:a16="http://schemas.microsoft.com/office/drawing/2014/main" id="{5AA1B8C2-50E5-8E3B-8F36-979B36AE9CAC}"/>
              </a:ext>
            </a:extLst>
          </p:cNvPr>
          <p:cNvSpPr/>
          <p:nvPr/>
        </p:nvSpPr>
        <p:spPr>
          <a:xfrm>
            <a:off x="11303617" y="4344492"/>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endParaRPr kumimoji="1" lang="en-US" altLang="ja-JP" sz="1100" dirty="0">
              <a:solidFill>
                <a:srgbClr val="59574C"/>
              </a:solidFill>
              <a:latin typeface="Meiryo UI" panose="020B0604030504040204" pitchFamily="50" charset="-128"/>
              <a:ea typeface="Meiryo UI" panose="020B0604030504040204" pitchFamily="50" charset="-128"/>
            </a:endParaRPr>
          </a:p>
        </p:txBody>
      </p:sp>
      <p:sp>
        <p:nvSpPr>
          <p:cNvPr id="1232" name="矢印: 下カーブ 1231">
            <a:extLst>
              <a:ext uri="{FF2B5EF4-FFF2-40B4-BE49-F238E27FC236}">
                <a16:creationId xmlns:a16="http://schemas.microsoft.com/office/drawing/2014/main" id="{4F0C9E42-15E3-7FAD-BD43-5300F5FB7873}"/>
              </a:ext>
            </a:extLst>
          </p:cNvPr>
          <p:cNvSpPr/>
          <p:nvPr/>
        </p:nvSpPr>
        <p:spPr>
          <a:xfrm rot="10800000">
            <a:off x="11422402" y="2065610"/>
            <a:ext cx="457529" cy="2335973"/>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sp>
        <p:nvSpPr>
          <p:cNvPr id="1233" name="フローチャート: 定義済み処理 1232">
            <a:extLst>
              <a:ext uri="{FF2B5EF4-FFF2-40B4-BE49-F238E27FC236}">
                <a16:creationId xmlns:a16="http://schemas.microsoft.com/office/drawing/2014/main" id="{A939E2EC-7167-E693-5E0F-F9B310EFE43C}"/>
              </a:ext>
            </a:extLst>
          </p:cNvPr>
          <p:cNvSpPr/>
          <p:nvPr/>
        </p:nvSpPr>
        <p:spPr>
          <a:xfrm>
            <a:off x="12937716" y="2498420"/>
            <a:ext cx="1194231" cy="459856"/>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lang="ja-JP" altLang="en-US" sz="1100" dirty="0">
                <a:solidFill>
                  <a:srgbClr val="59574C"/>
                </a:solidFill>
                <a:latin typeface="Meiryo UI" panose="020B0604030504040204" pitchFamily="50" charset="-128"/>
                <a:ea typeface="Meiryo UI" panose="020B0604030504040204" pitchFamily="50" charset="-128"/>
              </a:rPr>
              <a:t>トリガー</a:t>
            </a:r>
            <a:endParaRPr lang="en-US" altLang="ja-JP" sz="1100" dirty="0">
              <a:solidFill>
                <a:srgbClr val="59574C"/>
              </a:solidFill>
              <a:latin typeface="Meiryo UI" panose="020B0604030504040204" pitchFamily="50" charset="-128"/>
              <a:ea typeface="Meiryo UI" panose="020B0604030504040204" pitchFamily="50" charset="-128"/>
            </a:endParaRPr>
          </a:p>
          <a:p>
            <a:pPr algn="ctr"/>
            <a:r>
              <a:rPr kumimoji="1" lang="en-US" altLang="ja-JP" sz="1100" dirty="0">
                <a:solidFill>
                  <a:srgbClr val="59574C"/>
                </a:solidFill>
                <a:latin typeface="Meiryo UI" panose="020B0604030504040204" pitchFamily="50" charset="-128"/>
                <a:ea typeface="Meiryo UI" panose="020B0604030504040204" pitchFamily="50" charset="-128"/>
              </a:rPr>
              <a:t>(</a:t>
            </a:r>
            <a:r>
              <a:rPr kumimoji="1" lang="ja-JP" altLang="en-US" sz="1100" dirty="0">
                <a:solidFill>
                  <a:srgbClr val="59574C"/>
                </a:solidFill>
                <a:latin typeface="Meiryo UI" panose="020B0604030504040204" pitchFamily="50" charset="-128"/>
                <a:ea typeface="Meiryo UI" panose="020B0604030504040204" pitchFamily="50" charset="-128"/>
              </a:rPr>
              <a:t>トラン分解</a:t>
            </a:r>
            <a:r>
              <a:rPr kumimoji="1"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cxnSp>
        <p:nvCxnSpPr>
          <p:cNvPr id="1234" name="直線矢印コネクタ 1233">
            <a:extLst>
              <a:ext uri="{FF2B5EF4-FFF2-40B4-BE49-F238E27FC236}">
                <a16:creationId xmlns:a16="http://schemas.microsoft.com/office/drawing/2014/main" id="{2EF21E8B-4CAD-A148-181C-52EF2F6A85B2}"/>
              </a:ext>
            </a:extLst>
          </p:cNvPr>
          <p:cNvCxnSpPr>
            <a:cxnSpLocks/>
            <a:stCxn id="1229" idx="3"/>
            <a:endCxn id="1233" idx="0"/>
          </p:cNvCxnSpPr>
          <p:nvPr/>
        </p:nvCxnSpPr>
        <p:spPr>
          <a:xfrm>
            <a:off x="13531620" y="2235258"/>
            <a:ext cx="3212" cy="263162"/>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35" name="直線矢印コネクタ 1234">
            <a:extLst>
              <a:ext uri="{FF2B5EF4-FFF2-40B4-BE49-F238E27FC236}">
                <a16:creationId xmlns:a16="http://schemas.microsoft.com/office/drawing/2014/main" id="{8452C49F-C4E9-29D5-506F-E7A4CAD89062}"/>
              </a:ext>
            </a:extLst>
          </p:cNvPr>
          <p:cNvCxnSpPr>
            <a:cxnSpLocks/>
            <a:stCxn id="1233" idx="3"/>
            <a:endCxn id="1239" idx="2"/>
          </p:cNvCxnSpPr>
          <p:nvPr/>
        </p:nvCxnSpPr>
        <p:spPr>
          <a:xfrm>
            <a:off x="14131947" y="2728348"/>
            <a:ext cx="547563" cy="555964"/>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36" name="円柱 1235">
            <a:extLst>
              <a:ext uri="{FF2B5EF4-FFF2-40B4-BE49-F238E27FC236}">
                <a16:creationId xmlns:a16="http://schemas.microsoft.com/office/drawing/2014/main" id="{57431747-5EF9-B265-6434-4C4247C8FF77}"/>
              </a:ext>
            </a:extLst>
          </p:cNvPr>
          <p:cNvSpPr/>
          <p:nvPr/>
        </p:nvSpPr>
        <p:spPr>
          <a:xfrm>
            <a:off x="12479752" y="4344492"/>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ja-JP" altLang="en-US" sz="1100" dirty="0">
                <a:solidFill>
                  <a:srgbClr val="59574C"/>
                </a:solidFill>
                <a:latin typeface="Meiryo UI" panose="020B0604030504040204" pitchFamily="50" charset="-128"/>
                <a:ea typeface="Meiryo UI" panose="020B0604030504040204" pitchFamily="50" charset="-128"/>
              </a:rPr>
              <a:t>送信管理</a:t>
            </a:r>
            <a:endParaRPr kumimoji="1" lang="en-US" altLang="ja-JP" sz="1100" dirty="0">
              <a:solidFill>
                <a:srgbClr val="59574C"/>
              </a:solidFill>
              <a:latin typeface="Meiryo UI" panose="020B0604030504040204" pitchFamily="50" charset="-128"/>
              <a:ea typeface="Meiryo UI" panose="020B0604030504040204" pitchFamily="50" charset="-128"/>
            </a:endParaRPr>
          </a:p>
        </p:txBody>
      </p:sp>
      <p:cxnSp>
        <p:nvCxnSpPr>
          <p:cNvPr id="1237" name="直線矢印コネクタ 1236">
            <a:extLst>
              <a:ext uri="{FF2B5EF4-FFF2-40B4-BE49-F238E27FC236}">
                <a16:creationId xmlns:a16="http://schemas.microsoft.com/office/drawing/2014/main" id="{BA2B1E47-6D8D-15D1-C344-86F14F460D46}"/>
              </a:ext>
            </a:extLst>
          </p:cNvPr>
          <p:cNvCxnSpPr>
            <a:cxnSpLocks/>
            <a:stCxn id="1230" idx="2"/>
            <a:endCxn id="1236" idx="1"/>
          </p:cNvCxnSpPr>
          <p:nvPr/>
        </p:nvCxnSpPr>
        <p:spPr>
          <a:xfrm>
            <a:off x="11876216" y="2175201"/>
            <a:ext cx="1132681" cy="2169291"/>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1238" name="直線矢印コネクタ 1237">
            <a:extLst>
              <a:ext uri="{FF2B5EF4-FFF2-40B4-BE49-F238E27FC236}">
                <a16:creationId xmlns:a16="http://schemas.microsoft.com/office/drawing/2014/main" id="{CA820F2C-5E40-50E9-1540-CAC629E237FF}"/>
              </a:ext>
            </a:extLst>
          </p:cNvPr>
          <p:cNvCxnSpPr>
            <a:cxnSpLocks/>
            <a:stCxn id="1230" idx="3"/>
            <a:endCxn id="1229" idx="2"/>
          </p:cNvCxnSpPr>
          <p:nvPr/>
        </p:nvCxnSpPr>
        <p:spPr>
          <a:xfrm flipV="1">
            <a:off x="12473331" y="1884317"/>
            <a:ext cx="529144" cy="4447"/>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39" name="円柱 1238">
            <a:extLst>
              <a:ext uri="{FF2B5EF4-FFF2-40B4-BE49-F238E27FC236}">
                <a16:creationId xmlns:a16="http://schemas.microsoft.com/office/drawing/2014/main" id="{612DF06B-A20A-19B0-3972-66A9A31F4747}"/>
              </a:ext>
            </a:extLst>
          </p:cNvPr>
          <p:cNvSpPr/>
          <p:nvPr/>
        </p:nvSpPr>
        <p:spPr>
          <a:xfrm>
            <a:off x="14679510" y="2986633"/>
            <a:ext cx="1058290" cy="595357"/>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在庫</a:t>
            </a:r>
          </a:p>
        </p:txBody>
      </p:sp>
      <p:cxnSp>
        <p:nvCxnSpPr>
          <p:cNvPr id="1240" name="直線矢印コネクタ 1239">
            <a:extLst>
              <a:ext uri="{FF2B5EF4-FFF2-40B4-BE49-F238E27FC236}">
                <a16:creationId xmlns:a16="http://schemas.microsoft.com/office/drawing/2014/main" id="{915BC620-C93E-2A99-BFE3-422A76CCD86B}"/>
              </a:ext>
            </a:extLst>
          </p:cNvPr>
          <p:cNvCxnSpPr>
            <a:cxnSpLocks/>
            <a:stCxn id="1233" idx="3"/>
            <a:endCxn id="1262" idx="2"/>
          </p:cNvCxnSpPr>
          <p:nvPr/>
        </p:nvCxnSpPr>
        <p:spPr>
          <a:xfrm flipV="1">
            <a:off x="14131947" y="2686542"/>
            <a:ext cx="554100" cy="41806"/>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41" name="直線矢印コネクタ 1240">
            <a:extLst>
              <a:ext uri="{FF2B5EF4-FFF2-40B4-BE49-F238E27FC236}">
                <a16:creationId xmlns:a16="http://schemas.microsoft.com/office/drawing/2014/main" id="{4B818A64-7FC2-A2A9-D77A-7EABAD0A0BF0}"/>
              </a:ext>
            </a:extLst>
          </p:cNvPr>
          <p:cNvCxnSpPr>
            <a:cxnSpLocks/>
            <a:stCxn id="1258" idx="2"/>
            <a:endCxn id="1194" idx="1"/>
          </p:cNvCxnSpPr>
          <p:nvPr/>
        </p:nvCxnSpPr>
        <p:spPr>
          <a:xfrm>
            <a:off x="13531620" y="3556956"/>
            <a:ext cx="632178" cy="787536"/>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42" name="楕円 1241">
            <a:extLst>
              <a:ext uri="{FF2B5EF4-FFF2-40B4-BE49-F238E27FC236}">
                <a16:creationId xmlns:a16="http://schemas.microsoft.com/office/drawing/2014/main" id="{24B4F50E-82BF-AF67-54EC-1E8B2FD48E95}"/>
              </a:ext>
            </a:extLst>
          </p:cNvPr>
          <p:cNvSpPr/>
          <p:nvPr/>
        </p:nvSpPr>
        <p:spPr>
          <a:xfrm>
            <a:off x="1827036" y="4474927"/>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1</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sp>
        <p:nvSpPr>
          <p:cNvPr id="1243" name="楕円 1242">
            <a:extLst>
              <a:ext uri="{FF2B5EF4-FFF2-40B4-BE49-F238E27FC236}">
                <a16:creationId xmlns:a16="http://schemas.microsoft.com/office/drawing/2014/main" id="{E3D85978-F53A-742C-0EA3-57B87DCE8D61}"/>
              </a:ext>
            </a:extLst>
          </p:cNvPr>
          <p:cNvSpPr/>
          <p:nvPr/>
        </p:nvSpPr>
        <p:spPr>
          <a:xfrm>
            <a:off x="11027869" y="3559474"/>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5</a:t>
            </a:r>
          </a:p>
        </p:txBody>
      </p:sp>
      <p:sp>
        <p:nvSpPr>
          <p:cNvPr id="1244" name="楕円 1243">
            <a:extLst>
              <a:ext uri="{FF2B5EF4-FFF2-40B4-BE49-F238E27FC236}">
                <a16:creationId xmlns:a16="http://schemas.microsoft.com/office/drawing/2014/main" id="{DFCF27C1-55F3-31B1-F082-73AAF68E28D9}"/>
              </a:ext>
            </a:extLst>
          </p:cNvPr>
          <p:cNvSpPr/>
          <p:nvPr/>
        </p:nvSpPr>
        <p:spPr>
          <a:xfrm>
            <a:off x="5149762" y="4558934"/>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2</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sp>
        <p:nvSpPr>
          <p:cNvPr id="1245" name="楕円 1244">
            <a:extLst>
              <a:ext uri="{FF2B5EF4-FFF2-40B4-BE49-F238E27FC236}">
                <a16:creationId xmlns:a16="http://schemas.microsoft.com/office/drawing/2014/main" id="{487FB4CC-6FC9-705F-033F-BF58092C3961}"/>
              </a:ext>
            </a:extLst>
          </p:cNvPr>
          <p:cNvSpPr/>
          <p:nvPr/>
        </p:nvSpPr>
        <p:spPr>
          <a:xfrm>
            <a:off x="6934545" y="7960260"/>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3</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cxnSp>
        <p:nvCxnSpPr>
          <p:cNvPr id="1246" name="直線矢印コネクタ 1245">
            <a:extLst>
              <a:ext uri="{FF2B5EF4-FFF2-40B4-BE49-F238E27FC236}">
                <a16:creationId xmlns:a16="http://schemas.microsoft.com/office/drawing/2014/main" id="{425A1CB5-A1E1-15A6-99DC-F19DF6DE9367}"/>
              </a:ext>
            </a:extLst>
          </p:cNvPr>
          <p:cNvCxnSpPr>
            <a:cxnSpLocks/>
            <a:stCxn id="1265" idx="3"/>
            <a:endCxn id="1211" idx="2"/>
          </p:cNvCxnSpPr>
          <p:nvPr/>
        </p:nvCxnSpPr>
        <p:spPr>
          <a:xfrm>
            <a:off x="3663742" y="6128865"/>
            <a:ext cx="5590566" cy="137951"/>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sp>
        <p:nvSpPr>
          <p:cNvPr id="1247" name="テキスト ボックス 1246">
            <a:extLst>
              <a:ext uri="{FF2B5EF4-FFF2-40B4-BE49-F238E27FC236}">
                <a16:creationId xmlns:a16="http://schemas.microsoft.com/office/drawing/2014/main" id="{39DC45C0-E6E6-28EE-2DF2-CBF77EAC6BFE}"/>
              </a:ext>
            </a:extLst>
          </p:cNvPr>
          <p:cNvSpPr txBox="1"/>
          <p:nvPr/>
        </p:nvSpPr>
        <p:spPr>
          <a:xfrm>
            <a:off x="405608" y="1752712"/>
            <a:ext cx="5738127" cy="1921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①タブレット</a:t>
            </a:r>
            <a:r>
              <a:rPr lang="en-US" altLang="ja-JP" sz="1600" dirty="0">
                <a:solidFill>
                  <a:schemeClr val="tx1"/>
                </a:solidFill>
                <a:latin typeface="メイリオ" panose="020B0604030504040204" pitchFamily="50" charset="-128"/>
                <a:ea typeface="メイリオ" panose="020B0604030504040204" pitchFamily="50" charset="-128"/>
              </a:rPr>
              <a:t>POS</a:t>
            </a:r>
            <a:r>
              <a:rPr lang="ja-JP" altLang="en-US" sz="1600" dirty="0">
                <a:solidFill>
                  <a:schemeClr val="tx1"/>
                </a:solidFill>
                <a:latin typeface="メイリオ" panose="020B0604030504040204" pitchFamily="50" charset="-128"/>
                <a:ea typeface="メイリオ" panose="020B0604030504040204" pitchFamily="50" charset="-128"/>
              </a:rPr>
              <a:t>でデータ登録</a:t>
            </a:r>
            <a:r>
              <a:rPr lang="en-US" altLang="ja-JP" sz="1600" dirty="0">
                <a:solidFill>
                  <a:schemeClr val="tx1"/>
                </a:solidFill>
                <a:latin typeface="メイリオ" panose="020B0604030504040204" pitchFamily="50" charset="-128"/>
                <a:ea typeface="メイリオ" panose="020B0604030504040204" pitchFamily="50" charset="-128"/>
              </a:rPr>
              <a:t>API</a:t>
            </a:r>
            <a:r>
              <a:rPr lang="ja-JP" altLang="en-US" sz="1600" dirty="0">
                <a:solidFill>
                  <a:schemeClr val="tx1"/>
                </a:solidFill>
                <a:latin typeface="メイリオ" panose="020B0604030504040204" pitchFamily="50" charset="-128"/>
                <a:ea typeface="メイリオ" panose="020B0604030504040204" pitchFamily="50" charset="-128"/>
              </a:rPr>
              <a:t>を実行</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②</a:t>
            </a:r>
            <a:r>
              <a:rPr lang="en-US" altLang="ja-JP" sz="1600" dirty="0">
                <a:solidFill>
                  <a:schemeClr val="tx1"/>
                </a:solidFill>
                <a:latin typeface="メイリオ" panose="020B0604030504040204" pitchFamily="50" charset="-128"/>
                <a:ea typeface="メイリオ" panose="020B0604030504040204" pitchFamily="50" charset="-128"/>
              </a:rPr>
              <a:t>JSON</a:t>
            </a:r>
            <a:r>
              <a:rPr lang="ja-JP" altLang="en-US" sz="1600" dirty="0">
                <a:solidFill>
                  <a:schemeClr val="tx1"/>
                </a:solidFill>
                <a:latin typeface="メイリオ" panose="020B0604030504040204" pitchFamily="50" charset="-128"/>
                <a:ea typeface="メイリオ" panose="020B0604030504040204" pitchFamily="50" charset="-128"/>
              </a:rPr>
              <a:t>形式で、受付台帳、</a:t>
            </a:r>
            <a:r>
              <a:rPr lang="en-US" altLang="ja-JP" sz="1600" dirty="0">
                <a:solidFill>
                  <a:schemeClr val="tx1"/>
                </a:solidFill>
                <a:latin typeface="メイリオ" panose="020B0604030504040204" pitchFamily="50" charset="-128"/>
                <a:ea typeface="メイリオ" panose="020B0604030504040204" pitchFamily="50" charset="-128"/>
              </a:rPr>
              <a:t>JSON</a:t>
            </a:r>
            <a:r>
              <a:rPr lang="ja-JP" altLang="en-US" sz="1600" dirty="0">
                <a:solidFill>
                  <a:schemeClr val="tx1"/>
                </a:solidFill>
                <a:latin typeface="メイリオ" panose="020B0604030504040204" pitchFamily="50" charset="-128"/>
                <a:ea typeface="メイリオ" panose="020B0604030504040204" pitchFamily="50" charset="-128"/>
              </a:rPr>
              <a:t>データに登録し、</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　タブレット</a:t>
            </a:r>
            <a:r>
              <a:rPr lang="en-US" altLang="ja-JP" sz="1600" dirty="0">
                <a:solidFill>
                  <a:schemeClr val="tx1"/>
                </a:solidFill>
                <a:latin typeface="メイリオ" panose="020B0604030504040204" pitchFamily="50" charset="-128"/>
                <a:ea typeface="メイリオ" panose="020B0604030504040204" pitchFamily="50" charset="-128"/>
              </a:rPr>
              <a:t>POS</a:t>
            </a:r>
            <a:r>
              <a:rPr lang="ja-JP" altLang="en-US" sz="1600" dirty="0">
                <a:solidFill>
                  <a:schemeClr val="tx1"/>
                </a:solidFill>
                <a:latin typeface="メイリオ" panose="020B0604030504040204" pitchFamily="50" charset="-128"/>
                <a:ea typeface="メイリオ" panose="020B0604030504040204" pitchFamily="50" charset="-128"/>
              </a:rPr>
              <a:t>にレシート</a:t>
            </a:r>
            <a:r>
              <a:rPr lang="en-US" altLang="ja-JP" sz="1600" dirty="0">
                <a:solidFill>
                  <a:schemeClr val="tx1"/>
                </a:solidFill>
                <a:latin typeface="メイリオ" panose="020B0604030504040204" pitchFamily="50" charset="-128"/>
                <a:ea typeface="メイリオ" panose="020B0604030504040204" pitchFamily="50" charset="-128"/>
              </a:rPr>
              <a:t>/A4</a:t>
            </a:r>
            <a:r>
              <a:rPr lang="ja-JP" altLang="en-US" sz="1600" dirty="0">
                <a:solidFill>
                  <a:schemeClr val="tx1"/>
                </a:solidFill>
                <a:latin typeface="メイリオ" panose="020B0604030504040204" pitchFamily="50" charset="-128"/>
                <a:ea typeface="メイリオ" panose="020B0604030504040204" pitchFamily="50" charset="-128"/>
              </a:rPr>
              <a:t>帳票印刷データを返す。</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③登録された</a:t>
            </a:r>
            <a:r>
              <a:rPr lang="en-US" altLang="ja-JP" sz="1600" dirty="0">
                <a:solidFill>
                  <a:schemeClr val="tx1"/>
                </a:solidFill>
                <a:latin typeface="メイリオ" panose="020B0604030504040204" pitchFamily="50" charset="-128"/>
                <a:ea typeface="メイリオ" panose="020B0604030504040204" pitchFamily="50" charset="-128"/>
              </a:rPr>
              <a:t>JOSN</a:t>
            </a:r>
            <a:r>
              <a:rPr lang="ja-JP" altLang="en-US" sz="1600" dirty="0">
                <a:solidFill>
                  <a:schemeClr val="tx1"/>
                </a:solidFill>
                <a:latin typeface="メイリオ" panose="020B0604030504040204" pitchFamily="50" charset="-128"/>
                <a:ea typeface="メイリオ" panose="020B0604030504040204" pitchFamily="50" charset="-128"/>
              </a:rPr>
              <a:t>データを時系列順に各種実績テーブルに</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　登録する（受付台帳のステータスを登録済みとする）</a:t>
            </a:r>
            <a:endParaRPr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1248" name="テキスト ボックス 1247">
            <a:extLst>
              <a:ext uri="{FF2B5EF4-FFF2-40B4-BE49-F238E27FC236}">
                <a16:creationId xmlns:a16="http://schemas.microsoft.com/office/drawing/2014/main" id="{3A903C19-AE68-F0F7-CDB4-4ED5921B5D49}"/>
              </a:ext>
            </a:extLst>
          </p:cNvPr>
          <p:cNvSpPr txBox="1"/>
          <p:nvPr/>
        </p:nvSpPr>
        <p:spPr>
          <a:xfrm>
            <a:off x="6199436" y="1752712"/>
            <a:ext cx="4846346" cy="1921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④各種実績データから現行のトランを作成し、</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　各基幹</a:t>
            </a:r>
            <a:r>
              <a:rPr lang="en-US" altLang="ja-JP" sz="1600" dirty="0">
                <a:solidFill>
                  <a:schemeClr val="tx1"/>
                </a:solidFill>
                <a:latin typeface="メイリオ" panose="020B0604030504040204" pitchFamily="50" charset="-128"/>
                <a:ea typeface="メイリオ" panose="020B0604030504040204" pitchFamily="50" charset="-128"/>
              </a:rPr>
              <a:t>DB</a:t>
            </a:r>
            <a:r>
              <a:rPr lang="ja-JP" altLang="en-US" sz="1600" dirty="0">
                <a:solidFill>
                  <a:schemeClr val="tx1"/>
                </a:solidFill>
                <a:latin typeface="メイリオ" panose="020B0604030504040204" pitchFamily="50" charset="-128"/>
                <a:ea typeface="メイリオ" panose="020B0604030504040204" pitchFamily="50" charset="-128"/>
              </a:rPr>
              <a:t>に書込（データ種別で書込先を判断）</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⑤現行の店舗</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のトラン取込で店舗</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にトラン</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　書込み（在庫が更新され、マスター</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に連携）</a:t>
            </a:r>
            <a:endParaRPr lang="en-US" altLang="ja-JP" sz="1600" dirty="0">
              <a:solidFill>
                <a:schemeClr val="tx1"/>
              </a:solidFill>
              <a:latin typeface="メイリオ" panose="020B0604030504040204" pitchFamily="50" charset="-128"/>
              <a:ea typeface="メイリオ" panose="020B0604030504040204" pitchFamily="50" charset="-128"/>
            </a:endParaRPr>
          </a:p>
        </p:txBody>
      </p:sp>
      <p:cxnSp>
        <p:nvCxnSpPr>
          <p:cNvPr id="1249" name="直線矢印コネクタ 1248">
            <a:extLst>
              <a:ext uri="{FF2B5EF4-FFF2-40B4-BE49-F238E27FC236}">
                <a16:creationId xmlns:a16="http://schemas.microsoft.com/office/drawing/2014/main" id="{FDB34685-A1A6-8C26-2098-2347DB86F4FD}"/>
              </a:ext>
            </a:extLst>
          </p:cNvPr>
          <p:cNvCxnSpPr>
            <a:cxnSpLocks/>
            <a:stCxn id="1195" idx="3"/>
            <a:endCxn id="1201" idx="1"/>
          </p:cNvCxnSpPr>
          <p:nvPr/>
        </p:nvCxnSpPr>
        <p:spPr>
          <a:xfrm>
            <a:off x="15971121" y="4616084"/>
            <a:ext cx="838468" cy="1967"/>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250" name="円柱 1249">
            <a:extLst>
              <a:ext uri="{FF2B5EF4-FFF2-40B4-BE49-F238E27FC236}">
                <a16:creationId xmlns:a16="http://schemas.microsoft.com/office/drawing/2014/main" id="{E44BFAB7-75BB-2D43-4F53-4988D41113A1}"/>
              </a:ext>
            </a:extLst>
          </p:cNvPr>
          <p:cNvSpPr/>
          <p:nvPr/>
        </p:nvSpPr>
        <p:spPr>
          <a:xfrm>
            <a:off x="9025667" y="4687200"/>
            <a:ext cx="1058290"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マスター</a:t>
            </a:r>
          </a:p>
        </p:txBody>
      </p:sp>
      <p:sp>
        <p:nvSpPr>
          <p:cNvPr id="1251" name="フローチャート: 定義済み処理 1250">
            <a:extLst>
              <a:ext uri="{FF2B5EF4-FFF2-40B4-BE49-F238E27FC236}">
                <a16:creationId xmlns:a16="http://schemas.microsoft.com/office/drawing/2014/main" id="{E2100745-FCAA-50AB-8E78-A452F7E5D1FF}"/>
              </a:ext>
            </a:extLst>
          </p:cNvPr>
          <p:cNvSpPr/>
          <p:nvPr/>
        </p:nvSpPr>
        <p:spPr>
          <a:xfrm>
            <a:off x="8970712" y="9260615"/>
            <a:ext cx="1194231" cy="572874"/>
          </a:xfrm>
          <a:prstGeom prst="flowChartPredefinedProcess">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kumimoji="1" lang="ja-JP" altLang="en-US" sz="1200" dirty="0">
                <a:solidFill>
                  <a:srgbClr val="59574C"/>
                </a:solidFill>
                <a:latin typeface="Meiryo UI" panose="020B0604030504040204" pitchFamily="50" charset="-128"/>
                <a:ea typeface="Meiryo UI" panose="020B0604030504040204" pitchFamily="50" charset="-128"/>
              </a:rPr>
              <a:t>トラン連携</a:t>
            </a:r>
            <a:endParaRPr kumimoji="1" lang="en-US" altLang="ja-JP" sz="1200" dirty="0">
              <a:solidFill>
                <a:srgbClr val="59574C"/>
              </a:solidFill>
              <a:latin typeface="Meiryo UI" panose="020B0604030504040204" pitchFamily="50" charset="-128"/>
              <a:ea typeface="Meiryo UI" panose="020B0604030504040204" pitchFamily="50" charset="-128"/>
            </a:endParaRPr>
          </a:p>
          <a:p>
            <a:pPr algn="ctr"/>
            <a:r>
              <a:rPr kumimoji="1" lang="en-US" altLang="ja-JP" sz="1200" dirty="0">
                <a:solidFill>
                  <a:srgbClr val="59574C"/>
                </a:solidFill>
                <a:latin typeface="Meiryo UI" panose="020B0604030504040204" pitchFamily="50" charset="-128"/>
                <a:ea typeface="Meiryo UI" panose="020B0604030504040204" pitchFamily="50" charset="-128"/>
              </a:rPr>
              <a:t>(</a:t>
            </a:r>
            <a:r>
              <a:rPr kumimoji="1" lang="ja-JP" altLang="en-US" sz="1200" dirty="0">
                <a:solidFill>
                  <a:srgbClr val="59574C"/>
                </a:solidFill>
                <a:latin typeface="Meiryo UI" panose="020B0604030504040204" pitchFamily="50" charset="-128"/>
                <a:ea typeface="Meiryo UI" panose="020B0604030504040204" pitchFamily="50" charset="-128"/>
              </a:rPr>
              <a:t>文字コード変換</a:t>
            </a:r>
            <a:r>
              <a:rPr kumimoji="1" lang="en-US" altLang="ja-JP" sz="1200" dirty="0">
                <a:solidFill>
                  <a:srgbClr val="59574C"/>
                </a:solidFill>
                <a:latin typeface="Meiryo UI" panose="020B0604030504040204" pitchFamily="50" charset="-128"/>
                <a:ea typeface="Meiryo UI" panose="020B0604030504040204" pitchFamily="50" charset="-128"/>
              </a:rPr>
              <a:t>)</a:t>
            </a:r>
            <a:endParaRPr kumimoji="1" lang="ja-JP" altLang="en-US" sz="1200" dirty="0">
              <a:solidFill>
                <a:srgbClr val="59574C"/>
              </a:solidFill>
              <a:latin typeface="Meiryo UI" panose="020B0604030504040204" pitchFamily="50" charset="-128"/>
              <a:ea typeface="Meiryo UI" panose="020B0604030504040204" pitchFamily="50" charset="-128"/>
            </a:endParaRPr>
          </a:p>
        </p:txBody>
      </p:sp>
      <p:sp>
        <p:nvSpPr>
          <p:cNvPr id="1252" name="正方形/長方形 1251">
            <a:extLst>
              <a:ext uri="{FF2B5EF4-FFF2-40B4-BE49-F238E27FC236}">
                <a16:creationId xmlns:a16="http://schemas.microsoft.com/office/drawing/2014/main" id="{2A9EF67A-A227-4C5C-FF2B-B7D97393CFAD}"/>
              </a:ext>
            </a:extLst>
          </p:cNvPr>
          <p:cNvSpPr/>
          <p:nvPr/>
        </p:nvSpPr>
        <p:spPr>
          <a:xfrm>
            <a:off x="7322031" y="9157787"/>
            <a:ext cx="3809023" cy="77821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r>
              <a:rPr lang="en-US" altLang="ja-JP" sz="1800" b="1" dirty="0" err="1">
                <a:solidFill>
                  <a:srgbClr val="59574C"/>
                </a:solidFill>
                <a:latin typeface="Meiryo UI" panose="020B0604030504040204" pitchFamily="50" charset="-128"/>
                <a:ea typeface="Meiryo UI" panose="020B0604030504040204" pitchFamily="50" charset="-128"/>
              </a:rPr>
              <a:t>DataSpider</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253" name="矢印: 下カーブ 1252">
            <a:extLst>
              <a:ext uri="{FF2B5EF4-FFF2-40B4-BE49-F238E27FC236}">
                <a16:creationId xmlns:a16="http://schemas.microsoft.com/office/drawing/2014/main" id="{254DB48D-8969-531D-F046-2060CE107FA2}"/>
              </a:ext>
            </a:extLst>
          </p:cNvPr>
          <p:cNvSpPr/>
          <p:nvPr/>
        </p:nvSpPr>
        <p:spPr>
          <a:xfrm>
            <a:off x="9700573" y="6516513"/>
            <a:ext cx="483323" cy="2788696"/>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cxnSp>
        <p:nvCxnSpPr>
          <p:cNvPr id="1254" name="コネクタ: カギ線 1253">
            <a:extLst>
              <a:ext uri="{FF2B5EF4-FFF2-40B4-BE49-F238E27FC236}">
                <a16:creationId xmlns:a16="http://schemas.microsoft.com/office/drawing/2014/main" id="{D43DEB17-D8EE-10C2-21EB-749C68A26F77}"/>
              </a:ext>
            </a:extLst>
          </p:cNvPr>
          <p:cNvCxnSpPr>
            <a:cxnSpLocks/>
            <a:stCxn id="1251" idx="3"/>
            <a:endCxn id="1196" idx="2"/>
          </p:cNvCxnSpPr>
          <p:nvPr/>
        </p:nvCxnSpPr>
        <p:spPr>
          <a:xfrm flipV="1">
            <a:off x="10164943" y="8470957"/>
            <a:ext cx="1138674" cy="1076095"/>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5" name="コネクタ: カギ線 1254">
            <a:extLst>
              <a:ext uri="{FF2B5EF4-FFF2-40B4-BE49-F238E27FC236}">
                <a16:creationId xmlns:a16="http://schemas.microsoft.com/office/drawing/2014/main" id="{D957151E-04B4-CBB8-FDE4-8B992D66934B}"/>
              </a:ext>
            </a:extLst>
          </p:cNvPr>
          <p:cNvCxnSpPr>
            <a:cxnSpLocks/>
            <a:stCxn id="1251" idx="3"/>
            <a:endCxn id="1197" idx="2"/>
          </p:cNvCxnSpPr>
          <p:nvPr/>
        </p:nvCxnSpPr>
        <p:spPr>
          <a:xfrm flipV="1">
            <a:off x="10164943" y="7227901"/>
            <a:ext cx="1138674" cy="2319151"/>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6" name="コネクタ: カギ線 1255">
            <a:extLst>
              <a:ext uri="{FF2B5EF4-FFF2-40B4-BE49-F238E27FC236}">
                <a16:creationId xmlns:a16="http://schemas.microsoft.com/office/drawing/2014/main" id="{A1F54CB8-D35C-D0F9-3E6E-338984B05754}"/>
              </a:ext>
            </a:extLst>
          </p:cNvPr>
          <p:cNvCxnSpPr>
            <a:cxnSpLocks/>
            <a:stCxn id="1251" idx="3"/>
            <a:endCxn id="1182" idx="2"/>
          </p:cNvCxnSpPr>
          <p:nvPr/>
        </p:nvCxnSpPr>
        <p:spPr>
          <a:xfrm flipV="1">
            <a:off x="10164943" y="5937609"/>
            <a:ext cx="1142862" cy="3609443"/>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7" name="コネクタ: カギ線 1256">
            <a:extLst>
              <a:ext uri="{FF2B5EF4-FFF2-40B4-BE49-F238E27FC236}">
                <a16:creationId xmlns:a16="http://schemas.microsoft.com/office/drawing/2014/main" id="{74A49CE5-5F4E-5203-5A29-D97A2D0F7A0B}"/>
              </a:ext>
            </a:extLst>
          </p:cNvPr>
          <p:cNvCxnSpPr>
            <a:cxnSpLocks/>
            <a:stCxn id="1251" idx="3"/>
            <a:endCxn id="1231" idx="2"/>
          </p:cNvCxnSpPr>
          <p:nvPr/>
        </p:nvCxnSpPr>
        <p:spPr>
          <a:xfrm flipV="1">
            <a:off x="10164943" y="4695433"/>
            <a:ext cx="1138674" cy="4851619"/>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8" name="フローチャート: 定義済み処理 1257">
            <a:extLst>
              <a:ext uri="{FF2B5EF4-FFF2-40B4-BE49-F238E27FC236}">
                <a16:creationId xmlns:a16="http://schemas.microsoft.com/office/drawing/2014/main" id="{D79637E9-A82A-84D4-A637-7C8636683872}"/>
              </a:ext>
            </a:extLst>
          </p:cNvPr>
          <p:cNvSpPr/>
          <p:nvPr/>
        </p:nvSpPr>
        <p:spPr>
          <a:xfrm>
            <a:off x="12934504" y="3041164"/>
            <a:ext cx="1194231" cy="515792"/>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在庫送信</a:t>
            </a:r>
          </a:p>
        </p:txBody>
      </p:sp>
      <p:sp>
        <p:nvSpPr>
          <p:cNvPr id="1259" name="矢印: 下カーブ 1258">
            <a:extLst>
              <a:ext uri="{FF2B5EF4-FFF2-40B4-BE49-F238E27FC236}">
                <a16:creationId xmlns:a16="http://schemas.microsoft.com/office/drawing/2014/main" id="{CB905F5B-ACA5-A81D-B23A-D020109EA579}"/>
              </a:ext>
            </a:extLst>
          </p:cNvPr>
          <p:cNvSpPr/>
          <p:nvPr/>
        </p:nvSpPr>
        <p:spPr>
          <a:xfrm rot="5400000">
            <a:off x="14223534" y="3061502"/>
            <a:ext cx="374226" cy="733833"/>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sp>
        <p:nvSpPr>
          <p:cNvPr id="1260" name="楕円 1259">
            <a:extLst>
              <a:ext uri="{FF2B5EF4-FFF2-40B4-BE49-F238E27FC236}">
                <a16:creationId xmlns:a16="http://schemas.microsoft.com/office/drawing/2014/main" id="{229BC217-6788-E4C7-5B6C-3CCEB4E85580}"/>
              </a:ext>
            </a:extLst>
          </p:cNvPr>
          <p:cNvSpPr/>
          <p:nvPr/>
        </p:nvSpPr>
        <p:spPr>
          <a:xfrm>
            <a:off x="10287455" y="8886036"/>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4</a:t>
            </a:r>
          </a:p>
        </p:txBody>
      </p:sp>
      <p:sp>
        <p:nvSpPr>
          <p:cNvPr id="1261" name="吹き出し: 折線 1260">
            <a:extLst>
              <a:ext uri="{FF2B5EF4-FFF2-40B4-BE49-F238E27FC236}">
                <a16:creationId xmlns:a16="http://schemas.microsoft.com/office/drawing/2014/main" id="{D82F307B-8F52-5F81-D521-BF16889F40B2}"/>
              </a:ext>
            </a:extLst>
          </p:cNvPr>
          <p:cNvSpPr/>
          <p:nvPr/>
        </p:nvSpPr>
        <p:spPr>
          <a:xfrm>
            <a:off x="11563426" y="9366843"/>
            <a:ext cx="2263550" cy="518599"/>
          </a:xfrm>
          <a:prstGeom prst="borderCallout2">
            <a:avLst>
              <a:gd name="adj1" fmla="val 18750"/>
              <a:gd name="adj2" fmla="val -8333"/>
              <a:gd name="adj3" fmla="val 18750"/>
              <a:gd name="adj4" fmla="val -16667"/>
              <a:gd name="adj5" fmla="val 78029"/>
              <a:gd name="adj6" fmla="val -63268"/>
            </a:avLst>
          </a:prstGeom>
          <a:solidFill>
            <a:srgbClr val="FFFF99"/>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400" dirty="0" err="1">
                <a:solidFill>
                  <a:srgbClr val="59574C"/>
                </a:solidFill>
                <a:latin typeface="Meiryo UI" panose="020B0604030504040204" pitchFamily="50" charset="-128"/>
                <a:ea typeface="Meiryo UI" panose="020B0604030504040204" pitchFamily="50" charset="-128"/>
              </a:rPr>
              <a:t>DataSpider</a:t>
            </a:r>
            <a:r>
              <a:rPr lang="ja-JP" altLang="en-US" sz="1400" dirty="0">
                <a:solidFill>
                  <a:srgbClr val="59574C"/>
                </a:solidFill>
                <a:latin typeface="Meiryo UI" panose="020B0604030504040204" pitchFamily="50" charset="-128"/>
                <a:ea typeface="Meiryo UI" panose="020B0604030504040204" pitchFamily="50" charset="-128"/>
              </a:rPr>
              <a:t>を使用することで文字コードを変換</a:t>
            </a:r>
            <a:endParaRPr kumimoji="1" lang="en-US" altLang="ja-JP" sz="1400" dirty="0">
              <a:solidFill>
                <a:srgbClr val="59574C"/>
              </a:solidFill>
              <a:latin typeface="Meiryo UI" panose="020B0604030504040204" pitchFamily="50" charset="-128"/>
              <a:ea typeface="Meiryo UI" panose="020B0604030504040204" pitchFamily="50" charset="-128"/>
            </a:endParaRPr>
          </a:p>
        </p:txBody>
      </p:sp>
      <p:sp>
        <p:nvSpPr>
          <p:cNvPr id="1262" name="円柱 1261">
            <a:extLst>
              <a:ext uri="{FF2B5EF4-FFF2-40B4-BE49-F238E27FC236}">
                <a16:creationId xmlns:a16="http://schemas.microsoft.com/office/drawing/2014/main" id="{5573E8FA-D058-B69E-793F-BB92576FE20A}"/>
              </a:ext>
            </a:extLst>
          </p:cNvPr>
          <p:cNvSpPr/>
          <p:nvPr/>
        </p:nvSpPr>
        <p:spPr>
          <a:xfrm>
            <a:off x="14686047" y="2388863"/>
            <a:ext cx="1058290" cy="595357"/>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各種実績</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en-US" altLang="ja-JP" sz="1100" dirty="0">
                <a:solidFill>
                  <a:srgbClr val="59574C"/>
                </a:solidFill>
                <a:latin typeface="Meiryo UI" panose="020B0604030504040204" pitchFamily="50" charset="-128"/>
                <a:ea typeface="Meiryo UI" panose="020B0604030504040204" pitchFamily="50" charset="-128"/>
              </a:rPr>
              <a:t>(</a:t>
            </a:r>
            <a:r>
              <a:rPr lang="ja-JP" altLang="en-US" sz="1100" dirty="0">
                <a:solidFill>
                  <a:srgbClr val="59574C"/>
                </a:solidFill>
                <a:latin typeface="Meiryo UI" panose="020B0604030504040204" pitchFamily="50" charset="-128"/>
                <a:ea typeface="Meiryo UI" panose="020B0604030504040204" pitchFamily="50" charset="-128"/>
              </a:rPr>
              <a:t>現行レイアウト</a:t>
            </a:r>
            <a:r>
              <a:rPr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cxnSp>
        <p:nvCxnSpPr>
          <p:cNvPr id="1263" name="直線矢印コネクタ 1262">
            <a:extLst>
              <a:ext uri="{FF2B5EF4-FFF2-40B4-BE49-F238E27FC236}">
                <a16:creationId xmlns:a16="http://schemas.microsoft.com/office/drawing/2014/main" id="{8BB066C9-BB62-5F98-736D-223FC774E307}"/>
              </a:ext>
            </a:extLst>
          </p:cNvPr>
          <p:cNvCxnSpPr>
            <a:cxnSpLocks/>
            <a:stCxn id="1228" idx="1"/>
            <a:endCxn id="1229" idx="4"/>
          </p:cNvCxnSpPr>
          <p:nvPr/>
        </p:nvCxnSpPr>
        <p:spPr>
          <a:xfrm flipH="1">
            <a:off x="14060765" y="1884249"/>
            <a:ext cx="2630591" cy="68"/>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64" name="円柱 1263">
            <a:extLst>
              <a:ext uri="{FF2B5EF4-FFF2-40B4-BE49-F238E27FC236}">
                <a16:creationId xmlns:a16="http://schemas.microsoft.com/office/drawing/2014/main" id="{F69AA5CA-1DB3-3009-0A4B-D6232A590FB7}"/>
              </a:ext>
            </a:extLst>
          </p:cNvPr>
          <p:cNvSpPr/>
          <p:nvPr/>
        </p:nvSpPr>
        <p:spPr>
          <a:xfrm>
            <a:off x="7594844" y="4695433"/>
            <a:ext cx="1058290"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各種実績</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kumimoji="1" lang="en-US" altLang="ja-JP" sz="1100" dirty="0">
                <a:solidFill>
                  <a:srgbClr val="59574C"/>
                </a:solidFill>
                <a:latin typeface="Meiryo UI" panose="020B0604030504040204" pitchFamily="50" charset="-128"/>
                <a:ea typeface="Meiryo UI" panose="020B0604030504040204" pitchFamily="50" charset="-128"/>
              </a:rPr>
              <a:t>(</a:t>
            </a:r>
            <a:r>
              <a:rPr kumimoji="1" lang="ja-JP" altLang="en-US" sz="1100" dirty="0">
                <a:solidFill>
                  <a:srgbClr val="59574C"/>
                </a:solidFill>
                <a:latin typeface="Meiryo UI" panose="020B0604030504040204" pitchFamily="50" charset="-128"/>
                <a:ea typeface="Meiryo UI" panose="020B0604030504040204" pitchFamily="50" charset="-128"/>
              </a:rPr>
              <a:t>現行レイアウト</a:t>
            </a:r>
            <a:r>
              <a:rPr kumimoji="1"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1265" name="正方形/長方形 1264">
            <a:extLst>
              <a:ext uri="{FF2B5EF4-FFF2-40B4-BE49-F238E27FC236}">
                <a16:creationId xmlns:a16="http://schemas.microsoft.com/office/drawing/2014/main" id="{6996E86F-7F10-A4E3-B766-732DE2A578A6}"/>
              </a:ext>
            </a:extLst>
          </p:cNvPr>
          <p:cNvSpPr/>
          <p:nvPr/>
        </p:nvSpPr>
        <p:spPr>
          <a:xfrm>
            <a:off x="2480282" y="5833190"/>
            <a:ext cx="1183460" cy="591349"/>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データ参照</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API</a:t>
            </a:r>
          </a:p>
        </p:txBody>
      </p:sp>
      <p:cxnSp>
        <p:nvCxnSpPr>
          <p:cNvPr id="1266" name="直線矢印コネクタ 1265">
            <a:extLst>
              <a:ext uri="{FF2B5EF4-FFF2-40B4-BE49-F238E27FC236}">
                <a16:creationId xmlns:a16="http://schemas.microsoft.com/office/drawing/2014/main" id="{76FB3CEA-757F-7CF8-D217-2A111C24D473}"/>
              </a:ext>
            </a:extLst>
          </p:cNvPr>
          <p:cNvCxnSpPr>
            <a:cxnSpLocks/>
            <a:stCxn id="1178" idx="3"/>
            <a:endCxn id="1265" idx="1"/>
          </p:cNvCxnSpPr>
          <p:nvPr/>
        </p:nvCxnSpPr>
        <p:spPr>
          <a:xfrm>
            <a:off x="1707274" y="5025793"/>
            <a:ext cx="773008" cy="1103072"/>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67" name="直線矢印コネクタ 1266">
            <a:extLst>
              <a:ext uri="{FF2B5EF4-FFF2-40B4-BE49-F238E27FC236}">
                <a16:creationId xmlns:a16="http://schemas.microsoft.com/office/drawing/2014/main" id="{E5D3E94D-72A7-DA57-9C5C-4D67E278E7EF}"/>
              </a:ext>
            </a:extLst>
          </p:cNvPr>
          <p:cNvCxnSpPr>
            <a:cxnSpLocks/>
            <a:stCxn id="1217" idx="3"/>
            <a:endCxn id="1265" idx="1"/>
          </p:cNvCxnSpPr>
          <p:nvPr/>
        </p:nvCxnSpPr>
        <p:spPr>
          <a:xfrm flipV="1">
            <a:off x="1707274" y="6128865"/>
            <a:ext cx="773008" cy="2510"/>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1268" name="グループ化 1267">
            <a:extLst>
              <a:ext uri="{FF2B5EF4-FFF2-40B4-BE49-F238E27FC236}">
                <a16:creationId xmlns:a16="http://schemas.microsoft.com/office/drawing/2014/main" id="{94FEABBE-49B2-13C9-E198-059D1DF494B4}"/>
              </a:ext>
            </a:extLst>
          </p:cNvPr>
          <p:cNvGrpSpPr/>
          <p:nvPr/>
        </p:nvGrpSpPr>
        <p:grpSpPr>
          <a:xfrm>
            <a:off x="99534" y="6839569"/>
            <a:ext cx="1911644" cy="959651"/>
            <a:chOff x="405609" y="9205165"/>
            <a:chExt cx="1911644" cy="959651"/>
          </a:xfrm>
        </p:grpSpPr>
        <p:sp>
          <p:nvSpPr>
            <p:cNvPr id="1269" name="テキスト ボックス 1268">
              <a:extLst>
                <a:ext uri="{FF2B5EF4-FFF2-40B4-BE49-F238E27FC236}">
                  <a16:creationId xmlns:a16="http://schemas.microsoft.com/office/drawing/2014/main" id="{89A45D1A-2E01-FA07-20D3-4B8A23211BF6}"/>
                </a:ext>
              </a:extLst>
            </p:cNvPr>
            <p:cNvSpPr txBox="1"/>
            <p:nvPr/>
          </p:nvSpPr>
          <p:spPr>
            <a:xfrm>
              <a:off x="405609" y="9205165"/>
              <a:ext cx="1911644" cy="959651"/>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200000"/>
                </a:lnSpc>
              </a:pPr>
              <a:r>
                <a:rPr lang="ja-JP" altLang="en-US" dirty="0">
                  <a:solidFill>
                    <a:schemeClr val="tx1"/>
                  </a:solidFill>
                  <a:latin typeface="メイリオ" panose="020B0604030504040204" pitchFamily="50" charset="-128"/>
                  <a:ea typeface="メイリオ" panose="020B0604030504040204" pitchFamily="50" charset="-128"/>
                </a:rPr>
                <a:t>データの流れ</a:t>
              </a:r>
              <a:endParaRPr lang="en-US" altLang="ja-JP" dirty="0">
                <a:solidFill>
                  <a:schemeClr val="tx1"/>
                </a:solidFill>
                <a:latin typeface="メイリオ" panose="020B0604030504040204" pitchFamily="50" charset="-128"/>
                <a:ea typeface="メイリオ" panose="020B0604030504040204" pitchFamily="50" charset="-128"/>
              </a:endParaRPr>
            </a:p>
            <a:p>
              <a:pPr lvl="0">
                <a:lnSpc>
                  <a:spcPct val="200000"/>
                </a:lnSpc>
              </a:pPr>
              <a:r>
                <a:rPr lang="ja-JP" altLang="en-US" dirty="0">
                  <a:solidFill>
                    <a:schemeClr val="tx1"/>
                  </a:solidFill>
                  <a:latin typeface="メイリオ" panose="020B0604030504040204" pitchFamily="50" charset="-128"/>
                  <a:ea typeface="メイリオ" panose="020B0604030504040204" pitchFamily="50" charset="-128"/>
                </a:rPr>
                <a:t>データ参照</a:t>
              </a:r>
              <a:endParaRPr lang="en-US" altLang="ja-JP" dirty="0">
                <a:solidFill>
                  <a:schemeClr val="tx1"/>
                </a:solidFill>
                <a:latin typeface="メイリオ" panose="020B0604030504040204" pitchFamily="50" charset="-128"/>
                <a:ea typeface="メイリオ" panose="020B0604030504040204" pitchFamily="50" charset="-128"/>
              </a:endParaRPr>
            </a:p>
          </p:txBody>
        </p:sp>
        <p:cxnSp>
          <p:nvCxnSpPr>
            <p:cNvPr id="1270" name="直線矢印コネクタ 1269">
              <a:extLst>
                <a:ext uri="{FF2B5EF4-FFF2-40B4-BE49-F238E27FC236}">
                  <a16:creationId xmlns:a16="http://schemas.microsoft.com/office/drawing/2014/main" id="{D94A8F24-A592-D29E-2232-EDF5F86098C2}"/>
                </a:ext>
              </a:extLst>
            </p:cNvPr>
            <p:cNvCxnSpPr>
              <a:cxnSpLocks/>
            </p:cNvCxnSpPr>
            <p:nvPr/>
          </p:nvCxnSpPr>
          <p:spPr>
            <a:xfrm>
              <a:off x="1635001" y="9936000"/>
              <a:ext cx="576342" cy="0"/>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1271" name="直線矢印コネクタ 1270">
              <a:extLst>
                <a:ext uri="{FF2B5EF4-FFF2-40B4-BE49-F238E27FC236}">
                  <a16:creationId xmlns:a16="http://schemas.microsoft.com/office/drawing/2014/main" id="{3F01580F-AC79-6255-8AD9-F9A015C84F6D}"/>
                </a:ext>
              </a:extLst>
            </p:cNvPr>
            <p:cNvCxnSpPr>
              <a:cxnSpLocks/>
            </p:cNvCxnSpPr>
            <p:nvPr/>
          </p:nvCxnSpPr>
          <p:spPr>
            <a:xfrm>
              <a:off x="1635001" y="9490619"/>
              <a:ext cx="602291" cy="0"/>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272" name="グループ化 1271">
            <a:extLst>
              <a:ext uri="{FF2B5EF4-FFF2-40B4-BE49-F238E27FC236}">
                <a16:creationId xmlns:a16="http://schemas.microsoft.com/office/drawing/2014/main" id="{29FC3F4C-777A-E07D-112D-C32D94196642}"/>
              </a:ext>
            </a:extLst>
          </p:cNvPr>
          <p:cNvGrpSpPr/>
          <p:nvPr/>
        </p:nvGrpSpPr>
        <p:grpSpPr>
          <a:xfrm>
            <a:off x="207264" y="9298643"/>
            <a:ext cx="6897429" cy="530640"/>
            <a:chOff x="-1119038" y="9205166"/>
            <a:chExt cx="6897429" cy="530640"/>
          </a:xfrm>
        </p:grpSpPr>
        <p:sp>
          <p:nvSpPr>
            <p:cNvPr id="1273" name="テキスト ボックス 1272">
              <a:extLst>
                <a:ext uri="{FF2B5EF4-FFF2-40B4-BE49-F238E27FC236}">
                  <a16:creationId xmlns:a16="http://schemas.microsoft.com/office/drawing/2014/main" id="{DC67EE6F-86EB-398D-F27D-59A8BF40A090}"/>
                </a:ext>
              </a:extLst>
            </p:cNvPr>
            <p:cNvSpPr txBox="1"/>
            <p:nvPr/>
          </p:nvSpPr>
          <p:spPr>
            <a:xfrm>
              <a:off x="-1119038" y="9205166"/>
              <a:ext cx="6897429" cy="530640"/>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200000"/>
                </a:lnSpc>
              </a:pPr>
              <a:r>
                <a:rPr lang="ja-JP" altLang="en-US" dirty="0">
                  <a:solidFill>
                    <a:schemeClr val="tx1"/>
                  </a:solidFill>
                  <a:latin typeface="メイリオ" panose="020B0604030504040204" pitchFamily="50" charset="-128"/>
                  <a:ea typeface="メイリオ" panose="020B0604030504040204" pitchFamily="50" charset="-128"/>
                </a:rPr>
                <a:t>　　　　　　　</a:t>
              </a:r>
              <a:r>
                <a:rPr lang="en-US" altLang="ja-JP" dirty="0">
                  <a:solidFill>
                    <a:schemeClr val="tx1"/>
                  </a:solidFill>
                  <a:latin typeface="メイリオ" panose="020B0604030504040204" pitchFamily="50" charset="-128"/>
                  <a:ea typeface="メイリオ" panose="020B0604030504040204" pitchFamily="50" charset="-128"/>
                </a:rPr>
                <a:t>…SMJ</a:t>
              </a:r>
              <a:r>
                <a:rPr lang="ja-JP" altLang="en-US" dirty="0">
                  <a:solidFill>
                    <a:schemeClr val="tx1"/>
                  </a:solidFill>
                  <a:latin typeface="メイリオ" panose="020B0604030504040204" pitchFamily="50" charset="-128"/>
                  <a:ea typeface="メイリオ" panose="020B0604030504040204" pitchFamily="50" charset="-128"/>
                </a:rPr>
                <a:t>担当　　　　</a:t>
              </a:r>
              <a:r>
                <a:rPr lang="en-US" altLang="ja-JP" dirty="0">
                  <a:solidFill>
                    <a:schemeClr val="tx1"/>
                  </a:solidFill>
                  <a:latin typeface="メイリオ" panose="020B0604030504040204" pitchFamily="50" charset="-128"/>
                  <a:ea typeface="メイリオ" panose="020B0604030504040204" pitchFamily="50" charset="-128"/>
                </a:rPr>
                <a:t>…SMJ</a:t>
              </a:r>
              <a:r>
                <a:rPr lang="ja-JP" altLang="en-US" dirty="0">
                  <a:solidFill>
                    <a:schemeClr val="tx1"/>
                  </a:solidFill>
                  <a:latin typeface="メイリオ" panose="020B0604030504040204" pitchFamily="50" charset="-128"/>
                  <a:ea typeface="メイリオ" panose="020B0604030504040204" pitchFamily="50" charset="-128"/>
                </a:rPr>
                <a:t>、</a:t>
              </a:r>
              <a:r>
                <a:rPr lang="en-US" altLang="ja-JP" dirty="0">
                  <a:solidFill>
                    <a:schemeClr val="tx1"/>
                  </a:solidFill>
                  <a:latin typeface="メイリオ" panose="020B0604030504040204" pitchFamily="50" charset="-128"/>
                  <a:ea typeface="メイリオ" panose="020B0604030504040204" pitchFamily="50" charset="-128"/>
                </a:rPr>
                <a:t>NSW</a:t>
              </a:r>
              <a:r>
                <a:rPr lang="ja-JP" altLang="en-US" dirty="0">
                  <a:solidFill>
                    <a:schemeClr val="tx1"/>
                  </a:solidFill>
                  <a:latin typeface="メイリオ" panose="020B0604030504040204" pitchFamily="50" charset="-128"/>
                  <a:ea typeface="メイリオ" panose="020B0604030504040204" pitchFamily="50" charset="-128"/>
                </a:rPr>
                <a:t>様担当　　　　</a:t>
              </a:r>
              <a:r>
                <a:rPr lang="en-US" altLang="ja-JP" dirty="0">
                  <a:solidFill>
                    <a:schemeClr val="tx1"/>
                  </a:solidFill>
                  <a:latin typeface="メイリオ" panose="020B0604030504040204" pitchFamily="50" charset="-128"/>
                  <a:ea typeface="メイリオ" panose="020B0604030504040204" pitchFamily="50" charset="-128"/>
                </a:rPr>
                <a:t>…</a:t>
              </a:r>
              <a:r>
                <a:rPr lang="ja-JP" altLang="en-US" dirty="0">
                  <a:solidFill>
                    <a:schemeClr val="tx1"/>
                  </a:solidFill>
                  <a:latin typeface="メイリオ" panose="020B0604030504040204" pitchFamily="50" charset="-128"/>
                  <a:ea typeface="メイリオ" panose="020B0604030504040204" pitchFamily="50" charset="-128"/>
                </a:rPr>
                <a:t>カストマ様担当</a:t>
              </a:r>
              <a:endParaRPr lang="en-US" altLang="ja-JP" dirty="0">
                <a:solidFill>
                  <a:schemeClr val="tx1"/>
                </a:solidFill>
                <a:latin typeface="メイリオ" panose="020B0604030504040204" pitchFamily="50" charset="-128"/>
                <a:ea typeface="メイリオ" panose="020B0604030504040204" pitchFamily="50" charset="-128"/>
              </a:endParaRPr>
            </a:p>
          </p:txBody>
        </p:sp>
        <p:sp>
          <p:nvSpPr>
            <p:cNvPr id="1274" name="正方形/長方形 1273">
              <a:extLst>
                <a:ext uri="{FF2B5EF4-FFF2-40B4-BE49-F238E27FC236}">
                  <a16:creationId xmlns:a16="http://schemas.microsoft.com/office/drawing/2014/main" id="{C38AD315-EABE-E7C1-C137-232B266EFD57}"/>
                </a:ext>
              </a:extLst>
            </p:cNvPr>
            <p:cNvSpPr/>
            <p:nvPr/>
          </p:nvSpPr>
          <p:spPr>
            <a:xfrm>
              <a:off x="-993723" y="9376272"/>
              <a:ext cx="542821" cy="250839"/>
            </a:xfrm>
            <a:prstGeom prst="rect">
              <a:avLst/>
            </a:prstGeom>
            <a:solidFill>
              <a:schemeClr val="accent6">
                <a:lumMod val="10000"/>
                <a:lumOff val="9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275" name="正方形/長方形 1274">
              <a:extLst>
                <a:ext uri="{FF2B5EF4-FFF2-40B4-BE49-F238E27FC236}">
                  <a16:creationId xmlns:a16="http://schemas.microsoft.com/office/drawing/2014/main" id="{148B1FF6-010E-17D9-B80D-313F2E3E121E}"/>
                </a:ext>
              </a:extLst>
            </p:cNvPr>
            <p:cNvSpPr/>
            <p:nvPr/>
          </p:nvSpPr>
          <p:spPr>
            <a:xfrm>
              <a:off x="3552049" y="9355074"/>
              <a:ext cx="542821" cy="260551"/>
            </a:xfrm>
            <a:prstGeom prst="rect">
              <a:avLst/>
            </a:prstGeom>
            <a:solidFill>
              <a:srgbClr val="00B0F0"/>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276" name="正方形/長方形 1275">
              <a:extLst>
                <a:ext uri="{FF2B5EF4-FFF2-40B4-BE49-F238E27FC236}">
                  <a16:creationId xmlns:a16="http://schemas.microsoft.com/office/drawing/2014/main" id="{E3CD2D8C-5905-5EDD-9E17-0595C79A5579}"/>
                </a:ext>
              </a:extLst>
            </p:cNvPr>
            <p:cNvSpPr/>
            <p:nvPr/>
          </p:nvSpPr>
          <p:spPr>
            <a:xfrm>
              <a:off x="-398132" y="9376272"/>
              <a:ext cx="542821" cy="250839"/>
            </a:xfrm>
            <a:prstGeom prst="rect">
              <a:avLst/>
            </a:prstGeom>
            <a:solidFill>
              <a:schemeClr val="accent1">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277" name="正方形/長方形 1276">
              <a:extLst>
                <a:ext uri="{FF2B5EF4-FFF2-40B4-BE49-F238E27FC236}">
                  <a16:creationId xmlns:a16="http://schemas.microsoft.com/office/drawing/2014/main" id="{50528BCB-C70D-63AC-60C1-AA26D74D2F4C}"/>
                </a:ext>
              </a:extLst>
            </p:cNvPr>
            <p:cNvSpPr/>
            <p:nvPr/>
          </p:nvSpPr>
          <p:spPr>
            <a:xfrm>
              <a:off x="1233895" y="9355074"/>
              <a:ext cx="542821" cy="260551"/>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grpSp>
      <p:sp>
        <p:nvSpPr>
          <p:cNvPr id="1278" name="正方形/長方形 1277">
            <a:extLst>
              <a:ext uri="{FF2B5EF4-FFF2-40B4-BE49-F238E27FC236}">
                <a16:creationId xmlns:a16="http://schemas.microsoft.com/office/drawing/2014/main" id="{817CD5A1-F236-5A45-12E1-6D8FFC401000}"/>
              </a:ext>
            </a:extLst>
          </p:cNvPr>
          <p:cNvSpPr/>
          <p:nvPr/>
        </p:nvSpPr>
        <p:spPr>
          <a:xfrm>
            <a:off x="7362237" y="8385233"/>
            <a:ext cx="1183460" cy="591349"/>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実績データ</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lang="ja-JP" altLang="en-US" sz="1400" dirty="0">
                <a:solidFill>
                  <a:srgbClr val="59574C"/>
                </a:solidFill>
                <a:latin typeface="Meiryo UI" panose="020B0604030504040204" pitchFamily="50" charset="-128"/>
                <a:ea typeface="Meiryo UI" panose="020B0604030504040204" pitchFamily="50" charset="-128"/>
              </a:rPr>
              <a:t>作成</a:t>
            </a:r>
            <a:r>
              <a:rPr lang="en-US" altLang="ja-JP" sz="1400" dirty="0">
                <a:solidFill>
                  <a:srgbClr val="59574C"/>
                </a:solidFill>
                <a:latin typeface="Meiryo UI" panose="020B0604030504040204" pitchFamily="50" charset="-128"/>
                <a:ea typeface="Meiryo UI" panose="020B0604030504040204" pitchFamily="50" charset="-128"/>
              </a:rPr>
              <a:t>API</a:t>
            </a:r>
            <a:endParaRPr kumimoji="1" lang="en-US" altLang="ja-JP" sz="1400" dirty="0">
              <a:solidFill>
                <a:srgbClr val="59574C"/>
              </a:solidFill>
              <a:latin typeface="Meiryo UI" panose="020B0604030504040204" pitchFamily="50" charset="-128"/>
              <a:ea typeface="Meiryo UI" panose="020B0604030504040204" pitchFamily="50" charset="-128"/>
            </a:endParaRPr>
          </a:p>
        </p:txBody>
      </p:sp>
      <p:cxnSp>
        <p:nvCxnSpPr>
          <p:cNvPr id="1279" name="直線矢印コネクタ 1278">
            <a:extLst>
              <a:ext uri="{FF2B5EF4-FFF2-40B4-BE49-F238E27FC236}">
                <a16:creationId xmlns:a16="http://schemas.microsoft.com/office/drawing/2014/main" id="{F9C000E0-DD56-0215-F2A9-8F34DDE100F6}"/>
              </a:ext>
            </a:extLst>
          </p:cNvPr>
          <p:cNvCxnSpPr>
            <a:cxnSpLocks/>
            <a:stCxn id="1190" idx="3"/>
            <a:endCxn id="1278" idx="1"/>
          </p:cNvCxnSpPr>
          <p:nvPr/>
        </p:nvCxnSpPr>
        <p:spPr>
          <a:xfrm flipV="1">
            <a:off x="6889621" y="8680908"/>
            <a:ext cx="472616" cy="1705"/>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80" name="円柱 1279">
            <a:extLst>
              <a:ext uri="{FF2B5EF4-FFF2-40B4-BE49-F238E27FC236}">
                <a16:creationId xmlns:a16="http://schemas.microsoft.com/office/drawing/2014/main" id="{A5628A9B-9BF3-CF96-56E2-BB42E1EAE920}"/>
              </a:ext>
            </a:extLst>
          </p:cNvPr>
          <p:cNvSpPr/>
          <p:nvPr/>
        </p:nvSpPr>
        <p:spPr>
          <a:xfrm>
            <a:off x="8613830" y="7350019"/>
            <a:ext cx="1058290" cy="701882"/>
          </a:xfrm>
          <a:prstGeom prst="can">
            <a:avLst/>
          </a:prstGeom>
          <a:solidFill>
            <a:srgbClr val="CCFFC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次世代⇒現行</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kumimoji="1" lang="ja-JP" altLang="en-US" sz="1100" dirty="0">
                <a:solidFill>
                  <a:srgbClr val="59574C"/>
                </a:solidFill>
                <a:latin typeface="Meiryo UI" panose="020B0604030504040204" pitchFamily="50" charset="-128"/>
                <a:ea typeface="Meiryo UI" panose="020B0604030504040204" pitchFamily="50" charset="-128"/>
              </a:rPr>
              <a:t>キュー</a:t>
            </a:r>
            <a:r>
              <a:rPr lang="ja-JP" altLang="en-US" sz="1100" dirty="0">
                <a:solidFill>
                  <a:srgbClr val="59574C"/>
                </a:solidFill>
                <a:latin typeface="Meiryo UI" panose="020B0604030504040204" pitchFamily="50" charset="-128"/>
                <a:ea typeface="Meiryo UI" panose="020B0604030504040204" pitchFamily="50" charset="-128"/>
              </a:rPr>
              <a:t>テーブル</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cxnSp>
        <p:nvCxnSpPr>
          <p:cNvPr id="1281" name="直線矢印コネクタ 1280">
            <a:extLst>
              <a:ext uri="{FF2B5EF4-FFF2-40B4-BE49-F238E27FC236}">
                <a16:creationId xmlns:a16="http://schemas.microsoft.com/office/drawing/2014/main" id="{A9822608-8A7C-4B45-7FE2-3CD975877949}"/>
              </a:ext>
            </a:extLst>
          </p:cNvPr>
          <p:cNvCxnSpPr>
            <a:cxnSpLocks/>
            <a:stCxn id="1251" idx="0"/>
            <a:endCxn id="1280" idx="3"/>
          </p:cNvCxnSpPr>
          <p:nvPr/>
        </p:nvCxnSpPr>
        <p:spPr>
          <a:xfrm flipH="1" flipV="1">
            <a:off x="9142975" y="8051901"/>
            <a:ext cx="424853" cy="1208714"/>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1282" name="直線矢印コネクタ 1281">
            <a:extLst>
              <a:ext uri="{FF2B5EF4-FFF2-40B4-BE49-F238E27FC236}">
                <a16:creationId xmlns:a16="http://schemas.microsoft.com/office/drawing/2014/main" id="{98F0F33A-D03F-912C-5907-8BC878FE102C}"/>
              </a:ext>
            </a:extLst>
          </p:cNvPr>
          <p:cNvCxnSpPr>
            <a:cxnSpLocks/>
            <a:stCxn id="1278" idx="0"/>
            <a:endCxn id="1280" idx="2"/>
          </p:cNvCxnSpPr>
          <p:nvPr/>
        </p:nvCxnSpPr>
        <p:spPr>
          <a:xfrm flipV="1">
            <a:off x="7953967" y="7700960"/>
            <a:ext cx="659863" cy="684273"/>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925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C7A25-BCC9-0492-26EA-29CDA9362D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2D096B-89F0-9EE5-B92F-6A0B94079CFD}"/>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５－１．全体アーキテクチャ（本番環境</a:t>
            </a:r>
            <a:r>
              <a:rPr lang="ja-JP" altLang="en-US"/>
              <a:t>）（３）</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558FD76-2A98-4CDD-8F7E-2A5B315C7FD8}"/>
              </a:ext>
            </a:extLst>
          </p:cNvPr>
          <p:cNvSpPr>
            <a:spLocks noGrp="1"/>
          </p:cNvSpPr>
          <p:nvPr>
            <p:ph type="sldNum" sz="quarter" idx="12"/>
          </p:nvPr>
        </p:nvSpPr>
        <p:spPr/>
        <p:txBody>
          <a:bodyPr/>
          <a:lstStyle/>
          <a:p>
            <a:fld id="{2A9E37A5-A917-4235-ABF6-8CD72E894915}" type="slidenum">
              <a:rPr lang="en-US" altLang="ja-JP" smtClean="0"/>
              <a:pPr/>
              <a:t>14</a:t>
            </a:fld>
            <a:endParaRPr lang="ja-JP" altLang="en-US"/>
          </a:p>
        </p:txBody>
      </p:sp>
      <p:sp>
        <p:nvSpPr>
          <p:cNvPr id="4" name="フッター プレースホルダー 3">
            <a:extLst>
              <a:ext uri="{FF2B5EF4-FFF2-40B4-BE49-F238E27FC236}">
                <a16:creationId xmlns:a16="http://schemas.microsoft.com/office/drawing/2014/main" id="{94839847-2204-0215-D8AE-B943E80EB25A}"/>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CB3A8BF1-78FF-9062-BBBE-A68D4FC957F2}"/>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テキスト ボックス 5">
            <a:extLst>
              <a:ext uri="{FF2B5EF4-FFF2-40B4-BE49-F238E27FC236}">
                <a16:creationId xmlns:a16="http://schemas.microsoft.com/office/drawing/2014/main" id="{569C3447-C740-5FD4-8F3F-BFE11E3DBC6E}"/>
              </a:ext>
            </a:extLst>
          </p:cNvPr>
          <p:cNvSpPr txBox="1"/>
          <p:nvPr/>
        </p:nvSpPr>
        <p:spPr>
          <a:xfrm>
            <a:off x="405608" y="1138709"/>
            <a:ext cx="10157101" cy="5652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2500" dirty="0">
                <a:solidFill>
                  <a:schemeClr val="tx1"/>
                </a:solidFill>
                <a:latin typeface="メイリオ" panose="020B0604030504040204" pitchFamily="50" charset="-128"/>
                <a:ea typeface="メイリオ" panose="020B0604030504040204" pitchFamily="50" charset="-128"/>
              </a:rPr>
              <a:t>■データ連携概要：実績データ作成</a:t>
            </a:r>
            <a:r>
              <a:rPr lang="en-US" altLang="ja-JP" sz="2500" dirty="0">
                <a:solidFill>
                  <a:schemeClr val="tx1"/>
                </a:solidFill>
                <a:latin typeface="メイリオ" panose="020B0604030504040204" pitchFamily="50" charset="-128"/>
                <a:ea typeface="メイリオ" panose="020B0604030504040204" pitchFamily="50" charset="-128"/>
              </a:rPr>
              <a:t>(</a:t>
            </a:r>
            <a:r>
              <a:rPr lang="ja-JP" altLang="en-US" sz="2500" dirty="0">
                <a:solidFill>
                  <a:schemeClr val="tx1"/>
                </a:solidFill>
                <a:latin typeface="メイリオ" panose="020B0604030504040204" pitchFamily="50" charset="-128"/>
                <a:ea typeface="メイリオ" panose="020B0604030504040204" pitchFamily="50" charset="-128"/>
              </a:rPr>
              <a:t>現行システム⇒タブレット</a:t>
            </a:r>
            <a:r>
              <a:rPr lang="en-US" altLang="ja-JP" sz="2500" dirty="0">
                <a:solidFill>
                  <a:schemeClr val="tx1"/>
                </a:solidFill>
                <a:latin typeface="メイリオ" panose="020B0604030504040204" pitchFamily="50" charset="-128"/>
                <a:ea typeface="メイリオ" panose="020B0604030504040204" pitchFamily="50" charset="-128"/>
              </a:rPr>
              <a:t>POS)</a:t>
            </a:r>
          </a:p>
        </p:txBody>
      </p:sp>
      <p:sp>
        <p:nvSpPr>
          <p:cNvPr id="7" name="正方形/長方形 6">
            <a:extLst>
              <a:ext uri="{FF2B5EF4-FFF2-40B4-BE49-F238E27FC236}">
                <a16:creationId xmlns:a16="http://schemas.microsoft.com/office/drawing/2014/main" id="{9249160B-CB8F-80A0-151B-9193C8020719}"/>
              </a:ext>
            </a:extLst>
          </p:cNvPr>
          <p:cNvSpPr/>
          <p:nvPr/>
        </p:nvSpPr>
        <p:spPr>
          <a:xfrm>
            <a:off x="2113809" y="3752745"/>
            <a:ext cx="14280998" cy="5314639"/>
          </a:xfrm>
          <a:prstGeom prst="rect">
            <a:avLst/>
          </a:prstGeom>
          <a:noFill/>
          <a:ln w="381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kumimoji="1" lang="en-US" altLang="ja-JP" sz="2400" b="1" dirty="0">
                <a:solidFill>
                  <a:srgbClr val="59574C"/>
                </a:solidFill>
                <a:latin typeface="Meiryo UI" panose="020B0604030504040204" pitchFamily="50" charset="-128"/>
                <a:ea typeface="Meiryo UI" panose="020B0604030504040204" pitchFamily="50" charset="-128"/>
              </a:rPr>
              <a:t>OCI</a:t>
            </a:r>
            <a:endParaRPr kumimoji="1" lang="ja-JP" altLang="en-US" sz="2400" b="1" dirty="0">
              <a:solidFill>
                <a:srgbClr val="59574C"/>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C6BDEB51-6466-40E4-4360-790E68051880}"/>
              </a:ext>
            </a:extLst>
          </p:cNvPr>
          <p:cNvSpPr/>
          <p:nvPr/>
        </p:nvSpPr>
        <p:spPr>
          <a:xfrm>
            <a:off x="2408861" y="4727970"/>
            <a:ext cx="1326302" cy="591349"/>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データ登録</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API</a:t>
            </a:r>
          </a:p>
        </p:txBody>
      </p:sp>
      <p:sp>
        <p:nvSpPr>
          <p:cNvPr id="9" name="円柱 8">
            <a:extLst>
              <a:ext uri="{FF2B5EF4-FFF2-40B4-BE49-F238E27FC236}">
                <a16:creationId xmlns:a16="http://schemas.microsoft.com/office/drawing/2014/main" id="{BE2CA7B3-D415-B9DD-08E8-DC7B8707730B}"/>
              </a:ext>
            </a:extLst>
          </p:cNvPr>
          <p:cNvSpPr/>
          <p:nvPr/>
        </p:nvSpPr>
        <p:spPr>
          <a:xfrm>
            <a:off x="4092587" y="5248514"/>
            <a:ext cx="1194231" cy="860056"/>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400" dirty="0">
                <a:solidFill>
                  <a:srgbClr val="59574C"/>
                </a:solidFill>
                <a:latin typeface="Meiryo UI" panose="020B0604030504040204" pitchFamily="50" charset="-128"/>
                <a:ea typeface="Meiryo UI" panose="020B0604030504040204" pitchFamily="50" charset="-128"/>
              </a:rPr>
              <a:t>受付台帳</a:t>
            </a:r>
            <a:endParaRPr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(INBOX)</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0" name="円柱 9">
            <a:extLst>
              <a:ext uri="{FF2B5EF4-FFF2-40B4-BE49-F238E27FC236}">
                <a16:creationId xmlns:a16="http://schemas.microsoft.com/office/drawing/2014/main" id="{03F5DBF1-4954-7169-3961-784E9A683689}"/>
              </a:ext>
            </a:extLst>
          </p:cNvPr>
          <p:cNvSpPr/>
          <p:nvPr/>
        </p:nvSpPr>
        <p:spPr>
          <a:xfrm>
            <a:off x="11307805" y="5586668"/>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cxnSp>
        <p:nvCxnSpPr>
          <p:cNvPr id="11" name="直線矢印コネクタ 10">
            <a:extLst>
              <a:ext uri="{FF2B5EF4-FFF2-40B4-BE49-F238E27FC236}">
                <a16:creationId xmlns:a16="http://schemas.microsoft.com/office/drawing/2014/main" id="{6B75659C-9621-D45F-DD17-BC4ED76C89B2}"/>
              </a:ext>
            </a:extLst>
          </p:cNvPr>
          <p:cNvCxnSpPr>
            <a:cxnSpLocks/>
            <a:stCxn id="23" idx="2"/>
            <a:endCxn id="27" idx="1"/>
          </p:cNvCxnSpPr>
          <p:nvPr/>
        </p:nvCxnSpPr>
        <p:spPr>
          <a:xfrm>
            <a:off x="17338159" y="4904488"/>
            <a:ext cx="228" cy="484594"/>
          </a:xfrm>
          <a:prstGeom prst="straightConnector1">
            <a:avLst/>
          </a:prstGeom>
          <a:ln w="25400">
            <a:solidFill>
              <a:schemeClr val="tx1"/>
            </a:solidFill>
            <a:headEnd type="triangle"/>
            <a:tailEnd type="triangle" w="lg" len="med"/>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32DD169B-D8DC-C929-8F41-65C0607EAD93}"/>
              </a:ext>
            </a:extLst>
          </p:cNvPr>
          <p:cNvSpPr/>
          <p:nvPr/>
        </p:nvSpPr>
        <p:spPr>
          <a:xfrm>
            <a:off x="11132290" y="6516513"/>
            <a:ext cx="4838829"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800" b="1" dirty="0">
                <a:solidFill>
                  <a:srgbClr val="59574C"/>
                </a:solidFill>
                <a:latin typeface="Meiryo UI" panose="020B0604030504040204" pitchFamily="50" charset="-128"/>
                <a:ea typeface="Meiryo UI" panose="020B0604030504040204" pitchFamily="50" charset="-128"/>
              </a:rPr>
              <a:t>顧客管理</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ADC2ED63-223F-6A10-5B4F-389BFBA8C5C8}"/>
              </a:ext>
            </a:extLst>
          </p:cNvPr>
          <p:cNvSpPr/>
          <p:nvPr/>
        </p:nvSpPr>
        <p:spPr>
          <a:xfrm>
            <a:off x="4041072" y="8385233"/>
            <a:ext cx="1326302" cy="591349"/>
          </a:xfrm>
          <a:prstGeom prst="rect">
            <a:avLst/>
          </a:prstGeom>
          <a:solidFill>
            <a:schemeClr val="accent6">
              <a:lumMod val="10000"/>
              <a:lumOff val="9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400" dirty="0">
                <a:solidFill>
                  <a:srgbClr val="59574C"/>
                </a:solidFill>
                <a:latin typeface="Meiryo UI" panose="020B0604030504040204" pitchFamily="50" charset="-128"/>
                <a:ea typeface="Meiryo UI" panose="020B0604030504040204" pitchFamily="50" charset="-128"/>
              </a:rPr>
              <a:t>振り分け</a:t>
            </a:r>
            <a:endParaRPr lang="en-US" altLang="ja-JP" sz="1400" dirty="0">
              <a:solidFill>
                <a:srgbClr val="59574C"/>
              </a:solidFill>
              <a:latin typeface="Meiryo UI" panose="020B0604030504040204" pitchFamily="50" charset="-128"/>
              <a:ea typeface="Meiryo UI" panose="020B0604030504040204" pitchFamily="50" charset="-128"/>
            </a:endParaRPr>
          </a:p>
          <a:p>
            <a:pPr algn="ctr"/>
            <a:r>
              <a:rPr lang="en-US" altLang="ja-JP" sz="1400" dirty="0">
                <a:solidFill>
                  <a:srgbClr val="59574C"/>
                </a:solidFill>
                <a:latin typeface="Meiryo UI" panose="020B0604030504040204" pitchFamily="50" charset="-128"/>
                <a:ea typeface="Meiryo UI" panose="020B0604030504040204" pitchFamily="50" charset="-128"/>
              </a:rPr>
              <a:t>(Dispatcher)</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4" name="円柱 13">
            <a:extLst>
              <a:ext uri="{FF2B5EF4-FFF2-40B4-BE49-F238E27FC236}">
                <a16:creationId xmlns:a16="http://schemas.microsoft.com/office/drawing/2014/main" id="{FE0DFC71-8833-3D68-643A-C9C942475D50}"/>
              </a:ext>
            </a:extLst>
          </p:cNvPr>
          <p:cNvSpPr/>
          <p:nvPr/>
        </p:nvSpPr>
        <p:spPr>
          <a:xfrm>
            <a:off x="5884729" y="4626942"/>
            <a:ext cx="1194231" cy="860056"/>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400" dirty="0">
                <a:solidFill>
                  <a:srgbClr val="59574C"/>
                </a:solidFill>
                <a:latin typeface="Meiryo UI" panose="020B0604030504040204" pitchFamily="50" charset="-128"/>
                <a:ea typeface="Meiryo UI" panose="020B0604030504040204" pitchFamily="50" charset="-128"/>
              </a:rPr>
              <a:t>JSON</a:t>
            </a:r>
            <a:r>
              <a:rPr kumimoji="1" lang="ja-JP" altLang="en-US" sz="1400" dirty="0">
                <a:solidFill>
                  <a:srgbClr val="59574C"/>
                </a:solidFill>
                <a:latin typeface="Meiryo UI" panose="020B0604030504040204" pitchFamily="50" charset="-128"/>
                <a:ea typeface="Meiryo UI" panose="020B0604030504040204" pitchFamily="50" charset="-128"/>
              </a:rPr>
              <a:t>データ</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lang="en-US" altLang="ja-JP" sz="1400" dirty="0">
                <a:solidFill>
                  <a:srgbClr val="59574C"/>
                </a:solidFill>
                <a:latin typeface="Meiryo UI" panose="020B0604030504040204" pitchFamily="50" charset="-128"/>
                <a:ea typeface="Meiryo UI" panose="020B0604030504040204" pitchFamily="50" charset="-128"/>
              </a:rPr>
              <a:t>(OUTBOX)</a:t>
            </a:r>
            <a:endParaRPr kumimoji="1" lang="en-US" altLang="ja-JP" sz="1400" dirty="0">
              <a:solidFill>
                <a:srgbClr val="59574C"/>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60D50906-900C-1822-E1FD-CCB3083C9ECA}"/>
              </a:ext>
            </a:extLst>
          </p:cNvPr>
          <p:cNvSpPr/>
          <p:nvPr/>
        </p:nvSpPr>
        <p:spPr>
          <a:xfrm>
            <a:off x="5778391" y="8386938"/>
            <a:ext cx="1326302" cy="591349"/>
          </a:xfrm>
          <a:prstGeom prst="rect">
            <a:avLst/>
          </a:prstGeom>
          <a:solidFill>
            <a:schemeClr val="accent6">
              <a:lumMod val="10000"/>
              <a:lumOff val="9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ja-JP" sz="1400" dirty="0">
                <a:solidFill>
                  <a:srgbClr val="59574C"/>
                </a:solidFill>
                <a:latin typeface="Meiryo UI" panose="020B0604030504040204" pitchFamily="50" charset="-128"/>
                <a:ea typeface="Meiryo UI" panose="020B0604030504040204" pitchFamily="50" charset="-128"/>
              </a:rPr>
              <a:t>OCI</a:t>
            </a:r>
          </a:p>
          <a:p>
            <a:pPr algn="ctr"/>
            <a:r>
              <a:rPr lang="en-US" altLang="ja-JP" sz="1400" dirty="0">
                <a:solidFill>
                  <a:srgbClr val="59574C"/>
                </a:solidFill>
                <a:latin typeface="Meiryo UI" panose="020B0604030504040204" pitchFamily="50" charset="-128"/>
                <a:ea typeface="Meiryo UI" panose="020B0604030504040204" pitchFamily="50" charset="-128"/>
              </a:rPr>
              <a:t>Streaming</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6" name="円柱 15">
            <a:extLst>
              <a:ext uri="{FF2B5EF4-FFF2-40B4-BE49-F238E27FC236}">
                <a16:creationId xmlns:a16="http://schemas.microsoft.com/office/drawing/2014/main" id="{CBDC69A8-D707-B4F1-0D52-E00EA9BA16BA}"/>
              </a:ext>
            </a:extLst>
          </p:cNvPr>
          <p:cNvSpPr/>
          <p:nvPr/>
        </p:nvSpPr>
        <p:spPr>
          <a:xfrm>
            <a:off x="13634653" y="4344492"/>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在庫</a:t>
            </a:r>
          </a:p>
        </p:txBody>
      </p:sp>
      <p:sp>
        <p:nvSpPr>
          <p:cNvPr id="17" name="正方形/長方形 16">
            <a:extLst>
              <a:ext uri="{FF2B5EF4-FFF2-40B4-BE49-F238E27FC236}">
                <a16:creationId xmlns:a16="http://schemas.microsoft.com/office/drawing/2014/main" id="{354C1F8B-B48A-9078-61F1-B26C86F446E8}"/>
              </a:ext>
            </a:extLst>
          </p:cNvPr>
          <p:cNvSpPr/>
          <p:nvPr/>
        </p:nvSpPr>
        <p:spPr>
          <a:xfrm>
            <a:off x="11135652" y="4020087"/>
            <a:ext cx="4835469"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800" b="1" dirty="0">
                <a:solidFill>
                  <a:srgbClr val="59574C"/>
                </a:solidFill>
                <a:latin typeface="Meiryo UI" panose="020B0604030504040204" pitchFamily="50" charset="-128"/>
                <a:ea typeface="Meiryo UI" panose="020B0604030504040204" pitchFamily="50" charset="-128"/>
              </a:rPr>
              <a:t>マスター</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18" name="円柱 17">
            <a:extLst>
              <a:ext uri="{FF2B5EF4-FFF2-40B4-BE49-F238E27FC236}">
                <a16:creationId xmlns:a16="http://schemas.microsoft.com/office/drawing/2014/main" id="{B735C657-5819-2FF4-F96F-97BFE9B50844}"/>
              </a:ext>
            </a:extLst>
          </p:cNvPr>
          <p:cNvSpPr/>
          <p:nvPr/>
        </p:nvSpPr>
        <p:spPr>
          <a:xfrm>
            <a:off x="11303617" y="8120016"/>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sp>
        <p:nvSpPr>
          <p:cNvPr id="19" name="円柱 18">
            <a:extLst>
              <a:ext uri="{FF2B5EF4-FFF2-40B4-BE49-F238E27FC236}">
                <a16:creationId xmlns:a16="http://schemas.microsoft.com/office/drawing/2014/main" id="{55058E58-655C-8376-0399-4BB4459AB762}"/>
              </a:ext>
            </a:extLst>
          </p:cNvPr>
          <p:cNvSpPr/>
          <p:nvPr/>
        </p:nvSpPr>
        <p:spPr>
          <a:xfrm>
            <a:off x="11303617" y="6876960"/>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sp>
        <p:nvSpPr>
          <p:cNvPr id="20" name="正方形/長方形 19">
            <a:extLst>
              <a:ext uri="{FF2B5EF4-FFF2-40B4-BE49-F238E27FC236}">
                <a16:creationId xmlns:a16="http://schemas.microsoft.com/office/drawing/2014/main" id="{AEF5C6DB-5B5A-ECFF-7AFD-FE2235753392}"/>
              </a:ext>
            </a:extLst>
          </p:cNvPr>
          <p:cNvSpPr/>
          <p:nvPr/>
        </p:nvSpPr>
        <p:spPr>
          <a:xfrm>
            <a:off x="11131054" y="5270200"/>
            <a:ext cx="4831146"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800" b="1" dirty="0">
                <a:solidFill>
                  <a:srgbClr val="59574C"/>
                </a:solidFill>
                <a:latin typeface="Meiryo UI" panose="020B0604030504040204" pitchFamily="50" charset="-128"/>
                <a:ea typeface="Meiryo UI" panose="020B0604030504040204" pitchFamily="50" charset="-128"/>
              </a:rPr>
              <a:t>トラン</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21" name="円柱 20">
            <a:extLst>
              <a:ext uri="{FF2B5EF4-FFF2-40B4-BE49-F238E27FC236}">
                <a16:creationId xmlns:a16="http://schemas.microsoft.com/office/drawing/2014/main" id="{470A12FE-8EF8-2DE2-4B21-D598880AED99}"/>
              </a:ext>
            </a:extLst>
          </p:cNvPr>
          <p:cNvSpPr/>
          <p:nvPr/>
        </p:nvSpPr>
        <p:spPr>
          <a:xfrm>
            <a:off x="12476679" y="8098115"/>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100" dirty="0">
                <a:solidFill>
                  <a:srgbClr val="59574C"/>
                </a:solidFill>
                <a:latin typeface="Meiryo UI" panose="020B0604030504040204" pitchFamily="50" charset="-128"/>
                <a:ea typeface="Meiryo UI" panose="020B0604030504040204" pitchFamily="50" charset="-128"/>
              </a:rPr>
              <a:t>DC</a:t>
            </a:r>
            <a:r>
              <a:rPr kumimoji="1" lang="ja-JP" altLang="en-US" sz="1100" dirty="0">
                <a:solidFill>
                  <a:srgbClr val="59574C"/>
                </a:solidFill>
                <a:latin typeface="Meiryo UI" panose="020B0604030504040204" pitchFamily="50" charset="-128"/>
                <a:ea typeface="Meiryo UI" panose="020B0604030504040204" pitchFamily="50" charset="-128"/>
              </a:rPr>
              <a:t>在庫</a:t>
            </a:r>
          </a:p>
        </p:txBody>
      </p:sp>
      <p:sp>
        <p:nvSpPr>
          <p:cNvPr id="22" name="円柱 21">
            <a:extLst>
              <a:ext uri="{FF2B5EF4-FFF2-40B4-BE49-F238E27FC236}">
                <a16:creationId xmlns:a16="http://schemas.microsoft.com/office/drawing/2014/main" id="{17DF3E9F-6627-DD4D-30B4-09D5D604F1B0}"/>
              </a:ext>
            </a:extLst>
          </p:cNvPr>
          <p:cNvSpPr/>
          <p:nvPr/>
        </p:nvSpPr>
        <p:spPr>
          <a:xfrm>
            <a:off x="14793067" y="6871135"/>
            <a:ext cx="1058290" cy="70188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配送残</a:t>
            </a:r>
          </a:p>
        </p:txBody>
      </p:sp>
      <p:sp>
        <p:nvSpPr>
          <p:cNvPr id="23" name="正方形/長方形 22">
            <a:extLst>
              <a:ext uri="{FF2B5EF4-FFF2-40B4-BE49-F238E27FC236}">
                <a16:creationId xmlns:a16="http://schemas.microsoft.com/office/drawing/2014/main" id="{1206FC36-0226-23F8-A388-6DC962B3F5CF}"/>
              </a:ext>
            </a:extLst>
          </p:cNvPr>
          <p:cNvSpPr/>
          <p:nvPr/>
        </p:nvSpPr>
        <p:spPr>
          <a:xfrm>
            <a:off x="16809589" y="4331613"/>
            <a:ext cx="1057140" cy="572875"/>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400" dirty="0" err="1">
                <a:solidFill>
                  <a:srgbClr val="59574C"/>
                </a:solidFill>
                <a:latin typeface="Meiryo UI" panose="020B0604030504040204" pitchFamily="50" charset="-128"/>
                <a:ea typeface="Meiryo UI" panose="020B0604030504040204" pitchFamily="50" charset="-128"/>
              </a:rPr>
              <a:t>DataSpider</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6F1140BD-BAE7-D04E-C80B-89A1E12BF644}"/>
              </a:ext>
            </a:extLst>
          </p:cNvPr>
          <p:cNvSpPr/>
          <p:nvPr/>
        </p:nvSpPr>
        <p:spPr>
          <a:xfrm>
            <a:off x="16699721" y="5084110"/>
            <a:ext cx="1274490" cy="963865"/>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kumimoji="1" lang="ja-JP" altLang="en-US" sz="1100" dirty="0">
                <a:solidFill>
                  <a:srgbClr val="59574C"/>
                </a:solidFill>
                <a:latin typeface="Meiryo UI" panose="020B0604030504040204" pitchFamily="50" charset="-128"/>
                <a:ea typeface="Meiryo UI" panose="020B0604030504040204" pitchFamily="50" charset="-128"/>
              </a:rPr>
              <a:t>配送業務端末</a:t>
            </a:r>
            <a:r>
              <a:rPr kumimoji="1" lang="en-US" altLang="ja-JP" sz="1100" dirty="0">
                <a:solidFill>
                  <a:srgbClr val="59574C"/>
                </a:solidFill>
                <a:latin typeface="Meiryo UI" panose="020B0604030504040204" pitchFamily="50" charset="-128"/>
                <a:ea typeface="Meiryo UI" panose="020B0604030504040204" pitchFamily="50" charset="-128"/>
              </a:rPr>
              <a:t>AWS</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2FAD5008-9CD9-761F-E317-535DA6D602B8}"/>
              </a:ext>
            </a:extLst>
          </p:cNvPr>
          <p:cNvSpPr/>
          <p:nvPr/>
        </p:nvSpPr>
        <p:spPr>
          <a:xfrm>
            <a:off x="16699721" y="6236956"/>
            <a:ext cx="1274490" cy="874323"/>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配送</a:t>
            </a:r>
            <a:r>
              <a:rPr lang="ja-JP" altLang="en-US" sz="1400" dirty="0">
                <a:solidFill>
                  <a:srgbClr val="59574C"/>
                </a:solidFill>
                <a:latin typeface="Meiryo UI" panose="020B0604030504040204" pitchFamily="50" charset="-128"/>
                <a:ea typeface="Meiryo UI" panose="020B0604030504040204" pitchFamily="50" charset="-128"/>
              </a:rPr>
              <a:t>業務</a:t>
            </a:r>
            <a:r>
              <a:rPr kumimoji="1" lang="ja-JP" altLang="en-US" sz="1400" dirty="0">
                <a:solidFill>
                  <a:srgbClr val="59574C"/>
                </a:solidFill>
                <a:latin typeface="Meiryo UI" panose="020B0604030504040204" pitchFamily="50" charset="-128"/>
                <a:ea typeface="Meiryo UI" panose="020B0604030504040204" pitchFamily="50" charset="-128"/>
              </a:rPr>
              <a:t>端末</a:t>
            </a:r>
          </a:p>
        </p:txBody>
      </p:sp>
      <p:sp>
        <p:nvSpPr>
          <p:cNvPr id="26" name="正方形/長方形 25">
            <a:extLst>
              <a:ext uri="{FF2B5EF4-FFF2-40B4-BE49-F238E27FC236}">
                <a16:creationId xmlns:a16="http://schemas.microsoft.com/office/drawing/2014/main" id="{9C6A947E-081E-112E-FA64-4CAAAC57DDF3}"/>
              </a:ext>
            </a:extLst>
          </p:cNvPr>
          <p:cNvSpPr/>
          <p:nvPr/>
        </p:nvSpPr>
        <p:spPr>
          <a:xfrm>
            <a:off x="16711801" y="8616296"/>
            <a:ext cx="1274490" cy="874323"/>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店内端末</a:t>
            </a:r>
          </a:p>
        </p:txBody>
      </p:sp>
      <p:sp>
        <p:nvSpPr>
          <p:cNvPr id="27" name="円柱 26">
            <a:extLst>
              <a:ext uri="{FF2B5EF4-FFF2-40B4-BE49-F238E27FC236}">
                <a16:creationId xmlns:a16="http://schemas.microsoft.com/office/drawing/2014/main" id="{169B4479-3FBD-8C01-1339-20F171675CF4}"/>
              </a:ext>
            </a:extLst>
          </p:cNvPr>
          <p:cNvSpPr/>
          <p:nvPr/>
        </p:nvSpPr>
        <p:spPr>
          <a:xfrm>
            <a:off x="16938490" y="5389082"/>
            <a:ext cx="799793" cy="46196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600" dirty="0">
              <a:solidFill>
                <a:srgbClr val="59574C"/>
              </a:solidFill>
              <a:latin typeface="Meiryo UI" panose="020B0604030504040204" pitchFamily="50" charset="-128"/>
              <a:ea typeface="Meiryo UI" panose="020B0604030504040204" pitchFamily="50" charset="-128"/>
            </a:endParaRPr>
          </a:p>
        </p:txBody>
      </p:sp>
      <p:cxnSp>
        <p:nvCxnSpPr>
          <p:cNvPr id="28" name="直線矢印コネクタ 27">
            <a:extLst>
              <a:ext uri="{FF2B5EF4-FFF2-40B4-BE49-F238E27FC236}">
                <a16:creationId xmlns:a16="http://schemas.microsoft.com/office/drawing/2014/main" id="{8E7BD636-DC15-5A41-8021-46CDCE987C96}"/>
              </a:ext>
            </a:extLst>
          </p:cNvPr>
          <p:cNvCxnSpPr>
            <a:cxnSpLocks/>
            <a:stCxn id="25" idx="0"/>
            <a:endCxn id="27" idx="3"/>
          </p:cNvCxnSpPr>
          <p:nvPr/>
        </p:nvCxnSpPr>
        <p:spPr>
          <a:xfrm flipV="1">
            <a:off x="17336966" y="5851044"/>
            <a:ext cx="1421" cy="385912"/>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DFB42F29-1855-378F-9C20-FE670E2AE56B}"/>
              </a:ext>
            </a:extLst>
          </p:cNvPr>
          <p:cNvCxnSpPr>
            <a:cxnSpLocks/>
            <a:stCxn id="17" idx="3"/>
            <a:endCxn id="35" idx="2"/>
          </p:cNvCxnSpPr>
          <p:nvPr/>
        </p:nvCxnSpPr>
        <p:spPr>
          <a:xfrm>
            <a:off x="15971121" y="4616084"/>
            <a:ext cx="980040" cy="3441993"/>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9A627F1E-DAC1-845B-EB06-3EABA1331149}"/>
              </a:ext>
            </a:extLst>
          </p:cNvPr>
          <p:cNvCxnSpPr>
            <a:cxnSpLocks/>
            <a:stCxn id="38" idx="3"/>
            <a:endCxn id="35" idx="2"/>
          </p:cNvCxnSpPr>
          <p:nvPr/>
        </p:nvCxnSpPr>
        <p:spPr>
          <a:xfrm flipV="1">
            <a:off x="15971121" y="8058077"/>
            <a:ext cx="980040" cy="301667"/>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1" name="円柱 30">
            <a:extLst>
              <a:ext uri="{FF2B5EF4-FFF2-40B4-BE49-F238E27FC236}">
                <a16:creationId xmlns:a16="http://schemas.microsoft.com/office/drawing/2014/main" id="{D882E95E-B7F2-DD1F-073E-675DFDCD8C03}"/>
              </a:ext>
            </a:extLst>
          </p:cNvPr>
          <p:cNvSpPr/>
          <p:nvPr/>
        </p:nvSpPr>
        <p:spPr>
          <a:xfrm>
            <a:off x="14793067" y="4331613"/>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マスター</a:t>
            </a:r>
          </a:p>
        </p:txBody>
      </p:sp>
      <p:sp>
        <p:nvSpPr>
          <p:cNvPr id="32" name="円柱 31">
            <a:extLst>
              <a:ext uri="{FF2B5EF4-FFF2-40B4-BE49-F238E27FC236}">
                <a16:creationId xmlns:a16="http://schemas.microsoft.com/office/drawing/2014/main" id="{5253DE54-9E50-CD31-0B9F-15DA10246ADE}"/>
              </a:ext>
            </a:extLst>
          </p:cNvPr>
          <p:cNvSpPr/>
          <p:nvPr/>
        </p:nvSpPr>
        <p:spPr>
          <a:xfrm>
            <a:off x="13636863" y="8105256"/>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配送工事枠</a:t>
            </a:r>
          </a:p>
        </p:txBody>
      </p:sp>
      <p:sp>
        <p:nvSpPr>
          <p:cNvPr id="33" name="円柱 32">
            <a:extLst>
              <a:ext uri="{FF2B5EF4-FFF2-40B4-BE49-F238E27FC236}">
                <a16:creationId xmlns:a16="http://schemas.microsoft.com/office/drawing/2014/main" id="{48C67C08-58FE-EA2E-94D0-109FEE4E9CC0}"/>
              </a:ext>
            </a:extLst>
          </p:cNvPr>
          <p:cNvSpPr/>
          <p:nvPr/>
        </p:nvSpPr>
        <p:spPr>
          <a:xfrm>
            <a:off x="6163979" y="7428546"/>
            <a:ext cx="1058290"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各種実績</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a:t>
            </a:r>
            <a:r>
              <a:rPr kumimoji="1" lang="ja-JP" altLang="en-US" sz="1400" dirty="0">
                <a:solidFill>
                  <a:srgbClr val="59574C"/>
                </a:solidFill>
                <a:latin typeface="Meiryo UI" panose="020B0604030504040204" pitchFamily="50" charset="-128"/>
                <a:ea typeface="Meiryo UI" panose="020B0604030504040204" pitchFamily="50" charset="-128"/>
              </a:rPr>
              <a:t>次世代</a:t>
            </a:r>
            <a:r>
              <a:rPr kumimoji="1" lang="en-US" altLang="ja-JP" sz="1400" dirty="0">
                <a:solidFill>
                  <a:srgbClr val="59574C"/>
                </a:solidFill>
                <a:latin typeface="Meiryo UI" panose="020B0604030504040204" pitchFamily="50" charset="-128"/>
                <a:ea typeface="Meiryo UI" panose="020B0604030504040204" pitchFamily="50" charset="-128"/>
              </a:rPr>
              <a:t>)</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281E377F-7483-9703-BAC8-DADC1CBE71AE}"/>
              </a:ext>
            </a:extLst>
          </p:cNvPr>
          <p:cNvSpPr/>
          <p:nvPr/>
        </p:nvSpPr>
        <p:spPr>
          <a:xfrm>
            <a:off x="16712392" y="7522124"/>
            <a:ext cx="1274490" cy="963865"/>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kumimoji="1" lang="ja-JP" altLang="en-US" sz="1400" dirty="0">
                <a:solidFill>
                  <a:srgbClr val="59574C"/>
                </a:solidFill>
                <a:latin typeface="Meiryo UI" panose="020B0604030504040204" pitchFamily="50" charset="-128"/>
                <a:ea typeface="Meiryo UI" panose="020B0604030504040204" pitchFamily="50" charset="-128"/>
              </a:rPr>
              <a:t>店内端末</a:t>
            </a:r>
            <a:r>
              <a:rPr kumimoji="1" lang="en-US" altLang="ja-JP" sz="1400" dirty="0">
                <a:solidFill>
                  <a:srgbClr val="59574C"/>
                </a:solidFill>
                <a:latin typeface="Meiryo UI" panose="020B0604030504040204" pitchFamily="50" charset="-128"/>
                <a:ea typeface="Meiryo UI" panose="020B0604030504040204" pitchFamily="50" charset="-128"/>
              </a:rPr>
              <a:t>AWS</a:t>
            </a: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35" name="円柱 34">
            <a:extLst>
              <a:ext uri="{FF2B5EF4-FFF2-40B4-BE49-F238E27FC236}">
                <a16:creationId xmlns:a16="http://schemas.microsoft.com/office/drawing/2014/main" id="{C3203744-FA1A-00C0-0B94-4FF0F7A25B2F}"/>
              </a:ext>
            </a:extLst>
          </p:cNvPr>
          <p:cNvSpPr/>
          <p:nvPr/>
        </p:nvSpPr>
        <p:spPr>
          <a:xfrm>
            <a:off x="16951161" y="7827096"/>
            <a:ext cx="799793" cy="46196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600" dirty="0">
              <a:solidFill>
                <a:srgbClr val="59574C"/>
              </a:solidFill>
              <a:latin typeface="Meiryo UI" panose="020B0604030504040204" pitchFamily="50" charset="-128"/>
              <a:ea typeface="Meiryo UI" panose="020B0604030504040204" pitchFamily="50" charset="-128"/>
            </a:endParaRPr>
          </a:p>
        </p:txBody>
      </p:sp>
      <p:cxnSp>
        <p:nvCxnSpPr>
          <p:cNvPr id="36" name="直線矢印コネクタ 35">
            <a:extLst>
              <a:ext uri="{FF2B5EF4-FFF2-40B4-BE49-F238E27FC236}">
                <a16:creationId xmlns:a16="http://schemas.microsoft.com/office/drawing/2014/main" id="{248FC10C-E122-F68B-7895-9878158F5E1B}"/>
              </a:ext>
            </a:extLst>
          </p:cNvPr>
          <p:cNvCxnSpPr>
            <a:cxnSpLocks/>
            <a:stCxn id="26" idx="0"/>
            <a:endCxn id="35" idx="3"/>
          </p:cNvCxnSpPr>
          <p:nvPr/>
        </p:nvCxnSpPr>
        <p:spPr>
          <a:xfrm flipV="1">
            <a:off x="17349046" y="8289058"/>
            <a:ext cx="2012" cy="327238"/>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F031AE55-58BB-C71F-9673-FFBD8DDFDEC7}"/>
              </a:ext>
            </a:extLst>
          </p:cNvPr>
          <p:cNvCxnSpPr>
            <a:cxnSpLocks/>
            <a:stCxn id="12" idx="3"/>
            <a:endCxn id="23" idx="1"/>
          </p:cNvCxnSpPr>
          <p:nvPr/>
        </p:nvCxnSpPr>
        <p:spPr>
          <a:xfrm flipV="1">
            <a:off x="15971119" y="4618051"/>
            <a:ext cx="838470" cy="2494459"/>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D0B39345-9102-B69B-6820-639942658EDC}"/>
              </a:ext>
            </a:extLst>
          </p:cNvPr>
          <p:cNvSpPr/>
          <p:nvPr/>
        </p:nvSpPr>
        <p:spPr>
          <a:xfrm>
            <a:off x="11132290" y="7763747"/>
            <a:ext cx="4838831" cy="119199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en-US" altLang="ja-JP" sz="1800" b="1" dirty="0">
                <a:solidFill>
                  <a:srgbClr val="59574C"/>
                </a:solidFill>
                <a:latin typeface="Meiryo UI" panose="020B0604030504040204" pitchFamily="50" charset="-128"/>
                <a:ea typeface="Meiryo UI" panose="020B0604030504040204" pitchFamily="50" charset="-128"/>
              </a:rPr>
              <a:t>TC/DC-SV(SJIS)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BC3CB6CB-DFD3-C66B-3C75-4282C314118E}"/>
              </a:ext>
            </a:extLst>
          </p:cNvPr>
          <p:cNvSpPr/>
          <p:nvPr/>
        </p:nvSpPr>
        <p:spPr>
          <a:xfrm>
            <a:off x="3934170" y="4216242"/>
            <a:ext cx="6452514" cy="4031210"/>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r>
              <a:rPr lang="ja-JP" altLang="en-US" sz="1800" b="1" dirty="0">
                <a:solidFill>
                  <a:srgbClr val="59574C"/>
                </a:solidFill>
                <a:latin typeface="Meiryo UI" panose="020B0604030504040204" pitchFamily="50" charset="-128"/>
                <a:ea typeface="Meiryo UI" panose="020B0604030504040204" pitchFamily="50" charset="-128"/>
              </a:rPr>
              <a:t>セントラル</a:t>
            </a:r>
            <a:r>
              <a:rPr lang="en-US" altLang="ja-JP" sz="1800" b="1" dirty="0">
                <a:solidFill>
                  <a:srgbClr val="59574C"/>
                </a:solidFill>
                <a:latin typeface="Meiryo UI" panose="020B0604030504040204" pitchFamily="50" charset="-128"/>
                <a:ea typeface="Meiryo UI" panose="020B0604030504040204" pitchFamily="50" charset="-128"/>
              </a:rPr>
              <a:t>POS</a:t>
            </a:r>
            <a:r>
              <a:rPr lang="ja-JP" altLang="en-US" sz="1800" b="1" dirty="0">
                <a:solidFill>
                  <a:srgbClr val="59574C"/>
                </a:solidFill>
                <a:latin typeface="Meiryo UI" panose="020B0604030504040204" pitchFamily="50" charset="-128"/>
                <a:ea typeface="Meiryo UI" panose="020B0604030504040204" pitchFamily="50" charset="-128"/>
              </a:rPr>
              <a:t> </a:t>
            </a:r>
            <a:r>
              <a:rPr lang="en-US" altLang="ja-JP" sz="1800" b="1" dirty="0">
                <a:solidFill>
                  <a:srgbClr val="59574C"/>
                </a:solidFill>
                <a:latin typeface="Meiryo UI" panose="020B0604030504040204" pitchFamily="50" charset="-128"/>
                <a:ea typeface="Meiryo UI" panose="020B0604030504040204" pitchFamily="50" charset="-128"/>
              </a:rPr>
              <a:t>DB</a:t>
            </a:r>
            <a:r>
              <a:rPr lang="ja-JP" altLang="en-US" sz="1800" b="1" dirty="0">
                <a:solidFill>
                  <a:srgbClr val="59574C"/>
                </a:solidFill>
                <a:latin typeface="Meiryo UI" panose="020B0604030504040204" pitchFamily="50" charset="-128"/>
                <a:ea typeface="Meiryo UI" panose="020B0604030504040204" pitchFamily="50" charset="-128"/>
              </a:rPr>
              <a:t>　</a:t>
            </a:r>
            <a:r>
              <a:rPr lang="en-US" altLang="ja-JP" sz="1800" b="1" dirty="0">
                <a:solidFill>
                  <a:srgbClr val="59574C"/>
                </a:solidFill>
                <a:latin typeface="Meiryo UI" panose="020B0604030504040204" pitchFamily="50" charset="-128"/>
                <a:ea typeface="Meiryo UI" panose="020B0604030504040204" pitchFamily="50" charset="-128"/>
              </a:rPr>
              <a:t> Ver.26ai(UTF-8)</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40" name="円柱 39">
            <a:extLst>
              <a:ext uri="{FF2B5EF4-FFF2-40B4-BE49-F238E27FC236}">
                <a16:creationId xmlns:a16="http://schemas.microsoft.com/office/drawing/2014/main" id="{7807B325-7D78-0555-E8FC-5F352B87023E}"/>
              </a:ext>
            </a:extLst>
          </p:cNvPr>
          <p:cNvSpPr/>
          <p:nvPr/>
        </p:nvSpPr>
        <p:spPr>
          <a:xfrm>
            <a:off x="14777564" y="8105256"/>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ロジ関連</a:t>
            </a:r>
          </a:p>
        </p:txBody>
      </p:sp>
      <p:sp>
        <p:nvSpPr>
          <p:cNvPr id="41" name="円柱 40">
            <a:extLst>
              <a:ext uri="{FF2B5EF4-FFF2-40B4-BE49-F238E27FC236}">
                <a16:creationId xmlns:a16="http://schemas.microsoft.com/office/drawing/2014/main" id="{D33C49F7-AE58-01A3-8127-67327B7EBB0D}"/>
              </a:ext>
            </a:extLst>
          </p:cNvPr>
          <p:cNvSpPr/>
          <p:nvPr/>
        </p:nvSpPr>
        <p:spPr>
          <a:xfrm>
            <a:off x="12507990" y="5546448"/>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各種実績</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en-US" altLang="ja-JP" sz="1100" dirty="0">
                <a:solidFill>
                  <a:srgbClr val="59574C"/>
                </a:solidFill>
                <a:latin typeface="Meiryo UI" panose="020B0604030504040204" pitchFamily="50" charset="-128"/>
                <a:ea typeface="Meiryo UI" panose="020B0604030504040204" pitchFamily="50" charset="-128"/>
              </a:rPr>
              <a:t>(</a:t>
            </a:r>
            <a:r>
              <a:rPr lang="ja-JP" altLang="en-US" sz="1100" dirty="0">
                <a:solidFill>
                  <a:srgbClr val="59574C"/>
                </a:solidFill>
                <a:latin typeface="Meiryo UI" panose="020B0604030504040204" pitchFamily="50" charset="-128"/>
                <a:ea typeface="Meiryo UI" panose="020B0604030504040204" pitchFamily="50" charset="-128"/>
              </a:rPr>
              <a:t>現行レイアウト</a:t>
            </a:r>
            <a:r>
              <a:rPr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42" name="円柱 41">
            <a:extLst>
              <a:ext uri="{FF2B5EF4-FFF2-40B4-BE49-F238E27FC236}">
                <a16:creationId xmlns:a16="http://schemas.microsoft.com/office/drawing/2014/main" id="{DBFCEAF0-3759-736B-2857-E7360F4EA8AA}"/>
              </a:ext>
            </a:extLst>
          </p:cNvPr>
          <p:cNvSpPr/>
          <p:nvPr/>
        </p:nvSpPr>
        <p:spPr>
          <a:xfrm>
            <a:off x="12482886" y="6846695"/>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持込修理</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ja-JP" altLang="en-US" sz="1100" dirty="0">
                <a:solidFill>
                  <a:srgbClr val="59574C"/>
                </a:solidFill>
                <a:latin typeface="Meiryo UI" panose="020B0604030504040204" pitchFamily="50" charset="-128"/>
                <a:ea typeface="Meiryo UI" panose="020B0604030504040204" pitchFamily="50" charset="-128"/>
              </a:rPr>
              <a:t>出張修理</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43" name="円柱 42">
            <a:extLst>
              <a:ext uri="{FF2B5EF4-FFF2-40B4-BE49-F238E27FC236}">
                <a16:creationId xmlns:a16="http://schemas.microsoft.com/office/drawing/2014/main" id="{FC45D01E-DFA8-A147-4A55-6201200F53CA}"/>
              </a:ext>
            </a:extLst>
          </p:cNvPr>
          <p:cNvSpPr/>
          <p:nvPr/>
        </p:nvSpPr>
        <p:spPr>
          <a:xfrm>
            <a:off x="13643807" y="6871135"/>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rgbClr val="59574C"/>
                </a:solidFill>
                <a:latin typeface="Meiryo UI" panose="020B0604030504040204" pitchFamily="50" charset="-128"/>
                <a:ea typeface="Meiryo UI" panose="020B0604030504040204" pitchFamily="50" charset="-128"/>
              </a:rPr>
              <a:t>あんしん延長保証</a:t>
            </a:r>
            <a:endParaRPr kumimoji="1" lang="en-US" altLang="ja-JP" sz="1000" dirty="0">
              <a:solidFill>
                <a:srgbClr val="59574C"/>
              </a:solidFill>
              <a:latin typeface="Meiryo UI" panose="020B0604030504040204" pitchFamily="50" charset="-128"/>
              <a:ea typeface="Meiryo UI" panose="020B0604030504040204" pitchFamily="50" charset="-128"/>
            </a:endParaRPr>
          </a:p>
          <a:p>
            <a:pPr algn="ctr"/>
            <a:r>
              <a:rPr lang="ja-JP" altLang="en-US" sz="1000" dirty="0">
                <a:solidFill>
                  <a:srgbClr val="59574C"/>
                </a:solidFill>
                <a:latin typeface="Meiryo UI" panose="020B0604030504040204" pitchFamily="50" charset="-128"/>
                <a:ea typeface="Meiryo UI" panose="020B0604030504040204" pitchFamily="50" charset="-128"/>
              </a:rPr>
              <a:t>長期無料保証</a:t>
            </a:r>
            <a:endParaRPr kumimoji="1" lang="ja-JP" altLang="en-US" sz="1000" dirty="0">
              <a:solidFill>
                <a:srgbClr val="59574C"/>
              </a:solidFill>
              <a:latin typeface="Meiryo UI" panose="020B0604030504040204" pitchFamily="50" charset="-128"/>
              <a:ea typeface="Meiryo UI" panose="020B0604030504040204" pitchFamily="50" charset="-128"/>
            </a:endParaRPr>
          </a:p>
        </p:txBody>
      </p:sp>
      <p:sp>
        <p:nvSpPr>
          <p:cNvPr id="44" name="円柱 43">
            <a:extLst>
              <a:ext uri="{FF2B5EF4-FFF2-40B4-BE49-F238E27FC236}">
                <a16:creationId xmlns:a16="http://schemas.microsoft.com/office/drawing/2014/main" id="{FD594860-B33A-BA60-FD59-2F69319D64A4}"/>
              </a:ext>
            </a:extLst>
          </p:cNvPr>
          <p:cNvSpPr/>
          <p:nvPr/>
        </p:nvSpPr>
        <p:spPr>
          <a:xfrm>
            <a:off x="11303617" y="4344492"/>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endParaRPr kumimoji="1" lang="en-US" altLang="ja-JP" sz="1100" dirty="0">
              <a:solidFill>
                <a:srgbClr val="59574C"/>
              </a:solidFill>
              <a:latin typeface="Meiryo UI" panose="020B0604030504040204" pitchFamily="50" charset="-128"/>
              <a:ea typeface="Meiryo UI" panose="020B0604030504040204" pitchFamily="50" charset="-128"/>
            </a:endParaRPr>
          </a:p>
        </p:txBody>
      </p:sp>
      <p:sp>
        <p:nvSpPr>
          <p:cNvPr id="45" name="円柱 44">
            <a:extLst>
              <a:ext uri="{FF2B5EF4-FFF2-40B4-BE49-F238E27FC236}">
                <a16:creationId xmlns:a16="http://schemas.microsoft.com/office/drawing/2014/main" id="{56EF257E-0E20-85D9-4544-AC166908AC85}"/>
              </a:ext>
            </a:extLst>
          </p:cNvPr>
          <p:cNvSpPr/>
          <p:nvPr/>
        </p:nvSpPr>
        <p:spPr>
          <a:xfrm>
            <a:off x="12479752" y="4344492"/>
            <a:ext cx="1058290" cy="701882"/>
          </a:xfrm>
          <a:prstGeom prst="can">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ja-JP" altLang="en-US" sz="1100" dirty="0">
                <a:solidFill>
                  <a:srgbClr val="59574C"/>
                </a:solidFill>
                <a:latin typeface="Meiryo UI" panose="020B0604030504040204" pitchFamily="50" charset="-128"/>
                <a:ea typeface="Meiryo UI" panose="020B0604030504040204" pitchFamily="50" charset="-128"/>
              </a:rPr>
              <a:t>送信管理</a:t>
            </a:r>
            <a:endParaRPr kumimoji="1" lang="en-US" altLang="ja-JP" sz="1100" dirty="0">
              <a:solidFill>
                <a:srgbClr val="59574C"/>
              </a:solidFill>
              <a:latin typeface="Meiryo UI" panose="020B0604030504040204" pitchFamily="50" charset="-128"/>
              <a:ea typeface="Meiryo UI" panose="020B0604030504040204" pitchFamily="50" charset="-128"/>
            </a:endParaRPr>
          </a:p>
        </p:txBody>
      </p:sp>
      <p:cxnSp>
        <p:nvCxnSpPr>
          <p:cNvPr id="46" name="直線矢印コネクタ 45">
            <a:extLst>
              <a:ext uri="{FF2B5EF4-FFF2-40B4-BE49-F238E27FC236}">
                <a16:creationId xmlns:a16="http://schemas.microsoft.com/office/drawing/2014/main" id="{F414A4FA-43ED-F290-528C-638EDC85DB6F}"/>
              </a:ext>
            </a:extLst>
          </p:cNvPr>
          <p:cNvCxnSpPr>
            <a:cxnSpLocks/>
            <a:endCxn id="16" idx="1"/>
          </p:cNvCxnSpPr>
          <p:nvPr/>
        </p:nvCxnSpPr>
        <p:spPr>
          <a:xfrm>
            <a:off x="13019282" y="3261360"/>
            <a:ext cx="1144516" cy="1083132"/>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47" name="楕円 46">
            <a:extLst>
              <a:ext uri="{FF2B5EF4-FFF2-40B4-BE49-F238E27FC236}">
                <a16:creationId xmlns:a16="http://schemas.microsoft.com/office/drawing/2014/main" id="{7D8EE4E1-66FE-7610-52A8-093C6F971C5D}"/>
              </a:ext>
            </a:extLst>
          </p:cNvPr>
          <p:cNvSpPr/>
          <p:nvPr/>
        </p:nvSpPr>
        <p:spPr>
          <a:xfrm>
            <a:off x="14993628" y="1405222"/>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1</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sp>
        <p:nvSpPr>
          <p:cNvPr id="48" name="楕円 47">
            <a:extLst>
              <a:ext uri="{FF2B5EF4-FFF2-40B4-BE49-F238E27FC236}">
                <a16:creationId xmlns:a16="http://schemas.microsoft.com/office/drawing/2014/main" id="{DA1904B5-85DA-7F10-E44C-3E0B88B7965D}"/>
              </a:ext>
            </a:extLst>
          </p:cNvPr>
          <p:cNvSpPr/>
          <p:nvPr/>
        </p:nvSpPr>
        <p:spPr>
          <a:xfrm>
            <a:off x="7238423" y="7111279"/>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4</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sp>
        <p:nvSpPr>
          <p:cNvPr id="49" name="楕円 48">
            <a:extLst>
              <a:ext uri="{FF2B5EF4-FFF2-40B4-BE49-F238E27FC236}">
                <a16:creationId xmlns:a16="http://schemas.microsoft.com/office/drawing/2014/main" id="{75A966CC-3FCC-C470-D4D4-5AA1C676C1AF}"/>
              </a:ext>
            </a:extLst>
          </p:cNvPr>
          <p:cNvSpPr/>
          <p:nvPr/>
        </p:nvSpPr>
        <p:spPr>
          <a:xfrm>
            <a:off x="10378957" y="3196015"/>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2</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cxnSp>
        <p:nvCxnSpPr>
          <p:cNvPr id="50" name="直線矢印コネクタ 49">
            <a:extLst>
              <a:ext uri="{FF2B5EF4-FFF2-40B4-BE49-F238E27FC236}">
                <a16:creationId xmlns:a16="http://schemas.microsoft.com/office/drawing/2014/main" id="{EB7B4362-83FC-CBE7-C5FE-2D997281C077}"/>
              </a:ext>
            </a:extLst>
          </p:cNvPr>
          <p:cNvCxnSpPr>
            <a:cxnSpLocks/>
            <a:stCxn id="17" idx="3"/>
            <a:endCxn id="23" idx="1"/>
          </p:cNvCxnSpPr>
          <p:nvPr/>
        </p:nvCxnSpPr>
        <p:spPr>
          <a:xfrm>
            <a:off x="15971121" y="4616084"/>
            <a:ext cx="838468" cy="1967"/>
          </a:xfrm>
          <a:prstGeom prst="straightConnector1">
            <a:avLst/>
          </a:prstGeom>
          <a:ln w="25400">
            <a:solidFill>
              <a:schemeClr val="tx1"/>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フローチャート: 定義済み処理 50">
            <a:extLst>
              <a:ext uri="{FF2B5EF4-FFF2-40B4-BE49-F238E27FC236}">
                <a16:creationId xmlns:a16="http://schemas.microsoft.com/office/drawing/2014/main" id="{B01A4170-0651-B0A9-51AC-947EF6534CE7}"/>
              </a:ext>
            </a:extLst>
          </p:cNvPr>
          <p:cNvSpPr/>
          <p:nvPr/>
        </p:nvSpPr>
        <p:spPr>
          <a:xfrm>
            <a:off x="8970712" y="9260615"/>
            <a:ext cx="1194231" cy="572874"/>
          </a:xfrm>
          <a:prstGeom prst="flowChartPredefinedProcess">
            <a:avLst/>
          </a:prstGeom>
          <a:solidFill>
            <a:srgbClr val="00B0F0"/>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kumimoji="1" lang="ja-JP" altLang="en-US" sz="1200" dirty="0">
                <a:solidFill>
                  <a:srgbClr val="59574C"/>
                </a:solidFill>
                <a:latin typeface="Meiryo UI" panose="020B0604030504040204" pitchFamily="50" charset="-128"/>
                <a:ea typeface="Meiryo UI" panose="020B0604030504040204" pitchFamily="50" charset="-128"/>
              </a:rPr>
              <a:t>トラン連携</a:t>
            </a:r>
            <a:endParaRPr kumimoji="1" lang="en-US" altLang="ja-JP" sz="1200" dirty="0">
              <a:solidFill>
                <a:srgbClr val="59574C"/>
              </a:solidFill>
              <a:latin typeface="Meiryo UI" panose="020B0604030504040204" pitchFamily="50" charset="-128"/>
              <a:ea typeface="Meiryo UI" panose="020B0604030504040204" pitchFamily="50" charset="-128"/>
            </a:endParaRPr>
          </a:p>
          <a:p>
            <a:pPr algn="ctr"/>
            <a:r>
              <a:rPr kumimoji="1" lang="en-US" altLang="ja-JP" sz="1200" dirty="0">
                <a:solidFill>
                  <a:srgbClr val="59574C"/>
                </a:solidFill>
                <a:latin typeface="Meiryo UI" panose="020B0604030504040204" pitchFamily="50" charset="-128"/>
                <a:ea typeface="Meiryo UI" panose="020B0604030504040204" pitchFamily="50" charset="-128"/>
              </a:rPr>
              <a:t>(</a:t>
            </a:r>
            <a:r>
              <a:rPr kumimoji="1" lang="ja-JP" altLang="en-US" sz="1200" dirty="0">
                <a:solidFill>
                  <a:srgbClr val="59574C"/>
                </a:solidFill>
                <a:latin typeface="Meiryo UI" panose="020B0604030504040204" pitchFamily="50" charset="-128"/>
                <a:ea typeface="Meiryo UI" panose="020B0604030504040204" pitchFamily="50" charset="-128"/>
              </a:rPr>
              <a:t>文字コード変換</a:t>
            </a:r>
            <a:r>
              <a:rPr kumimoji="1" lang="en-US" altLang="ja-JP" sz="1200" dirty="0">
                <a:solidFill>
                  <a:srgbClr val="59574C"/>
                </a:solidFill>
                <a:latin typeface="Meiryo UI" panose="020B0604030504040204" pitchFamily="50" charset="-128"/>
                <a:ea typeface="Meiryo UI" panose="020B0604030504040204" pitchFamily="50" charset="-128"/>
              </a:rPr>
              <a:t>)</a:t>
            </a:r>
            <a:endParaRPr kumimoji="1" lang="ja-JP" altLang="en-US" sz="1200" dirty="0">
              <a:solidFill>
                <a:srgbClr val="59574C"/>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EB64097B-33ED-BC10-03A9-E8D69C3973AF}"/>
              </a:ext>
            </a:extLst>
          </p:cNvPr>
          <p:cNvSpPr/>
          <p:nvPr/>
        </p:nvSpPr>
        <p:spPr>
          <a:xfrm>
            <a:off x="7322031" y="9157787"/>
            <a:ext cx="3809023" cy="778213"/>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r>
              <a:rPr lang="en-US" altLang="ja-JP" sz="1800" b="1" dirty="0" err="1">
                <a:solidFill>
                  <a:srgbClr val="59574C"/>
                </a:solidFill>
                <a:latin typeface="Meiryo UI" panose="020B0604030504040204" pitchFamily="50" charset="-128"/>
                <a:ea typeface="Meiryo UI" panose="020B0604030504040204" pitchFamily="50" charset="-128"/>
              </a:rPr>
              <a:t>DataSpider</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53" name="矢印: 下カーブ 52">
            <a:extLst>
              <a:ext uri="{FF2B5EF4-FFF2-40B4-BE49-F238E27FC236}">
                <a16:creationId xmlns:a16="http://schemas.microsoft.com/office/drawing/2014/main" id="{045D5A35-8D09-1566-172B-BF17E80D7A16}"/>
              </a:ext>
            </a:extLst>
          </p:cNvPr>
          <p:cNvSpPr/>
          <p:nvPr/>
        </p:nvSpPr>
        <p:spPr>
          <a:xfrm rot="2337650">
            <a:off x="11048046" y="5659195"/>
            <a:ext cx="568153" cy="4231030"/>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sp>
        <p:nvSpPr>
          <p:cNvPr id="54" name="吹き出し: 折線 53">
            <a:extLst>
              <a:ext uri="{FF2B5EF4-FFF2-40B4-BE49-F238E27FC236}">
                <a16:creationId xmlns:a16="http://schemas.microsoft.com/office/drawing/2014/main" id="{05CFDA9F-8C1A-3865-2112-746330818901}"/>
              </a:ext>
            </a:extLst>
          </p:cNvPr>
          <p:cNvSpPr/>
          <p:nvPr/>
        </p:nvSpPr>
        <p:spPr>
          <a:xfrm>
            <a:off x="11563426" y="9366843"/>
            <a:ext cx="2263550" cy="518599"/>
          </a:xfrm>
          <a:prstGeom prst="borderCallout2">
            <a:avLst>
              <a:gd name="adj1" fmla="val 18750"/>
              <a:gd name="adj2" fmla="val -8333"/>
              <a:gd name="adj3" fmla="val 18750"/>
              <a:gd name="adj4" fmla="val -16667"/>
              <a:gd name="adj5" fmla="val 71159"/>
              <a:gd name="adj6" fmla="val -59596"/>
            </a:avLst>
          </a:prstGeom>
          <a:solidFill>
            <a:srgbClr val="FFFF99"/>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400" dirty="0" err="1">
                <a:solidFill>
                  <a:srgbClr val="59574C"/>
                </a:solidFill>
                <a:latin typeface="Meiryo UI" panose="020B0604030504040204" pitchFamily="50" charset="-128"/>
                <a:ea typeface="Meiryo UI" panose="020B0604030504040204" pitchFamily="50" charset="-128"/>
              </a:rPr>
              <a:t>DataSpider</a:t>
            </a:r>
            <a:r>
              <a:rPr lang="ja-JP" altLang="en-US" sz="1400" dirty="0">
                <a:solidFill>
                  <a:srgbClr val="59574C"/>
                </a:solidFill>
                <a:latin typeface="Meiryo UI" panose="020B0604030504040204" pitchFamily="50" charset="-128"/>
                <a:ea typeface="Meiryo UI" panose="020B0604030504040204" pitchFamily="50" charset="-128"/>
              </a:rPr>
              <a:t>を使用することで文字コードを変換</a:t>
            </a:r>
            <a:endParaRPr kumimoji="1" lang="en-US" altLang="ja-JP" sz="1400" dirty="0">
              <a:solidFill>
                <a:srgbClr val="59574C"/>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E1B333DB-AFFF-C29F-7F9A-01838B836AF1}"/>
              </a:ext>
            </a:extLst>
          </p:cNvPr>
          <p:cNvSpPr/>
          <p:nvPr/>
        </p:nvSpPr>
        <p:spPr>
          <a:xfrm>
            <a:off x="11099195" y="1211407"/>
            <a:ext cx="4871923" cy="2428219"/>
          </a:xfrm>
          <a:prstGeom prst="rect">
            <a:avLst/>
          </a:prstGeom>
          <a:no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r>
              <a:rPr lang="ja-JP" altLang="en-US" sz="1800" b="1" dirty="0">
                <a:solidFill>
                  <a:srgbClr val="59574C"/>
                </a:solidFill>
                <a:latin typeface="Meiryo UI" panose="020B0604030504040204" pitchFamily="50" charset="-128"/>
                <a:ea typeface="Meiryo UI" panose="020B0604030504040204" pitchFamily="50" charset="-128"/>
              </a:rPr>
              <a:t>店舗</a:t>
            </a:r>
            <a:r>
              <a:rPr lang="en-US" altLang="ja-JP" sz="1800" b="1" dirty="0">
                <a:solidFill>
                  <a:srgbClr val="59574C"/>
                </a:solidFill>
                <a:latin typeface="Meiryo UI" panose="020B0604030504040204" pitchFamily="50" charset="-128"/>
                <a:ea typeface="Meiryo UI" panose="020B0604030504040204" pitchFamily="50" charset="-128"/>
              </a:rPr>
              <a:t>SV(SJIS)</a:t>
            </a:r>
            <a:endParaRPr kumimoji="1" lang="ja-JP" altLang="en-US" sz="1800" b="1" dirty="0">
              <a:solidFill>
                <a:srgbClr val="59574C"/>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E8E313B9-E7F7-13D4-A6B0-1380FBF696D7}"/>
              </a:ext>
            </a:extLst>
          </p:cNvPr>
          <p:cNvSpPr/>
          <p:nvPr/>
        </p:nvSpPr>
        <p:spPr>
          <a:xfrm>
            <a:off x="16691356" y="1447087"/>
            <a:ext cx="1274490" cy="874323"/>
          </a:xfrm>
          <a:prstGeom prst="rect">
            <a:avLst/>
          </a:prstGeom>
          <a:solidFill>
            <a:schemeClr val="accent1">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現行</a:t>
            </a:r>
            <a:r>
              <a:rPr kumimoji="1" lang="en-US" altLang="ja-JP" sz="1400" dirty="0">
                <a:solidFill>
                  <a:srgbClr val="59574C"/>
                </a:solidFill>
                <a:latin typeface="Meiryo UI" panose="020B0604030504040204" pitchFamily="50" charset="-128"/>
                <a:ea typeface="Meiryo UI" panose="020B0604030504040204" pitchFamily="50" charset="-128"/>
              </a:rPr>
              <a:t>POS</a:t>
            </a:r>
          </a:p>
          <a:p>
            <a:pPr algn="ctr"/>
            <a:r>
              <a:rPr lang="en-US" altLang="ja-JP" sz="1400" dirty="0">
                <a:solidFill>
                  <a:srgbClr val="59574C"/>
                </a:solidFill>
                <a:latin typeface="Meiryo UI" panose="020B0604030504040204" pitchFamily="50" charset="-128"/>
                <a:ea typeface="Meiryo UI" panose="020B0604030504040204" pitchFamily="50" charset="-128"/>
              </a:rPr>
              <a:t>(RZ-A476)</a:t>
            </a:r>
          </a:p>
        </p:txBody>
      </p:sp>
      <p:sp>
        <p:nvSpPr>
          <p:cNvPr id="57" name="円柱 56">
            <a:extLst>
              <a:ext uri="{FF2B5EF4-FFF2-40B4-BE49-F238E27FC236}">
                <a16:creationId xmlns:a16="http://schemas.microsoft.com/office/drawing/2014/main" id="{7907D96F-2191-D41F-B134-46B2F15FD3EF}"/>
              </a:ext>
            </a:extLst>
          </p:cNvPr>
          <p:cNvSpPr/>
          <p:nvPr/>
        </p:nvSpPr>
        <p:spPr>
          <a:xfrm>
            <a:off x="13002475" y="1533376"/>
            <a:ext cx="1058290" cy="701882"/>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トランジャーナル</a:t>
            </a:r>
          </a:p>
        </p:txBody>
      </p:sp>
      <p:sp>
        <p:nvSpPr>
          <p:cNvPr id="58" name="フローチャート: 定義済み処理 57">
            <a:extLst>
              <a:ext uri="{FF2B5EF4-FFF2-40B4-BE49-F238E27FC236}">
                <a16:creationId xmlns:a16="http://schemas.microsoft.com/office/drawing/2014/main" id="{F3275148-7985-2641-6F63-E3E274CED363}"/>
              </a:ext>
            </a:extLst>
          </p:cNvPr>
          <p:cNvSpPr/>
          <p:nvPr/>
        </p:nvSpPr>
        <p:spPr>
          <a:xfrm>
            <a:off x="11279100" y="1602327"/>
            <a:ext cx="1194231" cy="572874"/>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lang="ja-JP" altLang="en-US" sz="1200" dirty="0">
                <a:solidFill>
                  <a:srgbClr val="59574C"/>
                </a:solidFill>
                <a:latin typeface="Meiryo UI" panose="020B0604030504040204" pitchFamily="50" charset="-128"/>
                <a:ea typeface="Meiryo UI" panose="020B0604030504040204" pitchFamily="50" charset="-128"/>
              </a:rPr>
              <a:t>トラン取込</a:t>
            </a:r>
            <a:endParaRPr lang="en-US" altLang="ja-JP" sz="1200" dirty="0">
              <a:solidFill>
                <a:srgbClr val="59574C"/>
              </a:solidFill>
              <a:latin typeface="Meiryo UI" panose="020B0604030504040204" pitchFamily="50" charset="-128"/>
              <a:ea typeface="Meiryo UI" panose="020B0604030504040204" pitchFamily="50" charset="-128"/>
            </a:endParaRPr>
          </a:p>
          <a:p>
            <a:pPr algn="ctr"/>
            <a:r>
              <a:rPr kumimoji="1" lang="en-US" altLang="ja-JP" sz="1200" dirty="0">
                <a:solidFill>
                  <a:srgbClr val="59574C"/>
                </a:solidFill>
                <a:latin typeface="Meiryo UI" panose="020B0604030504040204" pitchFamily="50" charset="-128"/>
                <a:ea typeface="Meiryo UI" panose="020B0604030504040204" pitchFamily="50" charset="-128"/>
              </a:rPr>
              <a:t>(</a:t>
            </a:r>
            <a:r>
              <a:rPr kumimoji="1" lang="ja-JP" altLang="en-US" sz="1200" dirty="0">
                <a:solidFill>
                  <a:srgbClr val="59574C"/>
                </a:solidFill>
                <a:latin typeface="Meiryo UI" panose="020B0604030504040204" pitchFamily="50" charset="-128"/>
                <a:ea typeface="Meiryo UI" panose="020B0604030504040204" pitchFamily="50" charset="-128"/>
              </a:rPr>
              <a:t>定期実行</a:t>
            </a:r>
            <a:r>
              <a:rPr kumimoji="1" lang="en-US" altLang="ja-JP" sz="1200" dirty="0">
                <a:solidFill>
                  <a:srgbClr val="59574C"/>
                </a:solidFill>
                <a:latin typeface="Meiryo UI" panose="020B0604030504040204" pitchFamily="50" charset="-128"/>
                <a:ea typeface="Meiryo UI" panose="020B0604030504040204" pitchFamily="50" charset="-128"/>
              </a:rPr>
              <a:t>)</a:t>
            </a:r>
            <a:endParaRPr kumimoji="1" lang="ja-JP" altLang="en-US" sz="1200" dirty="0">
              <a:solidFill>
                <a:srgbClr val="59574C"/>
              </a:solidFill>
              <a:latin typeface="Meiryo UI" panose="020B0604030504040204" pitchFamily="50" charset="-128"/>
              <a:ea typeface="Meiryo UI" panose="020B0604030504040204" pitchFamily="50" charset="-128"/>
            </a:endParaRPr>
          </a:p>
        </p:txBody>
      </p:sp>
      <p:sp>
        <p:nvSpPr>
          <p:cNvPr id="59" name="フローチャート: 定義済み処理 58">
            <a:extLst>
              <a:ext uri="{FF2B5EF4-FFF2-40B4-BE49-F238E27FC236}">
                <a16:creationId xmlns:a16="http://schemas.microsoft.com/office/drawing/2014/main" id="{DBB5642C-98F5-FE48-6D88-AC03A8316746}"/>
              </a:ext>
            </a:extLst>
          </p:cNvPr>
          <p:cNvSpPr/>
          <p:nvPr/>
        </p:nvSpPr>
        <p:spPr>
          <a:xfrm>
            <a:off x="12937716" y="2498420"/>
            <a:ext cx="1194231" cy="459856"/>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lang="ja-JP" altLang="en-US" sz="1100" dirty="0">
                <a:solidFill>
                  <a:srgbClr val="59574C"/>
                </a:solidFill>
                <a:latin typeface="Meiryo UI" panose="020B0604030504040204" pitchFamily="50" charset="-128"/>
                <a:ea typeface="Meiryo UI" panose="020B0604030504040204" pitchFamily="50" charset="-128"/>
              </a:rPr>
              <a:t>トリガー</a:t>
            </a:r>
            <a:endParaRPr lang="en-US" altLang="ja-JP" sz="1100" dirty="0">
              <a:solidFill>
                <a:srgbClr val="59574C"/>
              </a:solidFill>
              <a:latin typeface="Meiryo UI" panose="020B0604030504040204" pitchFamily="50" charset="-128"/>
              <a:ea typeface="Meiryo UI" panose="020B0604030504040204" pitchFamily="50" charset="-128"/>
            </a:endParaRPr>
          </a:p>
          <a:p>
            <a:pPr algn="ctr"/>
            <a:r>
              <a:rPr kumimoji="1" lang="en-US" altLang="ja-JP" sz="1100" dirty="0">
                <a:solidFill>
                  <a:srgbClr val="59574C"/>
                </a:solidFill>
                <a:latin typeface="Meiryo UI" panose="020B0604030504040204" pitchFamily="50" charset="-128"/>
                <a:ea typeface="Meiryo UI" panose="020B0604030504040204" pitchFamily="50" charset="-128"/>
              </a:rPr>
              <a:t>(</a:t>
            </a:r>
            <a:r>
              <a:rPr kumimoji="1" lang="ja-JP" altLang="en-US" sz="1100" dirty="0">
                <a:solidFill>
                  <a:srgbClr val="59574C"/>
                </a:solidFill>
                <a:latin typeface="Meiryo UI" panose="020B0604030504040204" pitchFamily="50" charset="-128"/>
                <a:ea typeface="Meiryo UI" panose="020B0604030504040204" pitchFamily="50" charset="-128"/>
              </a:rPr>
              <a:t>トラン分解</a:t>
            </a:r>
            <a:r>
              <a:rPr kumimoji="1"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cxnSp>
        <p:nvCxnSpPr>
          <p:cNvPr id="60" name="直線矢印コネクタ 59">
            <a:extLst>
              <a:ext uri="{FF2B5EF4-FFF2-40B4-BE49-F238E27FC236}">
                <a16:creationId xmlns:a16="http://schemas.microsoft.com/office/drawing/2014/main" id="{DF4D69CE-7CD4-9418-652C-4731A8C48EF1}"/>
              </a:ext>
            </a:extLst>
          </p:cNvPr>
          <p:cNvCxnSpPr>
            <a:cxnSpLocks/>
            <a:stCxn id="57" idx="3"/>
            <a:endCxn id="59" idx="0"/>
          </p:cNvCxnSpPr>
          <p:nvPr/>
        </p:nvCxnSpPr>
        <p:spPr>
          <a:xfrm>
            <a:off x="13531620" y="2235258"/>
            <a:ext cx="3212" cy="263162"/>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9626B8BB-6B91-C8F3-6368-F0E0D507FBE3}"/>
              </a:ext>
            </a:extLst>
          </p:cNvPr>
          <p:cNvCxnSpPr>
            <a:cxnSpLocks/>
            <a:stCxn id="59" idx="3"/>
            <a:endCxn id="62" idx="2"/>
          </p:cNvCxnSpPr>
          <p:nvPr/>
        </p:nvCxnSpPr>
        <p:spPr>
          <a:xfrm>
            <a:off x="14131947" y="2728348"/>
            <a:ext cx="547563" cy="555964"/>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62" name="円柱 61">
            <a:extLst>
              <a:ext uri="{FF2B5EF4-FFF2-40B4-BE49-F238E27FC236}">
                <a16:creationId xmlns:a16="http://schemas.microsoft.com/office/drawing/2014/main" id="{5D7EF65A-9A78-238B-846C-25AE1DA5FEE0}"/>
              </a:ext>
            </a:extLst>
          </p:cNvPr>
          <p:cNvSpPr/>
          <p:nvPr/>
        </p:nvSpPr>
        <p:spPr>
          <a:xfrm>
            <a:off x="14679510" y="2986633"/>
            <a:ext cx="1058290" cy="595357"/>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在庫</a:t>
            </a:r>
          </a:p>
        </p:txBody>
      </p:sp>
      <p:cxnSp>
        <p:nvCxnSpPr>
          <p:cNvPr id="63" name="直線矢印コネクタ 62">
            <a:extLst>
              <a:ext uri="{FF2B5EF4-FFF2-40B4-BE49-F238E27FC236}">
                <a16:creationId xmlns:a16="http://schemas.microsoft.com/office/drawing/2014/main" id="{A0F4C58D-BA50-ED50-0E23-B0B2235250CB}"/>
              </a:ext>
            </a:extLst>
          </p:cNvPr>
          <p:cNvCxnSpPr>
            <a:cxnSpLocks/>
            <a:stCxn id="59" idx="3"/>
            <a:endCxn id="130" idx="2"/>
          </p:cNvCxnSpPr>
          <p:nvPr/>
        </p:nvCxnSpPr>
        <p:spPr>
          <a:xfrm flipV="1">
            <a:off x="14131947" y="2686542"/>
            <a:ext cx="554100" cy="41806"/>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28" name="フローチャート: 定義済み処理 127">
            <a:extLst>
              <a:ext uri="{FF2B5EF4-FFF2-40B4-BE49-F238E27FC236}">
                <a16:creationId xmlns:a16="http://schemas.microsoft.com/office/drawing/2014/main" id="{102F77B0-2310-851D-CA11-E11BA8114AD0}"/>
              </a:ext>
            </a:extLst>
          </p:cNvPr>
          <p:cNvSpPr/>
          <p:nvPr/>
        </p:nvSpPr>
        <p:spPr>
          <a:xfrm>
            <a:off x="12934504" y="3041164"/>
            <a:ext cx="1194231" cy="515792"/>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在庫送信</a:t>
            </a:r>
          </a:p>
        </p:txBody>
      </p:sp>
      <p:sp>
        <p:nvSpPr>
          <p:cNvPr id="129" name="矢印: 下カーブ 128">
            <a:extLst>
              <a:ext uri="{FF2B5EF4-FFF2-40B4-BE49-F238E27FC236}">
                <a16:creationId xmlns:a16="http://schemas.microsoft.com/office/drawing/2014/main" id="{5E7CE8CD-7072-BA03-0170-8A53887445E6}"/>
              </a:ext>
            </a:extLst>
          </p:cNvPr>
          <p:cNvSpPr/>
          <p:nvPr/>
        </p:nvSpPr>
        <p:spPr>
          <a:xfrm rot="5400000">
            <a:off x="14223534" y="3061502"/>
            <a:ext cx="374226" cy="733833"/>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sp>
        <p:nvSpPr>
          <p:cNvPr id="130" name="円柱 129">
            <a:extLst>
              <a:ext uri="{FF2B5EF4-FFF2-40B4-BE49-F238E27FC236}">
                <a16:creationId xmlns:a16="http://schemas.microsoft.com/office/drawing/2014/main" id="{72440EB6-D899-6580-A617-C62CC92E977B}"/>
              </a:ext>
            </a:extLst>
          </p:cNvPr>
          <p:cNvSpPr/>
          <p:nvPr/>
        </p:nvSpPr>
        <p:spPr>
          <a:xfrm>
            <a:off x="14686047" y="2388863"/>
            <a:ext cx="1058290" cy="595357"/>
          </a:xfrm>
          <a:prstGeom prst="can">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各種実績</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lang="en-US" altLang="ja-JP" sz="1100">
                <a:solidFill>
                  <a:srgbClr val="59574C"/>
                </a:solidFill>
                <a:latin typeface="Meiryo UI" panose="020B0604030504040204" pitchFamily="50" charset="-128"/>
                <a:ea typeface="Meiryo UI" panose="020B0604030504040204" pitchFamily="50" charset="-128"/>
              </a:rPr>
              <a:t>(</a:t>
            </a:r>
            <a:r>
              <a:rPr lang="ja-JP" altLang="en-US" sz="1100">
                <a:solidFill>
                  <a:srgbClr val="59574C"/>
                </a:solidFill>
                <a:latin typeface="Meiryo UI" panose="020B0604030504040204" pitchFamily="50" charset="-128"/>
                <a:ea typeface="Meiryo UI" panose="020B0604030504040204" pitchFamily="50" charset="-128"/>
              </a:rPr>
              <a:t>現行レイアウト</a:t>
            </a:r>
            <a:r>
              <a:rPr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cxnSp>
        <p:nvCxnSpPr>
          <p:cNvPr id="131" name="直線矢印コネクタ 130">
            <a:extLst>
              <a:ext uri="{FF2B5EF4-FFF2-40B4-BE49-F238E27FC236}">
                <a16:creationId xmlns:a16="http://schemas.microsoft.com/office/drawing/2014/main" id="{E4601AE9-95EA-F278-EF4C-670ECE7D5D88}"/>
              </a:ext>
            </a:extLst>
          </p:cNvPr>
          <p:cNvCxnSpPr>
            <a:cxnSpLocks/>
            <a:stCxn id="56" idx="1"/>
            <a:endCxn id="57" idx="4"/>
          </p:cNvCxnSpPr>
          <p:nvPr/>
        </p:nvCxnSpPr>
        <p:spPr>
          <a:xfrm flipH="1">
            <a:off x="14060765" y="1884249"/>
            <a:ext cx="2630591" cy="68"/>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32" name="フローチャート: 定義済み処理 131">
            <a:extLst>
              <a:ext uri="{FF2B5EF4-FFF2-40B4-BE49-F238E27FC236}">
                <a16:creationId xmlns:a16="http://schemas.microsoft.com/office/drawing/2014/main" id="{87B8955D-61AF-BA78-CD92-F00F0E2388E0}"/>
              </a:ext>
            </a:extLst>
          </p:cNvPr>
          <p:cNvSpPr/>
          <p:nvPr/>
        </p:nvSpPr>
        <p:spPr>
          <a:xfrm>
            <a:off x="11279100" y="2953414"/>
            <a:ext cx="1194231" cy="572874"/>
          </a:xfrm>
          <a:prstGeom prst="flowChartPredefinedProcess">
            <a:avLst/>
          </a:prstGeom>
          <a:solidFill>
            <a:schemeClr val="accent1">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lang="ja-JP" altLang="en-US" sz="1200" dirty="0">
                <a:solidFill>
                  <a:srgbClr val="59574C"/>
                </a:solidFill>
                <a:latin typeface="Meiryo UI" panose="020B0604030504040204" pitchFamily="50" charset="-128"/>
                <a:ea typeface="Meiryo UI" panose="020B0604030504040204" pitchFamily="50" charset="-128"/>
              </a:rPr>
              <a:t>トラン送信</a:t>
            </a:r>
            <a:endParaRPr lang="en-US" altLang="ja-JP" sz="1200" dirty="0">
              <a:solidFill>
                <a:srgbClr val="59574C"/>
              </a:solidFill>
              <a:latin typeface="Meiryo UI" panose="020B0604030504040204" pitchFamily="50" charset="-128"/>
              <a:ea typeface="Meiryo UI" panose="020B0604030504040204" pitchFamily="50" charset="-128"/>
            </a:endParaRPr>
          </a:p>
          <a:p>
            <a:pPr algn="ctr"/>
            <a:r>
              <a:rPr kumimoji="1" lang="en-US" altLang="ja-JP" sz="1200" dirty="0">
                <a:solidFill>
                  <a:srgbClr val="59574C"/>
                </a:solidFill>
                <a:latin typeface="Meiryo UI" panose="020B0604030504040204" pitchFamily="50" charset="-128"/>
                <a:ea typeface="Meiryo UI" panose="020B0604030504040204" pitchFamily="50" charset="-128"/>
              </a:rPr>
              <a:t>(</a:t>
            </a:r>
            <a:r>
              <a:rPr kumimoji="1" lang="ja-JP" altLang="en-US" sz="1200" dirty="0">
                <a:solidFill>
                  <a:srgbClr val="59574C"/>
                </a:solidFill>
                <a:latin typeface="Meiryo UI" panose="020B0604030504040204" pitchFamily="50" charset="-128"/>
                <a:ea typeface="Meiryo UI" panose="020B0604030504040204" pitchFamily="50" charset="-128"/>
              </a:rPr>
              <a:t>定期実行</a:t>
            </a:r>
            <a:r>
              <a:rPr kumimoji="1" lang="en-US" altLang="ja-JP" sz="1200" dirty="0">
                <a:solidFill>
                  <a:srgbClr val="59574C"/>
                </a:solidFill>
                <a:latin typeface="Meiryo UI" panose="020B0604030504040204" pitchFamily="50" charset="-128"/>
                <a:ea typeface="Meiryo UI" panose="020B0604030504040204" pitchFamily="50" charset="-128"/>
              </a:rPr>
              <a:t>)</a:t>
            </a:r>
            <a:endParaRPr kumimoji="1" lang="ja-JP" altLang="en-US" sz="1200" dirty="0">
              <a:solidFill>
                <a:srgbClr val="59574C"/>
              </a:solidFill>
              <a:latin typeface="Meiryo UI" panose="020B0604030504040204" pitchFamily="50" charset="-128"/>
              <a:ea typeface="Meiryo UI" panose="020B0604030504040204" pitchFamily="50" charset="-128"/>
            </a:endParaRPr>
          </a:p>
        </p:txBody>
      </p:sp>
      <p:sp>
        <p:nvSpPr>
          <p:cNvPr id="133" name="矢印: 下カーブ 132">
            <a:extLst>
              <a:ext uri="{FF2B5EF4-FFF2-40B4-BE49-F238E27FC236}">
                <a16:creationId xmlns:a16="http://schemas.microsoft.com/office/drawing/2014/main" id="{43BD1A86-2ED0-F974-0CD3-01F97EA272EE}"/>
              </a:ext>
            </a:extLst>
          </p:cNvPr>
          <p:cNvSpPr/>
          <p:nvPr/>
        </p:nvSpPr>
        <p:spPr>
          <a:xfrm rot="2381078">
            <a:off x="12582438" y="1961061"/>
            <a:ext cx="374226" cy="1225800"/>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sp>
        <p:nvSpPr>
          <p:cNvPr id="134" name="テキスト ボックス 133">
            <a:extLst>
              <a:ext uri="{FF2B5EF4-FFF2-40B4-BE49-F238E27FC236}">
                <a16:creationId xmlns:a16="http://schemas.microsoft.com/office/drawing/2014/main" id="{4A24C422-6A83-EAA8-57FB-F1D89945A6C4}"/>
              </a:ext>
            </a:extLst>
          </p:cNvPr>
          <p:cNvSpPr txBox="1"/>
          <p:nvPr/>
        </p:nvSpPr>
        <p:spPr>
          <a:xfrm>
            <a:off x="5795158" y="1941178"/>
            <a:ext cx="5065947" cy="15799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④現行レイアウトの実績データを次世代用の</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　実績テーブルに登録する。</a:t>
            </a:r>
            <a:endParaRPr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135" name="テキスト ボックス 134">
            <a:extLst>
              <a:ext uri="{FF2B5EF4-FFF2-40B4-BE49-F238E27FC236}">
                <a16:creationId xmlns:a16="http://schemas.microsoft.com/office/drawing/2014/main" id="{64F01DCB-989E-2698-1198-E0B2FF821AC0}"/>
              </a:ext>
            </a:extLst>
          </p:cNvPr>
          <p:cNvSpPr txBox="1"/>
          <p:nvPr/>
        </p:nvSpPr>
        <p:spPr>
          <a:xfrm>
            <a:off x="459767" y="1941178"/>
            <a:ext cx="5240389" cy="15799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①現行</a:t>
            </a:r>
            <a:r>
              <a:rPr lang="en-US" altLang="ja-JP" sz="1600" dirty="0">
                <a:solidFill>
                  <a:schemeClr val="tx1"/>
                </a:solidFill>
                <a:latin typeface="メイリオ" panose="020B0604030504040204" pitchFamily="50" charset="-128"/>
                <a:ea typeface="メイリオ" panose="020B0604030504040204" pitchFamily="50" charset="-128"/>
              </a:rPr>
              <a:t>POS</a:t>
            </a:r>
            <a:r>
              <a:rPr lang="ja-JP" altLang="en-US" sz="1600" dirty="0">
                <a:solidFill>
                  <a:schemeClr val="tx1"/>
                </a:solidFill>
                <a:latin typeface="メイリオ" panose="020B0604030504040204" pitchFamily="50" charset="-128"/>
                <a:ea typeface="メイリオ" panose="020B0604030504040204" pitchFamily="50" charset="-128"/>
              </a:rPr>
              <a:t>の入力情報を店舗</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へ送信（現状と同じ）</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②店舗</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からトラン</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へトランを送信（現状と同じ）</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③トラン</a:t>
            </a:r>
            <a:r>
              <a:rPr lang="en-US" altLang="ja-JP" sz="1600" dirty="0">
                <a:solidFill>
                  <a:schemeClr val="tx1"/>
                </a:solidFill>
                <a:latin typeface="メイリオ" panose="020B0604030504040204" pitchFamily="50" charset="-128"/>
                <a:ea typeface="メイリオ" panose="020B0604030504040204" pitchFamily="50" charset="-128"/>
              </a:rPr>
              <a:t>SV</a:t>
            </a:r>
            <a:r>
              <a:rPr lang="ja-JP" altLang="en-US" sz="1600" dirty="0">
                <a:solidFill>
                  <a:schemeClr val="tx1"/>
                </a:solidFill>
                <a:latin typeface="メイリオ" panose="020B0604030504040204" pitchFamily="50" charset="-128"/>
                <a:ea typeface="メイリオ" panose="020B0604030504040204" pitchFamily="50" charset="-128"/>
              </a:rPr>
              <a:t>から現行レイアウトの実績データを</a:t>
            </a:r>
            <a:endParaRPr lang="en-US" altLang="ja-JP" sz="1600" dirty="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1600" dirty="0">
                <a:solidFill>
                  <a:schemeClr val="tx1"/>
                </a:solidFill>
                <a:latin typeface="メイリオ" panose="020B0604030504040204" pitchFamily="50" charset="-128"/>
                <a:ea typeface="メイリオ" panose="020B0604030504040204" pitchFamily="50" charset="-128"/>
              </a:rPr>
              <a:t>　次世代用</a:t>
            </a:r>
            <a:r>
              <a:rPr lang="en-US" altLang="ja-JP" sz="1600" dirty="0">
                <a:solidFill>
                  <a:schemeClr val="tx1"/>
                </a:solidFill>
                <a:latin typeface="メイリオ" panose="020B0604030504040204" pitchFamily="50" charset="-128"/>
                <a:ea typeface="メイリオ" panose="020B0604030504040204" pitchFamily="50" charset="-128"/>
              </a:rPr>
              <a:t>DB</a:t>
            </a:r>
            <a:r>
              <a:rPr lang="ja-JP" altLang="en-US" sz="1600" dirty="0">
                <a:solidFill>
                  <a:schemeClr val="tx1"/>
                </a:solidFill>
                <a:latin typeface="メイリオ" panose="020B0604030504040204" pitchFamily="50" charset="-128"/>
                <a:ea typeface="メイリオ" panose="020B0604030504040204" pitchFamily="50" charset="-128"/>
              </a:rPr>
              <a:t>に登録する。</a:t>
            </a:r>
            <a:endParaRPr lang="en-US" altLang="ja-JP" sz="1600" dirty="0">
              <a:solidFill>
                <a:schemeClr val="tx1"/>
              </a:solidFill>
              <a:latin typeface="メイリオ" panose="020B0604030504040204" pitchFamily="50" charset="-128"/>
              <a:ea typeface="メイリオ" panose="020B0604030504040204" pitchFamily="50" charset="-128"/>
            </a:endParaRPr>
          </a:p>
        </p:txBody>
      </p:sp>
      <p:cxnSp>
        <p:nvCxnSpPr>
          <p:cNvPr id="136" name="コネクタ: カギ線 135">
            <a:extLst>
              <a:ext uri="{FF2B5EF4-FFF2-40B4-BE49-F238E27FC236}">
                <a16:creationId xmlns:a16="http://schemas.microsoft.com/office/drawing/2014/main" id="{E7127EEB-E702-FBBB-BB94-723137E38ADB}"/>
              </a:ext>
            </a:extLst>
          </p:cNvPr>
          <p:cNvCxnSpPr>
            <a:cxnSpLocks/>
            <a:stCxn id="132" idx="1"/>
            <a:endCxn id="10" idx="1"/>
          </p:cNvCxnSpPr>
          <p:nvPr/>
        </p:nvCxnSpPr>
        <p:spPr>
          <a:xfrm rot="10800000" flipH="1" flipV="1">
            <a:off x="11279100" y="3239850"/>
            <a:ext cx="557850" cy="2346817"/>
          </a:xfrm>
          <a:prstGeom prst="bentConnector4">
            <a:avLst>
              <a:gd name="adj1" fmla="val -77918"/>
              <a:gd name="adj2" fmla="val 92323"/>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A286AACF-E938-670E-C5F1-927959AF5E0D}"/>
              </a:ext>
            </a:extLst>
          </p:cNvPr>
          <p:cNvCxnSpPr>
            <a:cxnSpLocks/>
            <a:stCxn id="51" idx="0"/>
            <a:endCxn id="139" idx="3"/>
          </p:cNvCxnSpPr>
          <p:nvPr/>
        </p:nvCxnSpPr>
        <p:spPr>
          <a:xfrm flipH="1" flipV="1">
            <a:off x="9563324" y="8130428"/>
            <a:ext cx="4504" cy="1130187"/>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38" name="楕円 137">
            <a:extLst>
              <a:ext uri="{FF2B5EF4-FFF2-40B4-BE49-F238E27FC236}">
                <a16:creationId xmlns:a16="http://schemas.microsoft.com/office/drawing/2014/main" id="{6F5EA8FC-DBC8-1856-EDCF-D690458C0488}"/>
              </a:ext>
            </a:extLst>
          </p:cNvPr>
          <p:cNvSpPr/>
          <p:nvPr/>
        </p:nvSpPr>
        <p:spPr>
          <a:xfrm>
            <a:off x="9631083" y="8479094"/>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3</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sp>
        <p:nvSpPr>
          <p:cNvPr id="139" name="円柱 138">
            <a:extLst>
              <a:ext uri="{FF2B5EF4-FFF2-40B4-BE49-F238E27FC236}">
                <a16:creationId xmlns:a16="http://schemas.microsoft.com/office/drawing/2014/main" id="{217FB01A-83CD-E3F9-9478-B32C7DD45AAE}"/>
              </a:ext>
            </a:extLst>
          </p:cNvPr>
          <p:cNvSpPr/>
          <p:nvPr/>
        </p:nvSpPr>
        <p:spPr>
          <a:xfrm>
            <a:off x="9034179" y="7428546"/>
            <a:ext cx="1058290"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100" dirty="0">
                <a:solidFill>
                  <a:srgbClr val="59574C"/>
                </a:solidFill>
                <a:latin typeface="Meiryo UI" panose="020B0604030504040204" pitchFamily="50" charset="-128"/>
                <a:ea typeface="Meiryo UI" panose="020B0604030504040204" pitchFamily="50" charset="-128"/>
              </a:rPr>
              <a:t>各種実績</a:t>
            </a:r>
            <a:endParaRPr kumimoji="1" lang="en-US" altLang="ja-JP" sz="1100" dirty="0">
              <a:solidFill>
                <a:srgbClr val="59574C"/>
              </a:solidFill>
              <a:latin typeface="Meiryo UI" panose="020B0604030504040204" pitchFamily="50" charset="-128"/>
              <a:ea typeface="Meiryo UI" panose="020B0604030504040204" pitchFamily="50" charset="-128"/>
            </a:endParaRPr>
          </a:p>
          <a:p>
            <a:pPr algn="ctr"/>
            <a:r>
              <a:rPr kumimoji="1" lang="en-US" altLang="ja-JP" sz="1100" dirty="0">
                <a:solidFill>
                  <a:srgbClr val="59574C"/>
                </a:solidFill>
                <a:latin typeface="Meiryo UI" panose="020B0604030504040204" pitchFamily="50" charset="-128"/>
                <a:ea typeface="Meiryo UI" panose="020B0604030504040204" pitchFamily="50" charset="-128"/>
              </a:rPr>
              <a:t>(</a:t>
            </a:r>
            <a:r>
              <a:rPr kumimoji="1" lang="ja-JP" altLang="en-US" sz="1100" dirty="0">
                <a:solidFill>
                  <a:srgbClr val="59574C"/>
                </a:solidFill>
                <a:latin typeface="Meiryo UI" panose="020B0604030504040204" pitchFamily="50" charset="-128"/>
                <a:ea typeface="Meiryo UI" panose="020B0604030504040204" pitchFamily="50" charset="-128"/>
              </a:rPr>
              <a:t>現行レイアウト</a:t>
            </a:r>
            <a:r>
              <a:rPr kumimoji="1" lang="en-US" altLang="ja-JP" sz="1100" dirty="0">
                <a:solidFill>
                  <a:srgbClr val="59574C"/>
                </a:solidFill>
                <a:latin typeface="Meiryo UI" panose="020B0604030504040204" pitchFamily="50" charset="-128"/>
                <a:ea typeface="Meiryo UI" panose="020B0604030504040204" pitchFamily="50" charset="-128"/>
              </a:rPr>
              <a:t>)</a:t>
            </a:r>
            <a:endParaRPr kumimoji="1" lang="ja-JP" altLang="en-US" sz="1100" dirty="0">
              <a:solidFill>
                <a:srgbClr val="59574C"/>
              </a:solidFill>
              <a:latin typeface="Meiryo UI" panose="020B0604030504040204" pitchFamily="50" charset="-128"/>
              <a:ea typeface="Meiryo UI" panose="020B0604030504040204" pitchFamily="50" charset="-128"/>
            </a:endParaRPr>
          </a:p>
        </p:txBody>
      </p:sp>
      <p:sp>
        <p:nvSpPr>
          <p:cNvPr id="140" name="フローチャート: 定義済み処理 139">
            <a:extLst>
              <a:ext uri="{FF2B5EF4-FFF2-40B4-BE49-F238E27FC236}">
                <a16:creationId xmlns:a16="http://schemas.microsoft.com/office/drawing/2014/main" id="{BA88DDC2-14CE-48BA-3E9C-9946C5C85BB6}"/>
              </a:ext>
            </a:extLst>
          </p:cNvPr>
          <p:cNvSpPr/>
          <p:nvPr/>
        </p:nvSpPr>
        <p:spPr>
          <a:xfrm>
            <a:off x="7542250" y="7495038"/>
            <a:ext cx="1194231" cy="572874"/>
          </a:xfrm>
          <a:prstGeom prst="flowChartPredefinedProcess">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lstStyle/>
          <a:p>
            <a:pPr algn="ctr"/>
            <a:r>
              <a:rPr lang="ja-JP" altLang="en-US" sz="1200" dirty="0">
                <a:solidFill>
                  <a:srgbClr val="59574C"/>
                </a:solidFill>
                <a:latin typeface="Meiryo UI" panose="020B0604030504040204" pitchFamily="50" charset="-128"/>
                <a:ea typeface="Meiryo UI" panose="020B0604030504040204" pitchFamily="50" charset="-128"/>
              </a:rPr>
              <a:t>次世代用</a:t>
            </a:r>
            <a:endParaRPr lang="en-US" altLang="ja-JP" sz="1200" dirty="0">
              <a:solidFill>
                <a:srgbClr val="59574C"/>
              </a:solidFill>
              <a:latin typeface="Meiryo UI" panose="020B0604030504040204" pitchFamily="50" charset="-128"/>
              <a:ea typeface="Meiryo UI" panose="020B0604030504040204" pitchFamily="50" charset="-128"/>
            </a:endParaRPr>
          </a:p>
          <a:p>
            <a:pPr algn="ctr"/>
            <a:r>
              <a:rPr lang="ja-JP" altLang="en-US" sz="1200" dirty="0">
                <a:solidFill>
                  <a:srgbClr val="59574C"/>
                </a:solidFill>
                <a:latin typeface="Meiryo UI" panose="020B0604030504040204" pitchFamily="50" charset="-128"/>
                <a:ea typeface="Meiryo UI" panose="020B0604030504040204" pitchFamily="50" charset="-128"/>
              </a:rPr>
              <a:t>実績データ登録</a:t>
            </a:r>
            <a:endParaRPr kumimoji="1" lang="ja-JP" altLang="en-US" sz="1200" dirty="0">
              <a:solidFill>
                <a:srgbClr val="59574C"/>
              </a:solidFill>
              <a:latin typeface="Meiryo UI" panose="020B0604030504040204" pitchFamily="50" charset="-128"/>
              <a:ea typeface="Meiryo UI" panose="020B0604030504040204" pitchFamily="50" charset="-128"/>
            </a:endParaRPr>
          </a:p>
        </p:txBody>
      </p:sp>
      <p:cxnSp>
        <p:nvCxnSpPr>
          <p:cNvPr id="141" name="直線矢印コネクタ 140">
            <a:extLst>
              <a:ext uri="{FF2B5EF4-FFF2-40B4-BE49-F238E27FC236}">
                <a16:creationId xmlns:a16="http://schemas.microsoft.com/office/drawing/2014/main" id="{5C8ED8E5-298D-EB5C-2CF3-4E7CCBEE21AB}"/>
              </a:ext>
            </a:extLst>
          </p:cNvPr>
          <p:cNvCxnSpPr>
            <a:cxnSpLocks/>
            <a:stCxn id="140" idx="1"/>
            <a:endCxn id="33" idx="4"/>
          </p:cNvCxnSpPr>
          <p:nvPr/>
        </p:nvCxnSpPr>
        <p:spPr>
          <a:xfrm flipH="1" flipV="1">
            <a:off x="7222269" y="7779487"/>
            <a:ext cx="319981" cy="1988"/>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42" name="矢印: 下カーブ 141">
            <a:extLst>
              <a:ext uri="{FF2B5EF4-FFF2-40B4-BE49-F238E27FC236}">
                <a16:creationId xmlns:a16="http://schemas.microsoft.com/office/drawing/2014/main" id="{634E2C76-848F-0216-6EF1-6E9E6896FC4E}"/>
              </a:ext>
            </a:extLst>
          </p:cNvPr>
          <p:cNvSpPr/>
          <p:nvPr/>
        </p:nvSpPr>
        <p:spPr>
          <a:xfrm rot="5400000">
            <a:off x="8705903" y="7547216"/>
            <a:ext cx="374226" cy="501968"/>
          </a:xfrm>
          <a:prstGeom prst="curvedDownArrow">
            <a:avLst/>
          </a:prstGeom>
          <a:solidFill>
            <a:schemeClr val="accent4">
              <a:lumMod val="20000"/>
              <a:lumOff val="8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endParaRPr>
          </a:p>
        </p:txBody>
      </p:sp>
      <p:sp>
        <p:nvSpPr>
          <p:cNvPr id="143" name="円柱 142">
            <a:extLst>
              <a:ext uri="{FF2B5EF4-FFF2-40B4-BE49-F238E27FC236}">
                <a16:creationId xmlns:a16="http://schemas.microsoft.com/office/drawing/2014/main" id="{D8098FEF-6E88-5B61-1CCF-7D5A688085F5}"/>
              </a:ext>
            </a:extLst>
          </p:cNvPr>
          <p:cNvSpPr/>
          <p:nvPr/>
        </p:nvSpPr>
        <p:spPr>
          <a:xfrm>
            <a:off x="9025667" y="4687200"/>
            <a:ext cx="1058290" cy="701882"/>
          </a:xfrm>
          <a:prstGeom prst="can">
            <a:avLst/>
          </a:prstGeom>
          <a:solidFill>
            <a:schemeClr val="accent6">
              <a:lumMod val="10000"/>
              <a:lumOff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マスター</a:t>
            </a:r>
          </a:p>
        </p:txBody>
      </p:sp>
      <p:sp>
        <p:nvSpPr>
          <p:cNvPr id="144" name="正方形/長方形 143">
            <a:extLst>
              <a:ext uri="{FF2B5EF4-FFF2-40B4-BE49-F238E27FC236}">
                <a16:creationId xmlns:a16="http://schemas.microsoft.com/office/drawing/2014/main" id="{76289858-A729-FECA-9992-621644A9E289}"/>
              </a:ext>
            </a:extLst>
          </p:cNvPr>
          <p:cNvSpPr/>
          <p:nvPr/>
        </p:nvSpPr>
        <p:spPr>
          <a:xfrm>
            <a:off x="432784" y="4588631"/>
            <a:ext cx="1274490" cy="874323"/>
          </a:xfrm>
          <a:prstGeom prst="rect">
            <a:avLst/>
          </a:prstGeom>
          <a:solidFill>
            <a:schemeClr val="accent2">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タブレット</a:t>
            </a:r>
            <a:r>
              <a:rPr kumimoji="1" lang="en-US" altLang="ja-JP" sz="1400" dirty="0">
                <a:solidFill>
                  <a:srgbClr val="59574C"/>
                </a:solidFill>
                <a:latin typeface="Meiryo UI" panose="020B0604030504040204" pitchFamily="50" charset="-128"/>
                <a:ea typeface="Meiryo UI" panose="020B0604030504040204" pitchFamily="50" charset="-128"/>
              </a:rPr>
              <a:t>POS</a:t>
            </a:r>
          </a:p>
          <a:p>
            <a:pPr algn="ctr"/>
            <a:r>
              <a:rPr lang="en-US" altLang="ja-JP" sz="1400" dirty="0">
                <a:solidFill>
                  <a:srgbClr val="59574C"/>
                </a:solidFill>
                <a:latin typeface="Meiryo UI" panose="020B0604030504040204" pitchFamily="50" charset="-128"/>
                <a:ea typeface="Meiryo UI" panose="020B0604030504040204" pitchFamily="50" charset="-128"/>
              </a:rPr>
              <a:t>(iPad</a:t>
            </a:r>
            <a:r>
              <a:rPr lang="ja-JP" altLang="en-US" sz="1400" dirty="0">
                <a:solidFill>
                  <a:srgbClr val="59574C"/>
                </a:solidFill>
                <a:latin typeface="Meiryo UI" panose="020B0604030504040204" pitchFamily="50" charset="-128"/>
                <a:ea typeface="Meiryo UI" panose="020B0604030504040204" pitchFamily="50" charset="-128"/>
              </a:rPr>
              <a:t> </a:t>
            </a:r>
            <a:r>
              <a:rPr lang="en-US" altLang="ja-JP" sz="1400" dirty="0">
                <a:solidFill>
                  <a:srgbClr val="59574C"/>
                </a:solidFill>
                <a:latin typeface="Meiryo UI" panose="020B0604030504040204" pitchFamily="50" charset="-128"/>
                <a:ea typeface="Meiryo UI" panose="020B0604030504040204" pitchFamily="50" charset="-128"/>
              </a:rPr>
              <a:t>mini)</a:t>
            </a:r>
          </a:p>
        </p:txBody>
      </p:sp>
      <p:cxnSp>
        <p:nvCxnSpPr>
          <p:cNvPr id="145" name="直線矢印コネクタ 144">
            <a:extLst>
              <a:ext uri="{FF2B5EF4-FFF2-40B4-BE49-F238E27FC236}">
                <a16:creationId xmlns:a16="http://schemas.microsoft.com/office/drawing/2014/main" id="{FDABFEE6-59EF-45F1-FEAD-87F9C7401FF1}"/>
              </a:ext>
            </a:extLst>
          </p:cNvPr>
          <p:cNvCxnSpPr>
            <a:cxnSpLocks/>
            <a:stCxn id="144" idx="3"/>
            <a:endCxn id="8" idx="1"/>
          </p:cNvCxnSpPr>
          <p:nvPr/>
        </p:nvCxnSpPr>
        <p:spPr>
          <a:xfrm flipV="1">
            <a:off x="1707274" y="5023645"/>
            <a:ext cx="701587" cy="2148"/>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46" name="正方形/長方形 145">
            <a:extLst>
              <a:ext uri="{FF2B5EF4-FFF2-40B4-BE49-F238E27FC236}">
                <a16:creationId xmlns:a16="http://schemas.microsoft.com/office/drawing/2014/main" id="{D52360FF-733A-1694-6136-77D739FB4DCA}"/>
              </a:ext>
            </a:extLst>
          </p:cNvPr>
          <p:cNvSpPr/>
          <p:nvPr/>
        </p:nvSpPr>
        <p:spPr>
          <a:xfrm>
            <a:off x="432784" y="5694213"/>
            <a:ext cx="1274490" cy="874323"/>
          </a:xfrm>
          <a:prstGeom prst="rect">
            <a:avLst/>
          </a:prstGeom>
          <a:solidFill>
            <a:schemeClr val="accent2">
              <a:lumMod val="20000"/>
              <a:lumOff val="80000"/>
            </a:schemeClr>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400" dirty="0">
                <a:solidFill>
                  <a:srgbClr val="59574C"/>
                </a:solidFill>
                <a:latin typeface="Meiryo UI" panose="020B0604030504040204" pitchFamily="50" charset="-128"/>
                <a:ea typeface="Meiryo UI" panose="020B0604030504040204" pitchFamily="50" charset="-128"/>
              </a:rPr>
              <a:t>据置</a:t>
            </a:r>
            <a:r>
              <a:rPr kumimoji="1" lang="en-US" altLang="ja-JP" sz="1400" dirty="0">
                <a:solidFill>
                  <a:srgbClr val="59574C"/>
                </a:solidFill>
                <a:latin typeface="Meiryo UI" panose="020B0604030504040204" pitchFamily="50" charset="-128"/>
                <a:ea typeface="Meiryo UI" panose="020B0604030504040204" pitchFamily="50" charset="-128"/>
              </a:rPr>
              <a:t>POS</a:t>
            </a:r>
          </a:p>
        </p:txBody>
      </p:sp>
      <p:cxnSp>
        <p:nvCxnSpPr>
          <p:cNvPr id="147" name="直線矢印コネクタ 146">
            <a:extLst>
              <a:ext uri="{FF2B5EF4-FFF2-40B4-BE49-F238E27FC236}">
                <a16:creationId xmlns:a16="http://schemas.microsoft.com/office/drawing/2014/main" id="{06141848-7CA1-BEF8-1930-5F6F684E1733}"/>
              </a:ext>
            </a:extLst>
          </p:cNvPr>
          <p:cNvCxnSpPr>
            <a:cxnSpLocks/>
            <a:stCxn id="146" idx="3"/>
            <a:endCxn id="8" idx="1"/>
          </p:cNvCxnSpPr>
          <p:nvPr/>
        </p:nvCxnSpPr>
        <p:spPr>
          <a:xfrm flipV="1">
            <a:off x="1707274" y="5023645"/>
            <a:ext cx="701587" cy="1107730"/>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8" name="直線矢印コネクタ 147">
            <a:extLst>
              <a:ext uri="{FF2B5EF4-FFF2-40B4-BE49-F238E27FC236}">
                <a16:creationId xmlns:a16="http://schemas.microsoft.com/office/drawing/2014/main" id="{807E234E-51B2-48EF-E648-7E3C58987245}"/>
              </a:ext>
            </a:extLst>
          </p:cNvPr>
          <p:cNvCxnSpPr>
            <a:cxnSpLocks/>
            <a:stCxn id="149" idx="3"/>
            <a:endCxn id="33" idx="2"/>
          </p:cNvCxnSpPr>
          <p:nvPr/>
        </p:nvCxnSpPr>
        <p:spPr>
          <a:xfrm>
            <a:off x="3735163" y="6128865"/>
            <a:ext cx="2428816" cy="1650622"/>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sp>
        <p:nvSpPr>
          <p:cNvPr id="149" name="正方形/長方形 148">
            <a:extLst>
              <a:ext uri="{FF2B5EF4-FFF2-40B4-BE49-F238E27FC236}">
                <a16:creationId xmlns:a16="http://schemas.microsoft.com/office/drawing/2014/main" id="{5504AAA1-20C7-687A-1415-F801DFB8B460}"/>
              </a:ext>
            </a:extLst>
          </p:cNvPr>
          <p:cNvSpPr/>
          <p:nvPr/>
        </p:nvSpPr>
        <p:spPr>
          <a:xfrm>
            <a:off x="2408861" y="5833190"/>
            <a:ext cx="1326302" cy="591349"/>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rgbClr val="59574C"/>
                </a:solidFill>
                <a:latin typeface="Meiryo UI" panose="020B0604030504040204" pitchFamily="50" charset="-128"/>
                <a:ea typeface="Meiryo UI" panose="020B0604030504040204" pitchFamily="50" charset="-128"/>
              </a:rPr>
              <a:t>データ参照</a:t>
            </a:r>
            <a:endParaRPr kumimoji="1" lang="en-US" altLang="ja-JP" sz="1400" dirty="0">
              <a:solidFill>
                <a:srgbClr val="59574C"/>
              </a:solidFill>
              <a:latin typeface="Meiryo UI" panose="020B0604030504040204" pitchFamily="50" charset="-128"/>
              <a:ea typeface="Meiryo UI" panose="020B0604030504040204" pitchFamily="50" charset="-128"/>
            </a:endParaRPr>
          </a:p>
          <a:p>
            <a:pPr algn="ctr"/>
            <a:r>
              <a:rPr kumimoji="1" lang="en-US" altLang="ja-JP" sz="1400" dirty="0">
                <a:solidFill>
                  <a:srgbClr val="59574C"/>
                </a:solidFill>
                <a:latin typeface="Meiryo UI" panose="020B0604030504040204" pitchFamily="50" charset="-128"/>
                <a:ea typeface="Meiryo UI" panose="020B0604030504040204" pitchFamily="50" charset="-128"/>
              </a:rPr>
              <a:t>API</a:t>
            </a:r>
          </a:p>
        </p:txBody>
      </p:sp>
      <p:cxnSp>
        <p:nvCxnSpPr>
          <p:cNvPr id="150" name="直線矢印コネクタ 149">
            <a:extLst>
              <a:ext uri="{FF2B5EF4-FFF2-40B4-BE49-F238E27FC236}">
                <a16:creationId xmlns:a16="http://schemas.microsoft.com/office/drawing/2014/main" id="{D33D66D8-E77F-BC84-0C7A-6D6BED5F4492}"/>
              </a:ext>
            </a:extLst>
          </p:cNvPr>
          <p:cNvCxnSpPr>
            <a:cxnSpLocks/>
            <a:stCxn id="144" idx="3"/>
            <a:endCxn id="149" idx="1"/>
          </p:cNvCxnSpPr>
          <p:nvPr/>
        </p:nvCxnSpPr>
        <p:spPr>
          <a:xfrm>
            <a:off x="1707274" y="5025793"/>
            <a:ext cx="701587" cy="1103072"/>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1" name="直線矢印コネクタ 150">
            <a:extLst>
              <a:ext uri="{FF2B5EF4-FFF2-40B4-BE49-F238E27FC236}">
                <a16:creationId xmlns:a16="http://schemas.microsoft.com/office/drawing/2014/main" id="{82EFEB14-49D0-F397-C003-9CC33A74B45D}"/>
              </a:ext>
            </a:extLst>
          </p:cNvPr>
          <p:cNvCxnSpPr>
            <a:cxnSpLocks/>
            <a:stCxn id="146" idx="3"/>
            <a:endCxn id="149" idx="1"/>
          </p:cNvCxnSpPr>
          <p:nvPr/>
        </p:nvCxnSpPr>
        <p:spPr>
          <a:xfrm flipV="1">
            <a:off x="1707274" y="6128865"/>
            <a:ext cx="701587" cy="2510"/>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152" name="グループ化 151">
            <a:extLst>
              <a:ext uri="{FF2B5EF4-FFF2-40B4-BE49-F238E27FC236}">
                <a16:creationId xmlns:a16="http://schemas.microsoft.com/office/drawing/2014/main" id="{72C0CE50-116F-EB47-5A10-9020FC7DB3B2}"/>
              </a:ext>
            </a:extLst>
          </p:cNvPr>
          <p:cNvGrpSpPr/>
          <p:nvPr/>
        </p:nvGrpSpPr>
        <p:grpSpPr>
          <a:xfrm>
            <a:off x="99534" y="6839569"/>
            <a:ext cx="1911644" cy="959651"/>
            <a:chOff x="405609" y="9205165"/>
            <a:chExt cx="1911644" cy="959651"/>
          </a:xfrm>
        </p:grpSpPr>
        <p:sp>
          <p:nvSpPr>
            <p:cNvPr id="153" name="テキスト ボックス 152">
              <a:extLst>
                <a:ext uri="{FF2B5EF4-FFF2-40B4-BE49-F238E27FC236}">
                  <a16:creationId xmlns:a16="http://schemas.microsoft.com/office/drawing/2014/main" id="{EB78AD0B-D7E7-A7AD-9F74-673F6E0763DD}"/>
                </a:ext>
              </a:extLst>
            </p:cNvPr>
            <p:cNvSpPr txBox="1"/>
            <p:nvPr/>
          </p:nvSpPr>
          <p:spPr>
            <a:xfrm>
              <a:off x="405609" y="9205165"/>
              <a:ext cx="1911644" cy="959651"/>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200000"/>
                </a:lnSpc>
              </a:pPr>
              <a:r>
                <a:rPr lang="ja-JP" altLang="en-US" dirty="0">
                  <a:solidFill>
                    <a:schemeClr val="tx1"/>
                  </a:solidFill>
                  <a:latin typeface="メイリオ" panose="020B0604030504040204" pitchFamily="50" charset="-128"/>
                  <a:ea typeface="メイリオ" panose="020B0604030504040204" pitchFamily="50" charset="-128"/>
                </a:rPr>
                <a:t>データの流れ</a:t>
              </a:r>
              <a:endParaRPr lang="en-US" altLang="ja-JP" dirty="0">
                <a:solidFill>
                  <a:schemeClr val="tx1"/>
                </a:solidFill>
                <a:latin typeface="メイリオ" panose="020B0604030504040204" pitchFamily="50" charset="-128"/>
                <a:ea typeface="メイリオ" panose="020B0604030504040204" pitchFamily="50" charset="-128"/>
              </a:endParaRPr>
            </a:p>
            <a:p>
              <a:pPr lvl="0">
                <a:lnSpc>
                  <a:spcPct val="200000"/>
                </a:lnSpc>
              </a:pPr>
              <a:r>
                <a:rPr lang="ja-JP" altLang="en-US" dirty="0">
                  <a:solidFill>
                    <a:schemeClr val="tx1"/>
                  </a:solidFill>
                  <a:latin typeface="メイリオ" panose="020B0604030504040204" pitchFamily="50" charset="-128"/>
                  <a:ea typeface="メイリオ" panose="020B0604030504040204" pitchFamily="50" charset="-128"/>
                </a:rPr>
                <a:t>データ参照</a:t>
              </a:r>
              <a:endParaRPr lang="en-US" altLang="ja-JP" dirty="0">
                <a:solidFill>
                  <a:schemeClr val="tx1"/>
                </a:solidFill>
                <a:latin typeface="メイリオ" panose="020B0604030504040204" pitchFamily="50" charset="-128"/>
                <a:ea typeface="メイリオ" panose="020B0604030504040204" pitchFamily="50" charset="-128"/>
              </a:endParaRPr>
            </a:p>
          </p:txBody>
        </p:sp>
        <p:cxnSp>
          <p:nvCxnSpPr>
            <p:cNvPr id="154" name="直線矢印コネクタ 153">
              <a:extLst>
                <a:ext uri="{FF2B5EF4-FFF2-40B4-BE49-F238E27FC236}">
                  <a16:creationId xmlns:a16="http://schemas.microsoft.com/office/drawing/2014/main" id="{924F8AC6-38E3-176C-D3B2-79DC9E0EB9E5}"/>
                </a:ext>
              </a:extLst>
            </p:cNvPr>
            <p:cNvCxnSpPr>
              <a:cxnSpLocks/>
            </p:cNvCxnSpPr>
            <p:nvPr/>
          </p:nvCxnSpPr>
          <p:spPr>
            <a:xfrm>
              <a:off x="1635001" y="9936000"/>
              <a:ext cx="576342" cy="0"/>
            </a:xfrm>
            <a:prstGeom prst="straightConnector1">
              <a:avLst/>
            </a:prstGeom>
            <a:ln w="254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cxnSp>
        <p:cxnSp>
          <p:nvCxnSpPr>
            <p:cNvPr id="155" name="直線矢印コネクタ 154">
              <a:extLst>
                <a:ext uri="{FF2B5EF4-FFF2-40B4-BE49-F238E27FC236}">
                  <a16:creationId xmlns:a16="http://schemas.microsoft.com/office/drawing/2014/main" id="{1CFAE8BA-CF66-9D3B-2A3A-44A6905AF829}"/>
                </a:ext>
              </a:extLst>
            </p:cNvPr>
            <p:cNvCxnSpPr>
              <a:cxnSpLocks/>
            </p:cNvCxnSpPr>
            <p:nvPr/>
          </p:nvCxnSpPr>
          <p:spPr>
            <a:xfrm>
              <a:off x="1635001" y="9490619"/>
              <a:ext cx="602291" cy="0"/>
            </a:xfrm>
            <a:prstGeom prst="straightConnector1">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56" name="グループ化 155">
            <a:extLst>
              <a:ext uri="{FF2B5EF4-FFF2-40B4-BE49-F238E27FC236}">
                <a16:creationId xmlns:a16="http://schemas.microsoft.com/office/drawing/2014/main" id="{BD948AF5-E12A-0539-707E-B7D9F9CB4BE5}"/>
              </a:ext>
            </a:extLst>
          </p:cNvPr>
          <p:cNvGrpSpPr/>
          <p:nvPr/>
        </p:nvGrpSpPr>
        <p:grpSpPr>
          <a:xfrm>
            <a:off x="207264" y="9298643"/>
            <a:ext cx="6897429" cy="530640"/>
            <a:chOff x="-1119038" y="9205166"/>
            <a:chExt cx="6897429" cy="530640"/>
          </a:xfrm>
        </p:grpSpPr>
        <p:sp>
          <p:nvSpPr>
            <p:cNvPr id="157" name="テキスト ボックス 156">
              <a:extLst>
                <a:ext uri="{FF2B5EF4-FFF2-40B4-BE49-F238E27FC236}">
                  <a16:creationId xmlns:a16="http://schemas.microsoft.com/office/drawing/2014/main" id="{7AEF1332-A577-05DD-70B6-F35FC3D5D070}"/>
                </a:ext>
              </a:extLst>
            </p:cNvPr>
            <p:cNvSpPr txBox="1"/>
            <p:nvPr/>
          </p:nvSpPr>
          <p:spPr>
            <a:xfrm>
              <a:off x="-1119038" y="9205166"/>
              <a:ext cx="6897429" cy="530640"/>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200000"/>
                </a:lnSpc>
              </a:pPr>
              <a:r>
                <a:rPr lang="ja-JP" altLang="en-US" dirty="0">
                  <a:solidFill>
                    <a:schemeClr val="tx1"/>
                  </a:solidFill>
                  <a:latin typeface="メイリオ" panose="020B0604030504040204" pitchFamily="50" charset="-128"/>
                  <a:ea typeface="メイリオ" panose="020B0604030504040204" pitchFamily="50" charset="-128"/>
                </a:rPr>
                <a:t>　　　　　　　</a:t>
              </a:r>
              <a:r>
                <a:rPr lang="en-US" altLang="ja-JP" dirty="0">
                  <a:solidFill>
                    <a:schemeClr val="tx1"/>
                  </a:solidFill>
                  <a:latin typeface="メイリオ" panose="020B0604030504040204" pitchFamily="50" charset="-128"/>
                  <a:ea typeface="メイリオ" panose="020B0604030504040204" pitchFamily="50" charset="-128"/>
                </a:rPr>
                <a:t>…SMJ</a:t>
              </a:r>
              <a:r>
                <a:rPr lang="ja-JP" altLang="en-US" dirty="0">
                  <a:solidFill>
                    <a:schemeClr val="tx1"/>
                  </a:solidFill>
                  <a:latin typeface="メイリオ" panose="020B0604030504040204" pitchFamily="50" charset="-128"/>
                  <a:ea typeface="メイリオ" panose="020B0604030504040204" pitchFamily="50" charset="-128"/>
                </a:rPr>
                <a:t>担当　　　　</a:t>
              </a:r>
              <a:r>
                <a:rPr lang="en-US" altLang="ja-JP" dirty="0">
                  <a:solidFill>
                    <a:schemeClr val="tx1"/>
                  </a:solidFill>
                  <a:latin typeface="メイリオ" panose="020B0604030504040204" pitchFamily="50" charset="-128"/>
                  <a:ea typeface="メイリオ" panose="020B0604030504040204" pitchFamily="50" charset="-128"/>
                </a:rPr>
                <a:t>…SMJ</a:t>
              </a:r>
              <a:r>
                <a:rPr lang="ja-JP" altLang="en-US" dirty="0">
                  <a:solidFill>
                    <a:schemeClr val="tx1"/>
                  </a:solidFill>
                  <a:latin typeface="メイリオ" panose="020B0604030504040204" pitchFamily="50" charset="-128"/>
                  <a:ea typeface="メイリオ" panose="020B0604030504040204" pitchFamily="50" charset="-128"/>
                </a:rPr>
                <a:t>、</a:t>
              </a:r>
              <a:r>
                <a:rPr lang="en-US" altLang="ja-JP" dirty="0">
                  <a:solidFill>
                    <a:schemeClr val="tx1"/>
                  </a:solidFill>
                  <a:latin typeface="メイリオ" panose="020B0604030504040204" pitchFamily="50" charset="-128"/>
                  <a:ea typeface="メイリオ" panose="020B0604030504040204" pitchFamily="50" charset="-128"/>
                </a:rPr>
                <a:t>NSW</a:t>
              </a:r>
              <a:r>
                <a:rPr lang="ja-JP" altLang="en-US" dirty="0">
                  <a:solidFill>
                    <a:schemeClr val="tx1"/>
                  </a:solidFill>
                  <a:latin typeface="メイリオ" panose="020B0604030504040204" pitchFamily="50" charset="-128"/>
                  <a:ea typeface="メイリオ" panose="020B0604030504040204" pitchFamily="50" charset="-128"/>
                </a:rPr>
                <a:t>様担当　　　　</a:t>
              </a:r>
              <a:r>
                <a:rPr lang="en-US" altLang="ja-JP" dirty="0">
                  <a:solidFill>
                    <a:schemeClr val="tx1"/>
                  </a:solidFill>
                  <a:latin typeface="メイリオ" panose="020B0604030504040204" pitchFamily="50" charset="-128"/>
                  <a:ea typeface="メイリオ" panose="020B0604030504040204" pitchFamily="50" charset="-128"/>
                </a:rPr>
                <a:t>…</a:t>
              </a:r>
              <a:r>
                <a:rPr lang="ja-JP" altLang="en-US" dirty="0">
                  <a:solidFill>
                    <a:schemeClr val="tx1"/>
                  </a:solidFill>
                  <a:latin typeface="メイリオ" panose="020B0604030504040204" pitchFamily="50" charset="-128"/>
                  <a:ea typeface="メイリオ" panose="020B0604030504040204" pitchFamily="50" charset="-128"/>
                </a:rPr>
                <a:t>カストマ様担当</a:t>
              </a:r>
              <a:endParaRPr lang="en-US" altLang="ja-JP" dirty="0">
                <a:solidFill>
                  <a:schemeClr val="tx1"/>
                </a:solidFill>
                <a:latin typeface="メイリオ" panose="020B0604030504040204" pitchFamily="50" charset="-128"/>
                <a:ea typeface="メイリオ" panose="020B0604030504040204" pitchFamily="50" charset="-128"/>
              </a:endParaRPr>
            </a:p>
          </p:txBody>
        </p:sp>
        <p:sp>
          <p:nvSpPr>
            <p:cNvPr id="158" name="正方形/長方形 157">
              <a:extLst>
                <a:ext uri="{FF2B5EF4-FFF2-40B4-BE49-F238E27FC236}">
                  <a16:creationId xmlns:a16="http://schemas.microsoft.com/office/drawing/2014/main" id="{11800BE5-4BBF-86FF-6ED9-65B7DAB74CBF}"/>
                </a:ext>
              </a:extLst>
            </p:cNvPr>
            <p:cNvSpPr/>
            <p:nvPr/>
          </p:nvSpPr>
          <p:spPr>
            <a:xfrm>
              <a:off x="-993723" y="9376272"/>
              <a:ext cx="542821" cy="250839"/>
            </a:xfrm>
            <a:prstGeom prst="rect">
              <a:avLst/>
            </a:prstGeom>
            <a:solidFill>
              <a:schemeClr val="accent6">
                <a:lumMod val="10000"/>
                <a:lumOff val="9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59" name="正方形/長方形 158">
              <a:extLst>
                <a:ext uri="{FF2B5EF4-FFF2-40B4-BE49-F238E27FC236}">
                  <a16:creationId xmlns:a16="http://schemas.microsoft.com/office/drawing/2014/main" id="{579B809B-81CA-6A43-5950-02AA329A0B46}"/>
                </a:ext>
              </a:extLst>
            </p:cNvPr>
            <p:cNvSpPr/>
            <p:nvPr/>
          </p:nvSpPr>
          <p:spPr>
            <a:xfrm>
              <a:off x="3552049" y="9355074"/>
              <a:ext cx="542821" cy="260551"/>
            </a:xfrm>
            <a:prstGeom prst="rect">
              <a:avLst/>
            </a:prstGeom>
            <a:solidFill>
              <a:srgbClr val="00B0F0"/>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60" name="正方形/長方形 159">
              <a:extLst>
                <a:ext uri="{FF2B5EF4-FFF2-40B4-BE49-F238E27FC236}">
                  <a16:creationId xmlns:a16="http://schemas.microsoft.com/office/drawing/2014/main" id="{19698E8E-C7CC-2F9B-4343-BFC169624283}"/>
                </a:ext>
              </a:extLst>
            </p:cNvPr>
            <p:cNvSpPr/>
            <p:nvPr/>
          </p:nvSpPr>
          <p:spPr>
            <a:xfrm>
              <a:off x="-398132" y="9376272"/>
              <a:ext cx="542821" cy="250839"/>
            </a:xfrm>
            <a:prstGeom prst="rect">
              <a:avLst/>
            </a:prstGeom>
            <a:solidFill>
              <a:schemeClr val="accent1">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sp>
          <p:nvSpPr>
            <p:cNvPr id="161" name="正方形/長方形 160">
              <a:extLst>
                <a:ext uri="{FF2B5EF4-FFF2-40B4-BE49-F238E27FC236}">
                  <a16:creationId xmlns:a16="http://schemas.microsoft.com/office/drawing/2014/main" id="{05563973-8411-D2FD-32F8-2CE6B1888CB2}"/>
                </a:ext>
              </a:extLst>
            </p:cNvPr>
            <p:cNvSpPr/>
            <p:nvPr/>
          </p:nvSpPr>
          <p:spPr>
            <a:xfrm>
              <a:off x="1233895" y="9355074"/>
              <a:ext cx="542821" cy="260551"/>
            </a:xfrm>
            <a:prstGeom prst="rect">
              <a:avLst/>
            </a:prstGeom>
            <a:solidFill>
              <a:schemeClr val="accent2">
                <a:lumMod val="20000"/>
                <a:lumOff val="80000"/>
              </a:schemeClr>
            </a:solidFill>
            <a:ln w="1905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rgbClr val="59574C"/>
                </a:solidFill>
                <a:latin typeface="Meiryo UI" panose="020B0604030504040204" pitchFamily="50" charset="-128"/>
                <a:ea typeface="Meiryo UI" panose="020B0604030504040204" pitchFamily="50" charset="-128"/>
              </a:endParaRPr>
            </a:p>
          </p:txBody>
        </p:sp>
      </p:grpSp>
      <p:sp>
        <p:nvSpPr>
          <p:cNvPr id="162" name="楕円 161">
            <a:extLst>
              <a:ext uri="{FF2B5EF4-FFF2-40B4-BE49-F238E27FC236}">
                <a16:creationId xmlns:a16="http://schemas.microsoft.com/office/drawing/2014/main" id="{C9C14625-AAD4-C2EE-EBE0-96297FEC3D40}"/>
              </a:ext>
            </a:extLst>
          </p:cNvPr>
          <p:cNvSpPr/>
          <p:nvPr/>
        </p:nvSpPr>
        <p:spPr>
          <a:xfrm>
            <a:off x="1827036" y="4474927"/>
            <a:ext cx="430053" cy="394209"/>
          </a:xfrm>
          <a:prstGeom prst="ellipse">
            <a:avLst/>
          </a:prstGeom>
          <a:solidFill>
            <a:srgbClr val="FFFF99"/>
          </a:solidFill>
          <a:ln w="25400">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600" b="1" dirty="0">
                <a:solidFill>
                  <a:srgbClr val="59574C"/>
                </a:solidFill>
                <a:latin typeface="Source Sans Pro" panose="020B0503030403020204" pitchFamily="34" charset="0"/>
                <a:ea typeface="源ノ角ゴシック JP Regular" panose="020B0500000000000000" pitchFamily="34" charset="-128"/>
              </a:rPr>
              <a:t>1</a:t>
            </a:r>
            <a:endParaRPr kumimoji="1" lang="ja-JP" altLang="en-US" sz="1600" b="1" dirty="0">
              <a:solidFill>
                <a:srgbClr val="59574C"/>
              </a:solidFill>
              <a:latin typeface="Source Sans Pro" panose="020B0503030403020204" pitchFamily="34" charset="0"/>
              <a:ea typeface="源ノ角ゴシック JP Regular" panose="020B0500000000000000" pitchFamily="34" charset="-128"/>
            </a:endParaRPr>
          </a:p>
        </p:txBody>
      </p:sp>
    </p:spTree>
    <p:extLst>
      <p:ext uri="{BB962C8B-B14F-4D97-AF65-F5344CB8AC3E}">
        <p14:creationId xmlns:p14="http://schemas.microsoft.com/office/powerpoint/2010/main" val="1737485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５－２</a:t>
            </a:r>
            <a:r>
              <a:rPr lang="ja-JP" altLang="en-US">
                <a:latin typeface="Meiryo UI" panose="020B0604030504040204" pitchFamily="50" charset="-128"/>
                <a:ea typeface="Meiryo UI" panose="020B0604030504040204" pitchFamily="50" charset="-128"/>
              </a:rPr>
              <a:t>．現行</a:t>
            </a:r>
            <a:r>
              <a:rPr lang="en-US" altLang="ja-JP">
                <a:latin typeface="Meiryo UI" panose="020B0604030504040204" pitchFamily="50" charset="-128"/>
                <a:ea typeface="Meiryo UI" panose="020B0604030504040204" pitchFamily="50" charset="-128"/>
              </a:rPr>
              <a:t>POS</a:t>
            </a:r>
            <a:r>
              <a:rPr lang="ja-JP" altLang="en-US">
                <a:latin typeface="Meiryo UI" panose="020B0604030504040204" pitchFamily="50" charset="-128"/>
                <a:ea typeface="Meiryo UI" panose="020B0604030504040204" pitchFamily="50" charset="-128"/>
              </a:rPr>
              <a:t>アプリとの関係</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15</a:t>
            </a:fld>
            <a:endParaRPr lang="ja-JP" altLang="en-US"/>
          </a:p>
        </p:txBody>
      </p:sp>
      <p:sp>
        <p:nvSpPr>
          <p:cNvPr id="6" name="テキスト ボックス 5">
            <a:extLst>
              <a:ext uri="{FF2B5EF4-FFF2-40B4-BE49-F238E27FC236}">
                <a16:creationId xmlns:a16="http://schemas.microsoft.com/office/drawing/2014/main" id="{321440BC-C71B-B60C-39C9-DFD40A75BC0B}"/>
              </a:ext>
            </a:extLst>
          </p:cNvPr>
          <p:cNvSpPr txBox="1"/>
          <p:nvPr/>
        </p:nvSpPr>
        <p:spPr>
          <a:xfrm>
            <a:off x="544207" y="1273473"/>
            <a:ext cx="17199585" cy="2723823"/>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現行</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アプリの全機能（統廃合あり）を踏襲します。</a:t>
            </a:r>
            <a:r>
              <a:rPr lang="en-US" altLang="ja-JP" sz="2400">
                <a:latin typeface="メイリオ" panose="020B0604030504040204" pitchFamily="50" charset="-128"/>
                <a:ea typeface="メイリオ" panose="020B0604030504040204" pitchFamily="50" charset="-128"/>
              </a:rPr>
              <a:t>POP</a:t>
            </a:r>
            <a:r>
              <a:rPr lang="ja-JP" altLang="en-US" sz="2400">
                <a:latin typeface="メイリオ" panose="020B0604030504040204" pitchFamily="50" charset="-128"/>
                <a:ea typeface="メイリオ" panose="020B0604030504040204" pitchFamily="50" charset="-128"/>
              </a:rPr>
              <a:t>、修理</a:t>
            </a:r>
            <a:r>
              <a:rPr lang="en-US" altLang="ja-JP" sz="2400">
                <a:latin typeface="メイリオ" panose="020B0604030504040204" pitchFamily="50" charset="-128"/>
                <a:ea typeface="メイリオ" panose="020B0604030504040204" pitchFamily="50" charset="-128"/>
              </a:rPr>
              <a:t>PC</a:t>
            </a:r>
            <a:r>
              <a:rPr lang="ja-JP" altLang="en-US" sz="2400">
                <a:latin typeface="メイリオ" panose="020B0604030504040204" pitchFamily="50" charset="-128"/>
                <a:ea typeface="メイリオ" panose="020B0604030504040204" pitchFamily="50" charset="-128"/>
              </a:rPr>
              <a:t>からの機能統合／共存も検討します。</a:t>
            </a:r>
            <a:endParaRPr lang="en-US" altLang="ja-JP" sz="24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初心者が操作しやすいよう、メニューの統廃合・</a:t>
            </a:r>
            <a:r>
              <a:rPr lang="en-US" altLang="ja-JP" sz="2400">
                <a:latin typeface="メイリオ" panose="020B0604030504040204" pitchFamily="50" charset="-128"/>
                <a:ea typeface="メイリオ" panose="020B0604030504040204" pitchFamily="50" charset="-128"/>
              </a:rPr>
              <a:t>UI</a:t>
            </a:r>
            <a:r>
              <a:rPr lang="ja-JP" altLang="en-US" sz="2400">
                <a:latin typeface="メイリオ" panose="020B0604030504040204" pitchFamily="50" charset="-128"/>
                <a:ea typeface="メイリオ" panose="020B0604030504040204" pitchFamily="50" charset="-128"/>
              </a:rPr>
              <a:t>の見直しを行います。</a:t>
            </a:r>
            <a:br>
              <a:rPr lang="en-US" altLang="ja-JP" sz="2400">
                <a:latin typeface="メイリオ" panose="020B0604030504040204" pitchFamily="50" charset="-128"/>
                <a:ea typeface="メイリオ" panose="020B0604030504040204" pitchFamily="50" charset="-128"/>
              </a:rPr>
            </a:br>
            <a:r>
              <a:rPr lang="en-US" altLang="ja-JP" sz="2400">
                <a:latin typeface="メイリオ" panose="020B0604030504040204" pitchFamily="50" charset="-128"/>
                <a:ea typeface="メイリオ" panose="020B0604030504040204" pitchFamily="50" charset="-128"/>
              </a:rPr>
              <a:t>※</a:t>
            </a:r>
            <a:r>
              <a:rPr lang="ja-JP" altLang="en-US" sz="2400">
                <a:latin typeface="メイリオ" panose="020B0604030504040204" pitchFamily="50" charset="-128"/>
                <a:ea typeface="メイリオ" panose="020B0604030504040204" pitchFamily="50" charset="-128"/>
              </a:rPr>
              <a:t>別紙「機能一覧」にて現新対応を定義します。</a:t>
            </a:r>
            <a:endParaRPr lang="en-US" altLang="ja-JP" sz="24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機種ごとに開発せずに済むよう、据置</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a:t>
            </a:r>
            <a:r>
              <a:rPr lang="en-US" altLang="ja-JP" sz="2400">
                <a:latin typeface="メイリオ" panose="020B0604030504040204" pitchFamily="50" charset="-128"/>
                <a:ea typeface="メイリオ" panose="020B0604030504040204" pitchFamily="50" charset="-128"/>
              </a:rPr>
              <a:t>iPad mini</a:t>
            </a:r>
            <a:r>
              <a:rPr lang="ja-JP" altLang="en-US" sz="2400">
                <a:latin typeface="メイリオ" panose="020B0604030504040204" pitchFamily="50" charset="-128"/>
                <a:ea typeface="メイリオ" panose="020B0604030504040204" pitchFamily="50" charset="-128"/>
              </a:rPr>
              <a:t>、</a:t>
            </a:r>
            <a:r>
              <a:rPr lang="en-US" altLang="ja-JP" sz="2400">
                <a:latin typeface="メイリオ" panose="020B0604030504040204" pitchFamily="50" charset="-128"/>
                <a:ea typeface="メイリオ" panose="020B0604030504040204" pitchFamily="50" charset="-128"/>
              </a:rPr>
              <a:t>Windows</a:t>
            </a:r>
            <a:r>
              <a:rPr lang="ja-JP" altLang="en-US" sz="2400">
                <a:latin typeface="メイリオ" panose="020B0604030504040204" pitchFamily="50" charset="-128"/>
                <a:ea typeface="メイリオ" panose="020B0604030504040204" pitchFamily="50" charset="-128"/>
              </a:rPr>
              <a:t>タブレットで同じアプリが動作するように開発します。</a:t>
            </a:r>
            <a:endParaRPr lang="en-US" altLang="ja-JP" sz="24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新旧アプリが並行稼働する期間の業務運用を想定した設計・運用計画を策定します。</a:t>
            </a:r>
          </a:p>
        </p:txBody>
      </p:sp>
      <p:sp>
        <p:nvSpPr>
          <p:cNvPr id="4" name="フッター プレースホルダー 3">
            <a:extLst>
              <a:ext uri="{FF2B5EF4-FFF2-40B4-BE49-F238E27FC236}">
                <a16:creationId xmlns:a16="http://schemas.microsoft.com/office/drawing/2014/main" id="{2889AC60-C4FC-2F18-B97B-9867104DC5E7}"/>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55778494-AFB5-7684-0334-B2747DDAC705}"/>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graphicFrame>
        <p:nvGraphicFramePr>
          <p:cNvPr id="7" name="表 6">
            <a:extLst>
              <a:ext uri="{FF2B5EF4-FFF2-40B4-BE49-F238E27FC236}">
                <a16:creationId xmlns:a16="http://schemas.microsoft.com/office/drawing/2014/main" id="{1330E004-82CD-FB02-E991-F86EA8C440DA}"/>
              </a:ext>
            </a:extLst>
          </p:cNvPr>
          <p:cNvGraphicFramePr>
            <a:graphicFrameLocks noGrp="1"/>
          </p:cNvGraphicFramePr>
          <p:nvPr>
            <p:extLst>
              <p:ext uri="{D42A27DB-BD31-4B8C-83A1-F6EECF244321}">
                <p14:modId xmlns:p14="http://schemas.microsoft.com/office/powerpoint/2010/main" val="2755729924"/>
              </p:ext>
            </p:extLst>
          </p:nvPr>
        </p:nvGraphicFramePr>
        <p:xfrm>
          <a:off x="544207" y="5273171"/>
          <a:ext cx="17199585" cy="4446181"/>
        </p:xfrm>
        <a:graphic>
          <a:graphicData uri="http://schemas.openxmlformats.org/drawingml/2006/table">
            <a:tbl>
              <a:tblPr firstRow="1" bandRow="1">
                <a:tableStyleId>{5C22544A-7EE6-4342-B048-85BDC9FD1C3A}</a:tableStyleId>
              </a:tblPr>
              <a:tblGrid>
                <a:gridCol w="3113393">
                  <a:extLst>
                    <a:ext uri="{9D8B030D-6E8A-4147-A177-3AD203B41FA5}">
                      <a16:colId xmlns:a16="http://schemas.microsoft.com/office/drawing/2014/main" val="1986898446"/>
                    </a:ext>
                  </a:extLst>
                </a:gridCol>
                <a:gridCol w="8024117">
                  <a:extLst>
                    <a:ext uri="{9D8B030D-6E8A-4147-A177-3AD203B41FA5}">
                      <a16:colId xmlns:a16="http://schemas.microsoft.com/office/drawing/2014/main" val="2301901642"/>
                    </a:ext>
                  </a:extLst>
                </a:gridCol>
                <a:gridCol w="6062075">
                  <a:extLst>
                    <a:ext uri="{9D8B030D-6E8A-4147-A177-3AD203B41FA5}">
                      <a16:colId xmlns:a16="http://schemas.microsoft.com/office/drawing/2014/main" val="285471710"/>
                    </a:ext>
                  </a:extLst>
                </a:gridCol>
              </a:tblGrid>
              <a:tr h="490631">
                <a:tc>
                  <a:txBody>
                    <a:bodyPr/>
                    <a:lstStyle/>
                    <a:p>
                      <a:pPr algn="ctr"/>
                      <a:r>
                        <a:rPr kumimoji="1" lang="en-US" altLang="ja-JP"/>
                        <a:t>2026</a:t>
                      </a:r>
                      <a:r>
                        <a:rPr kumimoji="1" lang="ja-JP" altLang="en-US"/>
                        <a:t>年現在</a:t>
                      </a:r>
                    </a:p>
                  </a:txBody>
                  <a:tcPr/>
                </a:tc>
                <a:tc>
                  <a:txBody>
                    <a:bodyPr/>
                    <a:lstStyle/>
                    <a:p>
                      <a:pPr algn="ctr"/>
                      <a:r>
                        <a:rPr kumimoji="1" lang="en-US" altLang="ja-JP"/>
                        <a:t>2029</a:t>
                      </a:r>
                      <a:r>
                        <a:rPr kumimoji="1" lang="ja-JP" altLang="en-US"/>
                        <a:t>年（展開開始）</a:t>
                      </a:r>
                    </a:p>
                  </a:txBody>
                  <a:tcPr/>
                </a:tc>
                <a:tc>
                  <a:txBody>
                    <a:bodyPr/>
                    <a:lstStyle/>
                    <a:p>
                      <a:pPr algn="ctr"/>
                      <a:r>
                        <a:rPr kumimoji="1" lang="ja-JP" altLang="en-US"/>
                        <a:t>～（展開完了）</a:t>
                      </a:r>
                    </a:p>
                  </a:txBody>
                  <a:tcPr/>
                </a:tc>
                <a:extLst>
                  <a:ext uri="{0D108BD9-81ED-4DB2-BD59-A6C34878D82A}">
                    <a16:rowId xmlns:a16="http://schemas.microsoft.com/office/drawing/2014/main" val="2091354499"/>
                  </a:ext>
                </a:extLst>
              </a:tr>
              <a:tr h="3943261">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620482745"/>
                  </a:ext>
                </a:extLst>
              </a:tr>
            </a:tbl>
          </a:graphicData>
        </a:graphic>
      </p:graphicFrame>
      <p:grpSp>
        <p:nvGrpSpPr>
          <p:cNvPr id="20" name="グループ化 19">
            <a:extLst>
              <a:ext uri="{FF2B5EF4-FFF2-40B4-BE49-F238E27FC236}">
                <a16:creationId xmlns:a16="http://schemas.microsoft.com/office/drawing/2014/main" id="{E302EA89-93AE-4428-873F-BFF9B539085C}"/>
              </a:ext>
            </a:extLst>
          </p:cNvPr>
          <p:cNvGrpSpPr/>
          <p:nvPr/>
        </p:nvGrpSpPr>
        <p:grpSpPr>
          <a:xfrm>
            <a:off x="798962" y="5891883"/>
            <a:ext cx="2157573" cy="1957572"/>
            <a:chOff x="798962" y="5347353"/>
            <a:chExt cx="2157573" cy="1957572"/>
          </a:xfrm>
        </p:grpSpPr>
        <p:pic>
          <p:nvPicPr>
            <p:cNvPr id="12" name="図 11" descr="電子機器, コンピュータ が含まれている画像&#10;&#10;AI によって生成されたコンテンツは間違っている可能性があります。">
              <a:extLst>
                <a:ext uri="{FF2B5EF4-FFF2-40B4-BE49-F238E27FC236}">
                  <a16:creationId xmlns:a16="http://schemas.microsoft.com/office/drawing/2014/main" id="{F821A3A2-8D55-4879-E511-3BC54B0E41B9}"/>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99768" y="5347353"/>
              <a:ext cx="1456767" cy="1957572"/>
            </a:xfrm>
            <a:prstGeom prst="rect">
              <a:avLst/>
            </a:prstGeom>
          </p:spPr>
        </p:pic>
        <p:sp>
          <p:nvSpPr>
            <p:cNvPr id="15" name="テキスト ボックス 14">
              <a:extLst>
                <a:ext uri="{FF2B5EF4-FFF2-40B4-BE49-F238E27FC236}">
                  <a16:creationId xmlns:a16="http://schemas.microsoft.com/office/drawing/2014/main" id="{5B024E44-517D-7E41-211A-1A06729CE10F}"/>
                </a:ext>
              </a:extLst>
            </p:cNvPr>
            <p:cNvSpPr txBox="1"/>
            <p:nvPr/>
          </p:nvSpPr>
          <p:spPr>
            <a:xfrm>
              <a:off x="798962" y="5404207"/>
              <a:ext cx="2157573" cy="1900718"/>
            </a:xfrm>
            <a:prstGeom prst="rect">
              <a:avLst/>
            </a:prstGeom>
            <a:noFill/>
            <a:ln>
              <a:solidFill>
                <a:schemeClr val="tx1"/>
              </a:solidFill>
            </a:ln>
          </p:spPr>
          <p:txBody>
            <a:bodyPr wrap="square" rtlCol="0">
              <a:noAutofit/>
            </a:bodyPr>
            <a:lstStyle/>
            <a:p>
              <a:pPr algn="l"/>
              <a:r>
                <a:rPr lang="ja-JP" altLang="en-US"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全</a:t>
              </a:r>
              <a:r>
                <a:rPr kumimoji="1" lang="ja-JP" altLang="en-US"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店</a:t>
              </a:r>
              <a:endParaRPr kumimoji="1" lang="ja-JP" altLang="en-US" sz="2400" dirty="0">
                <a:ln>
                  <a:solidFill>
                    <a:schemeClr val="tx1"/>
                  </a:solidFill>
                </a:ln>
                <a:solidFill>
                  <a:schemeClr val="bg1">
                    <a:lumMod val="10000"/>
                  </a:schemeClr>
                </a:solidFill>
                <a:latin typeface="Meiryo UI" panose="020B0604030504040204" pitchFamily="50" charset="-128"/>
                <a:ea typeface="Meiryo UI" panose="020B0604030504040204" pitchFamily="50" charset="-128"/>
              </a:endParaRPr>
            </a:p>
          </p:txBody>
        </p:sp>
        <p:pic>
          <p:nvPicPr>
            <p:cNvPr id="17" name="図 16">
              <a:extLst>
                <a:ext uri="{FF2B5EF4-FFF2-40B4-BE49-F238E27FC236}">
                  <a16:creationId xmlns:a16="http://schemas.microsoft.com/office/drawing/2014/main" id="{D441DFD4-6BC6-E97B-E561-F085908393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8500" y="5829076"/>
              <a:ext cx="719491" cy="719491"/>
            </a:xfrm>
            <a:prstGeom prst="rect">
              <a:avLst/>
            </a:prstGeom>
          </p:spPr>
        </p:pic>
      </p:grpSp>
      <p:sp>
        <p:nvSpPr>
          <p:cNvPr id="27" name="テキスト ボックス 26">
            <a:extLst>
              <a:ext uri="{FF2B5EF4-FFF2-40B4-BE49-F238E27FC236}">
                <a16:creationId xmlns:a16="http://schemas.microsoft.com/office/drawing/2014/main" id="{C9F0A4AA-04BA-4B89-72D6-93315AA289A2}"/>
              </a:ext>
            </a:extLst>
          </p:cNvPr>
          <p:cNvSpPr txBox="1"/>
          <p:nvPr/>
        </p:nvSpPr>
        <p:spPr>
          <a:xfrm>
            <a:off x="4222119" y="5984423"/>
            <a:ext cx="4432638" cy="1900718"/>
          </a:xfrm>
          <a:prstGeom prst="rect">
            <a:avLst/>
          </a:prstGeom>
          <a:noFill/>
          <a:ln>
            <a:solidFill>
              <a:schemeClr val="tx1"/>
            </a:solidFill>
          </a:ln>
        </p:spPr>
        <p:txBody>
          <a:bodyPr wrap="square" rtlCol="0">
            <a:noAutofit/>
          </a:bodyPr>
          <a:lstStyle/>
          <a:p>
            <a:pPr algn="l"/>
            <a:r>
              <a:rPr kumimoji="1" lang="en-US" altLang="ja-JP"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A</a:t>
            </a:r>
            <a:r>
              <a:rPr kumimoji="1" lang="ja-JP" altLang="en-US"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店（先行店）</a:t>
            </a:r>
            <a:endParaRPr kumimoji="1" lang="ja-JP" altLang="en-US" sz="2400" dirty="0">
              <a:ln>
                <a:solidFill>
                  <a:schemeClr val="tx1"/>
                </a:solidFill>
              </a:ln>
              <a:solidFill>
                <a:schemeClr val="bg1">
                  <a:lumMod val="10000"/>
                </a:schemeClr>
              </a:solidFill>
              <a:latin typeface="Meiryo UI" panose="020B0604030504040204" pitchFamily="50" charset="-128"/>
              <a:ea typeface="Meiryo UI" panose="020B0604030504040204" pitchFamily="50" charset="-128"/>
            </a:endParaRPr>
          </a:p>
        </p:txBody>
      </p:sp>
      <p:grpSp>
        <p:nvGrpSpPr>
          <p:cNvPr id="29" name="グループ化 28">
            <a:extLst>
              <a:ext uri="{FF2B5EF4-FFF2-40B4-BE49-F238E27FC236}">
                <a16:creationId xmlns:a16="http://schemas.microsoft.com/office/drawing/2014/main" id="{BF2862E5-8531-4DD7-A368-214910584390}"/>
              </a:ext>
            </a:extLst>
          </p:cNvPr>
          <p:cNvGrpSpPr/>
          <p:nvPr/>
        </p:nvGrpSpPr>
        <p:grpSpPr>
          <a:xfrm>
            <a:off x="8869127" y="5920310"/>
            <a:ext cx="2157573" cy="1957572"/>
            <a:chOff x="798962" y="5347353"/>
            <a:chExt cx="2157573" cy="1957572"/>
          </a:xfrm>
        </p:grpSpPr>
        <p:pic>
          <p:nvPicPr>
            <p:cNvPr id="30" name="図 29" descr="電子機器, コンピュータ が含まれている画像&#10;&#10;AI によって生成されたコンテンツは間違っている可能性があります。">
              <a:extLst>
                <a:ext uri="{FF2B5EF4-FFF2-40B4-BE49-F238E27FC236}">
                  <a16:creationId xmlns:a16="http://schemas.microsoft.com/office/drawing/2014/main" id="{96609F0F-9C8D-68EC-8251-4B08E797654D}"/>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99768" y="5347353"/>
              <a:ext cx="1456767" cy="1957572"/>
            </a:xfrm>
            <a:prstGeom prst="rect">
              <a:avLst/>
            </a:prstGeom>
          </p:spPr>
        </p:pic>
        <p:sp>
          <p:nvSpPr>
            <p:cNvPr id="31" name="テキスト ボックス 30">
              <a:extLst>
                <a:ext uri="{FF2B5EF4-FFF2-40B4-BE49-F238E27FC236}">
                  <a16:creationId xmlns:a16="http://schemas.microsoft.com/office/drawing/2014/main" id="{D19DE07D-41FD-5AA0-D21F-9C8D0CAC1440}"/>
                </a:ext>
              </a:extLst>
            </p:cNvPr>
            <p:cNvSpPr txBox="1"/>
            <p:nvPr/>
          </p:nvSpPr>
          <p:spPr>
            <a:xfrm>
              <a:off x="798962" y="5404207"/>
              <a:ext cx="2157573" cy="1900718"/>
            </a:xfrm>
            <a:prstGeom prst="rect">
              <a:avLst/>
            </a:prstGeom>
            <a:noFill/>
            <a:ln>
              <a:solidFill>
                <a:schemeClr val="tx1"/>
              </a:solidFill>
            </a:ln>
          </p:spPr>
          <p:txBody>
            <a:bodyPr wrap="square" rtlCol="0">
              <a:noAutofit/>
            </a:bodyPr>
            <a:lstStyle/>
            <a:p>
              <a:pPr algn="l"/>
              <a:r>
                <a:rPr lang="en-US" altLang="ja-JP"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B</a:t>
              </a:r>
              <a:r>
                <a:rPr kumimoji="1" lang="ja-JP" altLang="en-US"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店</a:t>
              </a:r>
              <a:endParaRPr kumimoji="1" lang="ja-JP" altLang="en-US" sz="2400" dirty="0">
                <a:ln>
                  <a:solidFill>
                    <a:schemeClr val="tx1"/>
                  </a:solidFill>
                </a:ln>
                <a:solidFill>
                  <a:schemeClr val="bg1">
                    <a:lumMod val="10000"/>
                  </a:schemeClr>
                </a:solidFill>
                <a:latin typeface="Meiryo UI" panose="020B0604030504040204" pitchFamily="50" charset="-128"/>
                <a:ea typeface="Meiryo UI" panose="020B0604030504040204" pitchFamily="50" charset="-128"/>
              </a:endParaRPr>
            </a:p>
          </p:txBody>
        </p:sp>
        <p:pic>
          <p:nvPicPr>
            <p:cNvPr id="32" name="図 31">
              <a:extLst>
                <a:ext uri="{FF2B5EF4-FFF2-40B4-BE49-F238E27FC236}">
                  <a16:creationId xmlns:a16="http://schemas.microsoft.com/office/drawing/2014/main" id="{409D4B23-599A-555D-2E9F-E8539CE50B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8500" y="5829076"/>
              <a:ext cx="719491" cy="719491"/>
            </a:xfrm>
            <a:prstGeom prst="rect">
              <a:avLst/>
            </a:prstGeom>
          </p:spPr>
        </p:pic>
      </p:grpSp>
      <p:pic>
        <p:nvPicPr>
          <p:cNvPr id="33" name="図 32" descr="電子機器, コンピュータ が含まれている画像&#10;&#10;AI によって生成されたコンテンツは間違っている可能性があります。">
            <a:extLst>
              <a:ext uri="{FF2B5EF4-FFF2-40B4-BE49-F238E27FC236}">
                <a16:creationId xmlns:a16="http://schemas.microsoft.com/office/drawing/2014/main" id="{F8EA14E4-8176-BF5D-8847-9221FA3368B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46867" y="6057939"/>
            <a:ext cx="1456767" cy="1957572"/>
          </a:xfrm>
          <a:prstGeom prst="rect">
            <a:avLst/>
          </a:prstGeom>
        </p:spPr>
      </p:pic>
      <p:pic>
        <p:nvPicPr>
          <p:cNvPr id="35" name="図 34">
            <a:extLst>
              <a:ext uri="{FF2B5EF4-FFF2-40B4-BE49-F238E27FC236}">
                <a16:creationId xmlns:a16="http://schemas.microsoft.com/office/drawing/2014/main" id="{51975924-DE4F-5005-0A0B-78BCDD6941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485" y="6802635"/>
            <a:ext cx="719491" cy="719491"/>
          </a:xfrm>
          <a:prstGeom prst="rect">
            <a:avLst/>
          </a:prstGeom>
        </p:spPr>
      </p:pic>
      <p:sp>
        <p:nvSpPr>
          <p:cNvPr id="41" name="テキスト ボックス 40">
            <a:extLst>
              <a:ext uri="{FF2B5EF4-FFF2-40B4-BE49-F238E27FC236}">
                <a16:creationId xmlns:a16="http://schemas.microsoft.com/office/drawing/2014/main" id="{95F2248E-9DD1-C9D2-F604-B35A976F383A}"/>
              </a:ext>
            </a:extLst>
          </p:cNvPr>
          <p:cNvSpPr txBox="1"/>
          <p:nvPr/>
        </p:nvSpPr>
        <p:spPr>
          <a:xfrm>
            <a:off x="12291595" y="5984423"/>
            <a:ext cx="4756209" cy="1900718"/>
          </a:xfrm>
          <a:prstGeom prst="rect">
            <a:avLst/>
          </a:prstGeom>
          <a:noFill/>
          <a:ln>
            <a:solidFill>
              <a:schemeClr val="tx1"/>
            </a:solidFill>
          </a:ln>
        </p:spPr>
        <p:txBody>
          <a:bodyPr wrap="square" rtlCol="0">
            <a:noAutofit/>
          </a:bodyPr>
          <a:lstStyle/>
          <a:p>
            <a:pPr algn="l"/>
            <a:r>
              <a:rPr lang="ja-JP" altLang="en-US" sz="2400">
                <a:ln>
                  <a:solidFill>
                    <a:schemeClr val="tx1"/>
                  </a:solidFill>
                </a:ln>
                <a:solidFill>
                  <a:schemeClr val="bg1">
                    <a:lumMod val="10000"/>
                  </a:schemeClr>
                </a:solidFill>
                <a:latin typeface="Meiryo UI" panose="020B0604030504040204" pitchFamily="50" charset="-128"/>
                <a:ea typeface="Meiryo UI" panose="020B0604030504040204" pitchFamily="50" charset="-128"/>
              </a:rPr>
              <a:t>全店</a:t>
            </a:r>
            <a:endParaRPr kumimoji="1" lang="ja-JP" altLang="en-US" sz="2400" dirty="0">
              <a:ln>
                <a:solidFill>
                  <a:schemeClr val="tx1"/>
                </a:solidFill>
              </a:ln>
              <a:solidFill>
                <a:schemeClr val="bg1">
                  <a:lumMod val="10000"/>
                </a:schemeClr>
              </a:solidFill>
              <a:latin typeface="Meiryo UI" panose="020B0604030504040204" pitchFamily="50" charset="-128"/>
              <a:ea typeface="Meiryo UI" panose="020B0604030504040204" pitchFamily="50" charset="-128"/>
            </a:endParaRPr>
          </a:p>
        </p:txBody>
      </p:sp>
      <p:pic>
        <p:nvPicPr>
          <p:cNvPr id="56" name="図 55" descr="電子機器, コンピュータ が含まれている画像&#10;&#10;AI によって生成されたコンテンツは間違っている可能性があります。">
            <a:extLst>
              <a:ext uri="{FF2B5EF4-FFF2-40B4-BE49-F238E27FC236}">
                <a16:creationId xmlns:a16="http://schemas.microsoft.com/office/drawing/2014/main" id="{A3B2DC7A-57FD-11CF-4541-7825DAAE6BD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462860" y="6060156"/>
            <a:ext cx="1456767" cy="1957572"/>
          </a:xfrm>
          <a:prstGeom prst="rect">
            <a:avLst/>
          </a:prstGeom>
        </p:spPr>
      </p:pic>
      <p:pic>
        <p:nvPicPr>
          <p:cNvPr id="57" name="図 56">
            <a:extLst>
              <a:ext uri="{FF2B5EF4-FFF2-40B4-BE49-F238E27FC236}">
                <a16:creationId xmlns:a16="http://schemas.microsoft.com/office/drawing/2014/main" id="{2FE3BC1F-126B-9534-2655-C788314584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12010" y="6513452"/>
            <a:ext cx="719491" cy="719491"/>
          </a:xfrm>
          <a:prstGeom prst="rect">
            <a:avLst/>
          </a:prstGeom>
        </p:spPr>
      </p:pic>
      <p:pic>
        <p:nvPicPr>
          <p:cNvPr id="86" name="図 85" descr="コンピューターの画面&#10;&#10;自動的に生成された説明">
            <a:extLst>
              <a:ext uri="{FF2B5EF4-FFF2-40B4-BE49-F238E27FC236}">
                <a16:creationId xmlns:a16="http://schemas.microsoft.com/office/drawing/2014/main" id="{E979DF38-F314-1791-5E32-7ADA857A9413}"/>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rot="16200000">
            <a:off x="4535391" y="6435477"/>
            <a:ext cx="683802" cy="1062742"/>
          </a:xfrm>
          <a:prstGeom prst="rect">
            <a:avLst/>
          </a:prstGeom>
        </p:spPr>
      </p:pic>
      <p:pic>
        <p:nvPicPr>
          <p:cNvPr id="87" name="図 86">
            <a:extLst>
              <a:ext uri="{FF2B5EF4-FFF2-40B4-BE49-F238E27FC236}">
                <a16:creationId xmlns:a16="http://schemas.microsoft.com/office/drawing/2014/main" id="{9A96AE70-3A20-D1E8-885D-1645A6FF00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33699" y="6607692"/>
            <a:ext cx="719491" cy="719491"/>
          </a:xfrm>
          <a:prstGeom prst="rect">
            <a:avLst/>
          </a:prstGeom>
        </p:spPr>
      </p:pic>
      <p:pic>
        <p:nvPicPr>
          <p:cNvPr id="89" name="図 88" descr="コンピューターの画面&#10;&#10;自動的に生成された説明">
            <a:extLst>
              <a:ext uri="{FF2B5EF4-FFF2-40B4-BE49-F238E27FC236}">
                <a16:creationId xmlns:a16="http://schemas.microsoft.com/office/drawing/2014/main" id="{C0DDEDAE-8BED-3DFA-1978-A3EAD89DFF85}"/>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rot="16200000">
            <a:off x="12560335" y="6454025"/>
            <a:ext cx="683802" cy="1062742"/>
          </a:xfrm>
          <a:prstGeom prst="rect">
            <a:avLst/>
          </a:prstGeom>
        </p:spPr>
      </p:pic>
      <p:pic>
        <p:nvPicPr>
          <p:cNvPr id="90" name="図 89">
            <a:extLst>
              <a:ext uri="{FF2B5EF4-FFF2-40B4-BE49-F238E27FC236}">
                <a16:creationId xmlns:a16="http://schemas.microsoft.com/office/drawing/2014/main" id="{F498462E-782F-1BF0-75C1-F5AC05C5AC5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8643" y="6626240"/>
            <a:ext cx="719491" cy="719491"/>
          </a:xfrm>
          <a:prstGeom prst="rect">
            <a:avLst/>
          </a:prstGeom>
        </p:spPr>
      </p:pic>
      <p:pic>
        <p:nvPicPr>
          <p:cNvPr id="10" name="図 9">
            <a:extLst>
              <a:ext uri="{FF2B5EF4-FFF2-40B4-BE49-F238E27FC236}">
                <a16:creationId xmlns:a16="http://schemas.microsoft.com/office/drawing/2014/main" id="{D56B4FBC-9461-2D9D-9FCC-2A8B0A49A9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69603" y="6488919"/>
            <a:ext cx="719491" cy="719491"/>
          </a:xfrm>
          <a:prstGeom prst="rect">
            <a:avLst/>
          </a:prstGeom>
        </p:spPr>
      </p:pic>
      <p:sp>
        <p:nvSpPr>
          <p:cNvPr id="11" name="吹き出し: 四角形 10">
            <a:extLst>
              <a:ext uri="{FF2B5EF4-FFF2-40B4-BE49-F238E27FC236}">
                <a16:creationId xmlns:a16="http://schemas.microsoft.com/office/drawing/2014/main" id="{D912FA58-54AE-275D-4C4F-4AB2E078ED11}"/>
              </a:ext>
            </a:extLst>
          </p:cNvPr>
          <p:cNvSpPr/>
          <p:nvPr/>
        </p:nvSpPr>
        <p:spPr>
          <a:xfrm>
            <a:off x="8014616" y="8436495"/>
            <a:ext cx="2157573" cy="1078276"/>
          </a:xfrm>
          <a:prstGeom prst="wedgeRectCallout">
            <a:avLst>
              <a:gd name="adj1" fmla="val -43962"/>
              <a:gd name="adj2" fmla="val -100720"/>
            </a:avLst>
          </a:prstGeom>
          <a:solidFill>
            <a:schemeClr val="bg1">
              <a:lumMod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59574C"/>
                </a:solidFill>
                <a:latin typeface="Source Sans Pro" panose="020B0503030403020204" pitchFamily="34" charset="0"/>
                <a:ea typeface="源ノ角ゴシック JP Regular" panose="020B0500000000000000" pitchFamily="34" charset="-128"/>
              </a:rPr>
              <a:t>現行</a:t>
            </a:r>
            <a:r>
              <a:rPr kumimoji="1" lang="en-US" altLang="ja-JP" sz="1200">
                <a:solidFill>
                  <a:srgbClr val="59574C"/>
                </a:solidFill>
                <a:latin typeface="Source Sans Pro" panose="020B0503030403020204" pitchFamily="34" charset="0"/>
                <a:ea typeface="源ノ角ゴシック JP Regular" panose="020B0500000000000000" pitchFamily="34" charset="-128"/>
              </a:rPr>
              <a:t>POS</a:t>
            </a:r>
            <a:r>
              <a:rPr kumimoji="1" lang="ja-JP" altLang="en-US" sz="1200">
                <a:solidFill>
                  <a:srgbClr val="59574C"/>
                </a:solidFill>
                <a:latin typeface="Source Sans Pro" panose="020B0503030403020204" pitchFamily="34" charset="0"/>
                <a:ea typeface="源ノ角ゴシック JP Regular" panose="020B0500000000000000" pitchFamily="34" charset="-128"/>
              </a:rPr>
              <a:t>アプリから</a:t>
            </a:r>
            <a:endParaRPr kumimoji="1" lang="en-US" altLang="ja-JP" sz="1200">
              <a:solidFill>
                <a:srgbClr val="59574C"/>
              </a:solidFill>
              <a:latin typeface="Source Sans Pro" panose="020B0503030403020204" pitchFamily="34" charset="0"/>
              <a:ea typeface="源ノ角ゴシック JP Regular" panose="020B0500000000000000" pitchFamily="34" charset="-128"/>
            </a:endParaRPr>
          </a:p>
          <a:p>
            <a:pPr algn="ctr"/>
            <a:r>
              <a:rPr kumimoji="1" lang="ja-JP" altLang="en-US" sz="1200">
                <a:solidFill>
                  <a:srgbClr val="59574C"/>
                </a:solidFill>
                <a:latin typeface="Source Sans Pro" panose="020B0503030403020204" pitchFamily="34" charset="0"/>
                <a:ea typeface="源ノ角ゴシック JP Regular" panose="020B0500000000000000" pitchFamily="34" charset="-128"/>
              </a:rPr>
              <a:t>タブレット</a:t>
            </a:r>
            <a:r>
              <a:rPr kumimoji="1" lang="en-US" altLang="ja-JP" sz="1200">
                <a:solidFill>
                  <a:srgbClr val="59574C"/>
                </a:solidFill>
                <a:latin typeface="Source Sans Pro" panose="020B0503030403020204" pitchFamily="34" charset="0"/>
                <a:ea typeface="源ノ角ゴシック JP Regular" panose="020B0500000000000000" pitchFamily="34" charset="-128"/>
              </a:rPr>
              <a:t>POS</a:t>
            </a:r>
            <a:r>
              <a:rPr kumimoji="1" lang="ja-JP" altLang="en-US" sz="1200">
                <a:solidFill>
                  <a:srgbClr val="59574C"/>
                </a:solidFill>
                <a:latin typeface="Source Sans Pro" panose="020B0503030403020204" pitchFamily="34" charset="0"/>
                <a:ea typeface="源ノ角ゴシック JP Regular" panose="020B0500000000000000" pitchFamily="34" charset="-128"/>
              </a:rPr>
              <a:t>アプリを</a:t>
            </a:r>
            <a:endParaRPr kumimoji="1" lang="en-US" altLang="ja-JP" sz="1200">
              <a:solidFill>
                <a:srgbClr val="59574C"/>
              </a:solidFill>
              <a:latin typeface="Source Sans Pro" panose="020B0503030403020204" pitchFamily="34" charset="0"/>
              <a:ea typeface="源ノ角ゴシック JP Regular" panose="020B0500000000000000" pitchFamily="34" charset="-128"/>
            </a:endParaRPr>
          </a:p>
          <a:p>
            <a:pPr algn="ctr"/>
            <a:r>
              <a:rPr kumimoji="1" lang="ja-JP" altLang="en-US" sz="1200">
                <a:solidFill>
                  <a:srgbClr val="59574C"/>
                </a:solidFill>
                <a:latin typeface="Source Sans Pro" panose="020B0503030403020204" pitchFamily="34" charset="0"/>
                <a:ea typeface="源ノ角ゴシック JP Regular" panose="020B0500000000000000" pitchFamily="34" charset="-128"/>
              </a:rPr>
              <a:t>起動</a:t>
            </a:r>
            <a:endParaRPr kumimoji="1" lang="ja-JP" altLang="en-US" sz="1200" dirty="0">
              <a:solidFill>
                <a:srgbClr val="59574C"/>
              </a:solidFill>
              <a:latin typeface="Source Sans Pro" panose="020B0503030403020204" pitchFamily="34" charset="0"/>
              <a:ea typeface="源ノ角ゴシック JP Regular" panose="020B0500000000000000" pitchFamily="34" charset="-128"/>
            </a:endParaRPr>
          </a:p>
        </p:txBody>
      </p:sp>
      <p:sp>
        <p:nvSpPr>
          <p:cNvPr id="25" name="吹き出し: 四角形 24">
            <a:extLst>
              <a:ext uri="{FF2B5EF4-FFF2-40B4-BE49-F238E27FC236}">
                <a16:creationId xmlns:a16="http://schemas.microsoft.com/office/drawing/2014/main" id="{DAEE981B-E143-0712-B83D-FDF4902F053B}"/>
              </a:ext>
            </a:extLst>
          </p:cNvPr>
          <p:cNvSpPr/>
          <p:nvPr/>
        </p:nvSpPr>
        <p:spPr>
          <a:xfrm>
            <a:off x="15439380" y="8436495"/>
            <a:ext cx="2056380" cy="1078276"/>
          </a:xfrm>
          <a:prstGeom prst="wedgeRectCallout">
            <a:avLst>
              <a:gd name="adj1" fmla="val -20480"/>
              <a:gd name="adj2" fmla="val -101673"/>
            </a:avLst>
          </a:prstGeom>
          <a:solidFill>
            <a:schemeClr val="bg1">
              <a:lumMod val="9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59574C"/>
                </a:solidFill>
                <a:latin typeface="Source Sans Pro" panose="020B0503030403020204" pitchFamily="34" charset="0"/>
                <a:ea typeface="源ノ角ゴシック JP Regular" panose="020B0500000000000000" pitchFamily="34" charset="-128"/>
              </a:rPr>
              <a:t>タブレット</a:t>
            </a:r>
            <a:r>
              <a:rPr kumimoji="1" lang="en-US" altLang="ja-JP" sz="1200">
                <a:solidFill>
                  <a:srgbClr val="59574C"/>
                </a:solidFill>
                <a:latin typeface="Source Sans Pro" panose="020B0503030403020204" pitchFamily="34" charset="0"/>
                <a:ea typeface="源ノ角ゴシック JP Regular" panose="020B0500000000000000" pitchFamily="34" charset="-128"/>
              </a:rPr>
              <a:t>POS</a:t>
            </a:r>
            <a:r>
              <a:rPr kumimoji="1" lang="ja-JP" altLang="en-US" sz="1200">
                <a:solidFill>
                  <a:srgbClr val="59574C"/>
                </a:solidFill>
                <a:latin typeface="Source Sans Pro" panose="020B0503030403020204" pitchFamily="34" charset="0"/>
                <a:ea typeface="源ノ角ゴシック JP Regular" panose="020B0500000000000000" pitchFamily="34" charset="-128"/>
              </a:rPr>
              <a:t>アプリ</a:t>
            </a:r>
            <a:r>
              <a:rPr lang="ja-JP" altLang="en-US" sz="1200">
                <a:solidFill>
                  <a:srgbClr val="59574C"/>
                </a:solidFill>
                <a:latin typeface="Source Sans Pro" panose="020B0503030403020204" pitchFamily="34" charset="0"/>
                <a:ea typeface="源ノ角ゴシック JP Regular" panose="020B0500000000000000" pitchFamily="34" charset="-128"/>
              </a:rPr>
              <a:t>のみ</a:t>
            </a:r>
            <a:endParaRPr kumimoji="1" lang="ja-JP" altLang="en-US" sz="1200" dirty="0">
              <a:solidFill>
                <a:srgbClr val="59574C"/>
              </a:solidFill>
              <a:latin typeface="Source Sans Pro" panose="020B0503030403020204" pitchFamily="34" charset="0"/>
              <a:ea typeface="源ノ角ゴシック JP Regular" panose="020B0500000000000000" pitchFamily="34" charset="-128"/>
            </a:endParaRPr>
          </a:p>
        </p:txBody>
      </p:sp>
      <p:pic>
        <p:nvPicPr>
          <p:cNvPr id="8" name="図 7">
            <a:extLst>
              <a:ext uri="{FF2B5EF4-FFF2-40B4-BE49-F238E27FC236}">
                <a16:creationId xmlns:a16="http://schemas.microsoft.com/office/drawing/2014/main" id="{BA2C88A0-B68E-594C-04CC-4530F58EFDD0}"/>
              </a:ext>
            </a:extLst>
          </p:cNvPr>
          <p:cNvPicPr>
            <a:picLocks noChangeAspect="1"/>
          </p:cNvPicPr>
          <p:nvPr/>
        </p:nvPicPr>
        <p:blipFill>
          <a:blip r:embed="rId8" cstate="print">
            <a:extLst>
              <a:ext uri="{28A0092B-C50C-407E-A947-70E740481C1C}">
                <a14:useLocalDpi xmlns:a14="http://schemas.microsoft.com/office/drawing/2010/main" val="0"/>
              </a:ext>
            </a:extLst>
          </a:blip>
          <a:srcRect b="-1505"/>
          <a:stretch/>
        </p:blipFill>
        <p:spPr>
          <a:xfrm>
            <a:off x="5726149" y="6658632"/>
            <a:ext cx="1518737" cy="1291694"/>
          </a:xfrm>
          <a:prstGeom prst="rect">
            <a:avLst/>
          </a:prstGeom>
        </p:spPr>
      </p:pic>
      <p:pic>
        <p:nvPicPr>
          <p:cNvPr id="40" name="図 39">
            <a:extLst>
              <a:ext uri="{FF2B5EF4-FFF2-40B4-BE49-F238E27FC236}">
                <a16:creationId xmlns:a16="http://schemas.microsoft.com/office/drawing/2014/main" id="{3ABA262D-131A-4E01-3C22-894EA3E919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58097" y="6733351"/>
            <a:ext cx="719491" cy="719491"/>
          </a:xfrm>
          <a:prstGeom prst="rect">
            <a:avLst/>
          </a:prstGeom>
        </p:spPr>
      </p:pic>
      <p:pic>
        <p:nvPicPr>
          <p:cNvPr id="9" name="図 8">
            <a:extLst>
              <a:ext uri="{FF2B5EF4-FFF2-40B4-BE49-F238E27FC236}">
                <a16:creationId xmlns:a16="http://schemas.microsoft.com/office/drawing/2014/main" id="{C419125D-D118-C35D-956A-F29ED8C80086}"/>
              </a:ext>
            </a:extLst>
          </p:cNvPr>
          <p:cNvPicPr>
            <a:picLocks noChangeAspect="1"/>
          </p:cNvPicPr>
          <p:nvPr/>
        </p:nvPicPr>
        <p:blipFill>
          <a:blip r:embed="rId8" cstate="print">
            <a:extLst>
              <a:ext uri="{28A0092B-C50C-407E-A947-70E740481C1C}">
                <a14:useLocalDpi xmlns:a14="http://schemas.microsoft.com/office/drawing/2010/main" val="0"/>
              </a:ext>
            </a:extLst>
          </a:blip>
          <a:srcRect b="-1505"/>
          <a:stretch/>
        </p:blipFill>
        <p:spPr>
          <a:xfrm>
            <a:off x="13795246" y="6643494"/>
            <a:ext cx="1518737" cy="1291694"/>
          </a:xfrm>
          <a:prstGeom prst="rect">
            <a:avLst/>
          </a:prstGeom>
        </p:spPr>
      </p:pic>
      <p:pic>
        <p:nvPicPr>
          <p:cNvPr id="53" name="図 52">
            <a:extLst>
              <a:ext uri="{FF2B5EF4-FFF2-40B4-BE49-F238E27FC236}">
                <a16:creationId xmlns:a16="http://schemas.microsoft.com/office/drawing/2014/main" id="{B5FCC2A6-1B24-5D54-A7EA-A29B54F012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110921" y="6733350"/>
            <a:ext cx="719491" cy="719491"/>
          </a:xfrm>
          <a:prstGeom prst="rect">
            <a:avLst/>
          </a:prstGeom>
        </p:spPr>
      </p:pic>
    </p:spTree>
    <p:extLst>
      <p:ext uri="{BB962C8B-B14F-4D97-AF65-F5344CB8AC3E}">
        <p14:creationId xmlns:p14="http://schemas.microsoft.com/office/powerpoint/2010/main" val="2688508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AF4A4-2F3A-4B84-D893-24C4B7FE0F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BB7AA0-590D-43F0-2BFB-EB1CF4F126BF}"/>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５－３．</a:t>
            </a:r>
            <a:r>
              <a:rPr lang="ja-JP" altLang="en-US"/>
              <a:t>全体スケジュール（１）</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FBAC8CA6-89F6-5B0F-203D-F71088EEB194}"/>
              </a:ext>
            </a:extLst>
          </p:cNvPr>
          <p:cNvSpPr>
            <a:spLocks noGrp="1"/>
          </p:cNvSpPr>
          <p:nvPr>
            <p:ph type="sldNum" sz="quarter" idx="12"/>
          </p:nvPr>
        </p:nvSpPr>
        <p:spPr/>
        <p:txBody>
          <a:bodyPr/>
          <a:lstStyle/>
          <a:p>
            <a:fld id="{2A9E37A5-A917-4235-ABF6-8CD72E894915}" type="slidenum">
              <a:rPr lang="en-US" altLang="ja-JP" smtClean="0"/>
              <a:pPr/>
              <a:t>16</a:t>
            </a:fld>
            <a:endParaRPr lang="ja-JP" altLang="en-US"/>
          </a:p>
        </p:txBody>
      </p:sp>
      <p:sp>
        <p:nvSpPr>
          <p:cNvPr id="4" name="フッター プレースホルダー 3">
            <a:extLst>
              <a:ext uri="{FF2B5EF4-FFF2-40B4-BE49-F238E27FC236}">
                <a16:creationId xmlns:a16="http://schemas.microsoft.com/office/drawing/2014/main" id="{11B0B23B-BE0F-5E68-A563-C761623C6615}"/>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03AF9C16-5D87-8304-A9E2-9942BF034BCC}"/>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pic>
        <p:nvPicPr>
          <p:cNvPr id="31" name="図 30">
            <a:extLst>
              <a:ext uri="{FF2B5EF4-FFF2-40B4-BE49-F238E27FC236}">
                <a16:creationId xmlns:a16="http://schemas.microsoft.com/office/drawing/2014/main" id="{5B5821EE-09B7-D5F7-C7A2-24D51FC1183E}"/>
              </a:ext>
            </a:extLst>
          </p:cNvPr>
          <p:cNvPicPr>
            <a:picLocks noChangeAspect="1"/>
          </p:cNvPicPr>
          <p:nvPr/>
        </p:nvPicPr>
        <p:blipFill>
          <a:blip r:embed="rId2"/>
          <a:stretch>
            <a:fillRect/>
          </a:stretch>
        </p:blipFill>
        <p:spPr>
          <a:xfrm>
            <a:off x="1633537" y="1496790"/>
            <a:ext cx="15020925" cy="8248650"/>
          </a:xfrm>
          <a:prstGeom prst="rect">
            <a:avLst/>
          </a:prstGeom>
        </p:spPr>
      </p:pic>
    </p:spTree>
    <p:extLst>
      <p:ext uri="{BB962C8B-B14F-4D97-AF65-F5344CB8AC3E}">
        <p14:creationId xmlns:p14="http://schemas.microsoft.com/office/powerpoint/2010/main" val="4192167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A6E5F-7D3D-88E2-D184-3025EA666E4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E2B3D8-BE18-1D2A-A38A-DF1C549112DB}"/>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５－３．</a:t>
            </a:r>
            <a:r>
              <a:rPr lang="ja-JP" altLang="en-US"/>
              <a:t>全体スケジュール（２）</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CE317C24-2F4E-5E15-9DDD-FF0851B354FA}"/>
              </a:ext>
            </a:extLst>
          </p:cNvPr>
          <p:cNvSpPr>
            <a:spLocks noGrp="1"/>
          </p:cNvSpPr>
          <p:nvPr>
            <p:ph type="sldNum" sz="quarter" idx="12"/>
          </p:nvPr>
        </p:nvSpPr>
        <p:spPr/>
        <p:txBody>
          <a:bodyPr/>
          <a:lstStyle/>
          <a:p>
            <a:fld id="{2A9E37A5-A917-4235-ABF6-8CD72E894915}" type="slidenum">
              <a:rPr lang="en-US" altLang="ja-JP" smtClean="0"/>
              <a:pPr/>
              <a:t>17</a:t>
            </a:fld>
            <a:endParaRPr lang="ja-JP" altLang="en-US"/>
          </a:p>
        </p:txBody>
      </p:sp>
      <p:sp>
        <p:nvSpPr>
          <p:cNvPr id="4" name="フッター プレースホルダー 3">
            <a:extLst>
              <a:ext uri="{FF2B5EF4-FFF2-40B4-BE49-F238E27FC236}">
                <a16:creationId xmlns:a16="http://schemas.microsoft.com/office/drawing/2014/main" id="{90CA0282-CA09-25D1-E669-72A09EE3B07D}"/>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4A0A5A6F-35A8-9299-CA48-DACC26FD70FB}"/>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8" name="テキスト ボックス 7">
            <a:extLst>
              <a:ext uri="{FF2B5EF4-FFF2-40B4-BE49-F238E27FC236}">
                <a16:creationId xmlns:a16="http://schemas.microsoft.com/office/drawing/2014/main" id="{D7828B55-07E6-991F-3FCA-2D97978A3DA5}"/>
              </a:ext>
            </a:extLst>
          </p:cNvPr>
          <p:cNvSpPr txBox="1"/>
          <p:nvPr/>
        </p:nvSpPr>
        <p:spPr>
          <a:xfrm>
            <a:off x="544207" y="1273473"/>
            <a:ext cx="17199585" cy="2723823"/>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開発は</a:t>
            </a:r>
            <a:r>
              <a:rPr lang="en-US" altLang="ja-JP" sz="2400">
                <a:latin typeface="メイリオ" panose="020B0604030504040204" pitchFamily="50" charset="-128"/>
                <a:ea typeface="メイリオ" panose="020B0604030504040204" pitchFamily="50" charset="-128"/>
              </a:rPr>
              <a:t>4</a:t>
            </a:r>
            <a:r>
              <a:rPr lang="ja-JP" altLang="en-US" sz="2400">
                <a:latin typeface="メイリオ" panose="020B0604030504040204" pitchFamily="50" charset="-128"/>
                <a:ea typeface="メイリオ" panose="020B0604030504040204" pitchFamily="50" charset="-128"/>
              </a:rPr>
              <a:t>チームに分割して推進します。（</a:t>
            </a:r>
            <a:r>
              <a:rPr lang="en-US" altLang="ja-JP" sz="2400">
                <a:latin typeface="メイリオ" panose="020B0604030504040204" pitchFamily="50" charset="-128"/>
                <a:ea typeface="メイリオ" panose="020B0604030504040204" pitchFamily="50" charset="-128"/>
              </a:rPr>
              <a:t>1</a:t>
            </a:r>
            <a:r>
              <a:rPr lang="ja-JP" altLang="en-US" sz="2400">
                <a:latin typeface="メイリオ" panose="020B0604030504040204" pitchFamily="50" charset="-128"/>
                <a:ea typeface="メイリオ" panose="020B0604030504040204" pitchFamily="50" charset="-128"/>
              </a:rPr>
              <a:t>チームは</a:t>
            </a:r>
            <a:r>
              <a:rPr lang="en-US" altLang="ja-JP" sz="2400">
                <a:latin typeface="メイリオ" panose="020B0604030504040204" pitchFamily="50" charset="-128"/>
                <a:ea typeface="メイリオ" panose="020B0604030504040204" pitchFamily="50" charset="-128"/>
              </a:rPr>
              <a:t>NSW</a:t>
            </a:r>
            <a:r>
              <a:rPr lang="ja-JP" altLang="en-US" sz="2400">
                <a:latin typeface="メイリオ" panose="020B0604030504040204" pitchFamily="50" charset="-128"/>
                <a:ea typeface="メイリオ" panose="020B0604030504040204" pitchFamily="50" charset="-128"/>
              </a:rPr>
              <a:t>様）</a:t>
            </a:r>
            <a:endParaRPr lang="en-US" altLang="ja-JP" sz="24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以下機能の先行開発によって、後続の大規模開発で発生する課題のリスク低減を図ります。</a:t>
            </a:r>
            <a:br>
              <a:rPr lang="en-US" altLang="ja-JP" sz="2400">
                <a:latin typeface="メイリオ" panose="020B0604030504040204" pitchFamily="50" charset="-128"/>
                <a:ea typeface="メイリオ" panose="020B0604030504040204" pitchFamily="50" charset="-128"/>
              </a:rPr>
            </a:br>
            <a:r>
              <a:rPr lang="ja-JP" altLang="en-US" sz="2400">
                <a:latin typeface="メイリオ" panose="020B0604030504040204" pitchFamily="50" charset="-128"/>
                <a:ea typeface="メイリオ" panose="020B0604030504040204" pitchFamily="50" charset="-128"/>
              </a:rPr>
              <a:t>配送売上（持帰・現金）、本精算、配送状況照会、Ｗｅｂ通販指示未処理照会</a:t>
            </a:r>
            <a:endParaRPr lang="en-US" altLang="ja-JP" sz="24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現行</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システムの改修は</a:t>
            </a:r>
            <a:r>
              <a:rPr lang="en-US" altLang="ja-JP" sz="2400">
                <a:latin typeface="メイリオ" panose="020B0604030504040204" pitchFamily="50" charset="-128"/>
                <a:ea typeface="メイリオ" panose="020B0604030504040204" pitchFamily="50" charset="-128"/>
              </a:rPr>
              <a:t>2026</a:t>
            </a:r>
            <a:r>
              <a:rPr lang="ja-JP" altLang="en-US" sz="2400">
                <a:latin typeface="メイリオ" panose="020B0604030504040204" pitchFamily="50" charset="-128"/>
                <a:ea typeface="メイリオ" panose="020B0604030504040204" pitchFamily="50" charset="-128"/>
              </a:rPr>
              <a:t>年</a:t>
            </a:r>
            <a:r>
              <a:rPr lang="en-US" altLang="ja-JP" sz="2400">
                <a:latin typeface="メイリオ" panose="020B0604030504040204" pitchFamily="50" charset="-128"/>
                <a:ea typeface="メイリオ" panose="020B0604030504040204" pitchFamily="50" charset="-128"/>
              </a:rPr>
              <a:t>11</a:t>
            </a:r>
            <a:r>
              <a:rPr lang="ja-JP" altLang="en-US" sz="2400">
                <a:latin typeface="メイリオ" panose="020B0604030504040204" pitchFamily="50" charset="-128"/>
                <a:ea typeface="メイリオ" panose="020B0604030504040204" pitchFamily="50" charset="-128"/>
              </a:rPr>
              <a:t>月に開発凍結し、</a:t>
            </a:r>
            <a:r>
              <a:rPr lang="en-US" altLang="ja-JP" sz="2400">
                <a:latin typeface="メイリオ" panose="020B0604030504040204" pitchFamily="50" charset="-128"/>
                <a:ea typeface="メイリオ" panose="020B0604030504040204" pitchFamily="50" charset="-128"/>
              </a:rPr>
              <a:t>2027</a:t>
            </a:r>
            <a:r>
              <a:rPr lang="ja-JP" altLang="en-US" sz="2400">
                <a:latin typeface="メイリオ" panose="020B0604030504040204" pitchFamily="50" charset="-128"/>
                <a:ea typeface="メイリオ" panose="020B0604030504040204" pitchFamily="50" charset="-128"/>
              </a:rPr>
              <a:t>年</a:t>
            </a:r>
            <a:r>
              <a:rPr lang="en-US" altLang="ja-JP" sz="2400">
                <a:latin typeface="メイリオ" panose="020B0604030504040204" pitchFamily="50" charset="-128"/>
                <a:ea typeface="メイリオ" panose="020B0604030504040204" pitchFamily="50" charset="-128"/>
              </a:rPr>
              <a:t>4</a:t>
            </a:r>
            <a:r>
              <a:rPr lang="ja-JP" altLang="en-US" sz="2400">
                <a:latin typeface="メイリオ" panose="020B0604030504040204" pitchFamily="50" charset="-128"/>
                <a:ea typeface="メイリオ" panose="020B0604030504040204" pitchFamily="50" charset="-128"/>
              </a:rPr>
              <a:t>月と</a:t>
            </a:r>
            <a:r>
              <a:rPr lang="en-US" altLang="ja-JP" sz="2400">
                <a:latin typeface="メイリオ" panose="020B0604030504040204" pitchFamily="50" charset="-128"/>
                <a:ea typeface="メイリオ" panose="020B0604030504040204" pitchFamily="50" charset="-128"/>
              </a:rPr>
              <a:t>2028</a:t>
            </a:r>
            <a:r>
              <a:rPr lang="ja-JP" altLang="en-US" sz="2400">
                <a:latin typeface="メイリオ" panose="020B0604030504040204" pitchFamily="50" charset="-128"/>
                <a:ea typeface="メイリオ" panose="020B0604030504040204" pitchFamily="50" charset="-128"/>
              </a:rPr>
              <a:t>年</a:t>
            </a:r>
            <a:r>
              <a:rPr lang="en-US" altLang="ja-JP" sz="2400">
                <a:latin typeface="メイリオ" panose="020B0604030504040204" pitchFamily="50" charset="-128"/>
                <a:ea typeface="メイリオ" panose="020B0604030504040204" pitchFamily="50" charset="-128"/>
              </a:rPr>
              <a:t>1</a:t>
            </a:r>
            <a:r>
              <a:rPr lang="ja-JP" altLang="en-US" sz="2400">
                <a:latin typeface="メイリオ" panose="020B0604030504040204" pitchFamily="50" charset="-128"/>
                <a:ea typeface="メイリオ" panose="020B0604030504040204" pitchFamily="50" charset="-128"/>
              </a:rPr>
              <a:t>月の</a:t>
            </a:r>
            <a:r>
              <a:rPr lang="en-US" altLang="ja-JP" sz="2400">
                <a:latin typeface="メイリオ" panose="020B0604030504040204" pitchFamily="50" charset="-128"/>
                <a:ea typeface="メイリオ" panose="020B0604030504040204" pitchFamily="50" charset="-128"/>
              </a:rPr>
              <a:t>2</a:t>
            </a:r>
            <a:r>
              <a:rPr lang="ja-JP" altLang="en-US" sz="2400">
                <a:latin typeface="メイリオ" panose="020B0604030504040204" pitchFamily="50" charset="-128"/>
                <a:ea typeface="メイリオ" panose="020B0604030504040204" pitchFamily="50" charset="-128"/>
              </a:rPr>
              <a:t>回、タブレット</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システムへの取り込みを実施します。</a:t>
            </a:r>
            <a:endParaRPr lang="en-US" altLang="ja-JP" sz="24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44998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56FD8-C4A1-D278-EF39-A5B041A1F048}"/>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EB225FC6-CD91-7D7B-E8D9-BE16DB0FF04F}"/>
              </a:ext>
            </a:extLst>
          </p:cNvPr>
          <p:cNvPicPr>
            <a:picLocks noChangeAspect="1"/>
          </p:cNvPicPr>
          <p:nvPr/>
        </p:nvPicPr>
        <p:blipFill>
          <a:blip r:embed="rId2"/>
          <a:stretch>
            <a:fillRect/>
          </a:stretch>
        </p:blipFill>
        <p:spPr>
          <a:xfrm>
            <a:off x="1880131" y="2143836"/>
            <a:ext cx="15176206" cy="7459200"/>
          </a:xfrm>
          <a:prstGeom prst="rect">
            <a:avLst/>
          </a:prstGeom>
        </p:spPr>
      </p:pic>
      <p:sp>
        <p:nvSpPr>
          <p:cNvPr id="2" name="タイトル 1">
            <a:extLst>
              <a:ext uri="{FF2B5EF4-FFF2-40B4-BE49-F238E27FC236}">
                <a16:creationId xmlns:a16="http://schemas.microsoft.com/office/drawing/2014/main" id="{E361033F-4EFF-32FB-6877-7EF366775541}"/>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５－３．全体スケジュール（３）</a:t>
            </a:r>
          </a:p>
        </p:txBody>
      </p:sp>
      <p:sp>
        <p:nvSpPr>
          <p:cNvPr id="3" name="スライド番号プレースホルダー 2">
            <a:extLst>
              <a:ext uri="{FF2B5EF4-FFF2-40B4-BE49-F238E27FC236}">
                <a16:creationId xmlns:a16="http://schemas.microsoft.com/office/drawing/2014/main" id="{43F9CC1B-1B12-7BBE-EF50-E80C15610DEB}"/>
              </a:ext>
            </a:extLst>
          </p:cNvPr>
          <p:cNvSpPr>
            <a:spLocks noGrp="1"/>
          </p:cNvSpPr>
          <p:nvPr>
            <p:ph type="sldNum" sz="quarter" idx="12"/>
          </p:nvPr>
        </p:nvSpPr>
        <p:spPr/>
        <p:txBody>
          <a:bodyPr/>
          <a:lstStyle/>
          <a:p>
            <a:fld id="{2A9E37A5-A917-4235-ABF6-8CD72E894915}" type="slidenum">
              <a:rPr lang="en-US" altLang="ja-JP" smtClean="0"/>
              <a:pPr/>
              <a:t>18</a:t>
            </a:fld>
            <a:endParaRPr lang="ja-JP" altLang="en-US"/>
          </a:p>
        </p:txBody>
      </p:sp>
      <p:sp>
        <p:nvSpPr>
          <p:cNvPr id="4" name="フッター プレースホルダー 3">
            <a:extLst>
              <a:ext uri="{FF2B5EF4-FFF2-40B4-BE49-F238E27FC236}">
                <a16:creationId xmlns:a16="http://schemas.microsoft.com/office/drawing/2014/main" id="{4D2C2F7C-6E67-D9AC-3A63-DA1521258977}"/>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278C6473-DFB0-A898-6859-5E96DD6F240C}"/>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8" name="タイトル 1">
            <a:extLst>
              <a:ext uri="{FF2B5EF4-FFF2-40B4-BE49-F238E27FC236}">
                <a16:creationId xmlns:a16="http://schemas.microsoft.com/office/drawing/2014/main" id="{E4159708-E377-52BB-7F81-A2D7EF34159E}"/>
              </a:ext>
            </a:extLst>
          </p:cNvPr>
          <p:cNvSpPr txBox="1">
            <a:spLocks/>
          </p:cNvSpPr>
          <p:nvPr/>
        </p:nvSpPr>
        <p:spPr>
          <a:xfrm>
            <a:off x="535800" y="1537976"/>
            <a:ext cx="15514200" cy="606422"/>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pPr>
              <a:lnSpc>
                <a:spcPct val="100000"/>
              </a:lnSpc>
            </a:pPr>
            <a:r>
              <a:rPr lang="ja-JP" altLang="en-US" sz="2000">
                <a:latin typeface="メイリオ" panose="020B0604030504040204" pitchFamily="50" charset="-128"/>
                <a:ea typeface="メイリオ" panose="020B0604030504040204" pitchFamily="50" charset="-128"/>
              </a:rPr>
              <a:t>開発グループ別機能一覧</a:t>
            </a:r>
            <a:endParaRPr lang="en-US" altLang="ja-JP" sz="2000">
              <a:latin typeface="メイリオ" panose="020B0604030504040204" pitchFamily="50" charset="-128"/>
              <a:ea typeface="メイリオ" panose="020B0604030504040204" pitchFamily="50" charset="-128"/>
            </a:endParaRPr>
          </a:p>
          <a:p>
            <a:pPr>
              <a:lnSpc>
                <a:spcPct val="100000"/>
              </a:lnSpc>
            </a:pPr>
            <a:r>
              <a:rPr lang="ja-JP" altLang="en-US" sz="2000">
                <a:latin typeface="メイリオ" panose="020B0604030504040204" pitchFamily="50" charset="-128"/>
                <a:ea typeface="メイリオ" panose="020B0604030504040204" pitchFamily="50" charset="-128"/>
              </a:rPr>
              <a:t>凡例　</a:t>
            </a:r>
            <a:r>
              <a:rPr lang="ja-JP" altLang="en-US" sz="2000">
                <a:solidFill>
                  <a:schemeClr val="accent5">
                    <a:lumMod val="20000"/>
                    <a:lumOff val="80000"/>
                  </a:schemeClr>
                </a:solidFill>
                <a:latin typeface="メイリオ" panose="020B0604030504040204" pitchFamily="50" charset="-128"/>
                <a:ea typeface="メイリオ" panose="020B0604030504040204" pitchFamily="50" charset="-128"/>
              </a:rPr>
              <a:t>■</a:t>
            </a:r>
            <a:r>
              <a:rPr lang="ja-JP" altLang="en-US" sz="2000">
                <a:latin typeface="メイリオ" panose="020B0604030504040204" pitchFamily="50" charset="-128"/>
                <a:ea typeface="メイリオ" panose="020B0604030504040204" pitchFamily="50" charset="-128"/>
              </a:rPr>
              <a:t>：</a:t>
            </a:r>
            <a:r>
              <a:rPr lang="en-US" altLang="ja-JP" sz="2000">
                <a:latin typeface="メイリオ" panose="020B0604030504040204" pitchFamily="50" charset="-128"/>
                <a:ea typeface="メイリオ" panose="020B0604030504040204" pitchFamily="50" charset="-128"/>
              </a:rPr>
              <a:t>SMJ</a:t>
            </a:r>
            <a:r>
              <a:rPr lang="ja-JP" altLang="en-US" sz="2000">
                <a:latin typeface="メイリオ" panose="020B0604030504040204" pitchFamily="50" charset="-128"/>
                <a:ea typeface="メイリオ" panose="020B0604030504040204" pitchFamily="50" charset="-128"/>
              </a:rPr>
              <a:t>　　</a:t>
            </a:r>
            <a:r>
              <a:rPr lang="ja-JP" altLang="en-US" sz="2000">
                <a:solidFill>
                  <a:schemeClr val="accent6">
                    <a:lumMod val="10000"/>
                    <a:lumOff val="90000"/>
                  </a:schemeClr>
                </a:solidFill>
                <a:latin typeface="メイリオ" panose="020B0604030504040204" pitchFamily="50" charset="-128"/>
                <a:ea typeface="メイリオ" panose="020B0604030504040204" pitchFamily="50" charset="-128"/>
              </a:rPr>
              <a:t>■</a:t>
            </a:r>
            <a:r>
              <a:rPr lang="ja-JP" altLang="en-US" sz="2000">
                <a:latin typeface="メイリオ" panose="020B0604030504040204" pitchFamily="50" charset="-128"/>
                <a:ea typeface="メイリオ" panose="020B0604030504040204" pitchFamily="50" charset="-128"/>
              </a:rPr>
              <a:t>：</a:t>
            </a:r>
            <a:r>
              <a:rPr lang="en-US" altLang="ja-JP" sz="2000">
                <a:latin typeface="メイリオ" panose="020B0604030504040204" pitchFamily="50" charset="-128"/>
                <a:ea typeface="メイリオ" panose="020B0604030504040204" pitchFamily="50" charset="-128"/>
              </a:rPr>
              <a:t>NSW</a:t>
            </a:r>
            <a:endParaRPr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10819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40E94-8BCC-5063-25D8-F13E7B1203EA}"/>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4D815CCA-DEB7-AFE9-678D-D600D45E9096}"/>
              </a:ext>
            </a:extLst>
          </p:cNvPr>
          <p:cNvPicPr>
            <a:picLocks noChangeAspect="1"/>
          </p:cNvPicPr>
          <p:nvPr/>
        </p:nvPicPr>
        <p:blipFill>
          <a:blip r:embed="rId2"/>
          <a:stretch>
            <a:fillRect/>
          </a:stretch>
        </p:blipFill>
        <p:spPr>
          <a:xfrm>
            <a:off x="1871142" y="2143272"/>
            <a:ext cx="15176206" cy="7459200"/>
          </a:xfrm>
          <a:prstGeom prst="rect">
            <a:avLst/>
          </a:prstGeom>
        </p:spPr>
      </p:pic>
      <p:sp>
        <p:nvSpPr>
          <p:cNvPr id="2" name="タイトル 1">
            <a:extLst>
              <a:ext uri="{FF2B5EF4-FFF2-40B4-BE49-F238E27FC236}">
                <a16:creationId xmlns:a16="http://schemas.microsoft.com/office/drawing/2014/main" id="{26FAA8F1-D5F1-AEF5-B059-99ACC478B9F5}"/>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５－３．</a:t>
            </a:r>
            <a:r>
              <a:rPr lang="ja-JP" altLang="en-US"/>
              <a:t>全体スケジュール（４）</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146B9CCA-1986-EDDF-A992-12ADB2EABCE2}"/>
              </a:ext>
            </a:extLst>
          </p:cNvPr>
          <p:cNvSpPr>
            <a:spLocks noGrp="1"/>
          </p:cNvSpPr>
          <p:nvPr>
            <p:ph type="sldNum" sz="quarter" idx="12"/>
          </p:nvPr>
        </p:nvSpPr>
        <p:spPr/>
        <p:txBody>
          <a:bodyPr/>
          <a:lstStyle/>
          <a:p>
            <a:fld id="{2A9E37A5-A917-4235-ABF6-8CD72E894915}" type="slidenum">
              <a:rPr lang="en-US" altLang="ja-JP" smtClean="0"/>
              <a:pPr/>
              <a:t>19</a:t>
            </a:fld>
            <a:endParaRPr lang="ja-JP" altLang="en-US"/>
          </a:p>
        </p:txBody>
      </p:sp>
      <p:sp>
        <p:nvSpPr>
          <p:cNvPr id="4" name="フッター プレースホルダー 3">
            <a:extLst>
              <a:ext uri="{FF2B5EF4-FFF2-40B4-BE49-F238E27FC236}">
                <a16:creationId xmlns:a16="http://schemas.microsoft.com/office/drawing/2014/main" id="{EA8B4E75-85AC-D3CD-E824-E84D0A644E19}"/>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EDC22588-59F3-080E-3818-52F01904DE07}"/>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5" name="タイトル 1">
            <a:extLst>
              <a:ext uri="{FF2B5EF4-FFF2-40B4-BE49-F238E27FC236}">
                <a16:creationId xmlns:a16="http://schemas.microsoft.com/office/drawing/2014/main" id="{63E018C1-CA34-CD83-D79C-1E45A216F0BB}"/>
              </a:ext>
            </a:extLst>
          </p:cNvPr>
          <p:cNvSpPr txBox="1">
            <a:spLocks/>
          </p:cNvSpPr>
          <p:nvPr/>
        </p:nvSpPr>
        <p:spPr>
          <a:xfrm>
            <a:off x="535800" y="1537976"/>
            <a:ext cx="15514200" cy="606422"/>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pPr>
              <a:lnSpc>
                <a:spcPct val="100000"/>
              </a:lnSpc>
            </a:pPr>
            <a:r>
              <a:rPr lang="ja-JP" altLang="en-US" sz="2000">
                <a:latin typeface="メイリオ" panose="020B0604030504040204" pitchFamily="50" charset="-128"/>
                <a:ea typeface="メイリオ" panose="020B0604030504040204" pitchFamily="50" charset="-128"/>
              </a:rPr>
              <a:t>開発グループ別機能一覧</a:t>
            </a:r>
            <a:endParaRPr lang="en-US" altLang="ja-JP" sz="2000">
              <a:latin typeface="メイリオ" panose="020B0604030504040204" pitchFamily="50" charset="-128"/>
              <a:ea typeface="メイリオ" panose="020B0604030504040204" pitchFamily="50" charset="-128"/>
            </a:endParaRPr>
          </a:p>
          <a:p>
            <a:pPr>
              <a:lnSpc>
                <a:spcPct val="100000"/>
              </a:lnSpc>
            </a:pPr>
            <a:r>
              <a:rPr lang="ja-JP" altLang="en-US" sz="2000">
                <a:latin typeface="メイリオ" panose="020B0604030504040204" pitchFamily="50" charset="-128"/>
                <a:ea typeface="メイリオ" panose="020B0604030504040204" pitchFamily="50" charset="-128"/>
              </a:rPr>
              <a:t>凡例　</a:t>
            </a:r>
            <a:r>
              <a:rPr lang="ja-JP" altLang="en-US" sz="2000">
                <a:solidFill>
                  <a:schemeClr val="accent5">
                    <a:lumMod val="20000"/>
                    <a:lumOff val="80000"/>
                  </a:schemeClr>
                </a:solidFill>
                <a:latin typeface="メイリオ" panose="020B0604030504040204" pitchFamily="50" charset="-128"/>
                <a:ea typeface="メイリオ" panose="020B0604030504040204" pitchFamily="50" charset="-128"/>
              </a:rPr>
              <a:t>■</a:t>
            </a:r>
            <a:r>
              <a:rPr lang="ja-JP" altLang="en-US" sz="2000">
                <a:latin typeface="メイリオ" panose="020B0604030504040204" pitchFamily="50" charset="-128"/>
                <a:ea typeface="メイリオ" panose="020B0604030504040204" pitchFamily="50" charset="-128"/>
              </a:rPr>
              <a:t>：</a:t>
            </a:r>
            <a:r>
              <a:rPr lang="en-US" altLang="ja-JP" sz="2000">
                <a:latin typeface="メイリオ" panose="020B0604030504040204" pitchFamily="50" charset="-128"/>
                <a:ea typeface="メイリオ" panose="020B0604030504040204" pitchFamily="50" charset="-128"/>
              </a:rPr>
              <a:t>SMJ</a:t>
            </a:r>
            <a:r>
              <a:rPr lang="ja-JP" altLang="en-US" sz="2000">
                <a:latin typeface="メイリオ" panose="020B0604030504040204" pitchFamily="50" charset="-128"/>
                <a:ea typeface="メイリオ" panose="020B0604030504040204" pitchFamily="50" charset="-128"/>
              </a:rPr>
              <a:t>　　</a:t>
            </a:r>
            <a:r>
              <a:rPr lang="ja-JP" altLang="en-US" sz="2000">
                <a:solidFill>
                  <a:schemeClr val="accent6">
                    <a:lumMod val="10000"/>
                    <a:lumOff val="90000"/>
                  </a:schemeClr>
                </a:solidFill>
                <a:latin typeface="メイリオ" panose="020B0604030504040204" pitchFamily="50" charset="-128"/>
                <a:ea typeface="メイリオ" panose="020B0604030504040204" pitchFamily="50" charset="-128"/>
              </a:rPr>
              <a:t>■</a:t>
            </a:r>
            <a:r>
              <a:rPr lang="ja-JP" altLang="en-US" sz="2000">
                <a:latin typeface="メイリオ" panose="020B0604030504040204" pitchFamily="50" charset="-128"/>
                <a:ea typeface="メイリオ" panose="020B0604030504040204" pitchFamily="50" charset="-128"/>
              </a:rPr>
              <a:t>：</a:t>
            </a:r>
            <a:r>
              <a:rPr lang="en-US" altLang="ja-JP" sz="2000">
                <a:latin typeface="メイリオ" panose="020B0604030504040204" pitchFamily="50" charset="-128"/>
                <a:ea typeface="メイリオ" panose="020B0604030504040204" pitchFamily="50" charset="-128"/>
              </a:rPr>
              <a:t>NSW</a:t>
            </a:r>
            <a:endParaRPr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70327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3D191-D5C3-F282-89D8-C1B5239B67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45458E-3A64-81A3-8865-C84E07D3542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５－４．接続デバイス</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FE32BEDA-8D79-771A-15FD-5A108A155A08}"/>
              </a:ext>
            </a:extLst>
          </p:cNvPr>
          <p:cNvSpPr>
            <a:spLocks noGrp="1"/>
          </p:cNvSpPr>
          <p:nvPr>
            <p:ph type="sldNum" sz="quarter" idx="12"/>
          </p:nvPr>
        </p:nvSpPr>
        <p:spPr/>
        <p:txBody>
          <a:bodyPr/>
          <a:lstStyle/>
          <a:p>
            <a:fld id="{2A9E37A5-A917-4235-ABF6-8CD72E894915}" type="slidenum">
              <a:rPr lang="en-US" altLang="ja-JP" smtClean="0"/>
              <a:pPr/>
              <a:t>20</a:t>
            </a:fld>
            <a:endParaRPr lang="ja-JP" altLang="en-US"/>
          </a:p>
        </p:txBody>
      </p:sp>
      <p:sp>
        <p:nvSpPr>
          <p:cNvPr id="4" name="フッター プレースホルダー 3">
            <a:extLst>
              <a:ext uri="{FF2B5EF4-FFF2-40B4-BE49-F238E27FC236}">
                <a16:creationId xmlns:a16="http://schemas.microsoft.com/office/drawing/2014/main" id="{63601292-A577-ADAE-EC7A-FCE619AFAFE0}"/>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915CAE2C-8223-3518-BD5D-2CF54FC2866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17" name="テキスト ボックス 16">
            <a:extLst>
              <a:ext uri="{FF2B5EF4-FFF2-40B4-BE49-F238E27FC236}">
                <a16:creationId xmlns:a16="http://schemas.microsoft.com/office/drawing/2014/main" id="{AEEE45B6-F3B0-4BF8-C418-8934BF43C65F}"/>
              </a:ext>
            </a:extLst>
          </p:cNvPr>
          <p:cNvSpPr txBox="1"/>
          <p:nvPr/>
        </p:nvSpPr>
        <p:spPr>
          <a:xfrm>
            <a:off x="544207" y="1273473"/>
            <a:ext cx="17199585" cy="1061829"/>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タブレット</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アプリから使用するデバイスの接続方式（上段）、検証済みの機種（下段）は以下の通りです。</a:t>
            </a:r>
            <a:br>
              <a:rPr lang="en-US" altLang="ja-JP" sz="2400">
                <a:latin typeface="メイリオ" panose="020B0604030504040204" pitchFamily="50" charset="-128"/>
                <a:ea typeface="メイリオ" panose="020B0604030504040204" pitchFamily="50" charset="-128"/>
              </a:rPr>
            </a:br>
            <a:r>
              <a:rPr lang="en-US" altLang="ja-JP" sz="2400">
                <a:latin typeface="メイリオ" panose="020B0604030504040204" pitchFamily="50" charset="-128"/>
                <a:ea typeface="メイリオ" panose="020B0604030504040204" pitchFamily="50" charset="-128"/>
              </a:rPr>
              <a:t>※Windows</a:t>
            </a:r>
            <a:r>
              <a:rPr lang="ja-JP" altLang="en-US" sz="2400">
                <a:latin typeface="メイリオ" panose="020B0604030504040204" pitchFamily="50" charset="-128"/>
                <a:ea typeface="メイリオ" panose="020B0604030504040204" pitchFamily="50" charset="-128"/>
              </a:rPr>
              <a:t>タブレットは機種により外部インターフェースが異なります。</a:t>
            </a:r>
            <a:endParaRPr lang="en-US" altLang="ja-JP" sz="2400">
              <a:latin typeface="メイリオ" panose="020B0604030504040204" pitchFamily="50" charset="-128"/>
              <a:ea typeface="メイリオ" panose="020B0604030504040204" pitchFamily="50" charset="-128"/>
            </a:endParaRPr>
          </a:p>
        </p:txBody>
      </p:sp>
      <p:graphicFrame>
        <p:nvGraphicFramePr>
          <p:cNvPr id="6" name="表 5">
            <a:extLst>
              <a:ext uri="{FF2B5EF4-FFF2-40B4-BE49-F238E27FC236}">
                <a16:creationId xmlns:a16="http://schemas.microsoft.com/office/drawing/2014/main" id="{3E3F4FB8-8DA4-0969-D7E1-BAA7F4EED582}"/>
              </a:ext>
            </a:extLst>
          </p:cNvPr>
          <p:cNvGraphicFramePr>
            <a:graphicFrameLocks noGrp="1"/>
          </p:cNvGraphicFramePr>
          <p:nvPr>
            <p:extLst>
              <p:ext uri="{D42A27DB-BD31-4B8C-83A1-F6EECF244321}">
                <p14:modId xmlns:p14="http://schemas.microsoft.com/office/powerpoint/2010/main" val="238056887"/>
              </p:ext>
            </p:extLst>
          </p:nvPr>
        </p:nvGraphicFramePr>
        <p:xfrm>
          <a:off x="1727847" y="2503920"/>
          <a:ext cx="15186639" cy="7450515"/>
        </p:xfrm>
        <a:graphic>
          <a:graphicData uri="http://schemas.openxmlformats.org/drawingml/2006/table">
            <a:tbl>
              <a:tblPr firstRow="1" bandRow="1">
                <a:tableStyleId>{5C22544A-7EE6-4342-B048-85BDC9FD1C3A}</a:tableStyleId>
              </a:tblPr>
              <a:tblGrid>
                <a:gridCol w="3746174">
                  <a:extLst>
                    <a:ext uri="{9D8B030D-6E8A-4147-A177-3AD203B41FA5}">
                      <a16:colId xmlns:a16="http://schemas.microsoft.com/office/drawing/2014/main" val="1186304496"/>
                    </a:ext>
                  </a:extLst>
                </a:gridCol>
                <a:gridCol w="3847145">
                  <a:extLst>
                    <a:ext uri="{9D8B030D-6E8A-4147-A177-3AD203B41FA5}">
                      <a16:colId xmlns:a16="http://schemas.microsoft.com/office/drawing/2014/main" val="324495198"/>
                    </a:ext>
                  </a:extLst>
                </a:gridCol>
                <a:gridCol w="3796660">
                  <a:extLst>
                    <a:ext uri="{9D8B030D-6E8A-4147-A177-3AD203B41FA5}">
                      <a16:colId xmlns:a16="http://schemas.microsoft.com/office/drawing/2014/main" val="3409675425"/>
                    </a:ext>
                  </a:extLst>
                </a:gridCol>
                <a:gridCol w="3796660">
                  <a:extLst>
                    <a:ext uri="{9D8B030D-6E8A-4147-A177-3AD203B41FA5}">
                      <a16:colId xmlns:a16="http://schemas.microsoft.com/office/drawing/2014/main" val="78766039"/>
                    </a:ext>
                  </a:extLst>
                </a:gridCol>
              </a:tblGrid>
              <a:tr h="624177">
                <a:tc>
                  <a:txBody>
                    <a:bodyPr/>
                    <a:lstStyle/>
                    <a:p>
                      <a:r>
                        <a:rPr kumimoji="1" lang="ja-JP" altLang="en-US" sz="1800" dirty="0"/>
                        <a:t>デバイス</a:t>
                      </a:r>
                    </a:p>
                  </a:txBody>
                  <a:tcPr/>
                </a:tc>
                <a:tc>
                  <a:txBody>
                    <a:bodyPr/>
                    <a:lstStyle/>
                    <a:p>
                      <a:r>
                        <a:rPr kumimoji="1" lang="en-US" altLang="ja-JP" sz="1800"/>
                        <a:t>Windows</a:t>
                      </a:r>
                      <a:r>
                        <a:rPr kumimoji="1" lang="ja-JP" altLang="en-US" sz="1800"/>
                        <a:t>タブレット</a:t>
                      </a:r>
                      <a:endParaRPr kumimoji="1" lang="en-US" altLang="ja-JP" sz="1800"/>
                    </a:p>
                    <a:p>
                      <a:r>
                        <a:rPr kumimoji="1" lang="ja-JP" altLang="en-US" sz="1800"/>
                        <a:t>未選定（</a:t>
                      </a:r>
                      <a:r>
                        <a:rPr kumimoji="1" lang="en-US" altLang="ja-JP" sz="1800"/>
                        <a:t>※</a:t>
                      </a:r>
                      <a:r>
                        <a:rPr kumimoji="1" lang="ja-JP" altLang="en-US" sz="1800"/>
                        <a:t>）</a:t>
                      </a:r>
                      <a:endParaRPr kumimoji="1" lang="ja-JP" altLang="en-US" sz="1800" dirty="0"/>
                    </a:p>
                  </a:txBody>
                  <a:tcPr/>
                </a:tc>
                <a:tc>
                  <a:txBody>
                    <a:bodyPr/>
                    <a:lstStyle/>
                    <a:p>
                      <a:r>
                        <a:rPr kumimoji="1" lang="en-US" altLang="ja-JP" sz="1800"/>
                        <a:t>iPad mini</a:t>
                      </a:r>
                    </a:p>
                    <a:p>
                      <a:r>
                        <a:rPr kumimoji="1" lang="ja-JP" altLang="en-US" sz="1800"/>
                        <a:t>第</a:t>
                      </a:r>
                      <a:r>
                        <a:rPr kumimoji="1" lang="en-US" altLang="ja-JP" sz="1800"/>
                        <a:t>5</a:t>
                      </a:r>
                      <a:r>
                        <a:rPr kumimoji="1" lang="ja-JP" altLang="en-US" sz="1800"/>
                        <a:t>世代</a:t>
                      </a:r>
                      <a:endParaRPr kumimoji="1" lang="ja-JP" altLang="en-US"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a:t>据置</a:t>
                      </a:r>
                      <a:r>
                        <a:rPr kumimoji="1" lang="en-US" altLang="ja-JP" sz="1800"/>
                        <a:t>POS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a:t>RZ-476</a:t>
                      </a:r>
                      <a:endParaRPr kumimoji="1" lang="ja-JP" altLang="en-US" sz="1800" dirty="0"/>
                    </a:p>
                  </a:txBody>
                  <a:tcPr/>
                </a:tc>
                <a:extLst>
                  <a:ext uri="{0D108BD9-81ED-4DB2-BD59-A6C34878D82A}">
                    <a16:rowId xmlns:a16="http://schemas.microsoft.com/office/drawing/2014/main" val="3990465326"/>
                  </a:ext>
                </a:extLst>
              </a:tr>
              <a:tr h="501075">
                <a:tc>
                  <a:txBody>
                    <a:bodyPr/>
                    <a:lstStyle/>
                    <a:p>
                      <a:r>
                        <a:rPr kumimoji="1" lang="ja-JP" altLang="en-US" sz="1800" dirty="0"/>
                        <a:t>ネットワーク</a:t>
                      </a:r>
                    </a:p>
                  </a:txBody>
                  <a:tcPr/>
                </a:tc>
                <a:tc>
                  <a:txBody>
                    <a:bodyPr/>
                    <a:lstStyle/>
                    <a:p>
                      <a:pPr algn="ctr"/>
                      <a:r>
                        <a:rPr kumimoji="1" lang="ja-JP" altLang="en-US" sz="2000" dirty="0"/>
                        <a:t>有線</a:t>
                      </a:r>
                      <a:r>
                        <a:rPr kumimoji="1" lang="en-US" altLang="ja-JP" sz="2000" dirty="0" err="1"/>
                        <a:t>lAN</a:t>
                      </a:r>
                      <a:endParaRPr kumimoji="1" lang="ja-JP" altLang="en-US" sz="2000" dirty="0"/>
                    </a:p>
                  </a:txBody>
                  <a:tcPr/>
                </a:tc>
                <a:tc>
                  <a:txBody>
                    <a:bodyPr/>
                    <a:lstStyle/>
                    <a:p>
                      <a:pPr algn="ctr"/>
                      <a:r>
                        <a:rPr kumimoji="1" lang="en-US" altLang="ja-JP" sz="2000" dirty="0" err="1"/>
                        <a:t>Wifi</a:t>
                      </a:r>
                      <a:endParaRPr kumimoji="1" lang="ja-JP" altLang="en-US" sz="2000" dirty="0"/>
                    </a:p>
                  </a:txBody>
                  <a:tcPr/>
                </a:tc>
                <a:tc>
                  <a:txBody>
                    <a:bodyPr/>
                    <a:lstStyle/>
                    <a:p>
                      <a:pPr algn="ctr"/>
                      <a:r>
                        <a:rPr kumimoji="1" lang="ja-JP" altLang="en-US" sz="2000" dirty="0"/>
                        <a:t>有線</a:t>
                      </a:r>
                      <a:r>
                        <a:rPr kumimoji="1" lang="en-US" altLang="ja-JP" sz="2000" dirty="0"/>
                        <a:t>LAN</a:t>
                      </a:r>
                      <a:endParaRPr kumimoji="1" lang="ja-JP" altLang="en-US" sz="2000" dirty="0"/>
                    </a:p>
                  </a:txBody>
                  <a:tcPr/>
                </a:tc>
                <a:extLst>
                  <a:ext uri="{0D108BD9-81ED-4DB2-BD59-A6C34878D82A}">
                    <a16:rowId xmlns:a16="http://schemas.microsoft.com/office/drawing/2014/main" val="89097173"/>
                  </a:ext>
                </a:extLst>
              </a:tr>
              <a:tr h="683622">
                <a:tc>
                  <a:txBody>
                    <a:bodyPr/>
                    <a:lstStyle/>
                    <a:p>
                      <a:r>
                        <a:rPr kumimoji="1" lang="ja-JP" altLang="en-US" sz="1800" dirty="0"/>
                        <a:t>スキャナ</a:t>
                      </a:r>
                    </a:p>
                  </a:txBody>
                  <a:tcPr/>
                </a:tc>
                <a:tc>
                  <a:txBody>
                    <a:bodyPr/>
                    <a:lstStyle/>
                    <a:p>
                      <a:pPr algn="ctr"/>
                      <a:r>
                        <a:rPr kumimoji="1" lang="en-US" altLang="ja-JP" sz="2000"/>
                        <a:t>USB</a:t>
                      </a:r>
                    </a:p>
                    <a:p>
                      <a:pPr algn="ctr"/>
                      <a:r>
                        <a:rPr kumimoji="1" lang="ja-JP" altLang="en-US" sz="2000"/>
                        <a:t>検証前</a:t>
                      </a:r>
                      <a:endParaRPr kumimoji="1" lang="ja-JP" altLang="en-US" sz="2000" dirty="0"/>
                    </a:p>
                  </a:txBody>
                  <a:tcPr/>
                </a:tc>
                <a:tc>
                  <a:txBody>
                    <a:bodyPr/>
                    <a:lstStyle/>
                    <a:p>
                      <a:pPr algn="ctr"/>
                      <a:endParaRPr kumimoji="1" lang="ja-JP" altLang="en-US" sz="2000" dirty="0">
                        <a:solidFill>
                          <a:schemeClr val="tx1"/>
                        </a:solidFill>
                      </a:endParaRPr>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tc>
                  <a:txBody>
                    <a:bodyPr/>
                    <a:lstStyle/>
                    <a:p>
                      <a:pPr algn="ctr"/>
                      <a:r>
                        <a:rPr kumimoji="1" lang="en-US" altLang="ja-JP" sz="2000">
                          <a:solidFill>
                            <a:schemeClr val="tx1"/>
                          </a:solidFill>
                        </a:rPr>
                        <a:t>USB</a:t>
                      </a:r>
                      <a:br>
                        <a:rPr kumimoji="1" lang="en-US" altLang="ja-JP" sz="2000">
                          <a:solidFill>
                            <a:schemeClr val="tx1"/>
                          </a:solidFill>
                        </a:rPr>
                      </a:br>
                      <a:r>
                        <a:rPr kumimoji="1" lang="en-US" altLang="ja-JP" sz="2000">
                          <a:solidFill>
                            <a:schemeClr val="tx1"/>
                          </a:solidFill>
                        </a:rPr>
                        <a:t>AT30Q</a:t>
                      </a:r>
                      <a:endParaRPr kumimoji="1" lang="ja-JP" altLang="en-US" sz="2000" dirty="0">
                        <a:solidFill>
                          <a:schemeClr val="tx1"/>
                        </a:solidFill>
                      </a:endParaRPr>
                    </a:p>
                  </a:txBody>
                  <a:tcPr/>
                </a:tc>
                <a:extLst>
                  <a:ext uri="{0D108BD9-81ED-4DB2-BD59-A6C34878D82A}">
                    <a16:rowId xmlns:a16="http://schemas.microsoft.com/office/drawing/2014/main" val="773231416"/>
                  </a:ext>
                </a:extLst>
              </a:tr>
              <a:tr h="683622">
                <a:tc>
                  <a:txBody>
                    <a:bodyPr/>
                    <a:lstStyle/>
                    <a:p>
                      <a:r>
                        <a:rPr kumimoji="1" lang="ja-JP" altLang="en-US" sz="1800" dirty="0"/>
                        <a:t>カメラ</a:t>
                      </a:r>
                    </a:p>
                  </a:txBody>
                  <a:tcPr/>
                </a:tc>
                <a:tc>
                  <a:txBody>
                    <a:bodyPr/>
                    <a:lstStyle/>
                    <a:p>
                      <a:pPr algn="ctr"/>
                      <a:endParaRPr kumimoji="1" lang="ja-JP" altLang="en-US" sz="2000" dirty="0">
                        <a:solidFill>
                          <a:schemeClr val="tx1"/>
                        </a:solidFill>
                      </a:endParaRPr>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tc>
                  <a:txBody>
                    <a:bodyPr/>
                    <a:lstStyle/>
                    <a:p>
                      <a:pPr algn="ctr"/>
                      <a:r>
                        <a:rPr kumimoji="1" lang="ja-JP" altLang="en-US" sz="2000">
                          <a:solidFill>
                            <a:schemeClr val="tx1"/>
                          </a:solidFill>
                        </a:rPr>
                        <a:t>内蔵</a:t>
                      </a:r>
                      <a:endParaRPr kumimoji="1" lang="en-US" altLang="ja-JP" sz="2000">
                        <a:solidFill>
                          <a:schemeClr val="tx1"/>
                        </a:solidFill>
                      </a:endParaRPr>
                    </a:p>
                    <a:p>
                      <a:pPr algn="ctr"/>
                      <a:r>
                        <a:rPr kumimoji="1" lang="ja-JP" altLang="en-US" sz="2000">
                          <a:solidFill>
                            <a:schemeClr val="tx1"/>
                          </a:solidFill>
                        </a:rPr>
                        <a:t>ー</a:t>
                      </a:r>
                      <a:endParaRPr kumimoji="1" lang="en-US" altLang="ja-JP" sz="2000" dirty="0">
                        <a:solidFill>
                          <a:schemeClr val="tx1"/>
                        </a:solidFill>
                      </a:endParaRPr>
                    </a:p>
                  </a:txBody>
                  <a:tcPr/>
                </a:tc>
                <a:tc>
                  <a:txBody>
                    <a:bodyPr/>
                    <a:lstStyle/>
                    <a:p>
                      <a:pPr algn="ctr"/>
                      <a:endParaRPr kumimoji="1" lang="ja-JP" altLang="en-US" sz="2000" dirty="0">
                        <a:solidFill>
                          <a:schemeClr val="tx1"/>
                        </a:solidFill>
                      </a:endParaRPr>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extLst>
                  <a:ext uri="{0D108BD9-81ED-4DB2-BD59-A6C34878D82A}">
                    <a16:rowId xmlns:a16="http://schemas.microsoft.com/office/drawing/2014/main" val="565835213"/>
                  </a:ext>
                </a:extLst>
              </a:tr>
              <a:tr h="683622">
                <a:tc>
                  <a:txBody>
                    <a:bodyPr/>
                    <a:lstStyle/>
                    <a:p>
                      <a:r>
                        <a:rPr kumimoji="1" lang="ja-JP" altLang="en-US" sz="1800" dirty="0"/>
                        <a:t>カスタマディスプレイ</a:t>
                      </a:r>
                    </a:p>
                  </a:txBody>
                  <a:tcPr/>
                </a:tc>
                <a:tc>
                  <a:txBody>
                    <a:bodyPr/>
                    <a:lstStyle/>
                    <a:p>
                      <a:pPr algn="ctr"/>
                      <a:r>
                        <a:rPr kumimoji="1" lang="en-US" altLang="ja-JP" sz="2000"/>
                        <a:t>USB</a:t>
                      </a:r>
                    </a:p>
                    <a:p>
                      <a:pPr algn="ctr"/>
                      <a:r>
                        <a:rPr kumimoji="1" lang="ja-JP" altLang="en-US" sz="2000"/>
                        <a:t>検証前</a:t>
                      </a:r>
                      <a:endParaRPr kumimoji="1" lang="ja-JP" altLang="en-US" sz="2000" dirty="0"/>
                    </a:p>
                  </a:txBody>
                  <a:tcPr/>
                </a:tc>
                <a:tc>
                  <a:txBody>
                    <a:bodyPr/>
                    <a:lstStyle/>
                    <a:p>
                      <a:pPr algn="ctr"/>
                      <a:endParaRPr kumimoji="1" lang="ja-JP" altLang="en-US" sz="2000" dirty="0">
                        <a:solidFill>
                          <a:schemeClr val="tx1"/>
                        </a:solidFill>
                      </a:endParaRPr>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tc>
                  <a:txBody>
                    <a:bodyPr/>
                    <a:lstStyle/>
                    <a:p>
                      <a:pPr algn="ctr"/>
                      <a:r>
                        <a:rPr kumimoji="1" lang="en-US" altLang="ja-JP" sz="2000">
                          <a:solidFill>
                            <a:schemeClr val="tx1"/>
                          </a:solidFill>
                        </a:rPr>
                        <a:t>D-SUB 9</a:t>
                      </a:r>
                      <a:r>
                        <a:rPr kumimoji="1" lang="ja-JP" altLang="en-US" sz="2000">
                          <a:solidFill>
                            <a:schemeClr val="tx1"/>
                          </a:solidFill>
                        </a:rPr>
                        <a:t>ピン</a:t>
                      </a:r>
                      <a:br>
                        <a:rPr kumimoji="1" lang="en-US" altLang="ja-JP" sz="2000">
                          <a:solidFill>
                            <a:schemeClr val="tx1"/>
                          </a:solidFill>
                        </a:rPr>
                      </a:br>
                      <a:r>
                        <a:rPr kumimoji="1" lang="en-US" altLang="ja-JP" sz="2000">
                          <a:solidFill>
                            <a:schemeClr val="tx1"/>
                          </a:solidFill>
                        </a:rPr>
                        <a:t>RZ04DP3</a:t>
                      </a:r>
                      <a:endParaRPr kumimoji="1" lang="ja-JP" altLang="en-US" sz="2000" dirty="0">
                        <a:solidFill>
                          <a:schemeClr val="tx1"/>
                        </a:solidFill>
                      </a:endParaRPr>
                    </a:p>
                  </a:txBody>
                  <a:tcPr/>
                </a:tc>
                <a:extLst>
                  <a:ext uri="{0D108BD9-81ED-4DB2-BD59-A6C34878D82A}">
                    <a16:rowId xmlns:a16="http://schemas.microsoft.com/office/drawing/2014/main" val="3995413127"/>
                  </a:ext>
                </a:extLst>
              </a:tr>
              <a:tr h="683622">
                <a:tc>
                  <a:txBody>
                    <a:bodyPr/>
                    <a:lstStyle/>
                    <a:p>
                      <a:r>
                        <a:rPr kumimoji="1" lang="ja-JP" altLang="en-US" sz="1800" dirty="0"/>
                        <a:t>レシートプリンタ</a:t>
                      </a:r>
                    </a:p>
                  </a:txBody>
                  <a:tcPr/>
                </a:tc>
                <a:tc>
                  <a:txBody>
                    <a:bodyPr/>
                    <a:lstStyle/>
                    <a:p>
                      <a:pPr algn="ctr"/>
                      <a:r>
                        <a:rPr kumimoji="1" lang="en-US" altLang="ja-JP" sz="2000"/>
                        <a:t>USB</a:t>
                      </a:r>
                    </a:p>
                    <a:p>
                      <a:pPr algn="ctr"/>
                      <a:r>
                        <a:rPr kumimoji="1" lang="ja-JP" altLang="en-US" sz="2000"/>
                        <a:t>検証前</a:t>
                      </a:r>
                      <a:endParaRPr kumimoji="1" lang="ja-JP" altLang="en-US" sz="2000" dirty="0"/>
                    </a:p>
                  </a:txBody>
                  <a:tcPr/>
                </a:tc>
                <a:tc>
                  <a:txBody>
                    <a:bodyPr/>
                    <a:lstStyle/>
                    <a:p>
                      <a:pPr algn="ctr"/>
                      <a:r>
                        <a:rPr kumimoji="1" lang="en-US" altLang="ja-JP" sz="2000">
                          <a:solidFill>
                            <a:schemeClr val="tx1"/>
                          </a:solidFill>
                        </a:rPr>
                        <a:t>Bluetooth</a:t>
                      </a:r>
                    </a:p>
                    <a:p>
                      <a:pPr algn="ctr"/>
                      <a:r>
                        <a:rPr kumimoji="1" lang="en-US" altLang="ja-JP" sz="2000">
                          <a:solidFill>
                            <a:schemeClr val="tx1"/>
                          </a:solidFill>
                        </a:rPr>
                        <a:t>TM-m30Ⅲ-H</a:t>
                      </a:r>
                      <a:endParaRPr kumimoji="1" lang="ja-JP" altLang="en-US" sz="2000" dirty="0">
                        <a:solidFill>
                          <a:schemeClr val="tx1"/>
                        </a:solidFill>
                      </a:endParaRPr>
                    </a:p>
                  </a:txBody>
                  <a:tcPr/>
                </a:tc>
                <a:tc>
                  <a:txBody>
                    <a:bodyPr/>
                    <a:lstStyle/>
                    <a:p>
                      <a:pPr algn="ctr"/>
                      <a:r>
                        <a:rPr kumimoji="1" lang="ja-JP" altLang="en-US" sz="2000">
                          <a:solidFill>
                            <a:schemeClr val="tx1"/>
                          </a:solidFill>
                        </a:rPr>
                        <a:t>内蔵</a:t>
                      </a:r>
                      <a:endParaRPr kumimoji="1" lang="en-US" altLang="ja-JP" sz="2000">
                        <a:solidFill>
                          <a:schemeClr val="tx1"/>
                        </a:solidFill>
                      </a:endParaRPr>
                    </a:p>
                    <a:p>
                      <a:pPr algn="ctr"/>
                      <a:r>
                        <a:rPr kumimoji="1" lang="ja-JP" altLang="en-US" sz="2000">
                          <a:solidFill>
                            <a:schemeClr val="tx1"/>
                          </a:solidFill>
                        </a:rPr>
                        <a:t>ー</a:t>
                      </a:r>
                      <a:endParaRPr kumimoji="1" lang="ja-JP" altLang="en-US" sz="2000" dirty="0">
                        <a:solidFill>
                          <a:schemeClr val="tx1"/>
                        </a:solidFill>
                      </a:endParaRPr>
                    </a:p>
                  </a:txBody>
                  <a:tcPr/>
                </a:tc>
                <a:extLst>
                  <a:ext uri="{0D108BD9-81ED-4DB2-BD59-A6C34878D82A}">
                    <a16:rowId xmlns:a16="http://schemas.microsoft.com/office/drawing/2014/main" val="1697844059"/>
                  </a:ext>
                </a:extLst>
              </a:tr>
              <a:tr h="683622">
                <a:tc>
                  <a:txBody>
                    <a:bodyPr/>
                    <a:lstStyle/>
                    <a:p>
                      <a:r>
                        <a:rPr kumimoji="1" lang="en-US" altLang="ja-JP" sz="1800" dirty="0"/>
                        <a:t>A4</a:t>
                      </a:r>
                      <a:r>
                        <a:rPr kumimoji="1" lang="ja-JP" altLang="en-US" sz="1800" dirty="0"/>
                        <a:t>プリンタ</a:t>
                      </a:r>
                    </a:p>
                  </a:txBody>
                  <a:tcPr/>
                </a:tc>
                <a:tc>
                  <a:txBody>
                    <a:bodyPr/>
                    <a:lstStyle/>
                    <a:p>
                      <a:pPr algn="ctr"/>
                      <a:r>
                        <a:rPr kumimoji="1" lang="en-US" altLang="ja-JP" sz="2000"/>
                        <a:t>LAN</a:t>
                      </a:r>
                    </a:p>
                    <a:p>
                      <a:pPr algn="ctr"/>
                      <a:r>
                        <a:rPr kumimoji="1" lang="ja-JP" altLang="en-US" sz="2000"/>
                        <a:t>検証前</a:t>
                      </a:r>
                      <a:endParaRPr kumimoji="1" lang="ja-JP" altLang="en-US" sz="2000" dirty="0"/>
                    </a:p>
                  </a:txBody>
                  <a:tcPr/>
                </a:tc>
                <a:tc>
                  <a:txBody>
                    <a:bodyPr/>
                    <a:lstStyle/>
                    <a:p>
                      <a:pPr algn="ctr"/>
                      <a:r>
                        <a:rPr kumimoji="1" lang="en-US" altLang="ja-JP" sz="2000">
                          <a:solidFill>
                            <a:schemeClr val="tx1"/>
                          </a:solidFill>
                        </a:rPr>
                        <a:t>LAN</a:t>
                      </a:r>
                    </a:p>
                    <a:p>
                      <a:pPr algn="ctr"/>
                      <a:r>
                        <a:rPr kumimoji="1" lang="ja-JP" altLang="en-US" sz="2000">
                          <a:solidFill>
                            <a:schemeClr val="tx1"/>
                          </a:solidFill>
                        </a:rPr>
                        <a:t>検証前</a:t>
                      </a:r>
                      <a:endParaRPr kumimoji="1" lang="ja-JP" altLang="en-US" sz="2000" dirty="0">
                        <a:solidFill>
                          <a:schemeClr val="tx1"/>
                        </a:solidFill>
                      </a:endParaRPr>
                    </a:p>
                  </a:txBody>
                  <a:tcPr/>
                </a:tc>
                <a:tc>
                  <a:txBody>
                    <a:bodyPr/>
                    <a:lstStyle/>
                    <a:p>
                      <a:pPr algn="ctr"/>
                      <a:r>
                        <a:rPr kumimoji="1" lang="en-US" altLang="ja-JP" sz="2000">
                          <a:solidFill>
                            <a:schemeClr val="tx1"/>
                          </a:solidFill>
                        </a:rPr>
                        <a:t>LAN</a:t>
                      </a:r>
                    </a:p>
                    <a:p>
                      <a:pPr algn="ctr"/>
                      <a:r>
                        <a:rPr kumimoji="1" lang="ja-JP" altLang="en-US" sz="2000">
                          <a:solidFill>
                            <a:schemeClr val="tx1"/>
                          </a:solidFill>
                        </a:rPr>
                        <a:t>検証前</a:t>
                      </a:r>
                      <a:endParaRPr kumimoji="1" lang="ja-JP" altLang="en-US" sz="2000" dirty="0">
                        <a:solidFill>
                          <a:schemeClr val="tx1"/>
                        </a:solidFill>
                      </a:endParaRPr>
                    </a:p>
                  </a:txBody>
                  <a:tcPr/>
                </a:tc>
                <a:extLst>
                  <a:ext uri="{0D108BD9-81ED-4DB2-BD59-A6C34878D82A}">
                    <a16:rowId xmlns:a16="http://schemas.microsoft.com/office/drawing/2014/main" val="516463325"/>
                  </a:ext>
                </a:extLst>
              </a:tr>
              <a:tr h="683622">
                <a:tc>
                  <a:txBody>
                    <a:bodyPr/>
                    <a:lstStyle/>
                    <a:p>
                      <a:r>
                        <a:rPr kumimoji="1" lang="ja-JP" altLang="en-US" sz="1800" dirty="0"/>
                        <a:t>ドロア</a:t>
                      </a:r>
                    </a:p>
                  </a:txBody>
                  <a:tcPr/>
                </a:tc>
                <a:tc>
                  <a:txBody>
                    <a:bodyPr/>
                    <a:lstStyle/>
                    <a:p>
                      <a:pPr algn="ctr"/>
                      <a:r>
                        <a:rPr kumimoji="1" lang="en-US" altLang="ja-JP" sz="2000"/>
                        <a:t>USB</a:t>
                      </a:r>
                    </a:p>
                    <a:p>
                      <a:pPr algn="ctr"/>
                      <a:r>
                        <a:rPr kumimoji="1" lang="ja-JP" altLang="en-US" sz="2000"/>
                        <a:t>検証前</a:t>
                      </a:r>
                      <a:endParaRPr kumimoji="1" lang="ja-JP" altLang="en-US" sz="2000" dirty="0"/>
                    </a:p>
                  </a:txBody>
                  <a:tcPr/>
                </a:tc>
                <a:tc>
                  <a:txBody>
                    <a:bodyPr/>
                    <a:lstStyle/>
                    <a:p>
                      <a:pPr algn="ctr"/>
                      <a:endParaRPr kumimoji="1" lang="ja-JP" altLang="en-US" sz="2000" dirty="0">
                        <a:solidFill>
                          <a:schemeClr val="tx1"/>
                        </a:solidFill>
                      </a:endParaRPr>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tc>
                  <a:txBody>
                    <a:bodyPr/>
                    <a:lstStyle/>
                    <a:p>
                      <a:pPr algn="ctr"/>
                      <a:r>
                        <a:rPr kumimoji="1" lang="ja-JP" altLang="en-US" sz="2000">
                          <a:solidFill>
                            <a:schemeClr val="tx1"/>
                          </a:solidFill>
                        </a:rPr>
                        <a:t>専用ケーブル</a:t>
                      </a:r>
                      <a:endParaRPr kumimoji="1" lang="en-US" altLang="ja-JP" sz="2000">
                        <a:solidFill>
                          <a:schemeClr val="tx1"/>
                        </a:solidFill>
                      </a:endParaRPr>
                    </a:p>
                    <a:p>
                      <a:pPr algn="ctr"/>
                      <a:r>
                        <a:rPr kumimoji="1" lang="en-US" altLang="ja-JP" sz="2000">
                          <a:solidFill>
                            <a:schemeClr val="tx1"/>
                          </a:solidFill>
                        </a:rPr>
                        <a:t>UP-J36DWS</a:t>
                      </a:r>
                    </a:p>
                  </a:txBody>
                  <a:tcPr/>
                </a:tc>
                <a:extLst>
                  <a:ext uri="{0D108BD9-81ED-4DB2-BD59-A6C34878D82A}">
                    <a16:rowId xmlns:a16="http://schemas.microsoft.com/office/drawing/2014/main" val="3417269371"/>
                  </a:ext>
                </a:extLst>
              </a:tr>
              <a:tr h="683622">
                <a:tc>
                  <a:txBody>
                    <a:bodyPr/>
                    <a:lstStyle/>
                    <a:p>
                      <a:r>
                        <a:rPr kumimoji="1" lang="ja-JP" altLang="en-US" sz="1800" dirty="0"/>
                        <a:t>自動釣銭機</a:t>
                      </a:r>
                    </a:p>
                  </a:txBody>
                  <a:tcPr/>
                </a:tc>
                <a:tc>
                  <a:txBody>
                    <a:bodyPr/>
                    <a:lstStyle/>
                    <a:p>
                      <a:pPr algn="ctr"/>
                      <a:r>
                        <a:rPr kumimoji="1" lang="en-US" altLang="ja-JP" sz="2000"/>
                        <a:t>RS-232C</a:t>
                      </a:r>
                    </a:p>
                    <a:p>
                      <a:pPr algn="ctr"/>
                      <a:r>
                        <a:rPr kumimoji="1" lang="ja-JP" altLang="en-US" sz="2000"/>
                        <a:t>検証前</a:t>
                      </a:r>
                      <a:endParaRPr kumimoji="1" lang="ja-JP" altLang="en-US" sz="2000" dirty="0"/>
                    </a:p>
                  </a:txBody>
                  <a:tcPr/>
                </a:tc>
                <a:tc>
                  <a:txBody>
                    <a:bodyPr/>
                    <a:lstStyle/>
                    <a:p>
                      <a:pPr algn="ctr"/>
                      <a:endParaRPr kumimoji="1" lang="ja-JP" altLang="en-US" sz="2000" dirty="0">
                        <a:solidFill>
                          <a:schemeClr val="tx1"/>
                        </a:solidFill>
                      </a:endParaRPr>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tc>
                  <a:txBody>
                    <a:bodyPr/>
                    <a:lstStyle/>
                    <a:p>
                      <a:pPr algn="ctr"/>
                      <a:r>
                        <a:rPr kumimoji="1" lang="en-US" altLang="ja-JP" sz="2000">
                          <a:solidFill>
                            <a:schemeClr val="tx1"/>
                          </a:solidFill>
                        </a:rPr>
                        <a:t>RS-232C</a:t>
                      </a:r>
                    </a:p>
                    <a:p>
                      <a:pPr algn="ctr"/>
                      <a:r>
                        <a:rPr kumimoji="1" lang="en-US" altLang="ja-JP" sz="2000">
                          <a:solidFill>
                            <a:schemeClr val="tx1"/>
                          </a:solidFill>
                        </a:rPr>
                        <a:t>RAD300/RT-300/WD-300</a:t>
                      </a:r>
                      <a:endParaRPr kumimoji="1" lang="ja-JP" altLang="en-US" sz="2000" dirty="0">
                        <a:solidFill>
                          <a:schemeClr val="tx1"/>
                        </a:solidFill>
                      </a:endParaRPr>
                    </a:p>
                  </a:txBody>
                  <a:tcPr/>
                </a:tc>
                <a:extLst>
                  <a:ext uri="{0D108BD9-81ED-4DB2-BD59-A6C34878D82A}">
                    <a16:rowId xmlns:a16="http://schemas.microsoft.com/office/drawing/2014/main" val="3133668622"/>
                  </a:ext>
                </a:extLst>
              </a:tr>
              <a:tr h="683622">
                <a:tc>
                  <a:txBody>
                    <a:bodyPr/>
                    <a:lstStyle/>
                    <a:p>
                      <a:r>
                        <a:rPr kumimoji="1" lang="ja-JP" altLang="en-US" sz="1800" dirty="0"/>
                        <a:t>決済端末</a:t>
                      </a:r>
                    </a:p>
                  </a:txBody>
                  <a:tcPr/>
                </a:tc>
                <a:tc>
                  <a:txBody>
                    <a:bodyPr/>
                    <a:lstStyle/>
                    <a:p>
                      <a:pPr algn="ctr"/>
                      <a:r>
                        <a:rPr kumimoji="1" lang="en-US" altLang="ja-JP" sz="2000"/>
                        <a:t>LAN</a:t>
                      </a:r>
                    </a:p>
                    <a:p>
                      <a:pPr algn="ctr"/>
                      <a:r>
                        <a:rPr kumimoji="1" lang="ja-JP" altLang="en-US" sz="2000"/>
                        <a:t>検証前</a:t>
                      </a:r>
                      <a:endParaRPr kumimoji="1" lang="ja-JP" altLang="en-US" sz="2000" dirty="0"/>
                    </a:p>
                  </a:txBody>
                  <a:tcPr/>
                </a:tc>
                <a:tc>
                  <a:txBody>
                    <a:bodyPr/>
                    <a:lstStyle/>
                    <a:p>
                      <a:pPr algn="ctr"/>
                      <a:r>
                        <a:rPr kumimoji="1" lang="en-US" altLang="ja-JP" sz="2000"/>
                        <a:t>LAN/Bluetooth</a:t>
                      </a:r>
                    </a:p>
                    <a:p>
                      <a:pPr algn="ctr"/>
                      <a:r>
                        <a:rPr kumimoji="1" lang="ja-JP" altLang="en-US" sz="2000"/>
                        <a:t>検証前</a:t>
                      </a:r>
                      <a:endParaRPr kumimoji="1" lang="en-US" altLang="ja-JP" sz="2000" dirty="0"/>
                    </a:p>
                  </a:txBody>
                  <a:tcPr/>
                </a:tc>
                <a:tc>
                  <a:txBody>
                    <a:bodyPr/>
                    <a:lstStyle/>
                    <a:p>
                      <a:pPr algn="ctr"/>
                      <a:r>
                        <a:rPr kumimoji="1" lang="en-US" altLang="ja-JP" sz="2000"/>
                        <a:t>LAN</a:t>
                      </a:r>
                    </a:p>
                    <a:p>
                      <a:pPr algn="ctr"/>
                      <a:r>
                        <a:rPr kumimoji="1" lang="ja-JP" altLang="en-US" sz="2000"/>
                        <a:t>検証前</a:t>
                      </a:r>
                      <a:endParaRPr kumimoji="1" lang="ja-JP" altLang="en-US" sz="2000" dirty="0"/>
                    </a:p>
                  </a:txBody>
                  <a:tcPr/>
                </a:tc>
                <a:extLst>
                  <a:ext uri="{0D108BD9-81ED-4DB2-BD59-A6C34878D82A}">
                    <a16:rowId xmlns:a16="http://schemas.microsoft.com/office/drawing/2014/main" val="4113204667"/>
                  </a:ext>
                </a:extLst>
              </a:tr>
              <a:tr h="683622">
                <a:tc>
                  <a:txBody>
                    <a:bodyPr/>
                    <a:lstStyle/>
                    <a:p>
                      <a:r>
                        <a:rPr kumimoji="1" lang="ja-JP" altLang="en-US" sz="1800" dirty="0"/>
                        <a:t>ハンディターミナル</a:t>
                      </a:r>
                    </a:p>
                  </a:txBody>
                  <a:tcPr/>
                </a:tc>
                <a:tc>
                  <a:txBody>
                    <a:bodyPr/>
                    <a:lstStyle/>
                    <a:p>
                      <a:pPr algn="ctr"/>
                      <a:r>
                        <a:rPr kumimoji="1" lang="en-US" altLang="ja-JP" sz="2000"/>
                        <a:t>RS-232C</a:t>
                      </a:r>
                    </a:p>
                    <a:p>
                      <a:pPr algn="ctr"/>
                      <a:r>
                        <a:rPr kumimoji="1" lang="ja-JP" altLang="en-US" sz="2000"/>
                        <a:t>検証前</a:t>
                      </a:r>
                      <a:endParaRPr kumimoji="1" lang="ja-JP" altLang="en-US" sz="2000" dirty="0"/>
                    </a:p>
                  </a:txBody>
                  <a:tcPr/>
                </a:tc>
                <a:tc>
                  <a:txBody>
                    <a:bodyPr/>
                    <a:lstStyle/>
                    <a:p>
                      <a:pPr algn="ctr"/>
                      <a:endParaRPr kumimoji="1" lang="ja-JP" altLang="en-US" sz="2000" dirty="0"/>
                    </a:p>
                  </a:txBody>
                  <a:tcPr>
                    <a:lnBlToTr w="12700" cap="flat" cmpd="sng" algn="ctr">
                      <a:solidFill>
                        <a:schemeClr val="tx1"/>
                      </a:solidFill>
                      <a:prstDash val="solid"/>
                      <a:round/>
                      <a:headEnd type="none" w="med" len="med"/>
                      <a:tailEnd type="none" w="med" len="med"/>
                    </a:lnBlToTr>
                    <a:solidFill>
                      <a:schemeClr val="tx1">
                        <a:lumMod val="20000"/>
                        <a:lumOff val="80000"/>
                      </a:schemeClr>
                    </a:solidFill>
                  </a:tcPr>
                </a:tc>
                <a:tc>
                  <a:txBody>
                    <a:bodyPr/>
                    <a:lstStyle/>
                    <a:p>
                      <a:pPr algn="ctr"/>
                      <a:r>
                        <a:rPr kumimoji="1" lang="en-US" altLang="ja-JP" sz="2000"/>
                        <a:t>RS-232C</a:t>
                      </a:r>
                    </a:p>
                    <a:p>
                      <a:pPr algn="ctr"/>
                      <a:r>
                        <a:rPr kumimoji="1" lang="ja-JP" altLang="en-US" sz="2000"/>
                        <a:t>検証前</a:t>
                      </a:r>
                      <a:endParaRPr kumimoji="1" lang="ja-JP" altLang="en-US" sz="2000" dirty="0"/>
                    </a:p>
                  </a:txBody>
                  <a:tcPr/>
                </a:tc>
                <a:extLst>
                  <a:ext uri="{0D108BD9-81ED-4DB2-BD59-A6C34878D82A}">
                    <a16:rowId xmlns:a16="http://schemas.microsoft.com/office/drawing/2014/main" val="263099564"/>
                  </a:ext>
                </a:extLst>
              </a:tr>
            </a:tbl>
          </a:graphicData>
        </a:graphic>
      </p:graphicFrame>
    </p:spTree>
    <p:extLst>
      <p:ext uri="{BB962C8B-B14F-4D97-AF65-F5344CB8AC3E}">
        <p14:creationId xmlns:p14="http://schemas.microsoft.com/office/powerpoint/2010/main" val="4025510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５－５．機能</a:t>
            </a:r>
            <a:r>
              <a:rPr lang="ja-JP" altLang="en-US"/>
              <a:t>一覧</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21</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383400" y="1385575"/>
            <a:ext cx="15514200" cy="25885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pPr>
              <a:lnSpc>
                <a:spcPct val="100000"/>
              </a:lnSpc>
            </a:pPr>
            <a:r>
              <a:rPr lang="ja-JP" altLang="en-US" sz="2800">
                <a:latin typeface="メイリオ" panose="020B0604030504040204" pitchFamily="50" charset="-128"/>
                <a:ea typeface="メイリオ" panose="020B0604030504040204" pitchFamily="50" charset="-128"/>
              </a:rPr>
              <a:t>現行</a:t>
            </a:r>
            <a:r>
              <a:rPr lang="en-US" altLang="ja-JP" sz="2800">
                <a:latin typeface="メイリオ" panose="020B0604030504040204" pitchFamily="50" charset="-128"/>
                <a:ea typeface="メイリオ" panose="020B0604030504040204" pitchFamily="50" charset="-128"/>
              </a:rPr>
              <a:t>POS</a:t>
            </a:r>
            <a:r>
              <a:rPr lang="ja-JP" altLang="en-US" sz="2800">
                <a:latin typeface="メイリオ" panose="020B0604030504040204" pitchFamily="50" charset="-128"/>
                <a:ea typeface="メイリオ" panose="020B0604030504040204" pitchFamily="50" charset="-128"/>
              </a:rPr>
              <a:t>アプリのメニューを類似・赤黒メニュー・使用頻度などを考慮して統廃合し、タブレット</a:t>
            </a:r>
            <a:r>
              <a:rPr lang="en-US" altLang="ja-JP" sz="2800">
                <a:latin typeface="メイリオ" panose="020B0604030504040204" pitchFamily="50" charset="-128"/>
                <a:ea typeface="メイリオ" panose="020B0604030504040204" pitchFamily="50" charset="-128"/>
              </a:rPr>
              <a:t>POS</a:t>
            </a:r>
            <a:r>
              <a:rPr lang="ja-JP" altLang="en-US" sz="2800">
                <a:latin typeface="メイリオ" panose="020B0604030504040204" pitchFamily="50" charset="-128"/>
                <a:ea typeface="メイリオ" panose="020B0604030504040204" pitchFamily="50" charset="-128"/>
              </a:rPr>
              <a:t>アプリメニューを設計します。</a:t>
            </a:r>
            <a:endParaRPr lang="en-US" altLang="ja-JP" sz="2800">
              <a:latin typeface="メイリオ" panose="020B0604030504040204" pitchFamily="50" charset="-128"/>
              <a:ea typeface="メイリオ" panose="020B0604030504040204" pitchFamily="50" charset="-128"/>
            </a:endParaRPr>
          </a:p>
          <a:p>
            <a:pPr>
              <a:lnSpc>
                <a:spcPct val="100000"/>
              </a:lnSpc>
            </a:pPr>
            <a:endParaRPr lang="en-US" altLang="ja-JP" sz="2800">
              <a:latin typeface="メイリオ" panose="020B0604030504040204" pitchFamily="50" charset="-128"/>
              <a:ea typeface="メイリオ" panose="020B0604030504040204" pitchFamily="50" charset="-128"/>
            </a:endParaRPr>
          </a:p>
          <a:p>
            <a:pPr>
              <a:lnSpc>
                <a:spcPct val="100000"/>
              </a:lnSpc>
            </a:pPr>
            <a:r>
              <a:rPr lang="ja-JP" altLang="en-US" sz="2800">
                <a:latin typeface="メイリオ" panose="020B0604030504040204" pitchFamily="50" charset="-128"/>
                <a:ea typeface="メイリオ" panose="020B0604030504040204" pitchFamily="50" charset="-128"/>
              </a:rPr>
              <a:t>現行とタブレット</a:t>
            </a:r>
            <a:r>
              <a:rPr lang="en-US" altLang="ja-JP" sz="2800">
                <a:latin typeface="メイリオ" panose="020B0604030504040204" pitchFamily="50" charset="-128"/>
                <a:ea typeface="メイリオ" panose="020B0604030504040204" pitchFamily="50" charset="-128"/>
              </a:rPr>
              <a:t>POS</a:t>
            </a:r>
            <a:r>
              <a:rPr lang="ja-JP" altLang="en-US" sz="2800">
                <a:latin typeface="メイリオ" panose="020B0604030504040204" pitchFamily="50" charset="-128"/>
                <a:ea typeface="メイリオ" panose="020B0604030504040204" pitchFamily="50" charset="-128"/>
              </a:rPr>
              <a:t>のメニュー関係は</a:t>
            </a:r>
            <a:endParaRPr lang="en-US" altLang="ja-JP" sz="2800">
              <a:latin typeface="メイリオ" panose="020B0604030504040204" pitchFamily="50" charset="-128"/>
              <a:ea typeface="メイリオ" panose="020B0604030504040204" pitchFamily="50" charset="-128"/>
            </a:endParaRPr>
          </a:p>
          <a:p>
            <a:pPr>
              <a:lnSpc>
                <a:spcPct val="100000"/>
              </a:lnSpc>
            </a:pPr>
            <a:r>
              <a:rPr lang="ja-JP" altLang="en-US" sz="2800">
                <a:latin typeface="メイリオ" panose="020B0604030504040204" pitchFamily="50" charset="-128"/>
                <a:ea typeface="メイリオ" panose="020B0604030504040204" pitchFamily="50" charset="-128"/>
              </a:rPr>
              <a:t>別紙「タブレット</a:t>
            </a:r>
            <a:r>
              <a:rPr lang="en-US" altLang="ja-JP" sz="2800">
                <a:latin typeface="メイリオ" panose="020B0604030504040204" pitchFamily="50" charset="-128"/>
                <a:ea typeface="メイリオ" panose="020B0604030504040204" pitchFamily="50" charset="-128"/>
              </a:rPr>
              <a:t>POS </a:t>
            </a:r>
            <a:r>
              <a:rPr lang="ja-JP" altLang="en-US" sz="2800">
                <a:latin typeface="メイリオ" panose="020B0604030504040204" pitchFamily="50" charset="-128"/>
                <a:ea typeface="メイリオ" panose="020B0604030504040204" pitchFamily="50" charset="-128"/>
              </a:rPr>
              <a:t>機能一覧</a:t>
            </a:r>
            <a:r>
              <a:rPr lang="en-US" altLang="ja-JP" sz="2800">
                <a:latin typeface="メイリオ" panose="020B0604030504040204" pitchFamily="50" charset="-128"/>
                <a:ea typeface="メイリオ" panose="020B0604030504040204" pitchFamily="50" charset="-128"/>
              </a:rPr>
              <a:t>_Ver.1.16.xlsx</a:t>
            </a:r>
            <a:r>
              <a:rPr lang="ja-JP" altLang="en-US" sz="2800">
                <a:latin typeface="メイリオ" panose="020B0604030504040204" pitchFamily="50" charset="-128"/>
                <a:ea typeface="メイリオ" panose="020B0604030504040204" pitchFamily="50" charset="-128"/>
              </a:rPr>
              <a:t>」を参照ください。</a:t>
            </a:r>
          </a:p>
        </p:txBody>
      </p:sp>
      <p:pic>
        <p:nvPicPr>
          <p:cNvPr id="8" name="図 7">
            <a:extLst>
              <a:ext uri="{FF2B5EF4-FFF2-40B4-BE49-F238E27FC236}">
                <a16:creationId xmlns:a16="http://schemas.microsoft.com/office/drawing/2014/main" id="{C9A622A8-B578-28C7-D121-32A673835990}"/>
              </a:ext>
            </a:extLst>
          </p:cNvPr>
          <p:cNvPicPr>
            <a:picLocks noChangeAspect="1"/>
          </p:cNvPicPr>
          <p:nvPr/>
        </p:nvPicPr>
        <p:blipFill>
          <a:blip r:embed="rId2"/>
          <a:stretch>
            <a:fillRect/>
          </a:stretch>
        </p:blipFill>
        <p:spPr>
          <a:xfrm>
            <a:off x="3797242" y="4189228"/>
            <a:ext cx="9821646" cy="5630061"/>
          </a:xfrm>
          <a:prstGeom prst="rect">
            <a:avLst/>
          </a:prstGeom>
          <a:ln>
            <a:noFill/>
          </a:ln>
          <a:effectLst>
            <a:outerShdw blurRad="292100" dist="139700" dir="2700000" algn="tl" rotWithShape="0">
              <a:srgbClr val="333333">
                <a:alpha val="65000"/>
              </a:srgbClr>
            </a:outerShdw>
          </a:effectLst>
        </p:spPr>
      </p:pic>
      <p:sp>
        <p:nvSpPr>
          <p:cNvPr id="9" name="テキスト ボックス 8">
            <a:extLst>
              <a:ext uri="{FF2B5EF4-FFF2-40B4-BE49-F238E27FC236}">
                <a16:creationId xmlns:a16="http://schemas.microsoft.com/office/drawing/2014/main" id="{B1425F7D-14DE-DBD4-8920-A189782F51A3}"/>
              </a:ext>
            </a:extLst>
          </p:cNvPr>
          <p:cNvSpPr txBox="1"/>
          <p:nvPr/>
        </p:nvSpPr>
        <p:spPr>
          <a:xfrm>
            <a:off x="1575665" y="4189228"/>
            <a:ext cx="2221577" cy="507831"/>
          </a:xfrm>
          <a:prstGeom prst="rect">
            <a:avLst/>
          </a:prstGeom>
          <a:noFill/>
        </p:spPr>
        <p:txBody>
          <a:bodyPr wrap="square" lIns="0" tIns="0" rIns="0" bIns="0" rtlCol="0">
            <a:spAutoFit/>
          </a:bodyPr>
          <a:lstStyle/>
          <a:p>
            <a:pPr>
              <a:lnSpc>
                <a:spcPct val="150000"/>
              </a:lnSpc>
            </a:pP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一部抜粋</a:t>
            </a:r>
            <a:r>
              <a:rPr lang="en-US" altLang="ja-JP" sz="24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832854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５－６．</a:t>
            </a:r>
            <a:r>
              <a:rPr lang="ja-JP" altLang="en-US" dirty="0"/>
              <a:t>練習</a:t>
            </a:r>
            <a:r>
              <a:rPr lang="ja-JP" altLang="en-US" dirty="0">
                <a:latin typeface="Meiryo UI" panose="020B0604030504040204" pitchFamily="50" charset="-128"/>
                <a:ea typeface="Meiryo UI" panose="020B0604030504040204" pitchFamily="50" charset="-128"/>
              </a:rPr>
              <a:t>モード</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22</a:t>
            </a:fld>
            <a:endParaRPr lang="ja-JP" altLang="en-US"/>
          </a:p>
        </p:txBody>
      </p:sp>
      <p:sp>
        <p:nvSpPr>
          <p:cNvPr id="6" name="テキスト ボックス 5">
            <a:extLst>
              <a:ext uri="{FF2B5EF4-FFF2-40B4-BE49-F238E27FC236}">
                <a16:creationId xmlns:a16="http://schemas.microsoft.com/office/drawing/2014/main" id="{321440BC-C71B-B60C-39C9-DFD40A75BC0B}"/>
              </a:ext>
            </a:extLst>
          </p:cNvPr>
          <p:cNvSpPr txBox="1"/>
          <p:nvPr/>
        </p:nvSpPr>
        <p:spPr>
          <a:xfrm>
            <a:off x="544207" y="1273473"/>
            <a:ext cx="17199585" cy="4470455"/>
          </a:xfrm>
          <a:prstGeom prst="rect">
            <a:avLst/>
          </a:prstGeom>
          <a:noFill/>
        </p:spPr>
        <p:txBody>
          <a:bodyPr wrap="square" lIns="0" tIns="0" rIns="0" bIns="0"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トレーニングモード（従来の「テストモード」）を開発します。</a:t>
            </a:r>
            <a:endParaRPr lang="en-US" altLang="ja-JP" sz="2800" dirty="0">
              <a:latin typeface="メイリオ" panose="020B0604030504040204" pitchFamily="50" charset="-128"/>
              <a:ea typeface="メイリオ" panose="020B0604030504040204" pitchFamily="50" charset="-128"/>
            </a:endParaRPr>
          </a:p>
          <a:p>
            <a:pPr>
              <a:lnSpc>
                <a:spcPct val="150000"/>
              </a:lnSpc>
            </a:pPr>
            <a:endParaRPr lang="ja-JP" altLang="en-US"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・全機能で本番モードと同等の操作が行えることを目指します。　</a:t>
            </a:r>
          </a:p>
          <a:p>
            <a:pPr>
              <a:lnSpc>
                <a:spcPct val="150000"/>
              </a:lnSpc>
            </a:pPr>
            <a:r>
              <a:rPr lang="ja-JP" altLang="en-US" sz="2800" dirty="0">
                <a:latin typeface="メイリオ" panose="020B0604030504040204" pitchFamily="50" charset="-128"/>
                <a:ea typeface="メイリオ" panose="020B0604030504040204" pitchFamily="50" charset="-128"/>
              </a:rPr>
              <a:t>・接続先の環境が二重に必要となりますが、連取モード用の環境整備はケーズ様にて実施いただく</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　想定としております。（練習モード用のマスターサーバーや顧客管理サーバー等が必要となります）</a:t>
            </a:r>
          </a:p>
          <a:p>
            <a:pPr>
              <a:lnSpc>
                <a:spcPct val="150000"/>
              </a:lnSpc>
            </a:pPr>
            <a:r>
              <a:rPr lang="ja-JP" altLang="en-US" sz="2800" dirty="0">
                <a:latin typeface="メイリオ" panose="020B0604030504040204" pitchFamily="50" charset="-128"/>
                <a:ea typeface="メイリオ" panose="020B0604030504040204" pitchFamily="50" charset="-128"/>
              </a:rPr>
              <a:t>・画面や帳票上で、練習モードであることが容易に識別できるようにします。</a:t>
            </a:r>
          </a:p>
          <a:p>
            <a:pPr>
              <a:lnSpc>
                <a:spcPct val="150000"/>
              </a:lnSpc>
            </a:pPr>
            <a:r>
              <a:rPr lang="ja-JP" altLang="en-US" sz="2800" dirty="0">
                <a:latin typeface="メイリオ" panose="020B0604030504040204" pitchFamily="50" charset="-128"/>
                <a:ea typeface="メイリオ" panose="020B0604030504040204" pitchFamily="50" charset="-128"/>
              </a:rPr>
              <a:t>　画面上では、ヘッダー部にとレーニンモードである旨を表示し、モード中は画面切替を不可とします。</a:t>
            </a:r>
          </a:p>
        </p:txBody>
      </p:sp>
      <p:sp>
        <p:nvSpPr>
          <p:cNvPr id="4" name="フッター プレースホルダー 3">
            <a:extLst>
              <a:ext uri="{FF2B5EF4-FFF2-40B4-BE49-F238E27FC236}">
                <a16:creationId xmlns:a16="http://schemas.microsoft.com/office/drawing/2014/main" id="{2889AC60-C4FC-2F18-B97B-9867104DC5E7}"/>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dirty="0"/>
              <a:t>Confidential </a:t>
            </a:r>
            <a:endParaRPr lang="en-US" altLang="ja-JP" dirty="0"/>
          </a:p>
        </p:txBody>
      </p:sp>
      <p:sp>
        <p:nvSpPr>
          <p:cNvPr id="5" name="テキスト プレースホルダー 11">
            <a:extLst>
              <a:ext uri="{FF2B5EF4-FFF2-40B4-BE49-F238E27FC236}">
                <a16:creationId xmlns:a16="http://schemas.microsoft.com/office/drawing/2014/main" id="{55778494-AFB5-7684-0334-B2747DDAC705}"/>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pic>
        <p:nvPicPr>
          <p:cNvPr id="7" name="図 6">
            <a:extLst>
              <a:ext uri="{FF2B5EF4-FFF2-40B4-BE49-F238E27FC236}">
                <a16:creationId xmlns:a16="http://schemas.microsoft.com/office/drawing/2014/main" id="{FE73B0D7-B555-DD0B-0583-D6CF7555104D}"/>
              </a:ext>
            </a:extLst>
          </p:cNvPr>
          <p:cNvPicPr>
            <a:picLocks noChangeAspect="1"/>
          </p:cNvPicPr>
          <p:nvPr/>
        </p:nvPicPr>
        <p:blipFill>
          <a:blip r:embed="rId2"/>
          <a:stretch>
            <a:fillRect/>
          </a:stretch>
        </p:blipFill>
        <p:spPr>
          <a:xfrm>
            <a:off x="6137673" y="5901308"/>
            <a:ext cx="6012654" cy="3948292"/>
          </a:xfrm>
          <a:prstGeom prst="rect">
            <a:avLst/>
          </a:prstGeom>
        </p:spPr>
      </p:pic>
      <p:sp>
        <p:nvSpPr>
          <p:cNvPr id="8" name="テキスト ボックス 7">
            <a:extLst>
              <a:ext uri="{FF2B5EF4-FFF2-40B4-BE49-F238E27FC236}">
                <a16:creationId xmlns:a16="http://schemas.microsoft.com/office/drawing/2014/main" id="{5B4AC7BE-840F-8186-479B-DF80F4C50D8C}"/>
              </a:ext>
            </a:extLst>
          </p:cNvPr>
          <p:cNvSpPr txBox="1"/>
          <p:nvPr/>
        </p:nvSpPr>
        <p:spPr>
          <a:xfrm>
            <a:off x="3342243" y="5901308"/>
            <a:ext cx="3639448" cy="423193"/>
          </a:xfrm>
          <a:prstGeom prst="rect">
            <a:avLst/>
          </a:prstGeom>
          <a:noFill/>
        </p:spPr>
        <p:txBody>
          <a:bodyPr wrap="square" lIns="0" tIns="0" rIns="0" bIns="0" rtlCol="0">
            <a:spAutoFit/>
          </a:bodyPr>
          <a:lstStyle/>
          <a:p>
            <a:pPr algn="ctr">
              <a:lnSpc>
                <a:spcPct val="150000"/>
              </a:lnSpc>
            </a:pPr>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練習モード</a:t>
            </a:r>
            <a:r>
              <a:rPr lang="en-US" altLang="ja-JP" sz="20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715789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23</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534007" y="1600729"/>
            <a:ext cx="15514200" cy="4158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endParaRPr lang="ja-JP" altLang="en-US" sz="28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AEA878B3-C612-5A9C-0327-E199B7088AA5}"/>
              </a:ext>
            </a:extLst>
          </p:cNvPr>
          <p:cNvSpPr txBox="1"/>
          <p:nvPr/>
        </p:nvSpPr>
        <p:spPr>
          <a:xfrm>
            <a:off x="544207" y="2682096"/>
            <a:ext cx="17199585" cy="592470"/>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endParaRPr lang="ja-JP" altLang="en-US" sz="280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C422805E-B615-49B9-C739-83DC7EA722F3}"/>
              </a:ext>
            </a:extLst>
          </p:cNvPr>
          <p:cNvSpPr txBox="1"/>
          <p:nvPr/>
        </p:nvSpPr>
        <p:spPr>
          <a:xfrm>
            <a:off x="648709" y="2276824"/>
            <a:ext cx="17199585" cy="592470"/>
          </a:xfrm>
          <a:prstGeom prst="rect">
            <a:avLst/>
          </a:prstGeom>
          <a:noFill/>
        </p:spPr>
        <p:txBody>
          <a:bodyPr wrap="square" lIns="0" tIns="0" rIns="0" bIns="0" rtlCol="0">
            <a:spAutoFit/>
          </a:bodyPr>
          <a:lstStyle/>
          <a:p>
            <a:pPr>
              <a:lnSpc>
                <a:spcPct val="150000"/>
              </a:lnSpc>
            </a:pPr>
            <a:r>
              <a:rPr lang="ja-JP" altLang="en-US" sz="2800">
                <a:latin typeface="メイリオ" panose="020B0604030504040204" pitchFamily="50" charset="-128"/>
                <a:ea typeface="メイリオ" panose="020B0604030504040204" pitchFamily="50" charset="-128"/>
              </a:rPr>
              <a:t>　</a:t>
            </a:r>
            <a:endParaRPr lang="en-US" altLang="ja-JP" sz="2800">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062F486B-7E25-C9A6-96A0-F77205E70087}"/>
              </a:ext>
            </a:extLst>
          </p:cNvPr>
          <p:cNvGraphicFramePr>
            <a:graphicFrameLocks noGrp="1"/>
          </p:cNvGraphicFramePr>
          <p:nvPr>
            <p:extLst>
              <p:ext uri="{D42A27DB-BD31-4B8C-83A1-F6EECF244321}">
                <p14:modId xmlns:p14="http://schemas.microsoft.com/office/powerpoint/2010/main" val="298486090"/>
              </p:ext>
            </p:extLst>
          </p:nvPr>
        </p:nvGraphicFramePr>
        <p:xfrm>
          <a:off x="541977" y="4468692"/>
          <a:ext cx="10202223" cy="4914486"/>
        </p:xfrm>
        <a:graphic>
          <a:graphicData uri="http://schemas.openxmlformats.org/drawingml/2006/table">
            <a:tbl>
              <a:tblPr firstRow="1" bandRow="1">
                <a:tableStyleId>{5C22544A-7EE6-4342-B048-85BDC9FD1C3A}</a:tableStyleId>
              </a:tblPr>
              <a:tblGrid>
                <a:gridCol w="2555875">
                  <a:extLst>
                    <a:ext uri="{9D8B030D-6E8A-4147-A177-3AD203B41FA5}">
                      <a16:colId xmlns:a16="http://schemas.microsoft.com/office/drawing/2014/main" val="3079456454"/>
                    </a:ext>
                  </a:extLst>
                </a:gridCol>
                <a:gridCol w="1464807">
                  <a:extLst>
                    <a:ext uri="{9D8B030D-6E8A-4147-A177-3AD203B41FA5}">
                      <a16:colId xmlns:a16="http://schemas.microsoft.com/office/drawing/2014/main" val="3950781146"/>
                    </a:ext>
                  </a:extLst>
                </a:gridCol>
                <a:gridCol w="1508750">
                  <a:extLst>
                    <a:ext uri="{9D8B030D-6E8A-4147-A177-3AD203B41FA5}">
                      <a16:colId xmlns:a16="http://schemas.microsoft.com/office/drawing/2014/main" val="1023699801"/>
                    </a:ext>
                  </a:extLst>
                </a:gridCol>
                <a:gridCol w="4672791">
                  <a:extLst>
                    <a:ext uri="{9D8B030D-6E8A-4147-A177-3AD203B41FA5}">
                      <a16:colId xmlns:a16="http://schemas.microsoft.com/office/drawing/2014/main" val="2489737660"/>
                    </a:ext>
                  </a:extLst>
                </a:gridCol>
              </a:tblGrid>
              <a:tr h="526632">
                <a:tc>
                  <a:txBody>
                    <a:bodyPr/>
                    <a:lstStyle/>
                    <a:p>
                      <a:r>
                        <a:rPr kumimoji="1" lang="ja-JP" altLang="en-US" sz="2400" dirty="0">
                          <a:latin typeface="Meiryo UI" panose="020B0604030504040204" pitchFamily="50" charset="-128"/>
                          <a:ea typeface="Meiryo UI" panose="020B0604030504040204" pitchFamily="50" charset="-128"/>
                        </a:rPr>
                        <a:t>項目</a:t>
                      </a:r>
                    </a:p>
                  </a:txBody>
                  <a:tcPr/>
                </a:tc>
                <a:tc>
                  <a:txBody>
                    <a:bodyPr/>
                    <a:lstStyle/>
                    <a:p>
                      <a:r>
                        <a:rPr kumimoji="1" lang="ja-JP" altLang="en-US" sz="2400">
                          <a:latin typeface="Meiryo UI" panose="020B0604030504040204" pitchFamily="50" charset="-128"/>
                          <a:ea typeface="Meiryo UI" panose="020B0604030504040204" pitchFamily="50" charset="-128"/>
                        </a:rPr>
                        <a:t>オンライン</a:t>
                      </a:r>
                    </a:p>
                  </a:txBody>
                  <a:tcPr/>
                </a:tc>
                <a:tc>
                  <a:txBody>
                    <a:bodyPr/>
                    <a:lstStyle/>
                    <a:p>
                      <a:r>
                        <a:rPr kumimoji="1" lang="ja-JP" altLang="en-US" sz="2400">
                          <a:latin typeface="Meiryo UI" panose="020B0604030504040204" pitchFamily="50" charset="-128"/>
                          <a:ea typeface="Meiryo UI" panose="020B0604030504040204" pitchFamily="50" charset="-128"/>
                        </a:rPr>
                        <a:t>オフライン</a:t>
                      </a:r>
                    </a:p>
                  </a:txBody>
                  <a:tcPr/>
                </a:tc>
                <a:tc>
                  <a:txBody>
                    <a:bodyPr/>
                    <a:lstStyle/>
                    <a:p>
                      <a:r>
                        <a:rPr kumimoji="1" lang="ja-JP" altLang="en-US" sz="2400" dirty="0">
                          <a:latin typeface="Meiryo UI" panose="020B0604030504040204" pitchFamily="50" charset="-128"/>
                          <a:ea typeface="Meiryo UI" panose="020B0604030504040204" pitchFamily="50" charset="-128"/>
                        </a:rPr>
                        <a:t>備考</a:t>
                      </a:r>
                    </a:p>
                  </a:txBody>
                  <a:tcPr/>
                </a:tc>
                <a:extLst>
                  <a:ext uri="{0D108BD9-81ED-4DB2-BD59-A6C34878D82A}">
                    <a16:rowId xmlns:a16="http://schemas.microsoft.com/office/drawing/2014/main" val="173182086"/>
                  </a:ext>
                </a:extLst>
              </a:tr>
              <a:tr h="526632">
                <a:tc>
                  <a:txBody>
                    <a:bodyPr/>
                    <a:lstStyle/>
                    <a:p>
                      <a:r>
                        <a:rPr kumimoji="1" lang="ja-JP" altLang="en-US" sz="2400">
                          <a:latin typeface="Meiryo UI" panose="020B0604030504040204" pitchFamily="50" charset="-128"/>
                          <a:ea typeface="Meiryo UI" panose="020B0604030504040204" pitchFamily="50" charset="-128"/>
                        </a:rPr>
                        <a:t>商品検索</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r>
                        <a:rPr kumimoji="1" lang="ja-JP" altLang="en-US" sz="2400" dirty="0">
                          <a:latin typeface="Meiryo UI" panose="020B0604030504040204" pitchFamily="50" charset="-128"/>
                          <a:ea typeface="Meiryo UI" panose="020B0604030504040204" pitchFamily="50" charset="-128"/>
                        </a:rPr>
                        <a:t>オフライン</a:t>
                      </a:r>
                      <a:r>
                        <a:rPr kumimoji="1" lang="ja-JP" altLang="en-US" sz="2400">
                          <a:latin typeface="Meiryo UI" panose="020B0604030504040204" pitchFamily="50" charset="-128"/>
                          <a:ea typeface="Meiryo UI" panose="020B0604030504040204" pitchFamily="50" charset="-128"/>
                        </a:rPr>
                        <a:t>時は簡易マスター</a:t>
                      </a:r>
                      <a:r>
                        <a:rPr kumimoji="1" lang="ja-JP" altLang="en-US" sz="2400" dirty="0">
                          <a:latin typeface="Meiryo UI" panose="020B0604030504040204" pitchFamily="50" charset="-128"/>
                          <a:ea typeface="Meiryo UI" panose="020B0604030504040204" pitchFamily="50" charset="-128"/>
                        </a:rPr>
                        <a:t>を参照</a:t>
                      </a:r>
                    </a:p>
                  </a:txBody>
                  <a:tcPr/>
                </a:tc>
                <a:extLst>
                  <a:ext uri="{0D108BD9-81ED-4DB2-BD59-A6C34878D82A}">
                    <a16:rowId xmlns:a16="http://schemas.microsoft.com/office/drawing/2014/main" val="3019196802"/>
                  </a:ext>
                </a:extLst>
              </a:tr>
              <a:tr h="526632">
                <a:tc>
                  <a:txBody>
                    <a:bodyPr/>
                    <a:lstStyle/>
                    <a:p>
                      <a:r>
                        <a:rPr kumimoji="1" lang="ja-JP" altLang="en-US" sz="2400">
                          <a:latin typeface="Meiryo UI" panose="020B0604030504040204" pitchFamily="50" charset="-128"/>
                          <a:ea typeface="Meiryo UI" panose="020B0604030504040204" pitchFamily="50" charset="-128"/>
                        </a:rPr>
                        <a:t>商品名・金額表示</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r>
                        <a:rPr kumimoji="1" lang="ja-JP" altLang="en-US" sz="2400" dirty="0">
                          <a:latin typeface="Meiryo UI" panose="020B0604030504040204" pitchFamily="50" charset="-128"/>
                          <a:ea typeface="Meiryo UI" panose="020B0604030504040204" pitchFamily="50" charset="-128"/>
                        </a:rPr>
                        <a:t>ローカル保持データを表示</a:t>
                      </a:r>
                      <a:endParaRPr kumimoji="1" lang="en-US" altLang="ja-JP"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732484838"/>
                  </a:ext>
                </a:extLst>
              </a:tr>
              <a:tr h="931734">
                <a:tc>
                  <a:txBody>
                    <a:bodyPr/>
                    <a:lstStyle/>
                    <a:p>
                      <a:r>
                        <a:rPr kumimoji="1" lang="ja-JP" altLang="en-US" sz="2400">
                          <a:latin typeface="Meiryo UI" panose="020B0604030504040204" pitchFamily="50" charset="-128"/>
                          <a:ea typeface="Meiryo UI" panose="020B0604030504040204" pitchFamily="50" charset="-128"/>
                        </a:rPr>
                        <a:t>税率計算</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a:t>
                      </a:r>
                    </a:p>
                  </a:txBody>
                  <a:tcPr/>
                </a:tc>
                <a:tc>
                  <a:txBody>
                    <a:bodyPr/>
                    <a:lstStyle/>
                    <a:p>
                      <a:r>
                        <a:rPr kumimoji="1" lang="ja-JP" altLang="en-US" sz="2400" dirty="0">
                          <a:latin typeface="Meiryo UI" panose="020B0604030504040204" pitchFamily="50" charset="-128"/>
                          <a:ea typeface="Meiryo UI" panose="020B0604030504040204" pitchFamily="50" charset="-128"/>
                        </a:rPr>
                        <a:t>ローカル保持税率で計算</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（差分は同期時補正）</a:t>
                      </a:r>
                    </a:p>
                  </a:txBody>
                  <a:tcPr/>
                </a:tc>
                <a:extLst>
                  <a:ext uri="{0D108BD9-81ED-4DB2-BD59-A6C34878D82A}">
                    <a16:rowId xmlns:a16="http://schemas.microsoft.com/office/drawing/2014/main" val="3943494005"/>
                  </a:ext>
                </a:extLst>
              </a:tr>
              <a:tr h="526632">
                <a:tc>
                  <a:txBody>
                    <a:bodyPr/>
                    <a:lstStyle/>
                    <a:p>
                      <a:r>
                        <a:rPr kumimoji="1" lang="ja-JP" altLang="en-US" sz="2400">
                          <a:latin typeface="Meiryo UI" panose="020B0604030504040204" pitchFamily="50" charset="-128"/>
                          <a:ea typeface="Meiryo UI" panose="020B0604030504040204" pitchFamily="50" charset="-128"/>
                        </a:rPr>
                        <a:t>カード決済</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pPr algn="ctr"/>
                      <a:r>
                        <a:rPr kumimoji="1" lang="en-US" altLang="ja-JP" sz="2400">
                          <a:latin typeface="Meiryo UI" panose="020B0604030504040204" pitchFamily="50" charset="-128"/>
                          <a:ea typeface="Meiryo UI" panose="020B0604030504040204" pitchFamily="50" charset="-128"/>
                        </a:rPr>
                        <a:t>×</a:t>
                      </a:r>
                      <a:endParaRPr kumimoji="1" lang="ja-JP" altLang="en-US" sz="240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オフライン時は利用不可</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a:t>
                      </a:r>
                      <a:r>
                        <a:rPr kumimoji="1" lang="en-US" altLang="ja-JP" sz="2400" dirty="0">
                          <a:latin typeface="Meiryo UI" panose="020B0604030504040204" pitchFamily="50" charset="-128"/>
                          <a:ea typeface="Meiryo UI" panose="020B0604030504040204" pitchFamily="50" charset="-128"/>
                        </a:rPr>
                        <a:t>POSA</a:t>
                      </a:r>
                      <a:r>
                        <a:rPr kumimoji="1" lang="ja-JP" altLang="en-US" sz="2400" dirty="0">
                          <a:latin typeface="Meiryo UI" panose="020B0604030504040204" pitchFamily="50" charset="-128"/>
                          <a:ea typeface="Meiryo UI" panose="020B0604030504040204" pitchFamily="50" charset="-128"/>
                        </a:rPr>
                        <a:t>カードも同様）</a:t>
                      </a:r>
                    </a:p>
                  </a:txBody>
                  <a:tcPr/>
                </a:tc>
                <a:extLst>
                  <a:ext uri="{0D108BD9-81ED-4DB2-BD59-A6C34878D82A}">
                    <a16:rowId xmlns:a16="http://schemas.microsoft.com/office/drawing/2014/main" val="3833319751"/>
                  </a:ext>
                </a:extLst>
              </a:tr>
              <a:tr h="526632">
                <a:tc>
                  <a:txBody>
                    <a:bodyPr/>
                    <a:lstStyle/>
                    <a:p>
                      <a:r>
                        <a:rPr kumimoji="1" lang="ja-JP" altLang="en-US" sz="2400">
                          <a:latin typeface="Meiryo UI" panose="020B0604030504040204" pitchFamily="50" charset="-128"/>
                          <a:ea typeface="Meiryo UI" panose="020B0604030504040204" pitchFamily="50" charset="-128"/>
                        </a:rPr>
                        <a:t>現金決済</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r>
                        <a:rPr kumimoji="1" lang="ja-JP" altLang="en-US" sz="2400">
                          <a:latin typeface="Meiryo UI" panose="020B0604030504040204" pitchFamily="50" charset="-128"/>
                          <a:ea typeface="Meiryo UI" panose="020B0604030504040204" pitchFamily="50" charset="-128"/>
                        </a:rPr>
                        <a:t>オフライン売上として一時保存</a:t>
                      </a:r>
                    </a:p>
                  </a:txBody>
                  <a:tcPr/>
                </a:tc>
                <a:extLst>
                  <a:ext uri="{0D108BD9-81ED-4DB2-BD59-A6C34878D82A}">
                    <a16:rowId xmlns:a16="http://schemas.microsoft.com/office/drawing/2014/main" val="3483244875"/>
                  </a:ext>
                </a:extLst>
              </a:tr>
              <a:tr h="526632">
                <a:tc>
                  <a:txBody>
                    <a:bodyPr/>
                    <a:lstStyle/>
                    <a:p>
                      <a:r>
                        <a:rPr kumimoji="1" lang="ja-JP" altLang="en-US" sz="2400">
                          <a:latin typeface="Meiryo UI" panose="020B0604030504040204" pitchFamily="50" charset="-128"/>
                          <a:ea typeface="Meiryo UI" panose="020B0604030504040204" pitchFamily="50" charset="-128"/>
                        </a:rPr>
                        <a:t>レシート発行</a:t>
                      </a:r>
                    </a:p>
                  </a:txBody>
                  <a:tcPr/>
                </a:tc>
                <a:tc>
                  <a:txBody>
                    <a:bodyPr/>
                    <a:lstStyle/>
                    <a:p>
                      <a:pPr algn="ctr"/>
                      <a:r>
                        <a:rPr kumimoji="1" lang="ja-JP" altLang="en-US" sz="2400">
                          <a:latin typeface="Meiryo UI" panose="020B0604030504040204" pitchFamily="50" charset="-128"/>
                          <a:ea typeface="Meiryo UI" panose="020B0604030504040204" pitchFamily="50" charset="-128"/>
                        </a:rPr>
                        <a:t>〇</a:t>
                      </a:r>
                    </a:p>
                  </a:txBody>
                  <a:tcPr/>
                </a:tc>
                <a:tc>
                  <a:txBody>
                    <a:bodyPr/>
                    <a:lstStyle/>
                    <a:p>
                      <a:pPr algn="ctr"/>
                      <a:r>
                        <a:rPr kumimoji="1" lang="ja-JP" altLang="en-US" sz="2400">
                          <a:latin typeface="Meiryo UI" panose="020B0604030504040204" pitchFamily="50" charset="-128"/>
                          <a:ea typeface="Meiryo UI" panose="020B0604030504040204" pitchFamily="50" charset="-128"/>
                        </a:rPr>
                        <a:t>△</a:t>
                      </a:r>
                    </a:p>
                  </a:txBody>
                  <a:tcPr/>
                </a:tc>
                <a:tc>
                  <a:txBody>
                    <a:bodyPr/>
                    <a:lstStyle/>
                    <a:p>
                      <a:r>
                        <a:rPr kumimoji="1" lang="ja-JP" altLang="en-US" sz="2400" dirty="0">
                          <a:latin typeface="Meiryo UI" panose="020B0604030504040204" pitchFamily="50" charset="-128"/>
                          <a:ea typeface="Meiryo UI" panose="020B0604030504040204" pitchFamily="50" charset="-128"/>
                        </a:rPr>
                        <a:t>オフライン時は専用の番号として出力</a:t>
                      </a:r>
                    </a:p>
                  </a:txBody>
                  <a:tcPr/>
                </a:tc>
                <a:extLst>
                  <a:ext uri="{0D108BD9-81ED-4DB2-BD59-A6C34878D82A}">
                    <a16:rowId xmlns:a16="http://schemas.microsoft.com/office/drawing/2014/main" val="1352074507"/>
                  </a:ext>
                </a:extLst>
              </a:tr>
              <a:tr h="526632">
                <a:tc>
                  <a:txBody>
                    <a:bodyPr/>
                    <a:lstStyle/>
                    <a:p>
                      <a:r>
                        <a:rPr kumimoji="1" lang="ja-JP" altLang="en-US" sz="2400">
                          <a:latin typeface="Meiryo UI" panose="020B0604030504040204" pitchFamily="50" charset="-128"/>
                          <a:ea typeface="Meiryo UI" panose="020B0604030504040204" pitchFamily="50" charset="-128"/>
                        </a:rPr>
                        <a:t>マスター更新</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〇</a:t>
                      </a:r>
                    </a:p>
                  </a:txBody>
                  <a:tcPr/>
                </a:tc>
                <a:tc>
                  <a:txBody>
                    <a:bodyPr/>
                    <a:lstStyle/>
                    <a:p>
                      <a:pPr algn="ctr"/>
                      <a:r>
                        <a:rPr kumimoji="1" lang="ja-JP" altLang="en-US" sz="2400">
                          <a:latin typeface="Meiryo UI" panose="020B0604030504040204" pitchFamily="50" charset="-128"/>
                          <a:ea typeface="Meiryo UI" panose="020B0604030504040204" pitchFamily="50" charset="-128"/>
                        </a:rPr>
                        <a:t>△</a:t>
                      </a:r>
                    </a:p>
                  </a:txBody>
                  <a:tcPr/>
                </a:tc>
                <a:tc>
                  <a:txBody>
                    <a:bodyPr/>
                    <a:lstStyle/>
                    <a:p>
                      <a:r>
                        <a:rPr kumimoji="1" lang="ja-JP" altLang="en-US" sz="2400" dirty="0">
                          <a:latin typeface="Meiryo UI" panose="020B0604030504040204" pitchFamily="50" charset="-128"/>
                          <a:ea typeface="Meiryo UI" panose="020B0604030504040204" pitchFamily="50" charset="-128"/>
                        </a:rPr>
                        <a:t>起動時および復帰時に差分同期</a:t>
                      </a:r>
                    </a:p>
                  </a:txBody>
                  <a:tcPr/>
                </a:tc>
                <a:extLst>
                  <a:ext uri="{0D108BD9-81ED-4DB2-BD59-A6C34878D82A}">
                    <a16:rowId xmlns:a16="http://schemas.microsoft.com/office/drawing/2014/main" val="1586601958"/>
                  </a:ext>
                </a:extLst>
              </a:tr>
            </a:tbl>
          </a:graphicData>
        </a:graphic>
      </p:graphicFrame>
      <p:sp>
        <p:nvSpPr>
          <p:cNvPr id="11" name="テキスト ボックス 10">
            <a:extLst>
              <a:ext uri="{FF2B5EF4-FFF2-40B4-BE49-F238E27FC236}">
                <a16:creationId xmlns:a16="http://schemas.microsoft.com/office/drawing/2014/main" id="{72E21E80-9023-1778-EE99-989A27B99597}"/>
              </a:ext>
            </a:extLst>
          </p:cNvPr>
          <p:cNvSpPr txBox="1"/>
          <p:nvPr/>
        </p:nvSpPr>
        <p:spPr>
          <a:xfrm>
            <a:off x="554408" y="1585520"/>
            <a:ext cx="17199585" cy="2494978"/>
          </a:xfrm>
          <a:prstGeom prst="rect">
            <a:avLst/>
          </a:prstGeom>
          <a:noFill/>
        </p:spPr>
        <p:txBody>
          <a:bodyPr wrap="square" lIns="0" tIns="0" rIns="0" bIns="0" rtlCol="0">
            <a:spAutoFit/>
          </a:bodyPr>
          <a:lstStyle/>
          <a:p>
            <a:pPr>
              <a:lnSpc>
                <a:spcPct val="150000"/>
              </a:lnSpc>
            </a:pPr>
            <a:r>
              <a:rPr lang="en-US" altLang="ja-JP" sz="2800" dirty="0">
                <a:latin typeface="Meiryo UI" panose="020B0604030504040204" pitchFamily="50" charset="-128"/>
                <a:ea typeface="Meiryo UI" panose="020B0604030504040204" pitchFamily="50" charset="-128"/>
              </a:rPr>
              <a:t>【</a:t>
            </a:r>
            <a:r>
              <a:rPr lang="ja-JP" altLang="en-US" sz="2800" dirty="0">
                <a:latin typeface="Meiryo UI" panose="020B0604030504040204" pitchFamily="50" charset="-128"/>
                <a:ea typeface="Meiryo UI" panose="020B0604030504040204" pitchFamily="50" charset="-128"/>
              </a:rPr>
              <a:t>オフライン対応の目的</a:t>
            </a:r>
            <a:r>
              <a:rPr lang="en-US" altLang="ja-JP" sz="2800" dirty="0">
                <a:latin typeface="Meiryo UI" panose="020B0604030504040204" pitchFamily="50" charset="-128"/>
                <a:ea typeface="Meiryo UI" panose="020B0604030504040204" pitchFamily="50" charset="-128"/>
              </a:rPr>
              <a:t>】</a:t>
            </a:r>
          </a:p>
          <a:p>
            <a:pPr>
              <a:lnSpc>
                <a:spcPct val="150000"/>
              </a:lnSpc>
            </a:pPr>
            <a:r>
              <a:rPr lang="ja-JP" altLang="en-US" sz="2800" dirty="0">
                <a:latin typeface="Meiryo UI" panose="020B0604030504040204" pitchFamily="50" charset="-128"/>
                <a:ea typeface="Meiryo UI" panose="020B0604030504040204" pitchFamily="50" charset="-128"/>
              </a:rPr>
              <a:t>・通信断発生時においても店舗での最低限の販売業務を継続するため、端末側に最小限のマスターを保持し、「持帰売上」のオフライン機能</a:t>
            </a:r>
            <a:r>
              <a:rPr lang="ja-JP" altLang="en-US" sz="2800">
                <a:latin typeface="Meiryo UI" panose="020B0604030504040204" pitchFamily="50" charset="-128"/>
                <a:ea typeface="Meiryo UI" panose="020B0604030504040204" pitchFamily="50" charset="-128"/>
              </a:rPr>
              <a:t>を実装します。</a:t>
            </a:r>
            <a:r>
              <a:rPr lang="ja-JP" altLang="en-US" sz="2800">
                <a:latin typeface="メイリオ" panose="020B0604030504040204" pitchFamily="50" charset="-128"/>
                <a:ea typeface="メイリオ" panose="020B0604030504040204" pitchFamily="50" charset="-128"/>
              </a:rPr>
              <a:t>販売成立に必須な最小簡易マスターのみ端末に保持します。</a:t>
            </a:r>
            <a:endParaRPr lang="en-US" altLang="ja-JP" sz="2800" dirty="0">
              <a:latin typeface="Meiryo UI" panose="020B0604030504040204" pitchFamily="50" charset="-128"/>
              <a:ea typeface="Meiryo UI" panose="020B0604030504040204" pitchFamily="50" charset="-128"/>
            </a:endParaRPr>
          </a:p>
          <a:p>
            <a:pPr>
              <a:lnSpc>
                <a:spcPct val="150000"/>
              </a:lnSpc>
            </a:pPr>
            <a:endParaRPr lang="en-US" altLang="ja-JP" sz="2800" dirty="0">
              <a:latin typeface="Meiryo UI" panose="020B0604030504040204" pitchFamily="50" charset="-128"/>
              <a:ea typeface="Meiryo UI" panose="020B0604030504040204" pitchFamily="50" charset="-128"/>
            </a:endParaRPr>
          </a:p>
        </p:txBody>
      </p:sp>
      <p:sp>
        <p:nvSpPr>
          <p:cNvPr id="13" name="タイトル 1">
            <a:extLst>
              <a:ext uri="{FF2B5EF4-FFF2-40B4-BE49-F238E27FC236}">
                <a16:creationId xmlns:a16="http://schemas.microsoft.com/office/drawing/2014/main" id="{77CD87FA-9033-410A-BB44-7213170A0D53}"/>
              </a:ext>
            </a:extLst>
          </p:cNvPr>
          <p:cNvSpPr>
            <a:spLocks noGrp="1"/>
          </p:cNvSpPr>
          <p:nvPr>
            <p:ph type="title"/>
          </p:nvPr>
        </p:nvSpPr>
        <p:spPr>
          <a:xfrm>
            <a:off x="384175" y="438150"/>
            <a:ext cx="15513050" cy="414338"/>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５－７．オフライン機能（１）</a:t>
            </a:r>
          </a:p>
        </p:txBody>
      </p:sp>
      <p:graphicFrame>
        <p:nvGraphicFramePr>
          <p:cNvPr id="14" name="表 13">
            <a:extLst>
              <a:ext uri="{FF2B5EF4-FFF2-40B4-BE49-F238E27FC236}">
                <a16:creationId xmlns:a16="http://schemas.microsoft.com/office/drawing/2014/main" id="{96F9A6C8-FD5B-481C-34BB-DCFB0192CA85}"/>
              </a:ext>
            </a:extLst>
          </p:cNvPr>
          <p:cNvGraphicFramePr>
            <a:graphicFrameLocks noGrp="1"/>
          </p:cNvGraphicFramePr>
          <p:nvPr>
            <p:extLst>
              <p:ext uri="{D42A27DB-BD31-4B8C-83A1-F6EECF244321}">
                <p14:modId xmlns:p14="http://schemas.microsoft.com/office/powerpoint/2010/main" val="3044389518"/>
              </p:ext>
            </p:extLst>
          </p:nvPr>
        </p:nvGraphicFramePr>
        <p:xfrm>
          <a:off x="11097194" y="4460633"/>
          <a:ext cx="7124131" cy="4618161"/>
        </p:xfrm>
        <a:graphic>
          <a:graphicData uri="http://schemas.openxmlformats.org/drawingml/2006/table">
            <a:tbl>
              <a:tblPr firstRow="1" bandRow="1">
                <a:tableStyleId>{5C22544A-7EE6-4342-B048-85BDC9FD1C3A}</a:tableStyleId>
              </a:tblPr>
              <a:tblGrid>
                <a:gridCol w="2801638">
                  <a:extLst>
                    <a:ext uri="{9D8B030D-6E8A-4147-A177-3AD203B41FA5}">
                      <a16:colId xmlns:a16="http://schemas.microsoft.com/office/drawing/2014/main" val="3079456454"/>
                    </a:ext>
                  </a:extLst>
                </a:gridCol>
                <a:gridCol w="4322493">
                  <a:extLst>
                    <a:ext uri="{9D8B030D-6E8A-4147-A177-3AD203B41FA5}">
                      <a16:colId xmlns:a16="http://schemas.microsoft.com/office/drawing/2014/main" val="3950781146"/>
                    </a:ext>
                  </a:extLst>
                </a:gridCol>
              </a:tblGrid>
              <a:tr h="513129">
                <a:tc>
                  <a:txBody>
                    <a:bodyPr/>
                    <a:lstStyle/>
                    <a:p>
                      <a:r>
                        <a:rPr kumimoji="1" lang="ja-JP" altLang="en-US" sz="2400" dirty="0">
                          <a:latin typeface="Meiryo UI" panose="020B0604030504040204" pitchFamily="50" charset="-128"/>
                          <a:ea typeface="Meiryo UI" panose="020B0604030504040204" pitchFamily="50" charset="-128"/>
                        </a:rPr>
                        <a:t>項目</a:t>
                      </a:r>
                    </a:p>
                  </a:txBody>
                  <a:tcPr/>
                </a:tc>
                <a:tc>
                  <a:txBody>
                    <a:bodyPr/>
                    <a:lstStyle/>
                    <a:p>
                      <a:r>
                        <a:rPr kumimoji="1" lang="ja-JP" altLang="en-US" sz="2400">
                          <a:latin typeface="Meiryo UI" panose="020B0604030504040204" pitchFamily="50" charset="-128"/>
                          <a:ea typeface="Meiryo UI" panose="020B0604030504040204" pitchFamily="50" charset="-128"/>
                        </a:rPr>
                        <a:t>オンライン</a:t>
                      </a:r>
                    </a:p>
                  </a:txBody>
                  <a:tcPr/>
                </a:tc>
                <a:extLst>
                  <a:ext uri="{0D108BD9-81ED-4DB2-BD59-A6C34878D82A}">
                    <a16:rowId xmlns:a16="http://schemas.microsoft.com/office/drawing/2014/main" val="173182086"/>
                  </a:ext>
                </a:extLst>
              </a:tr>
              <a:tr h="513129">
                <a:tc>
                  <a:txBody>
                    <a:bodyPr/>
                    <a:lstStyle/>
                    <a:p>
                      <a:r>
                        <a:rPr kumimoji="1" lang="ja-JP" altLang="en-US" sz="2400" dirty="0">
                          <a:latin typeface="Meiryo UI" panose="020B0604030504040204" pitchFamily="50" charset="-128"/>
                          <a:ea typeface="Meiryo UI" panose="020B0604030504040204" pitchFamily="50" charset="-128"/>
                        </a:rPr>
                        <a:t>商品マスター</a:t>
                      </a:r>
                    </a:p>
                  </a:txBody>
                  <a:tcPr/>
                </a:tc>
                <a:tc>
                  <a:txBody>
                    <a:bodyPr/>
                    <a:lstStyle/>
                    <a:p>
                      <a:r>
                        <a:rPr lang="ja-JP" altLang="en-US" sz="2400" dirty="0">
                          <a:latin typeface="Meiryo UI" panose="020B0604030504040204" pitchFamily="50" charset="-128"/>
                          <a:ea typeface="Meiryo UI" panose="020B0604030504040204" pitchFamily="50" charset="-128"/>
                        </a:rPr>
                        <a:t>金額</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019196802"/>
                  </a:ext>
                </a:extLst>
              </a:tr>
              <a:tr h="513129">
                <a:tc>
                  <a:txBody>
                    <a:bodyPr/>
                    <a:lstStyle/>
                    <a:p>
                      <a:r>
                        <a:rPr kumimoji="1" lang="en-US" altLang="ja-JP" sz="2400" dirty="0">
                          <a:latin typeface="Meiryo UI" panose="020B0604030504040204" pitchFamily="50" charset="-128"/>
                          <a:ea typeface="Meiryo UI" panose="020B0604030504040204" pitchFamily="50" charset="-128"/>
                        </a:rPr>
                        <a:t>JDNET</a:t>
                      </a:r>
                      <a:r>
                        <a:rPr kumimoji="1" lang="ja-JP" altLang="en-US" sz="2400" dirty="0">
                          <a:latin typeface="Meiryo UI" panose="020B0604030504040204" pitchFamily="50" charset="-128"/>
                          <a:ea typeface="Meiryo UI" panose="020B0604030504040204" pitchFamily="50" charset="-128"/>
                        </a:rPr>
                        <a:t>商品マスター</a:t>
                      </a:r>
                    </a:p>
                  </a:txBody>
                  <a:tcPr/>
                </a:tc>
                <a:tc>
                  <a:txBody>
                    <a:bodyPr/>
                    <a:lstStyle/>
                    <a:p>
                      <a:r>
                        <a:rPr kumimoji="1" lang="ja-JP" altLang="en-US" sz="2400" dirty="0">
                          <a:latin typeface="Meiryo UI" panose="020B0604030504040204" pitchFamily="50" charset="-128"/>
                          <a:ea typeface="Meiryo UI" panose="020B0604030504040204" pitchFamily="50" charset="-128"/>
                        </a:rPr>
                        <a:t>型番・サイズ・商品名</a:t>
                      </a:r>
                    </a:p>
                  </a:txBody>
                  <a:tcPr/>
                </a:tc>
                <a:extLst>
                  <a:ext uri="{0D108BD9-81ED-4DB2-BD59-A6C34878D82A}">
                    <a16:rowId xmlns:a16="http://schemas.microsoft.com/office/drawing/2014/main" val="732484838"/>
                  </a:ext>
                </a:extLst>
              </a:tr>
              <a:tr h="513129">
                <a:tc>
                  <a:txBody>
                    <a:bodyPr/>
                    <a:lstStyle/>
                    <a:p>
                      <a:r>
                        <a:rPr kumimoji="1" lang="ja-JP" altLang="en-US" sz="2400" dirty="0">
                          <a:latin typeface="Meiryo UI" panose="020B0604030504040204" pitchFamily="50" charset="-128"/>
                          <a:ea typeface="Meiryo UI" panose="020B0604030504040204" pitchFamily="50" charset="-128"/>
                        </a:rPr>
                        <a:t>法人マスター</a:t>
                      </a:r>
                    </a:p>
                  </a:txBody>
                  <a:tcPr/>
                </a:tc>
                <a:tc>
                  <a:txBody>
                    <a:bodyPr/>
                    <a:lstStyle/>
                    <a:p>
                      <a:r>
                        <a:rPr lang="ja-JP" altLang="en-US" sz="2400" dirty="0">
                          <a:latin typeface="Meiryo UI" panose="020B0604030504040204" pitchFamily="50" charset="-128"/>
                          <a:ea typeface="Meiryo UI" panose="020B0604030504040204" pitchFamily="50" charset="-128"/>
                        </a:rPr>
                        <a:t>伝票採番用コード</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43494005"/>
                  </a:ext>
                </a:extLst>
              </a:tr>
              <a:tr h="513129">
                <a:tc>
                  <a:txBody>
                    <a:bodyPr/>
                    <a:lstStyle/>
                    <a:p>
                      <a:r>
                        <a:rPr kumimoji="1" lang="ja-JP" altLang="en-US" sz="2400" dirty="0">
                          <a:latin typeface="Meiryo UI" panose="020B0604030504040204" pitchFamily="50" charset="-128"/>
                          <a:ea typeface="Meiryo UI" panose="020B0604030504040204" pitchFamily="50" charset="-128"/>
                        </a:rPr>
                        <a:t>店舗マスター</a:t>
                      </a:r>
                      <a:endParaRPr kumimoji="1" lang="en-US" altLang="ja-JP" sz="2400" dirty="0">
                        <a:latin typeface="Meiryo UI" panose="020B0604030504040204" pitchFamily="50" charset="-128"/>
                        <a:ea typeface="Meiryo UI" panose="020B0604030504040204" pitchFamily="50" charset="-128"/>
                      </a:endParaRPr>
                    </a:p>
                  </a:txBody>
                  <a:tcPr/>
                </a:tc>
                <a:tc>
                  <a:txBody>
                    <a:bodyPr/>
                    <a:lstStyle/>
                    <a:p>
                      <a:r>
                        <a:rPr lang="ja-JP" altLang="en-US" sz="2400" dirty="0">
                          <a:latin typeface="Meiryo UI" panose="020B0604030504040204" pitchFamily="50" charset="-128"/>
                          <a:ea typeface="Meiryo UI" panose="020B0604030504040204" pitchFamily="50" charset="-128"/>
                        </a:rPr>
                        <a:t>伝票採番用コード</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33319751"/>
                  </a:ext>
                </a:extLst>
              </a:tr>
              <a:tr h="513129">
                <a:tc>
                  <a:txBody>
                    <a:bodyPr/>
                    <a:lstStyle/>
                    <a:p>
                      <a:r>
                        <a:rPr kumimoji="1" lang="ja-JP" altLang="en-US" sz="2400" dirty="0">
                          <a:latin typeface="Meiryo UI" panose="020B0604030504040204" pitchFamily="50" charset="-128"/>
                          <a:ea typeface="Meiryo UI" panose="020B0604030504040204" pitchFamily="50" charset="-128"/>
                        </a:rPr>
                        <a:t>担当者マスター</a:t>
                      </a:r>
                      <a:endParaRPr kumimoji="1" lang="en-US" altLang="ja-JP" sz="2400" dirty="0">
                        <a:latin typeface="Meiryo UI" panose="020B0604030504040204" pitchFamily="50" charset="-128"/>
                        <a:ea typeface="Meiryo UI" panose="020B0604030504040204" pitchFamily="50" charset="-128"/>
                      </a:endParaRPr>
                    </a:p>
                  </a:txBody>
                  <a:tcPr/>
                </a:tc>
                <a:tc>
                  <a:txBody>
                    <a:bodyPr/>
                    <a:lstStyle/>
                    <a:p>
                      <a:r>
                        <a:rPr lang="ja-JP" altLang="en-US" sz="2400" dirty="0">
                          <a:latin typeface="Meiryo UI" panose="020B0604030504040204" pitchFamily="50" charset="-128"/>
                          <a:ea typeface="Meiryo UI" panose="020B0604030504040204" pitchFamily="50" charset="-128"/>
                        </a:rPr>
                        <a:t>販売者識別</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83244875"/>
                  </a:ext>
                </a:extLst>
              </a:tr>
              <a:tr h="513129">
                <a:tc>
                  <a:txBody>
                    <a:bodyPr/>
                    <a:lstStyle/>
                    <a:p>
                      <a:r>
                        <a:rPr kumimoji="1" lang="ja-JP" altLang="en-US" sz="2400" dirty="0">
                          <a:latin typeface="Meiryo UI" panose="020B0604030504040204" pitchFamily="50" charset="-128"/>
                          <a:ea typeface="Meiryo UI" panose="020B0604030504040204" pitchFamily="50" charset="-128"/>
                        </a:rPr>
                        <a:t>保証マスター</a:t>
                      </a:r>
                    </a:p>
                  </a:txBody>
                  <a:tcPr/>
                </a:tc>
                <a:tc>
                  <a:txBody>
                    <a:bodyPr/>
                    <a:lstStyle/>
                    <a:p>
                      <a:r>
                        <a:rPr lang="ja-JP" altLang="en-US" sz="2400" dirty="0">
                          <a:latin typeface="Meiryo UI" panose="020B0604030504040204" pitchFamily="50" charset="-128"/>
                          <a:ea typeface="Meiryo UI" panose="020B0604030504040204" pitchFamily="50" charset="-128"/>
                        </a:rPr>
                        <a:t>保証区分・保証レベル</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352074507"/>
                  </a:ext>
                </a:extLst>
              </a:tr>
              <a:tr h="513129">
                <a:tc>
                  <a:txBody>
                    <a:bodyPr/>
                    <a:lstStyle/>
                    <a:p>
                      <a:r>
                        <a:rPr kumimoji="1" lang="ja-JP" altLang="en-US" sz="2400" dirty="0">
                          <a:latin typeface="Meiryo UI" panose="020B0604030504040204" pitchFamily="50" charset="-128"/>
                          <a:ea typeface="Meiryo UI" panose="020B0604030504040204" pitchFamily="50" charset="-128"/>
                        </a:rPr>
                        <a:t>税率マスター</a:t>
                      </a:r>
                    </a:p>
                  </a:txBody>
                  <a:tcPr/>
                </a:tc>
                <a:tc>
                  <a:txBody>
                    <a:bodyPr/>
                    <a:lstStyle/>
                    <a:p>
                      <a:r>
                        <a:rPr lang="ja-JP" altLang="en-US" sz="2400" dirty="0">
                          <a:latin typeface="Meiryo UI" panose="020B0604030504040204" pitchFamily="50" charset="-128"/>
                          <a:ea typeface="Meiryo UI" panose="020B0604030504040204" pitchFamily="50" charset="-128"/>
                        </a:rPr>
                        <a:t>消費税率</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86601958"/>
                  </a:ext>
                </a:extLst>
              </a:tr>
              <a:tr h="513129">
                <a:tc>
                  <a:txBody>
                    <a:bodyPr/>
                    <a:lstStyle/>
                    <a:p>
                      <a:r>
                        <a:rPr kumimoji="1" lang="ja-JP" altLang="en-US" sz="2400" dirty="0">
                          <a:latin typeface="Meiryo UI" panose="020B0604030504040204" pitchFamily="50" charset="-128"/>
                          <a:ea typeface="Meiryo UI" panose="020B0604030504040204" pitchFamily="50" charset="-128"/>
                        </a:rPr>
                        <a:t>印紙税マスター</a:t>
                      </a:r>
                      <a:endParaRPr kumimoji="1" lang="en-US" altLang="ja-JP" sz="2400" dirty="0">
                        <a:latin typeface="Meiryo UI" panose="020B0604030504040204" pitchFamily="50" charset="-128"/>
                        <a:ea typeface="Meiryo UI" panose="020B0604030504040204" pitchFamily="50" charset="-128"/>
                      </a:endParaRPr>
                    </a:p>
                  </a:txBody>
                  <a:tcPr/>
                </a:tc>
                <a:tc>
                  <a:txBody>
                    <a:bodyPr/>
                    <a:lstStyle/>
                    <a:p>
                      <a:r>
                        <a:rPr lang="zh-TW" altLang="en-US" sz="2400" dirty="0">
                          <a:latin typeface="Meiryo UI" panose="020B0604030504040204" pitchFamily="50" charset="-128"/>
                          <a:ea typeface="Meiryo UI" panose="020B0604030504040204" pitchFamily="50" charset="-128"/>
                        </a:rPr>
                        <a:t>領収証印紙判定</a:t>
                      </a:r>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65286628"/>
                  </a:ext>
                </a:extLst>
              </a:tr>
            </a:tbl>
          </a:graphicData>
        </a:graphic>
      </p:graphicFrame>
      <p:sp>
        <p:nvSpPr>
          <p:cNvPr id="15" name="テキスト ボックス 14">
            <a:extLst>
              <a:ext uri="{FF2B5EF4-FFF2-40B4-BE49-F238E27FC236}">
                <a16:creationId xmlns:a16="http://schemas.microsoft.com/office/drawing/2014/main" id="{B97764DA-6E95-1D37-6F82-D09EFB4B2177}"/>
              </a:ext>
            </a:extLst>
          </p:cNvPr>
          <p:cNvSpPr txBox="1"/>
          <p:nvPr/>
        </p:nvSpPr>
        <p:spPr>
          <a:xfrm>
            <a:off x="384175" y="3877212"/>
            <a:ext cx="6702425" cy="507831"/>
          </a:xfrm>
          <a:prstGeom prst="rect">
            <a:avLst/>
          </a:prstGeom>
          <a:noFill/>
        </p:spPr>
        <p:txBody>
          <a:bodyPr wrap="square" lIns="0" tIns="0" rIns="0" bIns="0" rtlCol="0">
            <a:spAutoFit/>
          </a:bodyPr>
          <a:lstStyle/>
          <a:p>
            <a:pPr>
              <a:lnSpc>
                <a:spcPct val="150000"/>
              </a:lnSpc>
            </a:pP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オフライン対応範囲</a:t>
            </a:r>
            <a:r>
              <a:rPr lang="en-US" altLang="ja-JP" sz="2400" dirty="0">
                <a:latin typeface="メイリオ" panose="020B0604030504040204" pitchFamily="50" charset="-128"/>
                <a:ea typeface="メイリオ" panose="020B0604030504040204" pitchFamily="50" charset="-128"/>
              </a:rPr>
              <a:t>】</a:t>
            </a:r>
          </a:p>
        </p:txBody>
      </p:sp>
      <p:sp>
        <p:nvSpPr>
          <p:cNvPr id="16" name="テキスト ボックス 15">
            <a:extLst>
              <a:ext uri="{FF2B5EF4-FFF2-40B4-BE49-F238E27FC236}">
                <a16:creationId xmlns:a16="http://schemas.microsoft.com/office/drawing/2014/main" id="{6836A350-7ED0-2C42-3D4A-24018A57A8F7}"/>
              </a:ext>
            </a:extLst>
          </p:cNvPr>
          <p:cNvSpPr txBox="1"/>
          <p:nvPr/>
        </p:nvSpPr>
        <p:spPr>
          <a:xfrm>
            <a:off x="10893355" y="3877212"/>
            <a:ext cx="6176046" cy="507831"/>
          </a:xfrm>
          <a:prstGeom prst="rect">
            <a:avLst/>
          </a:prstGeom>
          <a:noFill/>
        </p:spPr>
        <p:txBody>
          <a:bodyPr wrap="square" lIns="0" tIns="0" rIns="0" bIns="0" rtlCol="0">
            <a:spAutoFit/>
          </a:bodyPr>
          <a:lstStyle/>
          <a:p>
            <a:pPr>
              <a:lnSpc>
                <a:spcPct val="150000"/>
              </a:lnSpc>
            </a:pP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最小マスター構成表 案</a:t>
            </a:r>
            <a:r>
              <a:rPr lang="en-US" altLang="ja-JP" sz="24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762729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cs typeface="Malgun Gothic Semilight" panose="020B0502040204020203" pitchFamily="50" charset="-128"/>
              </a:rPr>
              <a:pPr/>
              <a:t>24</a:t>
            </a:fld>
            <a:endParaRPr lang="ja-JP" altLang="en-US">
              <a:cs typeface="Malgun Gothic Semilight" panose="020B0502040204020203" pitchFamily="50" charset="-128"/>
            </a:endParaRPr>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cs typeface="Malgun Gothic Semilight" panose="020B0502040204020203" pitchFamily="50" charset="-128"/>
              </a:rPr>
              <a:t>Confidential </a:t>
            </a:r>
            <a:endParaRPr lang="en-US" altLang="ja-JP">
              <a:cs typeface="Malgun Gothic Semilight" panose="020B0502040204020203" pitchFamily="50" charset="-128"/>
            </a:endParaRPr>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Meiryo UI" panose="020B0604030504040204" pitchFamily="50" charset="-128"/>
                <a:ea typeface="Meiryo UI" panose="020B0604030504040204" pitchFamily="50" charset="-128"/>
                <a:cs typeface="Malgun Gothic Semilight" panose="020B0502040204020203" pitchFamily="50" charset="-128"/>
              </a:rPr>
              <a:t>Copyright © All rights reserved, SHARP MARKETING JAPAN CORPORATION</a:t>
            </a:r>
            <a:endParaRPr lang="ja-JP" altLang="en-US" sz="1575">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8" name="テキスト ボックス 7">
            <a:extLst>
              <a:ext uri="{FF2B5EF4-FFF2-40B4-BE49-F238E27FC236}">
                <a16:creationId xmlns:a16="http://schemas.microsoft.com/office/drawing/2014/main" id="{AEA878B3-C612-5A9C-0327-E199B7088AA5}"/>
              </a:ext>
            </a:extLst>
          </p:cNvPr>
          <p:cNvSpPr txBox="1"/>
          <p:nvPr/>
        </p:nvSpPr>
        <p:spPr>
          <a:xfrm>
            <a:off x="474417" y="2816621"/>
            <a:ext cx="17199585" cy="563039"/>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endParaRPr lang="ja-JP" altLang="en-US" sz="2800">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12" name="正方形/長方形 11">
            <a:extLst>
              <a:ext uri="{FF2B5EF4-FFF2-40B4-BE49-F238E27FC236}">
                <a16:creationId xmlns:a16="http://schemas.microsoft.com/office/drawing/2014/main" id="{733E60FA-0612-E554-BFBC-5C56C79DFD95}"/>
              </a:ext>
            </a:extLst>
          </p:cNvPr>
          <p:cNvSpPr/>
          <p:nvPr/>
        </p:nvSpPr>
        <p:spPr>
          <a:xfrm>
            <a:off x="608331" y="6009890"/>
            <a:ext cx="16888188" cy="3866941"/>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ja-JP" dirty="0">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30" name="矢印: 右 29">
            <a:extLst>
              <a:ext uri="{FF2B5EF4-FFF2-40B4-BE49-F238E27FC236}">
                <a16:creationId xmlns:a16="http://schemas.microsoft.com/office/drawing/2014/main" id="{969B0FFE-74BB-46EA-8C58-D5D92FE160F5}"/>
              </a:ext>
            </a:extLst>
          </p:cNvPr>
          <p:cNvSpPr/>
          <p:nvPr/>
        </p:nvSpPr>
        <p:spPr>
          <a:xfrm>
            <a:off x="4393485" y="6888984"/>
            <a:ext cx="650789" cy="431911"/>
          </a:xfrm>
          <a:prstGeom prst="rightArrow">
            <a:avLst/>
          </a:prstGeom>
          <a:solidFill>
            <a:srgbClr val="59574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14" name="テキスト ボックス 13">
            <a:extLst>
              <a:ext uri="{FF2B5EF4-FFF2-40B4-BE49-F238E27FC236}">
                <a16:creationId xmlns:a16="http://schemas.microsoft.com/office/drawing/2014/main" id="{1065F03C-29F9-C717-B377-5C5664E340D2}"/>
              </a:ext>
            </a:extLst>
          </p:cNvPr>
          <p:cNvSpPr txBox="1"/>
          <p:nvPr/>
        </p:nvSpPr>
        <p:spPr>
          <a:xfrm>
            <a:off x="7726605" y="2470532"/>
            <a:ext cx="6863713" cy="563039"/>
          </a:xfrm>
          <a:prstGeom prst="rect">
            <a:avLst/>
          </a:prstGeom>
          <a:noFill/>
        </p:spPr>
        <p:txBody>
          <a:bodyPr wrap="square" lIns="0" tIns="0" rIns="0" bIns="0" rtlCol="0">
            <a:spAutoFit/>
          </a:bodyPr>
          <a:lstStyle/>
          <a:p>
            <a:pPr>
              <a:lnSpc>
                <a:spcPct val="150000"/>
              </a:lnSpc>
            </a:pPr>
            <a:r>
              <a:rPr lang="ja-JP" altLang="en-US" sz="2800">
                <a:latin typeface="Meiryo UI" panose="020B0604030504040204" pitchFamily="50" charset="-128"/>
                <a:ea typeface="Meiryo UI" panose="020B0604030504040204" pitchFamily="50" charset="-128"/>
                <a:cs typeface="Malgun Gothic Semilight" panose="020B0502040204020203" pitchFamily="50" charset="-128"/>
              </a:rPr>
              <a:t>　　</a:t>
            </a:r>
            <a:endParaRPr lang="en-US" altLang="ja-JP" sz="2800">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9" name="テキスト ボックス 8">
            <a:extLst>
              <a:ext uri="{FF2B5EF4-FFF2-40B4-BE49-F238E27FC236}">
                <a16:creationId xmlns:a16="http://schemas.microsoft.com/office/drawing/2014/main" id="{6BA93AF5-85DD-C98D-8626-5AFB3C0C1CEA}"/>
              </a:ext>
            </a:extLst>
          </p:cNvPr>
          <p:cNvSpPr txBox="1"/>
          <p:nvPr/>
        </p:nvSpPr>
        <p:spPr>
          <a:xfrm>
            <a:off x="11694422" y="2513537"/>
            <a:ext cx="6863713" cy="563039"/>
          </a:xfrm>
          <a:prstGeom prst="rect">
            <a:avLst/>
          </a:prstGeom>
          <a:noFill/>
        </p:spPr>
        <p:txBody>
          <a:bodyPr wrap="square" lIns="0" tIns="0" rIns="0" bIns="0" rtlCol="0">
            <a:spAutoFit/>
          </a:bodyPr>
          <a:lstStyle/>
          <a:p>
            <a:pPr>
              <a:lnSpc>
                <a:spcPct val="150000"/>
              </a:lnSpc>
            </a:pPr>
            <a:r>
              <a:rPr lang="ja-JP" altLang="en-US" sz="2800">
                <a:latin typeface="Meiryo UI" panose="020B0604030504040204" pitchFamily="50" charset="-128"/>
                <a:ea typeface="Meiryo UI" panose="020B0604030504040204" pitchFamily="50" charset="-128"/>
                <a:cs typeface="Malgun Gothic Semilight" panose="020B0502040204020203" pitchFamily="50" charset="-128"/>
              </a:rPr>
              <a:t>　　</a:t>
            </a:r>
            <a:endParaRPr lang="en-US" altLang="ja-JP" sz="2800">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18" name="矢印: 右 17">
            <a:extLst>
              <a:ext uri="{FF2B5EF4-FFF2-40B4-BE49-F238E27FC236}">
                <a16:creationId xmlns:a16="http://schemas.microsoft.com/office/drawing/2014/main" id="{19D5D314-5980-0669-7F0A-C51435565692}"/>
              </a:ext>
            </a:extLst>
          </p:cNvPr>
          <p:cNvSpPr/>
          <p:nvPr/>
        </p:nvSpPr>
        <p:spPr>
          <a:xfrm>
            <a:off x="8661443" y="6943389"/>
            <a:ext cx="650789" cy="431911"/>
          </a:xfrm>
          <a:prstGeom prst="rightArrow">
            <a:avLst/>
          </a:prstGeom>
          <a:solidFill>
            <a:srgbClr val="59574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21" name="矢印: 右 20">
            <a:extLst>
              <a:ext uri="{FF2B5EF4-FFF2-40B4-BE49-F238E27FC236}">
                <a16:creationId xmlns:a16="http://schemas.microsoft.com/office/drawing/2014/main" id="{5BE9CDB6-2BA6-6A79-C568-486714D65A56}"/>
              </a:ext>
            </a:extLst>
          </p:cNvPr>
          <p:cNvSpPr/>
          <p:nvPr/>
        </p:nvSpPr>
        <p:spPr>
          <a:xfrm>
            <a:off x="12886650" y="7010538"/>
            <a:ext cx="650789" cy="431911"/>
          </a:xfrm>
          <a:prstGeom prst="rightArrow">
            <a:avLst/>
          </a:prstGeom>
          <a:solidFill>
            <a:srgbClr val="59574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34" name="矢印: 右 33">
            <a:extLst>
              <a:ext uri="{FF2B5EF4-FFF2-40B4-BE49-F238E27FC236}">
                <a16:creationId xmlns:a16="http://schemas.microsoft.com/office/drawing/2014/main" id="{A197B2A7-01C4-CDEE-E32C-BC81A22A29A4}"/>
              </a:ext>
            </a:extLst>
          </p:cNvPr>
          <p:cNvSpPr/>
          <p:nvPr/>
        </p:nvSpPr>
        <p:spPr>
          <a:xfrm>
            <a:off x="1831929" y="8768992"/>
            <a:ext cx="650789" cy="431911"/>
          </a:xfrm>
          <a:prstGeom prst="rightArrow">
            <a:avLst/>
          </a:prstGeom>
          <a:solidFill>
            <a:srgbClr val="59574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52" name="矢印: 右 51">
            <a:extLst>
              <a:ext uri="{FF2B5EF4-FFF2-40B4-BE49-F238E27FC236}">
                <a16:creationId xmlns:a16="http://schemas.microsoft.com/office/drawing/2014/main" id="{95531BA6-2A3B-7383-E2FE-0403A8932EE2}"/>
              </a:ext>
            </a:extLst>
          </p:cNvPr>
          <p:cNvSpPr/>
          <p:nvPr/>
        </p:nvSpPr>
        <p:spPr>
          <a:xfrm>
            <a:off x="6617256" y="8741267"/>
            <a:ext cx="650789" cy="431911"/>
          </a:xfrm>
          <a:prstGeom prst="rightArrow">
            <a:avLst/>
          </a:prstGeom>
          <a:solidFill>
            <a:srgbClr val="59574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55" name="矢印: 右 54">
            <a:extLst>
              <a:ext uri="{FF2B5EF4-FFF2-40B4-BE49-F238E27FC236}">
                <a16:creationId xmlns:a16="http://schemas.microsoft.com/office/drawing/2014/main" id="{27241ED3-AF30-9B14-D5F7-D3D8D3FFDE4F}"/>
              </a:ext>
            </a:extLst>
          </p:cNvPr>
          <p:cNvSpPr/>
          <p:nvPr/>
        </p:nvSpPr>
        <p:spPr>
          <a:xfrm>
            <a:off x="11391875" y="8731660"/>
            <a:ext cx="650789" cy="431911"/>
          </a:xfrm>
          <a:prstGeom prst="rightArrow">
            <a:avLst/>
          </a:prstGeom>
          <a:solidFill>
            <a:srgbClr val="59574C"/>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17" name="タイトル 1">
            <a:extLst>
              <a:ext uri="{FF2B5EF4-FFF2-40B4-BE49-F238E27FC236}">
                <a16:creationId xmlns:a16="http://schemas.microsoft.com/office/drawing/2014/main" id="{E17AC2F2-5C12-FCAD-3D04-5C57F220BE6E}"/>
              </a:ext>
            </a:extLst>
          </p:cNvPr>
          <p:cNvSpPr>
            <a:spLocks noGrp="1"/>
          </p:cNvSpPr>
          <p:nvPr>
            <p:ph type="title"/>
          </p:nvPr>
        </p:nvSpPr>
        <p:spPr>
          <a:xfrm>
            <a:off x="384175" y="438150"/>
            <a:ext cx="15513050" cy="414338"/>
          </a:xfrm>
        </p:spPr>
        <p:txBody>
          <a:bodyPr vert="horz" lIns="0" tIns="0" rIns="0" bIns="0" rtlCol="0" anchor="ctr">
            <a:normAutofit/>
          </a:bodyPr>
          <a:lstStyle/>
          <a:p>
            <a:r>
              <a:rPr lang="ja-JP" altLang="en-US">
                <a:cs typeface="Malgun Gothic Semilight" panose="020B0502040204020203" pitchFamily="50" charset="-128"/>
              </a:rPr>
              <a:t>５－７．オフライン機能（２）</a:t>
            </a:r>
            <a:endParaRPr lang="ja-JP" altLang="en-US" dirty="0">
              <a:cs typeface="Malgun Gothic Semilight" panose="020B0502040204020203" pitchFamily="50" charset="-128"/>
            </a:endParaRPr>
          </a:p>
        </p:txBody>
      </p:sp>
      <p:sp>
        <p:nvSpPr>
          <p:cNvPr id="72" name="正方形/長方形 71">
            <a:extLst>
              <a:ext uri="{FF2B5EF4-FFF2-40B4-BE49-F238E27FC236}">
                <a16:creationId xmlns:a16="http://schemas.microsoft.com/office/drawing/2014/main" id="{93224604-E041-0932-7023-447AB60F9B23}"/>
              </a:ext>
            </a:extLst>
          </p:cNvPr>
          <p:cNvSpPr/>
          <p:nvPr/>
        </p:nvSpPr>
        <p:spPr>
          <a:xfrm>
            <a:off x="7769496" y="2303702"/>
            <a:ext cx="4164901" cy="3576674"/>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ja-JP" sz="2400" b="1"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3" name="正方形/長方形 72">
            <a:extLst>
              <a:ext uri="{FF2B5EF4-FFF2-40B4-BE49-F238E27FC236}">
                <a16:creationId xmlns:a16="http://schemas.microsoft.com/office/drawing/2014/main" id="{A71E4CE6-B3D2-3DC2-656B-5DCF931979DF}"/>
              </a:ext>
            </a:extLst>
          </p:cNvPr>
          <p:cNvSpPr/>
          <p:nvPr/>
        </p:nvSpPr>
        <p:spPr>
          <a:xfrm>
            <a:off x="8063257" y="3197538"/>
            <a:ext cx="3453127" cy="577037"/>
          </a:xfrm>
          <a:prstGeom prst="rect">
            <a:avLst/>
          </a:prstGeom>
          <a:solidFill>
            <a:schemeClr val="bg1"/>
          </a:solidFill>
          <a:ln>
            <a:solidFill>
              <a:schemeClr val="accent1">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マスターサーバー</a:t>
            </a:r>
            <a:endPar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86" name="矢印: 下 85">
            <a:extLst>
              <a:ext uri="{FF2B5EF4-FFF2-40B4-BE49-F238E27FC236}">
                <a16:creationId xmlns:a16="http://schemas.microsoft.com/office/drawing/2014/main" id="{DF5AD316-23A5-E246-0638-4E7234E700CC}"/>
              </a:ext>
            </a:extLst>
          </p:cNvPr>
          <p:cNvSpPr/>
          <p:nvPr/>
        </p:nvSpPr>
        <p:spPr>
          <a:xfrm>
            <a:off x="9573649" y="3820585"/>
            <a:ext cx="420494" cy="448864"/>
          </a:xfrm>
          <a:prstGeom prst="down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92" name="正方形/長方形 91">
            <a:extLst>
              <a:ext uri="{FF2B5EF4-FFF2-40B4-BE49-F238E27FC236}">
                <a16:creationId xmlns:a16="http://schemas.microsoft.com/office/drawing/2014/main" id="{7A194DFD-13D6-3F59-07A8-2F27076AF78A}"/>
              </a:ext>
            </a:extLst>
          </p:cNvPr>
          <p:cNvSpPr/>
          <p:nvPr/>
        </p:nvSpPr>
        <p:spPr>
          <a:xfrm>
            <a:off x="12681633" y="2354344"/>
            <a:ext cx="4814885" cy="3526031"/>
          </a:xfrm>
          <a:prstGeom prst="rect">
            <a:avLst/>
          </a:prstGeom>
          <a:solidFill>
            <a:schemeClr val="accent4">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ja-JP" sz="2400" b="1"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44" name="四角形: 角を丸くする 43">
            <a:extLst>
              <a:ext uri="{FF2B5EF4-FFF2-40B4-BE49-F238E27FC236}">
                <a16:creationId xmlns:a16="http://schemas.microsoft.com/office/drawing/2014/main" id="{5F918140-29F7-4458-C183-59B18CEEB753}"/>
              </a:ext>
            </a:extLst>
          </p:cNvPr>
          <p:cNvSpPr/>
          <p:nvPr/>
        </p:nvSpPr>
        <p:spPr>
          <a:xfrm>
            <a:off x="7915851" y="2548615"/>
            <a:ext cx="3778571" cy="491422"/>
          </a:xfrm>
          <a:prstGeom prst="roundRect">
            <a:avLst/>
          </a:prstGeom>
          <a:solidFill>
            <a:schemeClr val="accent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クラウド</a:t>
            </a:r>
          </a:p>
        </p:txBody>
      </p:sp>
      <p:sp>
        <p:nvSpPr>
          <p:cNvPr id="46" name="正方形/長方形 45">
            <a:extLst>
              <a:ext uri="{FF2B5EF4-FFF2-40B4-BE49-F238E27FC236}">
                <a16:creationId xmlns:a16="http://schemas.microsoft.com/office/drawing/2014/main" id="{904E5DBE-4F19-EFD8-DF18-F10CDCA30CCC}"/>
              </a:ext>
            </a:extLst>
          </p:cNvPr>
          <p:cNvSpPr/>
          <p:nvPr/>
        </p:nvSpPr>
        <p:spPr>
          <a:xfrm>
            <a:off x="7952080" y="4266883"/>
            <a:ext cx="3706116" cy="1545087"/>
          </a:xfrm>
          <a:prstGeom prst="rect">
            <a:avLst/>
          </a:prstGeom>
          <a:solidFill>
            <a:schemeClr val="bg1"/>
          </a:solidFill>
          <a:ln>
            <a:solidFill>
              <a:schemeClr val="accent1">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000" dirty="0">
                <a:solidFill>
                  <a:schemeClr val="accent1">
                    <a:lumMod val="75000"/>
                  </a:schemeClr>
                </a:solidFill>
                <a:latin typeface="Meiryo UI" panose="020B0604030504040204" pitchFamily="50" charset="-128"/>
                <a:ea typeface="Meiryo UI" panose="020B0604030504040204" pitchFamily="50" charset="-128"/>
                <a:cs typeface="Malgun Gothic Semilight" panose="020B0502040204020203" pitchFamily="50" charset="-128"/>
              </a:rPr>
              <a:t>オブジェクトストレージ</a:t>
            </a:r>
            <a:endPar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endParaRPr>
          </a:p>
          <a:p>
            <a:pPr algn="ctr"/>
            <a:r>
              <a:rPr lang="ja-JP" altLang="en-US"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起動時にオフライン用の最小マスターをダウンロード</a:t>
            </a:r>
            <a:endPar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endParaRPr>
          </a:p>
          <a:p>
            <a:pPr algn="ctr"/>
            <a:r>
              <a:rPr lang="ja-JP" altLang="en-US"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（商品</a:t>
            </a:r>
            <a:r>
              <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M,</a:t>
            </a:r>
            <a:r>
              <a:rPr lang="ja-JP" altLang="en-US"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法人</a:t>
            </a:r>
            <a:r>
              <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M,</a:t>
            </a:r>
            <a:r>
              <a:rPr lang="ja-JP" altLang="en-US"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担当者</a:t>
            </a:r>
            <a:r>
              <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M</a:t>
            </a:r>
            <a:r>
              <a:rPr lang="ja-JP" altLang="en-US"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rPr>
              <a:t>等）</a:t>
            </a:r>
            <a:endPar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50" name="正方形/長方形 49">
            <a:extLst>
              <a:ext uri="{FF2B5EF4-FFF2-40B4-BE49-F238E27FC236}">
                <a16:creationId xmlns:a16="http://schemas.microsoft.com/office/drawing/2014/main" id="{6E69803D-B8A1-6A27-0833-6BF277643D89}"/>
              </a:ext>
            </a:extLst>
          </p:cNvPr>
          <p:cNvSpPr/>
          <p:nvPr/>
        </p:nvSpPr>
        <p:spPr>
          <a:xfrm>
            <a:off x="12998926" y="3322876"/>
            <a:ext cx="2266556" cy="2489094"/>
          </a:xfrm>
          <a:prstGeom prst="rect">
            <a:avLst/>
          </a:prstGeom>
          <a:solidFill>
            <a:schemeClr val="bg1"/>
          </a:solidFill>
          <a:ln>
            <a:solidFill>
              <a:schemeClr val="accent4">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ltLang="ja-JP" sz="2000" dirty="0">
              <a:solidFill>
                <a:srgbClr val="002060"/>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82" name="正方形/長方形 81">
            <a:extLst>
              <a:ext uri="{FF2B5EF4-FFF2-40B4-BE49-F238E27FC236}">
                <a16:creationId xmlns:a16="http://schemas.microsoft.com/office/drawing/2014/main" id="{981A323D-BF6A-5B14-D0ED-B81547876CD5}"/>
              </a:ext>
            </a:extLst>
          </p:cNvPr>
          <p:cNvSpPr/>
          <p:nvPr/>
        </p:nvSpPr>
        <p:spPr>
          <a:xfrm>
            <a:off x="13205151" y="3492276"/>
            <a:ext cx="1802175" cy="951955"/>
          </a:xfrm>
          <a:prstGeom prst="rect">
            <a:avLst/>
          </a:prstGeom>
          <a:solidFill>
            <a:schemeClr val="accent2">
              <a:lumMod val="60000"/>
              <a:lumOff val="4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16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オフライン販売機能</a:t>
            </a:r>
            <a:endParaRPr lang="en-US" altLang="ja-JP" sz="16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a:p>
            <a:pPr algn="ctr"/>
            <a:r>
              <a:rPr lang="ja-JP" altLang="en-US" sz="16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最小マスター保持</a:t>
            </a:r>
          </a:p>
        </p:txBody>
      </p:sp>
      <p:sp>
        <p:nvSpPr>
          <p:cNvPr id="62" name="四角形: 角を丸くする 61">
            <a:extLst>
              <a:ext uri="{FF2B5EF4-FFF2-40B4-BE49-F238E27FC236}">
                <a16:creationId xmlns:a16="http://schemas.microsoft.com/office/drawing/2014/main" id="{FA707841-AC00-E2C1-F8FA-B297C5C1BC90}"/>
              </a:ext>
            </a:extLst>
          </p:cNvPr>
          <p:cNvSpPr/>
          <p:nvPr/>
        </p:nvSpPr>
        <p:spPr>
          <a:xfrm>
            <a:off x="13224711" y="2584622"/>
            <a:ext cx="3778571" cy="491422"/>
          </a:xfrm>
          <a:prstGeom prst="roundRect">
            <a:avLst/>
          </a:prstGeom>
          <a:solidFill>
            <a:schemeClr val="accent2">
              <a:lumMod val="60000"/>
              <a:lumOff val="4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店舗</a:t>
            </a:r>
            <a:r>
              <a:rPr kumimoji="1" lang="en-US" altLang="ja-JP"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POS</a:t>
            </a:r>
            <a:r>
              <a:rPr kumimoji="1" lang="ja-JP" altLang="en-US"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端末</a:t>
            </a:r>
          </a:p>
        </p:txBody>
      </p:sp>
      <p:pic>
        <p:nvPicPr>
          <p:cNvPr id="64" name="図 63">
            <a:extLst>
              <a:ext uri="{FF2B5EF4-FFF2-40B4-BE49-F238E27FC236}">
                <a16:creationId xmlns:a16="http://schemas.microsoft.com/office/drawing/2014/main" id="{D7F0A636-04C1-43F0-36AA-54AAB9E82C3B}"/>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636320">
            <a:off x="15632474" y="4934549"/>
            <a:ext cx="1352246" cy="848098"/>
          </a:xfrm>
          <a:prstGeom prst="rect">
            <a:avLst/>
          </a:prstGeom>
        </p:spPr>
      </p:pic>
      <p:pic>
        <p:nvPicPr>
          <p:cNvPr id="65" name="図 64">
            <a:extLst>
              <a:ext uri="{FF2B5EF4-FFF2-40B4-BE49-F238E27FC236}">
                <a16:creationId xmlns:a16="http://schemas.microsoft.com/office/drawing/2014/main" id="{6D3D95D2-5687-76B3-3A74-CDBFD9E99AA8}"/>
              </a:ext>
            </a:extLst>
          </p:cNvPr>
          <p:cNvPicPr>
            <a:picLocks noChangeAspect="1"/>
          </p:cNvPicPr>
          <p:nvPr/>
        </p:nvPicPr>
        <p:blipFill>
          <a:blip r:embed="rId4"/>
          <a:stretch>
            <a:fillRect/>
          </a:stretch>
        </p:blipFill>
        <p:spPr>
          <a:xfrm rot="6036320">
            <a:off x="16135502" y="4251342"/>
            <a:ext cx="782083" cy="1119905"/>
          </a:xfrm>
          <a:prstGeom prst="rect">
            <a:avLst/>
          </a:prstGeom>
        </p:spPr>
      </p:pic>
      <p:sp>
        <p:nvSpPr>
          <p:cNvPr id="85" name="円柱 84">
            <a:extLst>
              <a:ext uri="{FF2B5EF4-FFF2-40B4-BE49-F238E27FC236}">
                <a16:creationId xmlns:a16="http://schemas.microsoft.com/office/drawing/2014/main" id="{BF93293A-EA18-25C1-36D2-991C09718AE7}"/>
              </a:ext>
            </a:extLst>
          </p:cNvPr>
          <p:cNvSpPr/>
          <p:nvPr/>
        </p:nvSpPr>
        <p:spPr>
          <a:xfrm>
            <a:off x="13156930" y="4552009"/>
            <a:ext cx="1850395" cy="1227952"/>
          </a:xfrm>
          <a:prstGeom prst="can">
            <a:avLst>
              <a:gd name="adj" fmla="val 14547"/>
            </a:avLst>
          </a:prstGeom>
          <a:solidFill>
            <a:schemeClr val="accent2">
              <a:lumMod val="60000"/>
              <a:lumOff val="4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tLang="ja-JP" sz="1350"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endParaRPr>
          </a:p>
          <a:p>
            <a:pPr algn="ctr"/>
            <a:endParaRPr lang="en-US" altLang="ja-JP" sz="1350"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endParaRPr>
          </a:p>
          <a:p>
            <a:pPr algn="ctr"/>
            <a:r>
              <a:rPr lang="ja-JP" altLang="en-US" sz="1600"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rPr>
              <a:t>・現金・商品券決済</a:t>
            </a:r>
            <a:endParaRPr lang="en-US" altLang="ja-JP" sz="1600"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endParaRPr>
          </a:p>
          <a:p>
            <a:pPr algn="ctr"/>
            <a:r>
              <a:rPr lang="ja-JP" altLang="en-US" sz="1600"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rPr>
              <a:t>・引換券発行</a:t>
            </a:r>
            <a:endParaRPr lang="en-US" altLang="ja-JP" sz="1600" dirty="0">
              <a:solidFill>
                <a:schemeClr val="tx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84" name="矢印: 左右 83">
            <a:extLst>
              <a:ext uri="{FF2B5EF4-FFF2-40B4-BE49-F238E27FC236}">
                <a16:creationId xmlns:a16="http://schemas.microsoft.com/office/drawing/2014/main" id="{462E2A05-2315-3F23-C55E-E230E14C5988}"/>
              </a:ext>
            </a:extLst>
          </p:cNvPr>
          <p:cNvSpPr/>
          <p:nvPr/>
        </p:nvSpPr>
        <p:spPr>
          <a:xfrm>
            <a:off x="11919231" y="4511335"/>
            <a:ext cx="692868" cy="372163"/>
          </a:xfrm>
          <a:prstGeom prst="leftRightArrow">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66" name="四角形: 角を丸くする 65">
            <a:extLst>
              <a:ext uri="{FF2B5EF4-FFF2-40B4-BE49-F238E27FC236}">
                <a16:creationId xmlns:a16="http://schemas.microsoft.com/office/drawing/2014/main" id="{031222C1-43D4-D2AD-3185-8D02454FC56F}"/>
              </a:ext>
            </a:extLst>
          </p:cNvPr>
          <p:cNvSpPr/>
          <p:nvPr/>
        </p:nvSpPr>
        <p:spPr>
          <a:xfrm>
            <a:off x="13366951" y="4754137"/>
            <a:ext cx="1430352" cy="38188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800" dirty="0">
                <a:solidFill>
                  <a:srgbClr val="59574C"/>
                </a:solidFill>
                <a:latin typeface="Source Sans Pro" panose="020B0503030403020204" pitchFamily="34" charset="0"/>
                <a:ea typeface="源ノ角ゴシック JP Regular" panose="020B0500000000000000" pitchFamily="34" charset="-128"/>
              </a:rPr>
              <a:t>ローカル</a:t>
            </a:r>
            <a:r>
              <a:rPr kumimoji="1" lang="en-US" altLang="ja-JP" sz="1800" dirty="0">
                <a:solidFill>
                  <a:srgbClr val="59574C"/>
                </a:solidFill>
                <a:latin typeface="Source Sans Pro" panose="020B0503030403020204" pitchFamily="34" charset="0"/>
                <a:ea typeface="源ノ角ゴシック JP Regular" panose="020B0500000000000000" pitchFamily="34" charset="-128"/>
              </a:rPr>
              <a:t>DB</a:t>
            </a:r>
          </a:p>
        </p:txBody>
      </p:sp>
      <p:sp>
        <p:nvSpPr>
          <p:cNvPr id="67" name="矢印: 右 66">
            <a:extLst>
              <a:ext uri="{FF2B5EF4-FFF2-40B4-BE49-F238E27FC236}">
                <a16:creationId xmlns:a16="http://schemas.microsoft.com/office/drawing/2014/main" id="{D44C0E95-BC7C-91F0-6056-F94AE44BC490}"/>
              </a:ext>
            </a:extLst>
          </p:cNvPr>
          <p:cNvSpPr/>
          <p:nvPr/>
        </p:nvSpPr>
        <p:spPr>
          <a:xfrm>
            <a:off x="15068451" y="5003231"/>
            <a:ext cx="650789" cy="431911"/>
          </a:xfrm>
          <a:prstGeom prst="rightArrow">
            <a:avLst/>
          </a:prstGeom>
          <a:solidFill>
            <a:schemeClr val="accent4"/>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Meiryo UI" panose="020B0604030504040204" pitchFamily="50" charset="-128"/>
              <a:ea typeface="Meiryo UI" panose="020B0604030504040204" pitchFamily="50" charset="-128"/>
              <a:cs typeface="Malgun Gothic Semilight" panose="020B0502040204020203" pitchFamily="50" charset="-128"/>
            </a:endParaRPr>
          </a:p>
        </p:txBody>
      </p:sp>
      <p:grpSp>
        <p:nvGrpSpPr>
          <p:cNvPr id="70" name="グループ化 69">
            <a:extLst>
              <a:ext uri="{FF2B5EF4-FFF2-40B4-BE49-F238E27FC236}">
                <a16:creationId xmlns:a16="http://schemas.microsoft.com/office/drawing/2014/main" id="{4E3C6C8A-F01A-D928-B3DB-B2E1F480C14C}"/>
              </a:ext>
            </a:extLst>
          </p:cNvPr>
          <p:cNvGrpSpPr/>
          <p:nvPr/>
        </p:nvGrpSpPr>
        <p:grpSpPr>
          <a:xfrm>
            <a:off x="15208176" y="3206091"/>
            <a:ext cx="3213062" cy="1043870"/>
            <a:chOff x="11684300" y="1973540"/>
            <a:chExt cx="3946451" cy="1179852"/>
          </a:xfrm>
        </p:grpSpPr>
        <p:sp>
          <p:nvSpPr>
            <p:cNvPr id="68" name="吹き出し: 円形 67">
              <a:extLst>
                <a:ext uri="{FF2B5EF4-FFF2-40B4-BE49-F238E27FC236}">
                  <a16:creationId xmlns:a16="http://schemas.microsoft.com/office/drawing/2014/main" id="{94C882F1-8087-D795-0093-FC3B19AD7A8C}"/>
                </a:ext>
              </a:extLst>
            </p:cNvPr>
            <p:cNvSpPr/>
            <p:nvPr/>
          </p:nvSpPr>
          <p:spPr>
            <a:xfrm>
              <a:off x="11684300" y="1973540"/>
              <a:ext cx="2656408" cy="1179852"/>
            </a:xfrm>
            <a:prstGeom prst="wedgeEllipseCallout">
              <a:avLst>
                <a:gd name="adj1" fmla="val -52348"/>
                <a:gd name="adj2" fmla="val 43607"/>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dirty="0">
                <a:solidFill>
                  <a:srgbClr val="59574C"/>
                </a:solidFill>
                <a:latin typeface="Source Sans Pro" panose="020B0503030403020204" pitchFamily="34" charset="0"/>
                <a:ea typeface="源ノ角ゴシック JP Regular" panose="020B0500000000000000" pitchFamily="34" charset="-128"/>
              </a:endParaRPr>
            </a:p>
          </p:txBody>
        </p:sp>
        <p:sp>
          <p:nvSpPr>
            <p:cNvPr id="69" name="テキスト ボックス 68">
              <a:extLst>
                <a:ext uri="{FF2B5EF4-FFF2-40B4-BE49-F238E27FC236}">
                  <a16:creationId xmlns:a16="http://schemas.microsoft.com/office/drawing/2014/main" id="{21789DBB-D452-2F36-677D-6CFD5B7F7B3B}"/>
                </a:ext>
              </a:extLst>
            </p:cNvPr>
            <p:cNvSpPr txBox="1"/>
            <p:nvPr/>
          </p:nvSpPr>
          <p:spPr>
            <a:xfrm>
              <a:off x="11792073" y="2182629"/>
              <a:ext cx="3838678" cy="584777"/>
            </a:xfrm>
            <a:prstGeom prst="rect">
              <a:avLst/>
            </a:prstGeom>
            <a:noFill/>
          </p:spPr>
          <p:txBody>
            <a:bodyPr wrap="square" rtlCol="0">
              <a:spAutoFit/>
            </a:bodyPr>
            <a:lstStyle/>
            <a:p>
              <a:pPr algn="l"/>
              <a:r>
                <a:rPr kumimoji="1" lang="ja-JP" altLang="en-US" sz="1600" dirty="0">
                  <a:solidFill>
                    <a:schemeClr val="bg1">
                      <a:lumMod val="10000"/>
                    </a:schemeClr>
                  </a:solidFill>
                  <a:latin typeface="Meiryo UI" panose="020B0604030504040204" pitchFamily="50" charset="-128"/>
                  <a:ea typeface="Meiryo UI" panose="020B0604030504040204" pitchFamily="50" charset="-128"/>
                </a:rPr>
                <a:t>ローカル</a:t>
              </a:r>
              <a:r>
                <a:rPr kumimoji="1" lang="en-US" altLang="ja-JP" sz="1600" dirty="0">
                  <a:solidFill>
                    <a:schemeClr val="bg1">
                      <a:lumMod val="10000"/>
                    </a:schemeClr>
                  </a:solidFill>
                  <a:latin typeface="Meiryo UI" panose="020B0604030504040204" pitchFamily="50" charset="-128"/>
                  <a:ea typeface="Meiryo UI" panose="020B0604030504040204" pitchFamily="50" charset="-128"/>
                </a:rPr>
                <a:t>DB</a:t>
              </a:r>
              <a:r>
                <a:rPr kumimoji="1" lang="ja-JP" altLang="en-US" sz="1600" dirty="0">
                  <a:solidFill>
                    <a:schemeClr val="bg1">
                      <a:lumMod val="10000"/>
                    </a:schemeClr>
                  </a:solidFill>
                  <a:latin typeface="Meiryo UI" panose="020B0604030504040204" pitchFamily="50" charset="-128"/>
                  <a:ea typeface="Meiryo UI" panose="020B0604030504040204" pitchFamily="50" charset="-128"/>
                </a:rPr>
                <a:t>により</a:t>
              </a:r>
              <a:endParaRPr kumimoji="1" lang="en-US" altLang="ja-JP" sz="1600" dirty="0">
                <a:solidFill>
                  <a:schemeClr val="bg1">
                    <a:lumMod val="10000"/>
                  </a:schemeClr>
                </a:solidFill>
                <a:latin typeface="Meiryo UI" panose="020B0604030504040204" pitchFamily="50" charset="-128"/>
                <a:ea typeface="Meiryo UI" panose="020B0604030504040204" pitchFamily="50" charset="-128"/>
              </a:endParaRPr>
            </a:p>
            <a:p>
              <a:pPr algn="l"/>
              <a:r>
                <a:rPr lang="ja-JP" altLang="en-US" sz="1600" dirty="0">
                  <a:solidFill>
                    <a:schemeClr val="bg1">
                      <a:lumMod val="10000"/>
                    </a:schemeClr>
                  </a:solidFill>
                  <a:latin typeface="Meiryo UI" panose="020B0604030504040204" pitchFamily="50" charset="-128"/>
                  <a:ea typeface="Meiryo UI" panose="020B0604030504040204" pitchFamily="50" charset="-128"/>
                </a:rPr>
                <a:t>オフライン時も販売可能</a:t>
              </a:r>
              <a:endParaRPr kumimoji="1" lang="en-US" altLang="ja-JP" sz="1600" dirty="0">
                <a:solidFill>
                  <a:schemeClr val="bg1">
                    <a:lumMod val="10000"/>
                  </a:schemeClr>
                </a:solidFill>
                <a:latin typeface="Meiryo UI" panose="020B0604030504040204" pitchFamily="50" charset="-128"/>
                <a:ea typeface="Meiryo UI" panose="020B0604030504040204" pitchFamily="50" charset="-128"/>
              </a:endParaRPr>
            </a:p>
          </p:txBody>
        </p:sp>
      </p:grpSp>
      <p:sp>
        <p:nvSpPr>
          <p:cNvPr id="6" name="テキスト ボックス 5">
            <a:extLst>
              <a:ext uri="{FF2B5EF4-FFF2-40B4-BE49-F238E27FC236}">
                <a16:creationId xmlns:a16="http://schemas.microsoft.com/office/drawing/2014/main" id="{E7B9EDF6-5BAF-77FF-D8EF-4374FD5F9BBF}"/>
              </a:ext>
            </a:extLst>
          </p:cNvPr>
          <p:cNvSpPr txBox="1"/>
          <p:nvPr/>
        </p:nvSpPr>
        <p:spPr>
          <a:xfrm>
            <a:off x="11203025" y="9191224"/>
            <a:ext cx="1592081" cy="338554"/>
          </a:xfrm>
          <a:prstGeom prst="rect">
            <a:avLst/>
          </a:prstGeom>
          <a:noFill/>
        </p:spPr>
        <p:txBody>
          <a:bodyPr wrap="square" rtlCol="0">
            <a:spAutoFit/>
          </a:bodyPr>
          <a:lstStyle/>
          <a:p>
            <a:pPr algn="l"/>
            <a:r>
              <a:rPr kumimoji="1" lang="ja-JP" altLang="en-US" sz="16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通信復帰</a:t>
            </a:r>
          </a:p>
        </p:txBody>
      </p:sp>
      <p:sp>
        <p:nvSpPr>
          <p:cNvPr id="10" name="テキスト ボックス 9">
            <a:extLst>
              <a:ext uri="{FF2B5EF4-FFF2-40B4-BE49-F238E27FC236}">
                <a16:creationId xmlns:a16="http://schemas.microsoft.com/office/drawing/2014/main" id="{96216274-A5C2-2758-7C14-F0077B3A24D0}"/>
              </a:ext>
            </a:extLst>
          </p:cNvPr>
          <p:cNvSpPr txBox="1"/>
          <p:nvPr/>
        </p:nvSpPr>
        <p:spPr>
          <a:xfrm>
            <a:off x="-5505163" y="10588509"/>
            <a:ext cx="17199585" cy="563039"/>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endParaRPr lang="ja-JP" altLang="en-US" sz="2800">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28" name="テキスト ボックス 27">
            <a:extLst>
              <a:ext uri="{FF2B5EF4-FFF2-40B4-BE49-F238E27FC236}">
                <a16:creationId xmlns:a16="http://schemas.microsoft.com/office/drawing/2014/main" id="{7BD42746-0C5A-6FE9-A523-274B936F2E8C}"/>
              </a:ext>
            </a:extLst>
          </p:cNvPr>
          <p:cNvSpPr txBox="1"/>
          <p:nvPr/>
        </p:nvSpPr>
        <p:spPr>
          <a:xfrm>
            <a:off x="3859130" y="7446413"/>
            <a:ext cx="3436620" cy="369332"/>
          </a:xfrm>
          <a:prstGeom prst="rect">
            <a:avLst/>
          </a:prstGeom>
          <a:noFill/>
        </p:spPr>
        <p:txBody>
          <a:bodyPr wrap="square" rtlCol="0">
            <a:spAutoFit/>
          </a:bodyPr>
          <a:lstStyle/>
          <a:p>
            <a:pPr algn="l"/>
            <a:r>
              <a:rPr kumimoji="1" lang="ja-JP" altLang="en-US" sz="1800" dirty="0">
                <a:solidFill>
                  <a:schemeClr val="bg1">
                    <a:lumMod val="10000"/>
                  </a:schemeClr>
                </a:solidFill>
                <a:latin typeface="+mj-ea"/>
                <a:ea typeface="+mj-ea"/>
              </a:rPr>
              <a:t>　</a:t>
            </a:r>
            <a:r>
              <a:rPr kumimoji="1" lang="ja-JP" altLang="en-US" sz="1600" dirty="0">
                <a:solidFill>
                  <a:schemeClr val="bg1">
                    <a:lumMod val="10000"/>
                  </a:schemeClr>
                </a:solidFill>
                <a:latin typeface="+mj-ea"/>
                <a:ea typeface="+mj-ea"/>
              </a:rPr>
              <a:t>通信断検知</a:t>
            </a:r>
            <a:endParaRPr kumimoji="1" lang="en-US" altLang="ja-JP" sz="1600" dirty="0">
              <a:solidFill>
                <a:schemeClr val="bg1">
                  <a:lumMod val="10000"/>
                </a:schemeClr>
              </a:solidFill>
              <a:latin typeface="+mj-ea"/>
              <a:ea typeface="+mj-ea"/>
            </a:endParaRPr>
          </a:p>
        </p:txBody>
      </p:sp>
      <p:sp>
        <p:nvSpPr>
          <p:cNvPr id="29" name="爆発: 8 pt 28">
            <a:extLst>
              <a:ext uri="{FF2B5EF4-FFF2-40B4-BE49-F238E27FC236}">
                <a16:creationId xmlns:a16="http://schemas.microsoft.com/office/drawing/2014/main" id="{4DBD6F58-7B23-0E8A-75A4-8BFBA39FBCED}"/>
              </a:ext>
            </a:extLst>
          </p:cNvPr>
          <p:cNvSpPr/>
          <p:nvPr/>
        </p:nvSpPr>
        <p:spPr>
          <a:xfrm>
            <a:off x="4169519" y="7270395"/>
            <a:ext cx="261093" cy="221193"/>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31" name="爆発: 8 pt 30">
            <a:extLst>
              <a:ext uri="{FF2B5EF4-FFF2-40B4-BE49-F238E27FC236}">
                <a16:creationId xmlns:a16="http://schemas.microsoft.com/office/drawing/2014/main" id="{2791FE7F-AFC6-D43D-629E-FECAC453C2D1}"/>
              </a:ext>
            </a:extLst>
          </p:cNvPr>
          <p:cNvSpPr/>
          <p:nvPr/>
        </p:nvSpPr>
        <p:spPr>
          <a:xfrm>
            <a:off x="4911567" y="7818317"/>
            <a:ext cx="279415" cy="256245"/>
          </a:xfrm>
          <a:prstGeom prst="irregularSeal1">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32" name="四角形: 角を丸くする 31">
            <a:extLst>
              <a:ext uri="{FF2B5EF4-FFF2-40B4-BE49-F238E27FC236}">
                <a16:creationId xmlns:a16="http://schemas.microsoft.com/office/drawing/2014/main" id="{88ABDB8D-D050-08A9-FF15-B5CE86C51416}"/>
              </a:ext>
            </a:extLst>
          </p:cNvPr>
          <p:cNvSpPr/>
          <p:nvPr/>
        </p:nvSpPr>
        <p:spPr>
          <a:xfrm>
            <a:off x="897244" y="6632512"/>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23" name="テキスト ボックス 22">
            <a:extLst>
              <a:ext uri="{FF2B5EF4-FFF2-40B4-BE49-F238E27FC236}">
                <a16:creationId xmlns:a16="http://schemas.microsoft.com/office/drawing/2014/main" id="{B33018C4-D67C-CD66-44F2-A5BD5DEC483C}"/>
              </a:ext>
            </a:extLst>
          </p:cNvPr>
          <p:cNvSpPr txBox="1"/>
          <p:nvPr/>
        </p:nvSpPr>
        <p:spPr>
          <a:xfrm>
            <a:off x="908910" y="7376942"/>
            <a:ext cx="3190808" cy="400110"/>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・オンラインで商品検索・決済</a:t>
            </a:r>
          </a:p>
        </p:txBody>
      </p:sp>
      <p:sp>
        <p:nvSpPr>
          <p:cNvPr id="13" name="正方形/長方形 12">
            <a:extLst>
              <a:ext uri="{FF2B5EF4-FFF2-40B4-BE49-F238E27FC236}">
                <a16:creationId xmlns:a16="http://schemas.microsoft.com/office/drawing/2014/main" id="{ACFF9175-D924-AD45-254E-29616A7142A5}"/>
              </a:ext>
            </a:extLst>
          </p:cNvPr>
          <p:cNvSpPr/>
          <p:nvPr/>
        </p:nvSpPr>
        <p:spPr>
          <a:xfrm>
            <a:off x="880296" y="6639975"/>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①通常営業</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40" name="四角形: 角を丸くする 39">
            <a:extLst>
              <a:ext uri="{FF2B5EF4-FFF2-40B4-BE49-F238E27FC236}">
                <a16:creationId xmlns:a16="http://schemas.microsoft.com/office/drawing/2014/main" id="{6F3E6C38-567A-2695-3610-581F30A46160}"/>
              </a:ext>
            </a:extLst>
          </p:cNvPr>
          <p:cNvSpPr/>
          <p:nvPr/>
        </p:nvSpPr>
        <p:spPr>
          <a:xfrm>
            <a:off x="5236353" y="6604619"/>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41" name="テキスト ボックス 40">
            <a:extLst>
              <a:ext uri="{FF2B5EF4-FFF2-40B4-BE49-F238E27FC236}">
                <a16:creationId xmlns:a16="http://schemas.microsoft.com/office/drawing/2014/main" id="{801D42AB-0A53-FCCE-DEA9-5C2C85507203}"/>
              </a:ext>
            </a:extLst>
          </p:cNvPr>
          <p:cNvSpPr txBox="1"/>
          <p:nvPr/>
        </p:nvSpPr>
        <p:spPr>
          <a:xfrm>
            <a:off x="5270249" y="7211203"/>
            <a:ext cx="3065866" cy="707886"/>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a:t>
            </a:r>
            <a:r>
              <a:rPr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ログイン画面に切替ボタン</a:t>
            </a:r>
            <a:endParaRPr lang="en-US" altLang="ja-JP"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endParaRPr>
          </a:p>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・警告メッセージ表示</a:t>
            </a:r>
          </a:p>
        </p:txBody>
      </p:sp>
      <p:sp>
        <p:nvSpPr>
          <p:cNvPr id="42" name="正方形/長方形 41">
            <a:extLst>
              <a:ext uri="{FF2B5EF4-FFF2-40B4-BE49-F238E27FC236}">
                <a16:creationId xmlns:a16="http://schemas.microsoft.com/office/drawing/2014/main" id="{B83CE845-9B4F-AE52-CD82-F734DA46CD43}"/>
              </a:ext>
            </a:extLst>
          </p:cNvPr>
          <p:cNvSpPr/>
          <p:nvPr/>
        </p:nvSpPr>
        <p:spPr>
          <a:xfrm>
            <a:off x="5240536" y="6548495"/>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②オフライン切替</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43" name="四角形: 角を丸くする 42">
            <a:extLst>
              <a:ext uri="{FF2B5EF4-FFF2-40B4-BE49-F238E27FC236}">
                <a16:creationId xmlns:a16="http://schemas.microsoft.com/office/drawing/2014/main" id="{8164242D-38A6-0D24-246A-4967814EC57F}"/>
              </a:ext>
            </a:extLst>
          </p:cNvPr>
          <p:cNvSpPr/>
          <p:nvPr/>
        </p:nvSpPr>
        <p:spPr>
          <a:xfrm>
            <a:off x="9541566" y="6572507"/>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45" name="テキスト ボックス 44">
            <a:extLst>
              <a:ext uri="{FF2B5EF4-FFF2-40B4-BE49-F238E27FC236}">
                <a16:creationId xmlns:a16="http://schemas.microsoft.com/office/drawing/2014/main" id="{E89575D0-E574-E0DD-5E80-C36E90A58FD4}"/>
              </a:ext>
            </a:extLst>
          </p:cNvPr>
          <p:cNvSpPr txBox="1"/>
          <p:nvPr/>
        </p:nvSpPr>
        <p:spPr>
          <a:xfrm>
            <a:off x="9575462" y="7179091"/>
            <a:ext cx="3065866" cy="707886"/>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・商品名・型番・金額表示</a:t>
            </a:r>
            <a:br>
              <a:rPr lang="en-US" altLang="ja-JP"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br>
            <a:r>
              <a:rPr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・最低限のマスター保持</a:t>
            </a:r>
            <a:endPar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63" name="正方形/長方形 62">
            <a:extLst>
              <a:ext uri="{FF2B5EF4-FFF2-40B4-BE49-F238E27FC236}">
                <a16:creationId xmlns:a16="http://schemas.microsoft.com/office/drawing/2014/main" id="{29511DD7-9717-2C62-3A97-670B9267A716}"/>
              </a:ext>
            </a:extLst>
          </p:cNvPr>
          <p:cNvSpPr/>
          <p:nvPr/>
        </p:nvSpPr>
        <p:spPr>
          <a:xfrm>
            <a:off x="9545749" y="6516383"/>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③商品処理</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1" name="四角形: 角を丸くする 70">
            <a:extLst>
              <a:ext uri="{FF2B5EF4-FFF2-40B4-BE49-F238E27FC236}">
                <a16:creationId xmlns:a16="http://schemas.microsoft.com/office/drawing/2014/main" id="{45AEC4F3-6101-EFC6-D76D-A76C10EC2884}"/>
              </a:ext>
            </a:extLst>
          </p:cNvPr>
          <p:cNvSpPr/>
          <p:nvPr/>
        </p:nvSpPr>
        <p:spPr>
          <a:xfrm>
            <a:off x="13781172" y="6596589"/>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74" name="テキスト ボックス 73">
            <a:extLst>
              <a:ext uri="{FF2B5EF4-FFF2-40B4-BE49-F238E27FC236}">
                <a16:creationId xmlns:a16="http://schemas.microsoft.com/office/drawing/2014/main" id="{FC92082C-3CBC-0E06-52B0-FE4CEDDD29F3}"/>
              </a:ext>
            </a:extLst>
          </p:cNvPr>
          <p:cNvSpPr txBox="1"/>
          <p:nvPr/>
        </p:nvSpPr>
        <p:spPr>
          <a:xfrm>
            <a:off x="13798120" y="7167139"/>
            <a:ext cx="3168578" cy="707886"/>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・現金／商品券／優待券</a:t>
            </a:r>
          </a:p>
          <a:p>
            <a:pPr algn="l"/>
            <a:r>
              <a:rPr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a:t>
            </a:r>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 カード／コード決済不可</a:t>
            </a:r>
          </a:p>
        </p:txBody>
      </p:sp>
      <p:sp>
        <p:nvSpPr>
          <p:cNvPr id="75" name="正方形/長方形 74">
            <a:extLst>
              <a:ext uri="{FF2B5EF4-FFF2-40B4-BE49-F238E27FC236}">
                <a16:creationId xmlns:a16="http://schemas.microsoft.com/office/drawing/2014/main" id="{DF43CACC-F517-7657-33FA-AE4D3836760B}"/>
              </a:ext>
            </a:extLst>
          </p:cNvPr>
          <p:cNvSpPr/>
          <p:nvPr/>
        </p:nvSpPr>
        <p:spPr>
          <a:xfrm>
            <a:off x="13781172" y="6488030"/>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④決済</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6" name="四角形: 角を丸くする 75">
            <a:extLst>
              <a:ext uri="{FF2B5EF4-FFF2-40B4-BE49-F238E27FC236}">
                <a16:creationId xmlns:a16="http://schemas.microsoft.com/office/drawing/2014/main" id="{38D87F22-8525-6FF3-4B3E-A9F17B52E179}"/>
              </a:ext>
            </a:extLst>
          </p:cNvPr>
          <p:cNvSpPr/>
          <p:nvPr/>
        </p:nvSpPr>
        <p:spPr>
          <a:xfrm>
            <a:off x="2820877" y="8342676"/>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77" name="テキスト ボックス 76">
            <a:extLst>
              <a:ext uri="{FF2B5EF4-FFF2-40B4-BE49-F238E27FC236}">
                <a16:creationId xmlns:a16="http://schemas.microsoft.com/office/drawing/2014/main" id="{32D61DE9-CB26-414E-B40F-2C105BBEA542}"/>
              </a:ext>
            </a:extLst>
          </p:cNvPr>
          <p:cNvSpPr txBox="1"/>
          <p:nvPr/>
        </p:nvSpPr>
        <p:spPr>
          <a:xfrm>
            <a:off x="2854773" y="8949260"/>
            <a:ext cx="3168578" cy="707886"/>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・オフライン識別マーク表示</a:t>
            </a:r>
          </a:p>
          <a:p>
            <a:pPr algn="l"/>
            <a:r>
              <a:rPr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・オフラインレシート発行</a:t>
            </a:r>
            <a:endPar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8" name="正方形/長方形 77">
            <a:extLst>
              <a:ext uri="{FF2B5EF4-FFF2-40B4-BE49-F238E27FC236}">
                <a16:creationId xmlns:a16="http://schemas.microsoft.com/office/drawing/2014/main" id="{F49E8AE2-31AD-7715-7395-D80CEE9CE01D}"/>
              </a:ext>
            </a:extLst>
          </p:cNvPr>
          <p:cNvSpPr/>
          <p:nvPr/>
        </p:nvSpPr>
        <p:spPr>
          <a:xfrm>
            <a:off x="2825060" y="8286552"/>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⑤レシート発行</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9" name="四角形: 角を丸くする 78">
            <a:extLst>
              <a:ext uri="{FF2B5EF4-FFF2-40B4-BE49-F238E27FC236}">
                <a16:creationId xmlns:a16="http://schemas.microsoft.com/office/drawing/2014/main" id="{EE590E06-674C-C171-6E19-0CCC23A4A89B}"/>
              </a:ext>
            </a:extLst>
          </p:cNvPr>
          <p:cNvSpPr/>
          <p:nvPr/>
        </p:nvSpPr>
        <p:spPr>
          <a:xfrm>
            <a:off x="7769496" y="8337392"/>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80" name="テキスト ボックス 79">
            <a:extLst>
              <a:ext uri="{FF2B5EF4-FFF2-40B4-BE49-F238E27FC236}">
                <a16:creationId xmlns:a16="http://schemas.microsoft.com/office/drawing/2014/main" id="{8FFBD26F-D5C1-5C55-4E1D-C935EEA6BB78}"/>
              </a:ext>
            </a:extLst>
          </p:cNvPr>
          <p:cNvSpPr txBox="1"/>
          <p:nvPr/>
        </p:nvSpPr>
        <p:spPr>
          <a:xfrm>
            <a:off x="7803392" y="8943976"/>
            <a:ext cx="3168578" cy="707886"/>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・保証情報を端末毎に管理</a:t>
            </a:r>
          </a:p>
          <a:p>
            <a:pPr algn="l"/>
            <a:r>
              <a:rPr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a:t>
            </a:r>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 販売員がボタンで選択</a:t>
            </a:r>
          </a:p>
        </p:txBody>
      </p:sp>
      <p:sp>
        <p:nvSpPr>
          <p:cNvPr id="81" name="正方形/長方形 80">
            <a:extLst>
              <a:ext uri="{FF2B5EF4-FFF2-40B4-BE49-F238E27FC236}">
                <a16:creationId xmlns:a16="http://schemas.microsoft.com/office/drawing/2014/main" id="{7F42248D-54BB-647C-52EA-64B7CA713C18}"/>
              </a:ext>
            </a:extLst>
          </p:cNvPr>
          <p:cNvSpPr/>
          <p:nvPr/>
        </p:nvSpPr>
        <p:spPr>
          <a:xfrm>
            <a:off x="7773679" y="8281268"/>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⑥保証情報処理</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94" name="四角形: 角を丸くする 93">
            <a:extLst>
              <a:ext uri="{FF2B5EF4-FFF2-40B4-BE49-F238E27FC236}">
                <a16:creationId xmlns:a16="http://schemas.microsoft.com/office/drawing/2014/main" id="{C4C6A61E-7153-0307-5DB2-F73202B4E7BE}"/>
              </a:ext>
            </a:extLst>
          </p:cNvPr>
          <p:cNvSpPr/>
          <p:nvPr/>
        </p:nvSpPr>
        <p:spPr>
          <a:xfrm>
            <a:off x="12387724" y="8356425"/>
            <a:ext cx="3202474" cy="1361288"/>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
        <p:nvSpPr>
          <p:cNvPr id="95" name="テキスト ボックス 94">
            <a:extLst>
              <a:ext uri="{FF2B5EF4-FFF2-40B4-BE49-F238E27FC236}">
                <a16:creationId xmlns:a16="http://schemas.microsoft.com/office/drawing/2014/main" id="{88C735EC-2A2D-1556-CF5D-B88DB86552C2}"/>
              </a:ext>
            </a:extLst>
          </p:cNvPr>
          <p:cNvSpPr txBox="1"/>
          <p:nvPr/>
        </p:nvSpPr>
        <p:spPr>
          <a:xfrm>
            <a:off x="12447112" y="8935386"/>
            <a:ext cx="3168578" cy="707886"/>
          </a:xfrm>
          <a:prstGeom prst="rect">
            <a:avLst/>
          </a:prstGeom>
          <a:noFill/>
        </p:spPr>
        <p:txBody>
          <a:bodyPr wrap="square" rtlCol="0">
            <a:spAutoFit/>
          </a:bodyPr>
          <a:lstStyle/>
          <a:p>
            <a:pPr algn="l"/>
            <a:r>
              <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・正式伝票番号付与</a:t>
            </a:r>
            <a:endParaRPr kumimoji="1" lang="en-US" altLang="ja-JP"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endParaRPr>
          </a:p>
          <a:p>
            <a:pPr algn="l"/>
            <a:r>
              <a:rPr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rPr>
              <a:t>・差分更新・全件確認</a:t>
            </a:r>
            <a:endParaRPr kumimoji="1" lang="ja-JP" altLang="en-US" sz="2000" dirty="0">
              <a:solidFill>
                <a:schemeClr val="bg1">
                  <a:lumMod val="10000"/>
                </a:schemeClr>
              </a:solidFill>
              <a:latin typeface="Meiryo UI" panose="020B0604030504040204" pitchFamily="50" charset="-128"/>
              <a:ea typeface="Meiryo UI" panose="020B0604030504040204" pitchFamily="50" charset="-128"/>
              <a:cs typeface="Malgun Gothic Semilight" panose="020B0502040204020203" pitchFamily="50" charset="-128"/>
            </a:endParaRPr>
          </a:p>
        </p:txBody>
      </p:sp>
      <p:graphicFrame>
        <p:nvGraphicFramePr>
          <p:cNvPr id="108" name="表 107">
            <a:extLst>
              <a:ext uri="{FF2B5EF4-FFF2-40B4-BE49-F238E27FC236}">
                <a16:creationId xmlns:a16="http://schemas.microsoft.com/office/drawing/2014/main" id="{68743D67-B3BE-F84D-CA37-DA14E499F3D3}"/>
              </a:ext>
            </a:extLst>
          </p:cNvPr>
          <p:cNvGraphicFramePr>
            <a:graphicFrameLocks noGrp="1"/>
          </p:cNvGraphicFramePr>
          <p:nvPr>
            <p:extLst>
              <p:ext uri="{D42A27DB-BD31-4B8C-83A1-F6EECF244321}">
                <p14:modId xmlns:p14="http://schemas.microsoft.com/office/powerpoint/2010/main" val="3585922144"/>
              </p:ext>
            </p:extLst>
          </p:nvPr>
        </p:nvGraphicFramePr>
        <p:xfrm>
          <a:off x="638650" y="3101963"/>
          <a:ext cx="6757228" cy="2377440"/>
        </p:xfrm>
        <a:graphic>
          <a:graphicData uri="http://schemas.openxmlformats.org/drawingml/2006/table">
            <a:tbl>
              <a:tblPr firstRow="1" bandRow="1">
                <a:tableStyleId>{5C22544A-7EE6-4342-B048-85BDC9FD1C3A}</a:tableStyleId>
              </a:tblPr>
              <a:tblGrid>
                <a:gridCol w="1759813">
                  <a:extLst>
                    <a:ext uri="{9D8B030D-6E8A-4147-A177-3AD203B41FA5}">
                      <a16:colId xmlns:a16="http://schemas.microsoft.com/office/drawing/2014/main" val="3079456454"/>
                    </a:ext>
                  </a:extLst>
                </a:gridCol>
                <a:gridCol w="4997415">
                  <a:extLst>
                    <a:ext uri="{9D8B030D-6E8A-4147-A177-3AD203B41FA5}">
                      <a16:colId xmlns:a16="http://schemas.microsoft.com/office/drawing/2014/main" val="3950781146"/>
                    </a:ext>
                  </a:extLst>
                </a:gridCol>
              </a:tblGrid>
              <a:tr h="299863">
                <a:tc>
                  <a:txBody>
                    <a:bodyPr/>
                    <a:lstStyle/>
                    <a:p>
                      <a:r>
                        <a:rPr lang="ja-JP" altLang="en-US" sz="2000">
                          <a:latin typeface="Meiryo UI" panose="020B0604030504040204" pitchFamily="50" charset="-128"/>
                          <a:ea typeface="Meiryo UI" panose="020B0604030504040204" pitchFamily="50" charset="-128"/>
                        </a:rPr>
                        <a:t>項目</a:t>
                      </a:r>
                    </a:p>
                  </a:txBody>
                  <a:tcPr/>
                </a:tc>
                <a:tc>
                  <a:txBody>
                    <a:bodyPr/>
                    <a:lstStyle/>
                    <a:p>
                      <a:r>
                        <a:rPr lang="ja-JP" altLang="en-US" sz="2000" dirty="0">
                          <a:latin typeface="Meiryo UI" panose="020B0604030504040204" pitchFamily="50" charset="-128"/>
                          <a:ea typeface="Meiryo UI" panose="020B0604030504040204" pitchFamily="50" charset="-128"/>
                        </a:rPr>
                        <a:t>内容</a:t>
                      </a:r>
                    </a:p>
                  </a:txBody>
                  <a:tcPr/>
                </a:tc>
                <a:extLst>
                  <a:ext uri="{0D108BD9-81ED-4DB2-BD59-A6C34878D82A}">
                    <a16:rowId xmlns:a16="http://schemas.microsoft.com/office/drawing/2014/main" val="173182086"/>
                  </a:ext>
                </a:extLst>
              </a:tr>
              <a:tr h="370840">
                <a:tc>
                  <a:txBody>
                    <a:bodyPr/>
                    <a:lstStyle/>
                    <a:p>
                      <a:r>
                        <a:rPr lang="ja-JP" altLang="en-US" sz="2000">
                          <a:latin typeface="Meiryo UI" panose="020B0604030504040204" pitchFamily="50" charset="-128"/>
                          <a:ea typeface="Meiryo UI" panose="020B0604030504040204" pitchFamily="50" charset="-128"/>
                        </a:rPr>
                        <a:t>目的</a:t>
                      </a:r>
                    </a:p>
                  </a:txBody>
                  <a:tcPr/>
                </a:tc>
                <a:tc>
                  <a:txBody>
                    <a:bodyPr/>
                    <a:lstStyle/>
                    <a:p>
                      <a:r>
                        <a:rPr lang="ja-JP" altLang="en-US" sz="2000" dirty="0">
                          <a:latin typeface="Meiryo UI" panose="020B0604030504040204" pitchFamily="50" charset="-128"/>
                          <a:ea typeface="Meiryo UI" panose="020B0604030504040204" pitchFamily="50" charset="-128"/>
                        </a:rPr>
                        <a:t>通信断発生時でも業務を停止させない</a:t>
                      </a:r>
                    </a:p>
                  </a:txBody>
                  <a:tcPr/>
                </a:tc>
                <a:extLst>
                  <a:ext uri="{0D108BD9-81ED-4DB2-BD59-A6C34878D82A}">
                    <a16:rowId xmlns:a16="http://schemas.microsoft.com/office/drawing/2014/main" val="3019196802"/>
                  </a:ext>
                </a:extLst>
              </a:tr>
              <a:tr h="389325">
                <a:tc>
                  <a:txBody>
                    <a:bodyPr/>
                    <a:lstStyle/>
                    <a:p>
                      <a:r>
                        <a:rPr lang="ja-JP" altLang="en-US" sz="2000" dirty="0">
                          <a:latin typeface="Meiryo UI" panose="020B0604030504040204" pitchFamily="50" charset="-128"/>
                          <a:ea typeface="Meiryo UI" panose="020B0604030504040204" pitchFamily="50" charset="-128"/>
                        </a:rPr>
                        <a:t>運用方針</a:t>
                      </a:r>
                    </a:p>
                  </a:txBody>
                  <a:tcPr/>
                </a:tc>
                <a:tc>
                  <a:txBody>
                    <a:bodyPr/>
                    <a:lstStyle/>
                    <a:p>
                      <a:r>
                        <a:rPr lang="ja-JP" altLang="en-US" sz="2000" dirty="0">
                          <a:latin typeface="Meiryo UI" panose="020B0604030504040204" pitchFamily="50" charset="-128"/>
                          <a:ea typeface="Meiryo UI" panose="020B0604030504040204" pitchFamily="50" charset="-128"/>
                        </a:rPr>
                        <a:t>通信状態を自動検知しモード切替を行う</a:t>
                      </a:r>
                    </a:p>
                  </a:txBody>
                  <a:tcPr/>
                </a:tc>
                <a:extLst>
                  <a:ext uri="{0D108BD9-81ED-4DB2-BD59-A6C34878D82A}">
                    <a16:rowId xmlns:a16="http://schemas.microsoft.com/office/drawing/2014/main" val="732484838"/>
                  </a:ext>
                </a:extLst>
              </a:tr>
              <a:tr h="370840">
                <a:tc>
                  <a:txBody>
                    <a:bodyPr/>
                    <a:lstStyle/>
                    <a:p>
                      <a:r>
                        <a:rPr lang="ja-JP" altLang="en-US" sz="2000">
                          <a:latin typeface="Meiryo UI" panose="020B0604030504040204" pitchFamily="50" charset="-128"/>
                          <a:ea typeface="Meiryo UI" panose="020B0604030504040204" pitchFamily="50" charset="-128"/>
                        </a:rPr>
                        <a:t>ユーザー操作</a:t>
                      </a:r>
                    </a:p>
                  </a:txBody>
                  <a:tcPr/>
                </a:tc>
                <a:tc>
                  <a:txBody>
                    <a:bodyPr/>
                    <a:lstStyle/>
                    <a:p>
                      <a:r>
                        <a:rPr lang="ja-JP" altLang="en-US" sz="2000" dirty="0">
                          <a:latin typeface="Meiryo UI" panose="020B0604030504040204" pitchFamily="50" charset="-128"/>
                          <a:ea typeface="Meiryo UI" panose="020B0604030504040204" pitchFamily="50" charset="-128"/>
                        </a:rPr>
                        <a:t>モード切替は自動、手動操作不要</a:t>
                      </a:r>
                    </a:p>
                  </a:txBody>
                  <a:tcPr/>
                </a:tc>
                <a:extLst>
                  <a:ext uri="{0D108BD9-81ED-4DB2-BD59-A6C34878D82A}">
                    <a16:rowId xmlns:a16="http://schemas.microsoft.com/office/drawing/2014/main" val="3943494005"/>
                  </a:ext>
                </a:extLst>
              </a:tr>
              <a:tr h="370840">
                <a:tc>
                  <a:txBody>
                    <a:bodyPr/>
                    <a:lstStyle/>
                    <a:p>
                      <a:r>
                        <a:rPr lang="ja-JP" altLang="en-US" sz="2000">
                          <a:latin typeface="Meiryo UI" panose="020B0604030504040204" pitchFamily="50" charset="-128"/>
                          <a:ea typeface="Meiryo UI" panose="020B0604030504040204" pitchFamily="50" charset="-128"/>
                        </a:rPr>
                        <a:t>データ方針</a:t>
                      </a:r>
                    </a:p>
                  </a:txBody>
                  <a:tcPr/>
                </a:tc>
                <a:tc>
                  <a:txBody>
                    <a:bodyPr/>
                    <a:lstStyle/>
                    <a:p>
                      <a:r>
                        <a:rPr lang="ja-JP" altLang="en-US" sz="2000" dirty="0">
                          <a:latin typeface="Meiryo UI" panose="020B0604030504040204" pitchFamily="50" charset="-128"/>
                          <a:ea typeface="Meiryo UI" panose="020B0604030504040204" pitchFamily="50" charset="-128"/>
                        </a:rPr>
                        <a:t>オフライン時はローカルに一時保存</a:t>
                      </a:r>
                    </a:p>
                  </a:txBody>
                  <a:tcPr/>
                </a:tc>
                <a:extLst>
                  <a:ext uri="{0D108BD9-81ED-4DB2-BD59-A6C34878D82A}">
                    <a16:rowId xmlns:a16="http://schemas.microsoft.com/office/drawing/2014/main" val="3833319751"/>
                  </a:ext>
                </a:extLst>
              </a:tr>
              <a:tr h="370840">
                <a:tc>
                  <a:txBody>
                    <a:bodyPr/>
                    <a:lstStyle/>
                    <a:p>
                      <a:r>
                        <a:rPr lang="ja-JP" altLang="en-US" sz="2000">
                          <a:latin typeface="Meiryo UI" panose="020B0604030504040204" pitchFamily="50" charset="-128"/>
                          <a:ea typeface="Meiryo UI" panose="020B0604030504040204" pitchFamily="50" charset="-128"/>
                        </a:rPr>
                        <a:t>復帰処理</a:t>
                      </a:r>
                    </a:p>
                  </a:txBody>
                  <a:tcPr/>
                </a:tc>
                <a:tc>
                  <a:txBody>
                    <a:bodyPr/>
                    <a:lstStyle/>
                    <a:p>
                      <a:r>
                        <a:rPr lang="ja-JP" altLang="en-US" sz="2000" dirty="0">
                          <a:latin typeface="Meiryo UI" panose="020B0604030504040204" pitchFamily="50" charset="-128"/>
                          <a:ea typeface="Meiryo UI" panose="020B0604030504040204" pitchFamily="50" charset="-128"/>
                        </a:rPr>
                        <a:t>通信復帰時に自動同期を実行</a:t>
                      </a:r>
                    </a:p>
                  </a:txBody>
                  <a:tcPr/>
                </a:tc>
                <a:extLst>
                  <a:ext uri="{0D108BD9-81ED-4DB2-BD59-A6C34878D82A}">
                    <a16:rowId xmlns:a16="http://schemas.microsoft.com/office/drawing/2014/main" val="3483244875"/>
                  </a:ext>
                </a:extLst>
              </a:tr>
            </a:tbl>
          </a:graphicData>
        </a:graphic>
      </p:graphicFrame>
      <p:sp>
        <p:nvSpPr>
          <p:cNvPr id="110" name="テキスト ボックス 109">
            <a:extLst>
              <a:ext uri="{FF2B5EF4-FFF2-40B4-BE49-F238E27FC236}">
                <a16:creationId xmlns:a16="http://schemas.microsoft.com/office/drawing/2014/main" id="{60563747-2149-BDC6-F535-E00BE0E33E87}"/>
              </a:ext>
            </a:extLst>
          </p:cNvPr>
          <p:cNvSpPr txBox="1"/>
          <p:nvPr/>
        </p:nvSpPr>
        <p:spPr>
          <a:xfrm>
            <a:off x="590264" y="1155418"/>
            <a:ext cx="17199585" cy="1848648"/>
          </a:xfrm>
          <a:prstGeom prst="rect">
            <a:avLst/>
          </a:prstGeom>
          <a:noFill/>
        </p:spPr>
        <p:txBody>
          <a:bodyPr wrap="square" lIns="0" tIns="0" rIns="0" bIns="0" rtlCol="0">
            <a:spAutoFit/>
          </a:bodyPr>
          <a:lstStyle/>
          <a:p>
            <a:pPr>
              <a:lnSpc>
                <a:spcPct val="150000"/>
              </a:lnSpc>
            </a:pPr>
            <a:r>
              <a:rPr lang="ja-JP" altLang="en-US" sz="2800" dirty="0">
                <a:latin typeface="Meiryo UI" panose="020B0604030504040204" pitchFamily="50" charset="-128"/>
                <a:ea typeface="Meiryo UI" panose="020B0604030504040204" pitchFamily="50" charset="-128"/>
              </a:rPr>
              <a:t>・通信断発生時においても店舗での最低限の販売業務を継続するため、端末側に最小限のマスターを保持し、オフライン販売継続機能</a:t>
            </a:r>
            <a:r>
              <a:rPr lang="ja-JP" altLang="en-US" sz="2800">
                <a:latin typeface="Meiryo UI" panose="020B0604030504040204" pitchFamily="50" charset="-128"/>
                <a:ea typeface="Meiryo UI" panose="020B0604030504040204" pitchFamily="50" charset="-128"/>
              </a:rPr>
              <a:t>を実装します。</a:t>
            </a:r>
            <a:endParaRPr lang="en-US" altLang="ja-JP" sz="2800" dirty="0">
              <a:latin typeface="Meiryo UI" panose="020B0604030504040204" pitchFamily="50" charset="-128"/>
              <a:ea typeface="Meiryo UI" panose="020B0604030504040204" pitchFamily="50" charset="-128"/>
            </a:endParaRPr>
          </a:p>
          <a:p>
            <a:pPr>
              <a:lnSpc>
                <a:spcPct val="150000"/>
              </a:lnSpc>
            </a:pPr>
            <a:endParaRPr lang="en-US" altLang="ja-JP" sz="2800"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2278E25F-4B5C-F11B-49B0-1455A8255F62}"/>
              </a:ext>
            </a:extLst>
          </p:cNvPr>
          <p:cNvSpPr txBox="1"/>
          <p:nvPr/>
        </p:nvSpPr>
        <p:spPr>
          <a:xfrm>
            <a:off x="782253" y="6094306"/>
            <a:ext cx="17199585" cy="423193"/>
          </a:xfrm>
          <a:prstGeom prst="rect">
            <a:avLst/>
          </a:prstGeom>
          <a:noFill/>
        </p:spPr>
        <p:txBody>
          <a:bodyPr wrap="square" lIns="0" tIns="0" rIns="0" bIns="0" rtlCol="0">
            <a:spAutoFit/>
          </a:bodyPr>
          <a:lstStyle/>
          <a:p>
            <a:pPr>
              <a:lnSpc>
                <a:spcPct val="150000"/>
              </a:lnSpc>
            </a:pPr>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オフラインデータフロー処理</a:t>
            </a:r>
            <a:r>
              <a:rPr lang="en-US" altLang="ja-JP" sz="2000" dirty="0">
                <a:latin typeface="メイリオ" panose="020B0604030504040204" pitchFamily="50" charset="-128"/>
                <a:ea typeface="メイリオ" panose="020B0604030504040204" pitchFamily="50" charset="-128"/>
              </a:rPr>
              <a:t>】</a:t>
            </a:r>
            <a:endParaRPr lang="ja-JP" altLang="en-US" sz="2000" dirty="0">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1B1B1DF0-E528-3C54-19F5-87659E18DF81}"/>
              </a:ext>
            </a:extLst>
          </p:cNvPr>
          <p:cNvSpPr txBox="1"/>
          <p:nvPr/>
        </p:nvSpPr>
        <p:spPr>
          <a:xfrm>
            <a:off x="608330" y="2548615"/>
            <a:ext cx="17199585" cy="397160"/>
          </a:xfrm>
          <a:prstGeom prst="rect">
            <a:avLst/>
          </a:prstGeom>
          <a:noFill/>
        </p:spPr>
        <p:txBody>
          <a:bodyPr wrap="square" lIns="0" tIns="0" rIns="0" bIns="0" rtlCol="0">
            <a:spAutoFit/>
          </a:bodyPr>
          <a:lstStyle/>
          <a:p>
            <a:pPr>
              <a:lnSpc>
                <a:spcPct val="150000"/>
              </a:lnSpc>
            </a:pP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オフライン対応に関する基本方針</a:t>
            </a:r>
            <a:r>
              <a:rPr lang="en-US" altLang="ja-JP" sz="2000" dirty="0">
                <a:latin typeface="Meiryo UI" panose="020B0604030504040204" pitchFamily="50" charset="-128"/>
                <a:ea typeface="Meiryo UI" panose="020B0604030504040204" pitchFamily="50" charset="-128"/>
              </a:rPr>
              <a:t>】</a:t>
            </a:r>
          </a:p>
        </p:txBody>
      </p:sp>
      <p:sp>
        <p:nvSpPr>
          <p:cNvPr id="11" name="テキスト ボックス 10">
            <a:extLst>
              <a:ext uri="{FF2B5EF4-FFF2-40B4-BE49-F238E27FC236}">
                <a16:creationId xmlns:a16="http://schemas.microsoft.com/office/drawing/2014/main" id="{126BA58D-B3C2-D171-6A67-36567E8FC0AC}"/>
              </a:ext>
            </a:extLst>
          </p:cNvPr>
          <p:cNvSpPr txBox="1"/>
          <p:nvPr/>
        </p:nvSpPr>
        <p:spPr>
          <a:xfrm>
            <a:off x="7769496" y="1797105"/>
            <a:ext cx="17199585" cy="397160"/>
          </a:xfrm>
          <a:prstGeom prst="rect">
            <a:avLst/>
          </a:prstGeom>
          <a:noFill/>
        </p:spPr>
        <p:txBody>
          <a:bodyPr wrap="square" lIns="0" tIns="0" rIns="0" bIns="0" rtlCol="0">
            <a:spAutoFit/>
          </a:bodyPr>
          <a:lstStyle/>
          <a:p>
            <a:pPr>
              <a:lnSpc>
                <a:spcPct val="150000"/>
              </a:lnSpc>
            </a:pP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オフラインの販売フロー</a:t>
            </a:r>
            <a:r>
              <a:rPr lang="en-US" altLang="ja-JP" sz="2000" dirty="0">
                <a:latin typeface="Meiryo UI" panose="020B0604030504040204" pitchFamily="50" charset="-128"/>
                <a:ea typeface="Meiryo UI" panose="020B0604030504040204" pitchFamily="50" charset="-128"/>
              </a:rPr>
              <a:t>】</a:t>
            </a:r>
          </a:p>
        </p:txBody>
      </p:sp>
      <p:sp>
        <p:nvSpPr>
          <p:cNvPr id="51" name="正方形/長方形 50">
            <a:extLst>
              <a:ext uri="{FF2B5EF4-FFF2-40B4-BE49-F238E27FC236}">
                <a16:creationId xmlns:a16="http://schemas.microsoft.com/office/drawing/2014/main" id="{66F9736F-9697-04CC-79E3-AD34E480636E}"/>
              </a:ext>
            </a:extLst>
          </p:cNvPr>
          <p:cNvSpPr/>
          <p:nvPr/>
        </p:nvSpPr>
        <p:spPr>
          <a:xfrm>
            <a:off x="12391907" y="8239932"/>
            <a:ext cx="3202474" cy="671138"/>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rPr>
              <a:t>⑧同期・復旧</a:t>
            </a:r>
            <a:endParaRPr lang="en-US" altLang="ja-JP" sz="2400" dirty="0">
              <a:solidFill>
                <a:schemeClr val="bg1"/>
              </a:solidFill>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104" name="星: 5 pt 103">
            <a:extLst>
              <a:ext uri="{FF2B5EF4-FFF2-40B4-BE49-F238E27FC236}">
                <a16:creationId xmlns:a16="http://schemas.microsoft.com/office/drawing/2014/main" id="{DDFB16DA-393E-C833-69EB-C82A6925EC19}"/>
              </a:ext>
            </a:extLst>
          </p:cNvPr>
          <p:cNvSpPr/>
          <p:nvPr/>
        </p:nvSpPr>
        <p:spPr>
          <a:xfrm>
            <a:off x="11009437" y="9023320"/>
            <a:ext cx="349154" cy="361451"/>
          </a:xfrm>
          <a:prstGeom prst="star5">
            <a:avLst/>
          </a:prstGeom>
          <a:solidFill>
            <a:srgbClr val="FFFF00"/>
          </a:solidFill>
          <a:ln>
            <a:solidFill>
              <a:srgbClr val="E5E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105" name="星: 5 pt 104">
            <a:extLst>
              <a:ext uri="{FF2B5EF4-FFF2-40B4-BE49-F238E27FC236}">
                <a16:creationId xmlns:a16="http://schemas.microsoft.com/office/drawing/2014/main" id="{10089E07-0749-1E24-C00F-BD3778FA9659}"/>
              </a:ext>
            </a:extLst>
          </p:cNvPr>
          <p:cNvSpPr/>
          <p:nvPr/>
        </p:nvSpPr>
        <p:spPr>
          <a:xfrm>
            <a:off x="12008876" y="9426765"/>
            <a:ext cx="349154" cy="361451"/>
          </a:xfrm>
          <a:prstGeom prst="star5">
            <a:avLst/>
          </a:prstGeom>
          <a:solidFill>
            <a:srgbClr val="FFFF00"/>
          </a:solidFill>
          <a:ln>
            <a:solidFill>
              <a:srgbClr val="E5E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grpSp>
        <p:nvGrpSpPr>
          <p:cNvPr id="106" name="グループ化 105">
            <a:extLst>
              <a:ext uri="{FF2B5EF4-FFF2-40B4-BE49-F238E27FC236}">
                <a16:creationId xmlns:a16="http://schemas.microsoft.com/office/drawing/2014/main" id="{83B1D700-FF90-91EF-7CBC-038350E39397}"/>
              </a:ext>
            </a:extLst>
          </p:cNvPr>
          <p:cNvGrpSpPr/>
          <p:nvPr/>
        </p:nvGrpSpPr>
        <p:grpSpPr>
          <a:xfrm>
            <a:off x="4621055" y="6033762"/>
            <a:ext cx="1624832" cy="558659"/>
            <a:chOff x="11684300" y="1973540"/>
            <a:chExt cx="3946451" cy="1179852"/>
          </a:xfrm>
        </p:grpSpPr>
        <p:sp>
          <p:nvSpPr>
            <p:cNvPr id="107" name="吹き出し: 円形 106">
              <a:extLst>
                <a:ext uri="{FF2B5EF4-FFF2-40B4-BE49-F238E27FC236}">
                  <a16:creationId xmlns:a16="http://schemas.microsoft.com/office/drawing/2014/main" id="{1BC9E2E0-DB53-CE6D-AA21-3ED6602AAB47}"/>
                </a:ext>
              </a:extLst>
            </p:cNvPr>
            <p:cNvSpPr/>
            <p:nvPr/>
          </p:nvSpPr>
          <p:spPr>
            <a:xfrm>
              <a:off x="11684300" y="1973540"/>
              <a:ext cx="2656408" cy="1179852"/>
            </a:xfrm>
            <a:prstGeom prst="wedgeEllipseCallout">
              <a:avLst>
                <a:gd name="adj1" fmla="val -51477"/>
                <a:gd name="adj2" fmla="val 111806"/>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dirty="0">
                <a:solidFill>
                  <a:srgbClr val="59574C"/>
                </a:solidFill>
                <a:latin typeface="Source Sans Pro" panose="020B0503030403020204" pitchFamily="34" charset="0"/>
                <a:ea typeface="源ノ角ゴシック JP Regular" panose="020B0500000000000000" pitchFamily="34" charset="-128"/>
              </a:endParaRPr>
            </a:p>
          </p:txBody>
        </p:sp>
        <p:sp>
          <p:nvSpPr>
            <p:cNvPr id="109" name="テキスト ボックス 108">
              <a:extLst>
                <a:ext uri="{FF2B5EF4-FFF2-40B4-BE49-F238E27FC236}">
                  <a16:creationId xmlns:a16="http://schemas.microsoft.com/office/drawing/2014/main" id="{1C4983AC-1DAB-4323-A2A7-8C5BA9675880}"/>
                </a:ext>
              </a:extLst>
            </p:cNvPr>
            <p:cNvSpPr txBox="1"/>
            <p:nvPr/>
          </p:nvSpPr>
          <p:spPr>
            <a:xfrm>
              <a:off x="11792074" y="2182629"/>
              <a:ext cx="3838677" cy="448351"/>
            </a:xfrm>
            <a:prstGeom prst="rect">
              <a:avLst/>
            </a:prstGeom>
            <a:noFill/>
          </p:spPr>
          <p:txBody>
            <a:bodyPr wrap="square" rtlCol="0">
              <a:spAutoFit/>
            </a:bodyPr>
            <a:lstStyle/>
            <a:p>
              <a:pPr algn="l"/>
              <a:r>
                <a:rPr lang="ja-JP" altLang="en-US" sz="1600" dirty="0">
                  <a:solidFill>
                    <a:schemeClr val="bg1">
                      <a:lumMod val="10000"/>
                    </a:schemeClr>
                  </a:solidFill>
                  <a:latin typeface="Meiryo UI" panose="020B0604030504040204" pitchFamily="50" charset="-128"/>
                  <a:ea typeface="Meiryo UI" panose="020B0604030504040204" pitchFamily="50" charset="-128"/>
                </a:rPr>
                <a:t>強制遷移</a:t>
              </a:r>
              <a:endParaRPr kumimoji="1" lang="en-US" altLang="ja-JP" sz="1600" dirty="0">
                <a:solidFill>
                  <a:schemeClr val="bg1">
                    <a:lumMod val="10000"/>
                  </a:schemeClr>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660845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５－８．通常・初心者モード</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25</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dirty="0">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dirty="0">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534007" y="1600729"/>
            <a:ext cx="15514200" cy="4158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endParaRPr lang="ja-JP" altLang="en-US" sz="280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BCE942F9-6C9A-14AC-E10F-90A1BC0AF78C}"/>
              </a:ext>
            </a:extLst>
          </p:cNvPr>
          <p:cNvPicPr>
            <a:picLocks noChangeAspect="1"/>
          </p:cNvPicPr>
          <p:nvPr/>
        </p:nvPicPr>
        <p:blipFill>
          <a:blip r:embed="rId3"/>
          <a:srcRect l="18805" t="6471" r="18913" b="5331"/>
          <a:stretch>
            <a:fillRect/>
          </a:stretch>
        </p:blipFill>
        <p:spPr>
          <a:xfrm>
            <a:off x="6624890" y="6295149"/>
            <a:ext cx="4897202" cy="3640851"/>
          </a:xfrm>
          <a:prstGeom prst="rect">
            <a:avLst/>
          </a:prstGeom>
        </p:spPr>
      </p:pic>
      <p:sp>
        <p:nvSpPr>
          <p:cNvPr id="11" name="テキスト ボックス 10">
            <a:extLst>
              <a:ext uri="{FF2B5EF4-FFF2-40B4-BE49-F238E27FC236}">
                <a16:creationId xmlns:a16="http://schemas.microsoft.com/office/drawing/2014/main" id="{73DCFABB-CE96-DB19-3F7A-F5C447FCF724}"/>
              </a:ext>
            </a:extLst>
          </p:cNvPr>
          <p:cNvSpPr txBox="1"/>
          <p:nvPr/>
        </p:nvSpPr>
        <p:spPr>
          <a:xfrm>
            <a:off x="3653528" y="6078694"/>
            <a:ext cx="3639448" cy="884858"/>
          </a:xfrm>
          <a:prstGeom prst="rect">
            <a:avLst/>
          </a:prstGeom>
          <a:noFill/>
        </p:spPr>
        <p:txBody>
          <a:bodyPr wrap="square" lIns="0" tIns="0" rIns="0" bIns="0" rtlCol="0">
            <a:spAutoFit/>
          </a:bodyPr>
          <a:lstStyle/>
          <a:p>
            <a:pPr algn="ctr">
              <a:lnSpc>
                <a:spcPct val="150000"/>
              </a:lnSpc>
            </a:pPr>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初心者モード</a:t>
            </a:r>
            <a:r>
              <a:rPr lang="en-US" altLang="ja-JP" sz="2000" dirty="0">
                <a:latin typeface="メイリオ" panose="020B0604030504040204" pitchFamily="50" charset="-128"/>
                <a:ea typeface="メイリオ" panose="020B0604030504040204" pitchFamily="50" charset="-128"/>
              </a:rPr>
              <a:t>】</a:t>
            </a:r>
          </a:p>
          <a:p>
            <a:pPr algn="ctr">
              <a:lnSpc>
                <a:spcPct val="150000"/>
              </a:lnSpc>
            </a:pPr>
            <a:r>
              <a:rPr lang="ja-JP" altLang="en-US" sz="2000" dirty="0">
                <a:latin typeface="メイリオ" panose="020B0604030504040204" pitchFamily="50" charset="-128"/>
                <a:ea typeface="メイリオ" panose="020B0604030504040204" pitchFamily="50" charset="-128"/>
              </a:rPr>
              <a:t>売上</a:t>
            </a:r>
            <a:endParaRPr lang="en-US" altLang="ja-JP" sz="2000" dirty="0">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EE8472AF-169A-E4F8-1AB3-DFEF5B3E7365}"/>
              </a:ext>
            </a:extLst>
          </p:cNvPr>
          <p:cNvPicPr>
            <a:picLocks noChangeAspect="1"/>
          </p:cNvPicPr>
          <p:nvPr/>
        </p:nvPicPr>
        <p:blipFill>
          <a:blip r:embed="rId4"/>
          <a:srcRect l="84368" t="85230" r="3793" b="5875"/>
          <a:stretch>
            <a:fillRect/>
          </a:stretch>
        </p:blipFill>
        <p:spPr>
          <a:xfrm>
            <a:off x="10683377" y="9581608"/>
            <a:ext cx="813298" cy="349018"/>
          </a:xfrm>
          <a:prstGeom prst="rect">
            <a:avLst/>
          </a:prstGeom>
        </p:spPr>
      </p:pic>
      <p:pic>
        <p:nvPicPr>
          <p:cNvPr id="13" name="図 12">
            <a:extLst>
              <a:ext uri="{FF2B5EF4-FFF2-40B4-BE49-F238E27FC236}">
                <a16:creationId xmlns:a16="http://schemas.microsoft.com/office/drawing/2014/main" id="{E93AA38D-47AD-0354-A07A-8042CEF4FEA9}"/>
              </a:ext>
            </a:extLst>
          </p:cNvPr>
          <p:cNvPicPr>
            <a:picLocks noChangeAspect="1"/>
          </p:cNvPicPr>
          <p:nvPr/>
        </p:nvPicPr>
        <p:blipFill>
          <a:blip r:embed="rId4"/>
          <a:srcRect l="86253" t="7344" r="5517" b="84910"/>
          <a:stretch>
            <a:fillRect/>
          </a:stretch>
        </p:blipFill>
        <p:spPr>
          <a:xfrm>
            <a:off x="10995025" y="6295149"/>
            <a:ext cx="527067" cy="268449"/>
          </a:xfrm>
          <a:prstGeom prst="rect">
            <a:avLst/>
          </a:prstGeom>
        </p:spPr>
      </p:pic>
      <p:graphicFrame>
        <p:nvGraphicFramePr>
          <p:cNvPr id="5" name="表 4">
            <a:extLst>
              <a:ext uri="{FF2B5EF4-FFF2-40B4-BE49-F238E27FC236}">
                <a16:creationId xmlns:a16="http://schemas.microsoft.com/office/drawing/2014/main" id="{A56C42C4-E031-9F10-B280-C74F012EFEA3}"/>
              </a:ext>
            </a:extLst>
          </p:cNvPr>
          <p:cNvGraphicFramePr>
            <a:graphicFrameLocks noGrp="1"/>
          </p:cNvGraphicFramePr>
          <p:nvPr/>
        </p:nvGraphicFramePr>
        <p:xfrm>
          <a:off x="2442897" y="4045035"/>
          <a:ext cx="13261187" cy="1828800"/>
        </p:xfrm>
        <a:graphic>
          <a:graphicData uri="http://schemas.openxmlformats.org/drawingml/2006/table">
            <a:tbl>
              <a:tblPr firstRow="1" bandRow="1">
                <a:tableStyleId>{7DF18680-E054-41AD-8BC1-D1AEF772440D}</a:tableStyleId>
              </a:tblPr>
              <a:tblGrid>
                <a:gridCol w="4394773">
                  <a:extLst>
                    <a:ext uri="{9D8B030D-6E8A-4147-A177-3AD203B41FA5}">
                      <a16:colId xmlns:a16="http://schemas.microsoft.com/office/drawing/2014/main" val="2436249299"/>
                    </a:ext>
                  </a:extLst>
                </a:gridCol>
                <a:gridCol w="4049485">
                  <a:extLst>
                    <a:ext uri="{9D8B030D-6E8A-4147-A177-3AD203B41FA5}">
                      <a16:colId xmlns:a16="http://schemas.microsoft.com/office/drawing/2014/main" val="3514736382"/>
                    </a:ext>
                  </a:extLst>
                </a:gridCol>
                <a:gridCol w="4816929">
                  <a:extLst>
                    <a:ext uri="{9D8B030D-6E8A-4147-A177-3AD203B41FA5}">
                      <a16:colId xmlns:a16="http://schemas.microsoft.com/office/drawing/2014/main" val="915309175"/>
                    </a:ext>
                  </a:extLst>
                </a:gridCol>
              </a:tblGrid>
              <a:tr h="370840">
                <a:tc>
                  <a:txBody>
                    <a:bodyPr/>
                    <a:lstStyle/>
                    <a:p>
                      <a:pPr marL="0" algn="l" defTabSz="1371600" rtl="0" eaLnBrk="1" latinLnBrk="0" hangingPunct="1"/>
                      <a:r>
                        <a:rPr kumimoji="1" lang="ja-JP" altLang="en-US" sz="2400" b="1" kern="1200" dirty="0">
                          <a:solidFill>
                            <a:schemeClr val="lt1"/>
                          </a:solidFill>
                          <a:latin typeface="メイリオ" panose="020B0604030504040204" pitchFamily="50" charset="-128"/>
                          <a:ea typeface="メイリオ" panose="020B0604030504040204" pitchFamily="50" charset="-128"/>
                          <a:cs typeface="+mn-cs"/>
                        </a:rPr>
                        <a:t>項目</a:t>
                      </a:r>
                    </a:p>
                  </a:txBody>
                  <a:tcPr/>
                </a:tc>
                <a:tc>
                  <a:txBody>
                    <a:bodyPr/>
                    <a:lstStyle/>
                    <a:p>
                      <a:r>
                        <a:rPr kumimoji="1" lang="ja-JP" altLang="en-US" sz="2400" dirty="0">
                          <a:latin typeface="メイリオ" panose="020B0604030504040204" pitchFamily="50" charset="-128"/>
                          <a:ea typeface="メイリオ" panose="020B0604030504040204" pitchFamily="50" charset="-128"/>
                        </a:rPr>
                        <a:t>通常モード</a:t>
                      </a:r>
                    </a:p>
                  </a:txBody>
                  <a:tcPr/>
                </a:tc>
                <a:tc>
                  <a:txBody>
                    <a:bodyPr/>
                    <a:lstStyle/>
                    <a:p>
                      <a:r>
                        <a:rPr kumimoji="1" lang="ja-JP" altLang="en-US" sz="2400" dirty="0">
                          <a:latin typeface="メイリオ" panose="020B0604030504040204" pitchFamily="50" charset="-128"/>
                          <a:ea typeface="メイリオ" panose="020B0604030504040204" pitchFamily="50" charset="-128"/>
                        </a:rPr>
                        <a:t>初心者モード</a:t>
                      </a:r>
                    </a:p>
                  </a:txBody>
                  <a:tcPr/>
                </a:tc>
                <a:extLst>
                  <a:ext uri="{0D108BD9-81ED-4DB2-BD59-A6C34878D82A}">
                    <a16:rowId xmlns:a16="http://schemas.microsoft.com/office/drawing/2014/main" val="2212246819"/>
                  </a:ext>
                </a:extLst>
              </a:tr>
              <a:tr h="370840">
                <a:tc>
                  <a:txBody>
                    <a:bodyPr/>
                    <a:lstStyle/>
                    <a:p>
                      <a:r>
                        <a:rPr kumimoji="1" lang="ja-JP" altLang="en-US" sz="2400" dirty="0">
                          <a:latin typeface="メイリオ" panose="020B0604030504040204" pitchFamily="50" charset="-128"/>
                          <a:ea typeface="メイリオ" panose="020B0604030504040204" pitchFamily="50" charset="-128"/>
                        </a:rPr>
                        <a:t>ガイドメッセージ表示</a:t>
                      </a:r>
                      <a:endParaRPr kumimoji="1" lang="en-US" altLang="ja-JP" sz="2400" dirty="0">
                        <a:latin typeface="メイリオ" panose="020B0604030504040204" pitchFamily="50" charset="-128"/>
                        <a:ea typeface="メイリオ" panose="020B0604030504040204" pitchFamily="50" charset="-128"/>
                      </a:endParaRPr>
                    </a:p>
                  </a:txBody>
                  <a:tcPr anchor="ctr"/>
                </a:tc>
                <a:tc>
                  <a:txBody>
                    <a:bodyPr/>
                    <a:lstStyle/>
                    <a:p>
                      <a:pPr algn="l" fontAlgn="b">
                        <a:buNone/>
                      </a:pPr>
                      <a:r>
                        <a:rPr kumimoji="1" lang="ja-JP" altLang="en-US" sz="2400" kern="1200" dirty="0">
                          <a:solidFill>
                            <a:schemeClr val="dk1"/>
                          </a:solidFill>
                          <a:latin typeface="メイリオ" panose="020B0604030504040204" pitchFamily="50" charset="-128"/>
                          <a:ea typeface="メイリオ" panose="020B0604030504040204" pitchFamily="50" charset="-128"/>
                          <a:cs typeface="+mn-cs"/>
                        </a:rPr>
                        <a:t>なし</a:t>
                      </a:r>
                    </a:p>
                  </a:txBody>
                  <a:tcPr marL="6350" marR="6350" marT="6350" marB="0" anchor="b"/>
                </a:tc>
                <a:tc>
                  <a:txBody>
                    <a:bodyPr/>
                    <a:lstStyle/>
                    <a:p>
                      <a:pPr algn="l" fontAlgn="b">
                        <a:buNone/>
                      </a:pPr>
                      <a:r>
                        <a:rPr kumimoji="1" lang="ja-JP" altLang="en-US" sz="2400" kern="1200" dirty="0">
                          <a:solidFill>
                            <a:schemeClr val="dk1"/>
                          </a:solidFill>
                          <a:latin typeface="メイリオ" panose="020B0604030504040204" pitchFamily="50" charset="-128"/>
                          <a:ea typeface="メイリオ" panose="020B0604030504040204" pitchFamily="50" charset="-128"/>
                          <a:cs typeface="+mn-cs"/>
                        </a:rPr>
                        <a:t>あり（フォーカスイン時に表示）</a:t>
                      </a:r>
                    </a:p>
                  </a:txBody>
                  <a:tcPr marL="6350" marR="6350" marT="6350" marB="0" anchor="b"/>
                </a:tc>
                <a:extLst>
                  <a:ext uri="{0D108BD9-81ED-4DB2-BD59-A6C34878D82A}">
                    <a16:rowId xmlns:a16="http://schemas.microsoft.com/office/drawing/2014/main" val="3293962602"/>
                  </a:ext>
                </a:extLst>
              </a:tr>
              <a:tr h="370840">
                <a:tc>
                  <a:txBody>
                    <a:bodyPr/>
                    <a:lstStyle/>
                    <a:p>
                      <a:r>
                        <a:rPr kumimoji="1" lang="ja-JP" altLang="en-US" sz="2400" dirty="0">
                          <a:latin typeface="メイリオ" panose="020B0604030504040204" pitchFamily="50" charset="-128"/>
                          <a:ea typeface="メイリオ" panose="020B0604030504040204" pitchFamily="50" charset="-128"/>
                        </a:rPr>
                        <a:t>画面切替（画面１／２／３）</a:t>
                      </a:r>
                      <a:endParaRPr kumimoji="1" lang="en-US" altLang="ja-JP" sz="2400" dirty="0">
                        <a:latin typeface="メイリオ" panose="020B0604030504040204" pitchFamily="50" charset="-128"/>
                        <a:ea typeface="メイリオ" panose="020B0604030504040204" pitchFamily="50" charset="-128"/>
                      </a:endParaRPr>
                    </a:p>
                  </a:txBody>
                  <a:tcPr anchor="ctr"/>
                </a:tc>
                <a:tc>
                  <a:txBody>
                    <a:bodyPr/>
                    <a:lstStyle/>
                    <a:p>
                      <a:pPr algn="l" fontAlgn="b">
                        <a:buNone/>
                      </a:pPr>
                      <a:r>
                        <a:rPr kumimoji="1" lang="ja-JP" altLang="en-US" sz="2400" kern="1200" dirty="0">
                          <a:solidFill>
                            <a:schemeClr val="dk1"/>
                          </a:solidFill>
                          <a:latin typeface="メイリオ" panose="020B0604030504040204" pitchFamily="50" charset="-128"/>
                          <a:ea typeface="メイリオ" panose="020B0604030504040204" pitchFamily="50" charset="-128"/>
                          <a:cs typeface="+mn-cs"/>
                        </a:rPr>
                        <a:t>可能</a:t>
                      </a:r>
                    </a:p>
                  </a:txBody>
                  <a:tcPr marL="6350" marR="6350" marT="6350" marB="0" anchor="b"/>
                </a:tc>
                <a:tc>
                  <a:txBody>
                    <a:bodyPr/>
                    <a:lstStyle/>
                    <a:p>
                      <a:pPr algn="l" fontAlgn="b">
                        <a:buNone/>
                      </a:pPr>
                      <a:r>
                        <a:rPr kumimoji="1" lang="ja-JP" altLang="en-US" sz="2400" kern="1200" dirty="0">
                          <a:solidFill>
                            <a:schemeClr val="dk1"/>
                          </a:solidFill>
                          <a:latin typeface="メイリオ" panose="020B0604030504040204" pitchFamily="50" charset="-128"/>
                          <a:ea typeface="メイリオ" panose="020B0604030504040204" pitchFamily="50" charset="-128"/>
                          <a:cs typeface="+mn-cs"/>
                        </a:rPr>
                        <a:t>不可</a:t>
                      </a:r>
                    </a:p>
                  </a:txBody>
                  <a:tcPr marL="6350" marR="6350" marT="6350" marB="0" anchor="b"/>
                </a:tc>
                <a:extLst>
                  <a:ext uri="{0D108BD9-81ED-4DB2-BD59-A6C34878D82A}">
                    <a16:rowId xmlns:a16="http://schemas.microsoft.com/office/drawing/2014/main" val="337868521"/>
                  </a:ext>
                </a:extLst>
              </a:tr>
              <a:tr h="370840">
                <a:tc>
                  <a:txBody>
                    <a:bodyPr/>
                    <a:lstStyle/>
                    <a:p>
                      <a:r>
                        <a:rPr kumimoji="1" lang="ja-JP" altLang="en-US" sz="2400" dirty="0">
                          <a:latin typeface="メイリオ" panose="020B0604030504040204" pitchFamily="50" charset="-128"/>
                          <a:ea typeface="メイリオ" panose="020B0604030504040204" pitchFamily="50" charset="-128"/>
                        </a:rPr>
                        <a:t>切替ボタンの表示</a:t>
                      </a:r>
                      <a:endParaRPr kumimoji="1" lang="en-US" altLang="ja-JP" sz="2400" dirty="0">
                        <a:latin typeface="メイリオ" panose="020B0604030504040204" pitchFamily="50" charset="-128"/>
                        <a:ea typeface="メイリオ" panose="020B0604030504040204" pitchFamily="50" charset="-128"/>
                      </a:endParaRPr>
                    </a:p>
                  </a:txBody>
                  <a:tcPr anchor="ctr"/>
                </a:tc>
                <a:tc>
                  <a:txBody>
                    <a:bodyPr/>
                    <a:lstStyle/>
                    <a:p>
                      <a:pPr algn="l" fontAlgn="b">
                        <a:buNone/>
                      </a:pPr>
                      <a:r>
                        <a:rPr kumimoji="1" lang="ja-JP" altLang="en-US" sz="2400" kern="1200" dirty="0">
                          <a:solidFill>
                            <a:schemeClr val="dk1"/>
                          </a:solidFill>
                          <a:latin typeface="メイリオ" panose="020B0604030504040204" pitchFamily="50" charset="-128"/>
                          <a:ea typeface="メイリオ" panose="020B0604030504040204" pitchFamily="50" charset="-128"/>
                          <a:cs typeface="+mn-cs"/>
                        </a:rPr>
                        <a:t>画面１／２／３</a:t>
                      </a:r>
                    </a:p>
                  </a:txBody>
                  <a:tcPr marL="6350" marR="6350" marT="6350" marB="0" anchor="b"/>
                </a:tc>
                <a:tc>
                  <a:txBody>
                    <a:bodyPr/>
                    <a:lstStyle/>
                    <a:p>
                      <a:pPr algn="l" fontAlgn="b">
                        <a:buNone/>
                      </a:pPr>
                      <a:r>
                        <a:rPr kumimoji="1" lang="ja-JP" altLang="en-US" sz="2400" kern="1200" dirty="0">
                          <a:solidFill>
                            <a:schemeClr val="dk1"/>
                          </a:solidFill>
                          <a:latin typeface="メイリオ" panose="020B0604030504040204" pitchFamily="50" charset="-128"/>
                          <a:ea typeface="メイリオ" panose="020B0604030504040204" pitchFamily="50" charset="-128"/>
                          <a:cs typeface="+mn-cs"/>
                        </a:rPr>
                        <a:t>「初心者」モード表示</a:t>
                      </a:r>
                    </a:p>
                  </a:txBody>
                  <a:tcPr marL="6350" marR="6350" marT="6350" marB="0" anchor="b"/>
                </a:tc>
                <a:extLst>
                  <a:ext uri="{0D108BD9-81ED-4DB2-BD59-A6C34878D82A}">
                    <a16:rowId xmlns:a16="http://schemas.microsoft.com/office/drawing/2014/main" val="479772373"/>
                  </a:ext>
                </a:extLst>
              </a:tr>
            </a:tbl>
          </a:graphicData>
        </a:graphic>
      </p:graphicFrame>
      <p:sp>
        <p:nvSpPr>
          <p:cNvPr id="12" name="テキスト ボックス 11">
            <a:extLst>
              <a:ext uri="{FF2B5EF4-FFF2-40B4-BE49-F238E27FC236}">
                <a16:creationId xmlns:a16="http://schemas.microsoft.com/office/drawing/2014/main" id="{B27C3AC1-9106-1AAC-0CA1-A603496A92EC}"/>
              </a:ext>
            </a:extLst>
          </p:cNvPr>
          <p:cNvSpPr txBox="1"/>
          <p:nvPr/>
        </p:nvSpPr>
        <p:spPr>
          <a:xfrm>
            <a:off x="383400" y="1209863"/>
            <a:ext cx="17010982" cy="2623795"/>
          </a:xfrm>
          <a:prstGeom prst="rect">
            <a:avLst/>
          </a:prstGeom>
          <a:noFill/>
        </p:spPr>
        <p:txBody>
          <a:bodyPr wrap="square" rtlCol="0">
            <a:spAutoFit/>
          </a:bodyPr>
          <a:lstStyle/>
          <a:p>
            <a:pPr>
              <a:lnSpc>
                <a:spcPct val="150000"/>
              </a:lnSpc>
            </a:pPr>
            <a:r>
              <a:rPr lang="en-US" altLang="ja-JP" sz="2800" dirty="0">
                <a:latin typeface="メイリオ" panose="020B0604030504040204" pitchFamily="50" charset="-128"/>
                <a:ea typeface="メイリオ" panose="020B0604030504040204" pitchFamily="50" charset="-128"/>
              </a:rPr>
              <a:t>【</a:t>
            </a:r>
            <a:r>
              <a:rPr lang="ja-JP" altLang="en-US" sz="2800" dirty="0">
                <a:latin typeface="メイリオ" panose="020B0604030504040204" pitchFamily="50" charset="-128"/>
                <a:ea typeface="メイリオ" panose="020B0604030504040204" pitchFamily="50" charset="-128"/>
              </a:rPr>
              <a:t>概要</a:t>
            </a:r>
            <a:r>
              <a:rPr lang="en-US" altLang="ja-JP" sz="2800" dirty="0">
                <a:latin typeface="メイリオ" panose="020B0604030504040204" pitchFamily="50" charset="-128"/>
                <a:ea typeface="メイリオ" panose="020B0604030504040204" pitchFamily="50" charset="-128"/>
              </a:rPr>
              <a:t>】</a:t>
            </a:r>
          </a:p>
          <a:p>
            <a:pPr>
              <a:lnSpc>
                <a:spcPct val="150000"/>
              </a:lnSpc>
            </a:pPr>
            <a:r>
              <a:rPr lang="ja-JP" altLang="en-US" sz="2800" dirty="0">
                <a:latin typeface="メイリオ" panose="020B0604030504040204" pitchFamily="50" charset="-128"/>
                <a:ea typeface="メイリオ" panose="020B0604030504040204" pitchFamily="50" charset="-128"/>
              </a:rPr>
              <a:t>「初心者」モードを選択できるようにし、初心者が迷わず操作できるようにします。</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「初心者」モードではコントロールにフォーカスインした際にガイドメッセージを表示します</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　対象メニュー：売上／売上返品</a:t>
            </a:r>
            <a:endParaRPr lang="en-US" altLang="ja-JP" sz="280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DEFC3F1A-2F2C-E804-D3A4-8D427AA2333E}"/>
              </a:ext>
            </a:extLst>
          </p:cNvPr>
          <p:cNvSpPr txBox="1"/>
          <p:nvPr/>
        </p:nvSpPr>
        <p:spPr>
          <a:xfrm>
            <a:off x="509766" y="3924145"/>
            <a:ext cx="10166067" cy="684803"/>
          </a:xfrm>
          <a:prstGeom prst="rect">
            <a:avLst/>
          </a:prstGeom>
          <a:noFill/>
        </p:spPr>
        <p:txBody>
          <a:bodyPr wrap="square" rtlCol="0">
            <a:spAutoFit/>
          </a:bodyPr>
          <a:lstStyle/>
          <a:p>
            <a:pPr>
              <a:lnSpc>
                <a:spcPct val="150000"/>
              </a:lnSpc>
            </a:pPr>
            <a:r>
              <a:rPr lang="en-US" altLang="ja-JP" sz="2800" dirty="0">
                <a:latin typeface="メイリオ" panose="020B0604030504040204" pitchFamily="50" charset="-128"/>
                <a:ea typeface="メイリオ" panose="020B0604030504040204" pitchFamily="50" charset="-128"/>
              </a:rPr>
              <a:t>【</a:t>
            </a:r>
            <a:r>
              <a:rPr lang="ja-JP" altLang="en-US" sz="2800" dirty="0">
                <a:latin typeface="メイリオ" panose="020B0604030504040204" pitchFamily="50" charset="-128"/>
                <a:ea typeface="メイリオ" panose="020B0604030504040204" pitchFamily="50" charset="-128"/>
              </a:rPr>
              <a:t>仕様</a:t>
            </a:r>
            <a:r>
              <a:rPr lang="en-US" altLang="ja-JP" sz="2800" dirty="0">
                <a:latin typeface="メイリオ" panose="020B0604030504040204" pitchFamily="50" charset="-128"/>
                <a:ea typeface="メイリオ" panose="020B0604030504040204" pitchFamily="50" charset="-128"/>
              </a:rPr>
              <a:t>】</a:t>
            </a:r>
          </a:p>
        </p:txBody>
      </p:sp>
      <p:sp>
        <p:nvSpPr>
          <p:cNvPr id="15" name="正方形/長方形 14">
            <a:extLst>
              <a:ext uri="{FF2B5EF4-FFF2-40B4-BE49-F238E27FC236}">
                <a16:creationId xmlns:a16="http://schemas.microsoft.com/office/drawing/2014/main" id="{A5577D7D-6F1B-CC69-9617-143A2FDC1224}"/>
              </a:ext>
            </a:extLst>
          </p:cNvPr>
          <p:cNvSpPr/>
          <p:nvPr/>
        </p:nvSpPr>
        <p:spPr>
          <a:xfrm>
            <a:off x="7259674" y="6651066"/>
            <a:ext cx="2062866" cy="81909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59574C"/>
              </a:solidFill>
              <a:latin typeface="Source Sans Pro" panose="020B0503030403020204" pitchFamily="34" charset="0"/>
              <a:ea typeface="源ノ角ゴシック JP Regular" panose="020B0500000000000000" pitchFamily="34" charset="-128"/>
            </a:endParaRPr>
          </a:p>
        </p:txBody>
      </p:sp>
    </p:spTree>
    <p:extLst>
      <p:ext uri="{BB962C8B-B14F-4D97-AF65-F5344CB8AC3E}">
        <p14:creationId xmlns:p14="http://schemas.microsoft.com/office/powerpoint/2010/main" val="2135972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20648"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５－９．</a:t>
            </a:r>
            <a:r>
              <a:rPr lang="ja-JP" altLang="en-US" dirty="0">
                <a:latin typeface="Meiryo UI" panose="020B0604030504040204" pitchFamily="50" charset="-128"/>
                <a:ea typeface="Meiryo UI" panose="020B0604030504040204" pitchFamily="50" charset="-128"/>
              </a:rPr>
              <a:t>認証機能</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26</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471255" y="1600729"/>
            <a:ext cx="15514200" cy="4158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endParaRPr lang="ja-JP" altLang="en-US" sz="280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52051FFD-6EC3-62D3-ECFC-A8ECCED2CA8C}"/>
              </a:ext>
            </a:extLst>
          </p:cNvPr>
          <p:cNvSpPr txBox="1"/>
          <p:nvPr/>
        </p:nvSpPr>
        <p:spPr>
          <a:xfrm>
            <a:off x="638509" y="1390653"/>
            <a:ext cx="17010982" cy="7794441"/>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ログイン時のパスワード入力を不要とし、</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「担当者コード」の入力のみでシステムへのアクセスを許可します。</a:t>
            </a: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ログイン時に入力された担当者コードを「レジ担当者」としてシステムが自動的に登録します。</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以降の売上処理などは、すべてこの担当者コードに紐づけて管理します。</a:t>
            </a: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現場の状況に合わせ、以下の</a:t>
            </a:r>
            <a:r>
              <a:rPr lang="en-US" altLang="ja-JP" sz="2800" dirty="0">
                <a:latin typeface="メイリオ" panose="020B0604030504040204" pitchFamily="50" charset="-128"/>
                <a:ea typeface="メイリオ" panose="020B0604030504040204" pitchFamily="50" charset="-128"/>
              </a:rPr>
              <a:t>2</a:t>
            </a:r>
            <a:r>
              <a:rPr lang="ja-JP" altLang="en-US" sz="2800" dirty="0">
                <a:latin typeface="メイリオ" panose="020B0604030504040204" pitchFamily="50" charset="-128"/>
                <a:ea typeface="メイリオ" panose="020B0604030504040204" pitchFamily="50" charset="-128"/>
              </a:rPr>
              <a:t>つの入力パターンをサポートします。</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①バーコードスキャン：担当者バーコードをスキャンして即時ログイン</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②テンキー入力　　　：画面上のソフトキーボード または 物理キーボードから直接入力</a:t>
            </a: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セキュリティに関する制御（端末の持ち出し制限 や一定時間での自動ログアウト など）は</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今後具体化していく必要があります。</a:t>
            </a:r>
            <a:endParaRPr lang="en-US" altLang="ja-JP" sz="28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15100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20648"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５－１０．</a:t>
            </a:r>
            <a:r>
              <a:rPr lang="ja-JP" altLang="en-US"/>
              <a:t>メニュー機能（１）</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27</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471255" y="1600729"/>
            <a:ext cx="15514200" cy="4158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endParaRPr lang="ja-JP" altLang="en-US" sz="280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52051FFD-6EC3-62D3-ECFC-A8ECCED2CA8C}"/>
              </a:ext>
            </a:extLst>
          </p:cNvPr>
          <p:cNvSpPr txBox="1"/>
          <p:nvPr/>
        </p:nvSpPr>
        <p:spPr>
          <a:xfrm>
            <a:off x="638509" y="1390653"/>
            <a:ext cx="17010982" cy="6501780"/>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端末の設置場所やお店の役割に関わらず、メニュー構成は統一とします。 </a:t>
            </a:r>
            <a:endParaRPr lang="en-US" altLang="ja-JP" sz="2800" dirty="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権限メニューについては、現行の「権限レベルの合算（複数人承認）」を継承し、</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実行時に認証を求める形とします。</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例） </a:t>
            </a:r>
            <a:r>
              <a:rPr lang="en-US" altLang="ja-JP" sz="2800" dirty="0">
                <a:latin typeface="メイリオ" panose="020B0604030504040204" pitchFamily="50" charset="-128"/>
                <a:ea typeface="メイリオ" panose="020B0604030504040204" pitchFamily="50" charset="-128"/>
              </a:rPr>
              <a:t>A</a:t>
            </a:r>
            <a:r>
              <a:rPr lang="ja-JP" altLang="en-US" sz="2800" dirty="0">
                <a:latin typeface="メイリオ" panose="020B0604030504040204" pitchFamily="50" charset="-128"/>
                <a:ea typeface="メイリオ" panose="020B0604030504040204" pitchFamily="50" charset="-128"/>
              </a:rPr>
              <a:t>さん＝</a:t>
            </a:r>
            <a:r>
              <a:rPr lang="en-US" altLang="ja-JP" sz="2800" dirty="0">
                <a:latin typeface="メイリオ" panose="020B0604030504040204" pitchFamily="50" charset="-128"/>
                <a:ea typeface="メイリオ" panose="020B0604030504040204" pitchFamily="50" charset="-128"/>
              </a:rPr>
              <a:t>Lv10</a:t>
            </a:r>
            <a:r>
              <a:rPr lang="ja-JP" altLang="en-US" sz="2800" dirty="0">
                <a:latin typeface="メイリオ" panose="020B0604030504040204" pitchFamily="50" charset="-128"/>
                <a:ea typeface="メイリオ" panose="020B0604030504040204" pitchFamily="50" charset="-128"/>
              </a:rPr>
              <a:t>、</a:t>
            </a:r>
            <a:r>
              <a:rPr lang="en-US" altLang="ja-JP" sz="2800" dirty="0">
                <a:latin typeface="メイリオ" panose="020B0604030504040204" pitchFamily="50" charset="-128"/>
                <a:ea typeface="メイリオ" panose="020B0604030504040204" pitchFamily="50" charset="-128"/>
              </a:rPr>
              <a:t>B</a:t>
            </a:r>
            <a:r>
              <a:rPr lang="ja-JP" altLang="en-US" sz="2800" dirty="0">
                <a:latin typeface="メイリオ" panose="020B0604030504040204" pitchFamily="50" charset="-128"/>
                <a:ea typeface="メイリオ" panose="020B0604030504040204" pitchFamily="50" charset="-128"/>
              </a:rPr>
              <a:t>さん＝</a:t>
            </a:r>
            <a:r>
              <a:rPr lang="en-US" altLang="ja-JP" sz="2800" dirty="0">
                <a:latin typeface="メイリオ" panose="020B0604030504040204" pitchFamily="50" charset="-128"/>
                <a:ea typeface="メイリオ" panose="020B0604030504040204" pitchFamily="50" charset="-128"/>
              </a:rPr>
              <a:t>Lv5</a:t>
            </a:r>
            <a:r>
              <a:rPr lang="ja-JP" altLang="en-US" sz="2800" dirty="0">
                <a:latin typeface="メイリオ" panose="020B0604030504040204" pitchFamily="50" charset="-128"/>
                <a:ea typeface="メイリオ" panose="020B0604030504040204" pitchFamily="50" charset="-128"/>
              </a:rPr>
              <a:t>、</a:t>
            </a:r>
            <a:r>
              <a:rPr lang="en-US" altLang="ja-JP" sz="2800" dirty="0">
                <a:latin typeface="メイリオ" panose="020B0604030504040204" pitchFamily="50" charset="-128"/>
                <a:ea typeface="メイリオ" panose="020B0604030504040204" pitchFamily="50" charset="-128"/>
              </a:rPr>
              <a:t>C</a:t>
            </a:r>
            <a:r>
              <a:rPr lang="ja-JP" altLang="en-US" sz="2800" dirty="0">
                <a:latin typeface="メイリオ" panose="020B0604030504040204" pitchFamily="50" charset="-128"/>
                <a:ea typeface="メイリオ" panose="020B0604030504040204" pitchFamily="50" charset="-128"/>
              </a:rPr>
              <a:t>さん＝</a:t>
            </a:r>
            <a:r>
              <a:rPr lang="en-US" altLang="ja-JP" sz="2800" dirty="0">
                <a:latin typeface="メイリオ" panose="020B0604030504040204" pitchFamily="50" charset="-128"/>
                <a:ea typeface="メイリオ" panose="020B0604030504040204" pitchFamily="50" charset="-128"/>
              </a:rPr>
              <a:t>Lv3</a:t>
            </a:r>
            <a:r>
              <a:rPr lang="ja-JP" altLang="en-US" sz="2800" dirty="0">
                <a:latin typeface="メイリオ" panose="020B0604030504040204" pitchFamily="50" charset="-128"/>
                <a:ea typeface="メイリオ" panose="020B0604030504040204" pitchFamily="50" charset="-128"/>
              </a:rPr>
              <a:t>、</a:t>
            </a:r>
            <a:r>
              <a:rPr lang="en-US" altLang="ja-JP" sz="2800" dirty="0">
                <a:latin typeface="メイリオ" panose="020B0604030504040204" pitchFamily="50" charset="-128"/>
                <a:ea typeface="メイリオ" panose="020B0604030504040204" pitchFamily="50" charset="-128"/>
              </a:rPr>
              <a:t>D</a:t>
            </a:r>
            <a:r>
              <a:rPr lang="ja-JP" altLang="en-US" sz="2800" dirty="0">
                <a:latin typeface="メイリオ" panose="020B0604030504040204" pitchFamily="50" charset="-128"/>
                <a:ea typeface="メイリオ" panose="020B0604030504040204" pitchFamily="50" charset="-128"/>
              </a:rPr>
              <a:t>さん＝</a:t>
            </a:r>
            <a:r>
              <a:rPr lang="en-US" altLang="ja-JP" sz="2800" dirty="0">
                <a:latin typeface="メイリオ" panose="020B0604030504040204" pitchFamily="50" charset="-128"/>
                <a:ea typeface="メイリオ" panose="020B0604030504040204" pitchFamily="50" charset="-128"/>
              </a:rPr>
              <a:t>Lv2 </a:t>
            </a:r>
            <a:r>
              <a:rPr lang="ja-JP" altLang="en-US" sz="2800" dirty="0">
                <a:latin typeface="メイリオ" panose="020B0604030504040204" pitchFamily="50" charset="-128"/>
                <a:ea typeface="メイリオ" panose="020B0604030504040204" pitchFamily="50" charset="-128"/>
              </a:rPr>
              <a:t>の場合で、</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　　権限レベル</a:t>
            </a:r>
            <a:r>
              <a:rPr lang="en-US" altLang="ja-JP" sz="2800" dirty="0">
                <a:latin typeface="メイリオ" panose="020B0604030504040204" pitchFamily="50" charset="-128"/>
                <a:ea typeface="メイリオ" panose="020B0604030504040204" pitchFamily="50" charset="-128"/>
              </a:rPr>
              <a:t>10</a:t>
            </a:r>
            <a:r>
              <a:rPr lang="ja-JP" altLang="en-US" sz="2800" dirty="0">
                <a:latin typeface="メイリオ" panose="020B0604030504040204" pitchFamily="50" charset="-128"/>
                <a:ea typeface="メイリオ" panose="020B0604030504040204" pitchFamily="50" charset="-128"/>
              </a:rPr>
              <a:t>のメニューを開きたい場合</a:t>
            </a:r>
            <a:r>
              <a:rPr lang="en-US" altLang="ja-JP" sz="2800" dirty="0">
                <a:latin typeface="メイリオ" panose="020B0604030504040204" pitchFamily="50" charset="-128"/>
                <a:ea typeface="メイリオ" panose="020B0604030504040204" pitchFamily="50" charset="-128"/>
              </a:rPr>
              <a:t>…</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　　①単独での認証：権限レベル</a:t>
            </a:r>
            <a:r>
              <a:rPr lang="en-US" altLang="ja-JP" sz="2800" dirty="0">
                <a:latin typeface="メイリオ" panose="020B0604030504040204" pitchFamily="50" charset="-128"/>
                <a:ea typeface="メイリオ" panose="020B0604030504040204" pitchFamily="50" charset="-128"/>
              </a:rPr>
              <a:t>10</a:t>
            </a:r>
            <a:r>
              <a:rPr lang="ja-JP" altLang="en-US" sz="2800" dirty="0">
                <a:latin typeface="メイリオ" panose="020B0604030504040204" pitchFamily="50" charset="-128"/>
                <a:ea typeface="メイリオ" panose="020B0604030504040204" pitchFamily="50" charset="-128"/>
              </a:rPr>
              <a:t>を持つ</a:t>
            </a:r>
            <a:r>
              <a:rPr lang="en-US" altLang="ja-JP" sz="2800" dirty="0">
                <a:latin typeface="メイリオ" panose="020B0604030504040204" pitchFamily="50" charset="-128"/>
                <a:ea typeface="メイリオ" panose="020B0604030504040204" pitchFamily="50" charset="-128"/>
              </a:rPr>
              <a:t>A</a:t>
            </a:r>
            <a:r>
              <a:rPr lang="ja-JP" altLang="en-US" sz="2800" dirty="0">
                <a:latin typeface="メイリオ" panose="020B0604030504040204" pitchFamily="50" charset="-128"/>
                <a:ea typeface="メイリオ" panose="020B0604030504040204" pitchFamily="50" charset="-128"/>
              </a:rPr>
              <a:t>さんの場合、</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　　　 </a:t>
            </a:r>
            <a:r>
              <a:rPr lang="en-US" altLang="ja-JP" sz="2800" dirty="0">
                <a:latin typeface="メイリオ" panose="020B0604030504040204" pitchFamily="50" charset="-128"/>
                <a:ea typeface="メイリオ" panose="020B0604030504040204" pitchFamily="50" charset="-128"/>
              </a:rPr>
              <a:t>A</a:t>
            </a:r>
            <a:r>
              <a:rPr lang="ja-JP" altLang="en-US" sz="2800" dirty="0">
                <a:latin typeface="メイリオ" panose="020B0604030504040204" pitchFamily="50" charset="-128"/>
                <a:ea typeface="メイリオ" panose="020B0604030504040204" pitchFamily="50" charset="-128"/>
              </a:rPr>
              <a:t>さん一人の担当者コードを入力するだけでメニューを開くことができます。</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　　②権限レベル</a:t>
            </a:r>
            <a:r>
              <a:rPr lang="en-US" altLang="ja-JP" sz="2800" dirty="0">
                <a:latin typeface="メイリオ" panose="020B0604030504040204" pitchFamily="50" charset="-128"/>
                <a:ea typeface="メイリオ" panose="020B0604030504040204" pitchFamily="50" charset="-128"/>
              </a:rPr>
              <a:t>5</a:t>
            </a:r>
            <a:r>
              <a:rPr lang="ja-JP" altLang="en-US" sz="2800" dirty="0">
                <a:latin typeface="メイリオ" panose="020B0604030504040204" pitchFamily="50" charset="-128"/>
                <a:ea typeface="メイリオ" panose="020B0604030504040204" pitchFamily="50" charset="-128"/>
              </a:rPr>
              <a:t>の</a:t>
            </a:r>
            <a:r>
              <a:rPr lang="en-US" altLang="ja-JP" sz="2800" dirty="0">
                <a:latin typeface="メイリオ" panose="020B0604030504040204" pitchFamily="50" charset="-128"/>
                <a:ea typeface="メイリオ" panose="020B0604030504040204" pitchFamily="50" charset="-128"/>
              </a:rPr>
              <a:t>B</a:t>
            </a:r>
            <a:r>
              <a:rPr lang="ja-JP" altLang="en-US" sz="2800" dirty="0">
                <a:latin typeface="メイリオ" panose="020B0604030504040204" pitchFamily="50" charset="-128"/>
                <a:ea typeface="メイリオ" panose="020B0604030504040204" pitchFamily="50" charset="-128"/>
              </a:rPr>
              <a:t>さんの場合、単独では条件を満たせません。</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　　　そのため、</a:t>
            </a:r>
            <a:r>
              <a:rPr lang="en-US" altLang="ja-JP" sz="2800" dirty="0">
                <a:latin typeface="メイリオ" panose="020B0604030504040204" pitchFamily="50" charset="-128"/>
                <a:ea typeface="メイリオ" panose="020B0604030504040204" pitchFamily="50" charset="-128"/>
              </a:rPr>
              <a:t>B</a:t>
            </a:r>
            <a:r>
              <a:rPr lang="ja-JP" altLang="en-US" sz="2800" dirty="0">
                <a:latin typeface="メイリオ" panose="020B0604030504040204" pitchFamily="50" charset="-128"/>
                <a:ea typeface="メイリオ" panose="020B0604030504040204" pitchFamily="50" charset="-128"/>
              </a:rPr>
              <a:t>さんに加えて</a:t>
            </a:r>
            <a:r>
              <a:rPr lang="en-US" altLang="ja-JP" sz="2800" dirty="0">
                <a:latin typeface="メイリオ" panose="020B0604030504040204" pitchFamily="50" charset="-128"/>
                <a:ea typeface="メイリオ" panose="020B0604030504040204" pitchFamily="50" charset="-128"/>
              </a:rPr>
              <a:t>C</a:t>
            </a:r>
            <a:r>
              <a:rPr lang="ja-JP" altLang="en-US" sz="2800" dirty="0">
                <a:latin typeface="メイリオ" panose="020B0604030504040204" pitchFamily="50" charset="-128"/>
                <a:ea typeface="メイリオ" panose="020B0604030504040204" pitchFamily="50" charset="-128"/>
              </a:rPr>
              <a:t>さん（</a:t>
            </a:r>
            <a:r>
              <a:rPr lang="en-US" altLang="ja-JP" sz="2800" dirty="0">
                <a:latin typeface="メイリオ" panose="020B0604030504040204" pitchFamily="50" charset="-128"/>
                <a:ea typeface="メイリオ" panose="020B0604030504040204" pitchFamily="50" charset="-128"/>
              </a:rPr>
              <a:t>Lv3</a:t>
            </a:r>
            <a:r>
              <a:rPr lang="ja-JP" altLang="en-US" sz="2800" dirty="0">
                <a:latin typeface="メイリオ" panose="020B0604030504040204" pitchFamily="50" charset="-128"/>
                <a:ea typeface="メイリオ" panose="020B0604030504040204" pitchFamily="50" charset="-128"/>
              </a:rPr>
              <a:t>）と</a:t>
            </a:r>
            <a:r>
              <a:rPr lang="en-US" altLang="ja-JP" sz="2800" dirty="0">
                <a:latin typeface="メイリオ" panose="020B0604030504040204" pitchFamily="50" charset="-128"/>
                <a:ea typeface="メイリオ" panose="020B0604030504040204" pitchFamily="50" charset="-128"/>
              </a:rPr>
              <a:t>D</a:t>
            </a:r>
            <a:r>
              <a:rPr lang="ja-JP" altLang="en-US" sz="2800" dirty="0">
                <a:latin typeface="メイリオ" panose="020B0604030504040204" pitchFamily="50" charset="-128"/>
                <a:ea typeface="メイリオ" panose="020B0604030504040204" pitchFamily="50" charset="-128"/>
              </a:rPr>
              <a:t>さん（</a:t>
            </a:r>
            <a:r>
              <a:rPr lang="en-US" altLang="ja-JP" sz="2800" dirty="0">
                <a:latin typeface="メイリオ" panose="020B0604030504040204" pitchFamily="50" charset="-128"/>
                <a:ea typeface="メイリオ" panose="020B0604030504040204" pitchFamily="50" charset="-128"/>
              </a:rPr>
              <a:t>Lv2</a:t>
            </a:r>
            <a:r>
              <a:rPr lang="ja-JP" altLang="en-US" sz="2800" dirty="0">
                <a:latin typeface="メイリオ" panose="020B0604030504040204" pitchFamily="50" charset="-128"/>
                <a:ea typeface="メイリオ" panose="020B0604030504040204" pitchFamily="50" charset="-128"/>
              </a:rPr>
              <a:t>）の担当者コードを入力し、</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　　　合計値を</a:t>
            </a:r>
            <a:r>
              <a:rPr lang="en-US" altLang="ja-JP" sz="2800" dirty="0">
                <a:latin typeface="メイリオ" panose="020B0604030504040204" pitchFamily="50" charset="-128"/>
                <a:ea typeface="メイリオ" panose="020B0604030504040204" pitchFamily="50" charset="-128"/>
              </a:rPr>
              <a:t>10</a:t>
            </a:r>
            <a:r>
              <a:rPr lang="ja-JP" altLang="en-US" sz="2800" dirty="0">
                <a:latin typeface="メイリオ" panose="020B0604030504040204" pitchFamily="50" charset="-128"/>
                <a:ea typeface="メイリオ" panose="020B0604030504040204" pitchFamily="50" charset="-128"/>
              </a:rPr>
              <a:t>にすることでメニューを開くことが可能になります。</a:t>
            </a:r>
            <a:endParaRPr lang="en-US" altLang="ja-JP" sz="28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673082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20648"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５－１０．</a:t>
            </a:r>
            <a:r>
              <a:rPr lang="ja-JP" altLang="en-US"/>
              <a:t>メニュー機能（２）</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28</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471255" y="1600729"/>
            <a:ext cx="15514200" cy="4158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endParaRPr lang="ja-JP" altLang="en-US" sz="2800">
              <a:latin typeface="メイリオ" panose="020B0604030504040204" pitchFamily="50" charset="-128"/>
              <a:ea typeface="メイリオ" panose="020B0604030504040204" pitchFamily="50" charset="-128"/>
            </a:endParaRPr>
          </a:p>
        </p:txBody>
      </p:sp>
      <p:graphicFrame>
        <p:nvGraphicFramePr>
          <p:cNvPr id="15" name="表 14">
            <a:extLst>
              <a:ext uri="{FF2B5EF4-FFF2-40B4-BE49-F238E27FC236}">
                <a16:creationId xmlns:a16="http://schemas.microsoft.com/office/drawing/2014/main" id="{74F5E21A-5B2F-84BD-722C-2026F2B11E23}"/>
              </a:ext>
            </a:extLst>
          </p:cNvPr>
          <p:cNvGraphicFramePr>
            <a:graphicFrameLocks noGrp="1"/>
          </p:cNvGraphicFramePr>
          <p:nvPr/>
        </p:nvGraphicFramePr>
        <p:xfrm>
          <a:off x="721208" y="2904889"/>
          <a:ext cx="16753192" cy="2967486"/>
        </p:xfrm>
        <a:graphic>
          <a:graphicData uri="http://schemas.openxmlformats.org/drawingml/2006/table">
            <a:tbl>
              <a:tblPr firstRow="1" bandRow="1">
                <a:tableStyleId>{5C22544A-7EE6-4342-B048-85BDC9FD1C3A}</a:tableStyleId>
              </a:tblPr>
              <a:tblGrid>
                <a:gridCol w="4082645">
                  <a:extLst>
                    <a:ext uri="{9D8B030D-6E8A-4147-A177-3AD203B41FA5}">
                      <a16:colId xmlns:a16="http://schemas.microsoft.com/office/drawing/2014/main" val="3079456454"/>
                    </a:ext>
                  </a:extLst>
                </a:gridCol>
                <a:gridCol w="12670547">
                  <a:extLst>
                    <a:ext uri="{9D8B030D-6E8A-4147-A177-3AD203B41FA5}">
                      <a16:colId xmlns:a16="http://schemas.microsoft.com/office/drawing/2014/main" val="3950781146"/>
                    </a:ext>
                  </a:extLst>
                </a:gridCol>
              </a:tblGrid>
              <a:tr h="569343">
                <a:tc>
                  <a:txBody>
                    <a:bodyPr/>
                    <a:lstStyle/>
                    <a:p>
                      <a:r>
                        <a:rPr kumimoji="1" lang="ja-JP" altLang="en-US">
                          <a:latin typeface="メイリオ" panose="020B0604030504040204" pitchFamily="50" charset="-128"/>
                          <a:ea typeface="メイリオ" panose="020B0604030504040204" pitchFamily="50" charset="-128"/>
                        </a:rPr>
                        <a:t>項目</a:t>
                      </a:r>
                    </a:p>
                  </a:txBody>
                  <a:tcPr/>
                </a:tc>
                <a:tc>
                  <a:txBody>
                    <a:bodyPr/>
                    <a:lstStyle/>
                    <a:p>
                      <a:r>
                        <a:rPr kumimoji="1" lang="ja-JP" altLang="en-US">
                          <a:latin typeface="メイリオ" panose="020B0604030504040204" pitchFamily="50" charset="-128"/>
                          <a:ea typeface="メイリオ" panose="020B0604030504040204" pitchFamily="50" charset="-128"/>
                        </a:rPr>
                        <a:t>方針</a:t>
                      </a:r>
                    </a:p>
                  </a:txBody>
                  <a:tcPr/>
                </a:tc>
                <a:extLst>
                  <a:ext uri="{0D108BD9-81ED-4DB2-BD59-A6C34878D82A}">
                    <a16:rowId xmlns:a16="http://schemas.microsoft.com/office/drawing/2014/main" val="173182086"/>
                  </a:ext>
                </a:extLst>
              </a:tr>
              <a:tr h="569343">
                <a:tc>
                  <a:txBody>
                    <a:bodyPr/>
                    <a:lstStyle/>
                    <a:p>
                      <a:r>
                        <a:rPr kumimoji="1" lang="ja-JP" altLang="en-US">
                          <a:latin typeface="メイリオ" panose="020B0604030504040204" pitchFamily="50" charset="-128"/>
                          <a:ea typeface="メイリオ" panose="020B0604030504040204" pitchFamily="50" charset="-128"/>
                        </a:rPr>
                        <a:t>メニュー名検索</a:t>
                      </a:r>
                    </a:p>
                  </a:txBody>
                  <a:tcPr/>
                </a:tc>
                <a:tc>
                  <a:txBody>
                    <a:bodyPr/>
                    <a:lstStyle/>
                    <a:p>
                      <a:r>
                        <a:rPr lang="ja-JP" altLang="en-US"/>
                        <a:t>メニューに表示されている名称から検索します</a:t>
                      </a:r>
                    </a:p>
                  </a:txBody>
                  <a:tcPr/>
                </a:tc>
                <a:extLst>
                  <a:ext uri="{0D108BD9-81ED-4DB2-BD59-A6C34878D82A}">
                    <a16:rowId xmlns:a16="http://schemas.microsoft.com/office/drawing/2014/main" val="63694930"/>
                  </a:ext>
                </a:extLst>
              </a:tr>
              <a:tr h="569343">
                <a:tc>
                  <a:txBody>
                    <a:bodyPr/>
                    <a:lstStyle/>
                    <a:p>
                      <a:r>
                        <a:rPr lang="ja-JP" altLang="en-US"/>
                        <a:t>キーワード検索</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lang="ja-JP" altLang="en-US"/>
                        <a:t>機能名や、関連するキーワードで検索します。メニューに紐づくキーワードをあらかじめ登録しておく必要があります。</a:t>
                      </a:r>
                    </a:p>
                  </a:txBody>
                  <a:tcPr/>
                </a:tc>
                <a:extLst>
                  <a:ext uri="{0D108BD9-81ED-4DB2-BD59-A6C34878D82A}">
                    <a16:rowId xmlns:a16="http://schemas.microsoft.com/office/drawing/2014/main" val="2444778701"/>
                  </a:ext>
                </a:extLst>
              </a:tr>
              <a:tr h="569343">
                <a:tc>
                  <a:txBody>
                    <a:bodyPr/>
                    <a:lstStyle/>
                    <a:p>
                      <a:r>
                        <a:rPr lang="ja-JP" altLang="en-US"/>
                        <a:t>伝票検索</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lang="ja-JP" altLang="en-US"/>
                        <a:t>伝票のバーコードを読み取ることで、次に行う処理メニューを提案します</a:t>
                      </a:r>
                    </a:p>
                    <a:p>
                      <a:r>
                        <a:rPr lang="ja-JP" altLang="en-US"/>
                        <a:t>過去の売上・配送履歴や伝票処理を効率的に参照・操作できます</a:t>
                      </a:r>
                    </a:p>
                  </a:txBody>
                  <a:tcPr/>
                </a:tc>
                <a:extLst>
                  <a:ext uri="{0D108BD9-81ED-4DB2-BD59-A6C34878D82A}">
                    <a16:rowId xmlns:a16="http://schemas.microsoft.com/office/drawing/2014/main" val="1846904278"/>
                  </a:ext>
                </a:extLst>
              </a:tr>
            </a:tbl>
          </a:graphicData>
        </a:graphic>
      </p:graphicFrame>
      <p:sp>
        <p:nvSpPr>
          <p:cNvPr id="16" name="テキスト ボックス 15">
            <a:extLst>
              <a:ext uri="{FF2B5EF4-FFF2-40B4-BE49-F238E27FC236}">
                <a16:creationId xmlns:a16="http://schemas.microsoft.com/office/drawing/2014/main" id="{52051FFD-6EC3-62D3-ECFC-A8ECCED2CA8C}"/>
              </a:ext>
            </a:extLst>
          </p:cNvPr>
          <p:cNvSpPr txBox="1"/>
          <p:nvPr/>
        </p:nvSpPr>
        <p:spPr>
          <a:xfrm>
            <a:off x="638509" y="1390653"/>
            <a:ext cx="17010982" cy="1977464"/>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ja-JP" altLang="en-US" sz="2800" dirty="0">
                <a:latin typeface="メイリオ" panose="020B0604030504040204" pitchFamily="50" charset="-128"/>
                <a:ea typeface="メイリオ" panose="020B0604030504040204" pitchFamily="50" charset="-128"/>
              </a:rPr>
              <a:t>目的のメニューに素早くアクセスできるように、メニュー検索を可能にします。</a:t>
            </a:r>
            <a:br>
              <a:rPr lang="en-US" altLang="ja-JP" sz="2800" dirty="0">
                <a:latin typeface="メイリオ" panose="020B0604030504040204" pitchFamily="50" charset="-128"/>
                <a:ea typeface="メイリオ" panose="020B0604030504040204" pitchFamily="50" charset="-128"/>
              </a:rPr>
            </a:br>
            <a:r>
              <a:rPr lang="ja-JP" altLang="en-US" sz="2800" dirty="0">
                <a:latin typeface="メイリオ" panose="020B0604030504040204" pitchFamily="50" charset="-128"/>
                <a:ea typeface="メイリオ" panose="020B0604030504040204" pitchFamily="50" charset="-128"/>
              </a:rPr>
              <a:t>「メニュー名検索」「キーワード検索」に加え、 「伝票検索」を可能とします。</a:t>
            </a:r>
            <a:br>
              <a:rPr lang="en-US" altLang="ja-JP" sz="2800" dirty="0">
                <a:latin typeface="メイリオ" panose="020B0604030504040204" pitchFamily="50" charset="-128"/>
                <a:ea typeface="メイリオ" panose="020B0604030504040204" pitchFamily="50" charset="-128"/>
              </a:rPr>
            </a:br>
            <a:endParaRPr lang="en-US" altLang="ja-JP" sz="2800" dirty="0">
              <a:solidFill>
                <a:srgbClr val="FF0000"/>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4BA5DF13-17CE-4830-EA75-DBBAEA3EF73E}"/>
              </a:ext>
            </a:extLst>
          </p:cNvPr>
          <p:cNvPicPr>
            <a:picLocks noChangeAspect="1"/>
          </p:cNvPicPr>
          <p:nvPr/>
        </p:nvPicPr>
        <p:blipFill>
          <a:blip r:embed="rId2"/>
          <a:srcRect l="1621" t="7217"/>
          <a:stretch>
            <a:fillRect/>
          </a:stretch>
        </p:blipFill>
        <p:spPr>
          <a:xfrm>
            <a:off x="1016000" y="6989380"/>
            <a:ext cx="10952101" cy="2545224"/>
          </a:xfrm>
          <a:prstGeom prst="rect">
            <a:avLst/>
          </a:prstGeom>
          <a:ln>
            <a:noFill/>
          </a:ln>
          <a:effectLst>
            <a:outerShdw blurRad="292100" dist="139700" dir="2700000" algn="tl" rotWithShape="0">
              <a:srgbClr val="333333">
                <a:alpha val="65000"/>
              </a:srgbClr>
            </a:outerShdw>
          </a:effectLst>
        </p:spPr>
      </p:pic>
      <p:sp>
        <p:nvSpPr>
          <p:cNvPr id="10" name="テキスト ボックス 9">
            <a:extLst>
              <a:ext uri="{FF2B5EF4-FFF2-40B4-BE49-F238E27FC236}">
                <a16:creationId xmlns:a16="http://schemas.microsoft.com/office/drawing/2014/main" id="{F0E8AEBD-092D-A843-F6CA-555E7DA6AE26}"/>
              </a:ext>
            </a:extLst>
          </p:cNvPr>
          <p:cNvSpPr txBox="1"/>
          <p:nvPr/>
        </p:nvSpPr>
        <p:spPr>
          <a:xfrm>
            <a:off x="721208" y="6176962"/>
            <a:ext cx="5393842" cy="507831"/>
          </a:xfrm>
          <a:prstGeom prst="rect">
            <a:avLst/>
          </a:prstGeom>
          <a:noFill/>
        </p:spPr>
        <p:txBody>
          <a:bodyPr wrap="square" lIns="0" tIns="0" rIns="0" bIns="0" rtlCol="0">
            <a:spAutoFit/>
          </a:bodyPr>
          <a:lstStyle/>
          <a:p>
            <a:pPr>
              <a:lnSpc>
                <a:spcPct val="150000"/>
              </a:lnSpc>
            </a:pPr>
            <a:r>
              <a:rPr lang="en-US" altLang="ja-JP" sz="2400">
                <a:latin typeface="メイリオ" panose="020B0604030504040204" pitchFamily="50" charset="-128"/>
                <a:ea typeface="メイリオ" panose="020B0604030504040204" pitchFamily="50" charset="-128"/>
              </a:rPr>
              <a:t>【</a:t>
            </a:r>
            <a:r>
              <a:rPr lang="ja-JP" altLang="en-US" sz="2400">
                <a:latin typeface="メイリオ" panose="020B0604030504040204" pitchFamily="50" charset="-128"/>
                <a:ea typeface="メイリオ" panose="020B0604030504040204" pitchFamily="50" charset="-128"/>
              </a:rPr>
              <a:t>メニュー画面例</a:t>
            </a:r>
            <a:r>
              <a:rPr lang="en-US" altLang="ja-JP" sz="2400">
                <a:latin typeface="メイリオ" panose="020B0604030504040204" pitchFamily="50" charset="-128"/>
                <a:ea typeface="メイリオ" panose="020B0604030504040204" pitchFamily="50" charset="-128"/>
              </a:rPr>
              <a:t>】</a:t>
            </a:r>
            <a:endParaRPr lang="en-US" altLang="ja-JP"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68487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666E1-1677-0252-CE5A-F6B9B4766C08}"/>
            </a:ext>
          </a:extLst>
        </p:cNvPr>
        <p:cNvGrpSpPr/>
        <p:nvPr/>
      </p:nvGrpSpPr>
      <p:grpSpPr>
        <a:xfrm>
          <a:off x="0" y="0"/>
          <a:ext cx="0" cy="0"/>
          <a:chOff x="0" y="0"/>
          <a:chExt cx="0" cy="0"/>
        </a:xfrm>
      </p:grpSpPr>
      <p:sp>
        <p:nvSpPr>
          <p:cNvPr id="1601" name="テキスト ボックス 1600">
            <a:extLst>
              <a:ext uri="{FF2B5EF4-FFF2-40B4-BE49-F238E27FC236}">
                <a16:creationId xmlns:a16="http://schemas.microsoft.com/office/drawing/2014/main" id="{8062A897-D2E1-A1D3-8385-DA975B064104}"/>
              </a:ext>
            </a:extLst>
          </p:cNvPr>
          <p:cNvSpPr txBox="1"/>
          <p:nvPr/>
        </p:nvSpPr>
        <p:spPr>
          <a:xfrm>
            <a:off x="176526" y="8025118"/>
            <a:ext cx="17688423" cy="1937373"/>
          </a:xfrm>
          <a:prstGeom prst="rect">
            <a:avLst/>
          </a:prstGeom>
          <a:noFill/>
          <a:ln w="19050">
            <a:solidFill>
              <a:schemeClr val="accent2"/>
            </a:solidFill>
          </a:ln>
        </p:spPr>
        <p:txBody>
          <a:bodyPr wrap="square" rtlCol="0">
            <a:noAutofit/>
          </a:bodyPr>
          <a:lstStyle/>
          <a:p>
            <a:pPr algn="l"/>
            <a:r>
              <a:rPr kumimoji="1" lang="en-US" altLang="ja-JP" sz="3200">
                <a:solidFill>
                  <a:schemeClr val="bg1">
                    <a:lumMod val="10000"/>
                  </a:schemeClr>
                </a:solidFill>
                <a:latin typeface="Meiryo UI" panose="020B0604030504040204" pitchFamily="50" charset="-128"/>
                <a:ea typeface="Meiryo UI" panose="020B0604030504040204" pitchFamily="50" charset="-128"/>
              </a:rPr>
              <a:t>SMJ</a:t>
            </a:r>
            <a:r>
              <a:rPr kumimoji="1" lang="ja-JP" altLang="en-US" sz="3200">
                <a:solidFill>
                  <a:schemeClr val="bg1">
                    <a:lumMod val="10000"/>
                  </a:schemeClr>
                </a:solidFill>
                <a:latin typeface="Meiryo UI" panose="020B0604030504040204" pitchFamily="50" charset="-128"/>
                <a:ea typeface="Meiryo UI" panose="020B0604030504040204" pitchFamily="50" charset="-128"/>
              </a:rPr>
              <a:t>開発</a:t>
            </a:r>
            <a:endParaRPr kumimoji="1" lang="ja-JP" altLang="en-US" sz="3200" dirty="0">
              <a:solidFill>
                <a:schemeClr val="bg1">
                  <a:lumMod val="10000"/>
                </a:schemeClr>
              </a:solidFill>
              <a:latin typeface="Meiryo UI" panose="020B0604030504040204" pitchFamily="50" charset="-128"/>
              <a:ea typeface="Meiryo UI" panose="020B0604030504040204" pitchFamily="50" charset="-128"/>
            </a:endParaRPr>
          </a:p>
        </p:txBody>
      </p:sp>
      <p:sp>
        <p:nvSpPr>
          <p:cNvPr id="1752" name="テキスト ボックス 1751">
            <a:extLst>
              <a:ext uri="{FF2B5EF4-FFF2-40B4-BE49-F238E27FC236}">
                <a16:creationId xmlns:a16="http://schemas.microsoft.com/office/drawing/2014/main" id="{8C2C12E4-5E79-3821-4774-C111BC2C7EA8}"/>
              </a:ext>
            </a:extLst>
          </p:cNvPr>
          <p:cNvSpPr txBox="1"/>
          <p:nvPr/>
        </p:nvSpPr>
        <p:spPr>
          <a:xfrm>
            <a:off x="176525" y="4456016"/>
            <a:ext cx="17688423" cy="1069137"/>
          </a:xfrm>
          <a:prstGeom prst="rect">
            <a:avLst/>
          </a:prstGeom>
          <a:noFill/>
          <a:ln w="38100">
            <a:solidFill>
              <a:srgbClr val="FFC866"/>
            </a:solidFill>
          </a:ln>
        </p:spPr>
        <p:txBody>
          <a:bodyPr wrap="square" rtlCol="0">
            <a:noAutofit/>
          </a:bodyPr>
          <a:lstStyle/>
          <a:p>
            <a:pPr algn="l"/>
            <a:r>
              <a:rPr kumimoji="1" lang="ja-JP" altLang="en-US" sz="3200" dirty="0">
                <a:solidFill>
                  <a:schemeClr val="bg1">
                    <a:lumMod val="10000"/>
                  </a:schemeClr>
                </a:solidFill>
                <a:latin typeface="Meiryo UI" panose="020B0604030504040204" pitchFamily="50" charset="-128"/>
                <a:ea typeface="Meiryo UI" panose="020B0604030504040204" pitchFamily="50" charset="-128"/>
              </a:rPr>
              <a:t>ステージング</a:t>
            </a:r>
          </a:p>
        </p:txBody>
      </p:sp>
      <p:sp>
        <p:nvSpPr>
          <p:cNvPr id="2" name="タイトル 1">
            <a:extLst>
              <a:ext uri="{FF2B5EF4-FFF2-40B4-BE49-F238E27FC236}">
                <a16:creationId xmlns:a16="http://schemas.microsoft.com/office/drawing/2014/main" id="{1FC20FD3-7EDB-3F65-B651-80260E791970}"/>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５－１１．</a:t>
            </a:r>
            <a:r>
              <a:rPr lang="ja-JP" altLang="en-US" dirty="0"/>
              <a:t>環境一覧</a:t>
            </a:r>
            <a:endParaRPr lang="ja-JP" altLang="en-US" dirty="0">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451E7DD6-C2C6-2C95-F063-07AC4553B0A3}"/>
              </a:ext>
            </a:extLst>
          </p:cNvPr>
          <p:cNvSpPr txBox="1"/>
          <p:nvPr/>
        </p:nvSpPr>
        <p:spPr>
          <a:xfrm>
            <a:off x="544207" y="1273473"/>
            <a:ext cx="17199585" cy="507831"/>
          </a:xfrm>
          <a:prstGeom prst="rect">
            <a:avLst/>
          </a:prstGeom>
          <a:noFill/>
        </p:spPr>
        <p:txBody>
          <a:bodyPr wrap="square" lIns="0" tIns="0" rIns="0" bIns="0" rtlCol="0">
            <a:spAutoFit/>
          </a:bodyPr>
          <a:lstStyle/>
          <a:p>
            <a:pPr marL="342900" indent="-342900">
              <a:lnSpc>
                <a:spcPct val="150000"/>
              </a:lnSpc>
              <a:buFont typeface="Arial" panose="020B0604020202020204" pitchFamily="34" charset="0"/>
              <a:buChar char="•"/>
            </a:pPr>
            <a:r>
              <a:rPr lang="ja-JP" altLang="en-US" sz="2400" dirty="0">
                <a:latin typeface="メイリオ" panose="020B0604030504040204" pitchFamily="50" charset="-128"/>
                <a:ea typeface="メイリオ" panose="020B0604030504040204" pitchFamily="50" charset="-128"/>
              </a:rPr>
              <a:t>トレーニングモードは本番タブレット</a:t>
            </a:r>
            <a:r>
              <a:rPr lang="en-US" altLang="ja-JP" sz="2400" dirty="0">
                <a:latin typeface="メイリオ" panose="020B0604030504040204" pitchFamily="50" charset="-128"/>
                <a:ea typeface="メイリオ" panose="020B0604030504040204" pitchFamily="50" charset="-128"/>
              </a:rPr>
              <a:t>POS</a:t>
            </a:r>
            <a:r>
              <a:rPr lang="ja-JP" altLang="en-US" sz="2400" dirty="0">
                <a:latin typeface="メイリオ" panose="020B0604030504040204" pitchFamily="50" charset="-128"/>
                <a:ea typeface="メイリオ" panose="020B0604030504040204" pitchFamily="50" charset="-128"/>
              </a:rPr>
              <a:t>から接続先を切り替えます</a:t>
            </a:r>
            <a:endParaRPr lang="en-US" altLang="ja-JP" sz="2400" dirty="0">
              <a:latin typeface="メイリオ" panose="020B0604030504040204" pitchFamily="50" charset="-128"/>
              <a:ea typeface="メイリオ" panose="020B0604030504040204" pitchFamily="50" charset="-128"/>
            </a:endParaRPr>
          </a:p>
        </p:txBody>
      </p:sp>
      <p:sp>
        <p:nvSpPr>
          <p:cNvPr id="42" name="四角形: 角を丸くする 41">
            <a:extLst>
              <a:ext uri="{FF2B5EF4-FFF2-40B4-BE49-F238E27FC236}">
                <a16:creationId xmlns:a16="http://schemas.microsoft.com/office/drawing/2014/main" id="{EC778E00-A8C2-25E9-7DE6-968EF603915E}"/>
              </a:ext>
            </a:extLst>
          </p:cNvPr>
          <p:cNvSpPr/>
          <p:nvPr/>
        </p:nvSpPr>
        <p:spPr>
          <a:xfrm>
            <a:off x="12730628" y="1974956"/>
            <a:ext cx="3785722" cy="1127238"/>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現行サーバー群</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cxnSp>
        <p:nvCxnSpPr>
          <p:cNvPr id="1200" name="直線コネクタ 1199">
            <a:extLst>
              <a:ext uri="{FF2B5EF4-FFF2-40B4-BE49-F238E27FC236}">
                <a16:creationId xmlns:a16="http://schemas.microsoft.com/office/drawing/2014/main" id="{D729C77D-BB98-5AB8-E660-734FE9360DDA}"/>
              </a:ext>
            </a:extLst>
          </p:cNvPr>
          <p:cNvCxnSpPr>
            <a:cxnSpLocks/>
            <a:stCxn id="1148" idx="3"/>
            <a:endCxn id="1428" idx="1"/>
          </p:cNvCxnSpPr>
          <p:nvPr/>
        </p:nvCxnSpPr>
        <p:spPr>
          <a:xfrm>
            <a:off x="7123366" y="2560628"/>
            <a:ext cx="722788" cy="1169508"/>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578" name="四角形: 角を丸くする 1577">
            <a:extLst>
              <a:ext uri="{FF2B5EF4-FFF2-40B4-BE49-F238E27FC236}">
                <a16:creationId xmlns:a16="http://schemas.microsoft.com/office/drawing/2014/main" id="{D4860B99-68D5-8700-0275-90B7EDEBDA45}"/>
              </a:ext>
            </a:extLst>
          </p:cNvPr>
          <p:cNvSpPr/>
          <p:nvPr/>
        </p:nvSpPr>
        <p:spPr>
          <a:xfrm>
            <a:off x="2534013" y="8357705"/>
            <a:ext cx="2395175" cy="1273283"/>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a:solidFill>
                  <a:srgbClr val="59574C"/>
                </a:solidFill>
                <a:latin typeface="Source Sans Pro" panose="020B0503030403020204" pitchFamily="34" charset="0"/>
                <a:ea typeface="源ノ角ゴシック JP Regular" panose="020B0500000000000000" pitchFamily="34" charset="-128"/>
              </a:rPr>
              <a:t>開発者</a:t>
            </a:r>
          </a:p>
        </p:txBody>
      </p:sp>
      <p:cxnSp>
        <p:nvCxnSpPr>
          <p:cNvPr id="1582" name="直線コネクタ 1581">
            <a:extLst>
              <a:ext uri="{FF2B5EF4-FFF2-40B4-BE49-F238E27FC236}">
                <a16:creationId xmlns:a16="http://schemas.microsoft.com/office/drawing/2014/main" id="{CC5FFC00-A96E-C180-806B-16AB89A2011E}"/>
              </a:ext>
            </a:extLst>
          </p:cNvPr>
          <p:cNvCxnSpPr>
            <a:cxnSpLocks/>
            <a:stCxn id="1578" idx="3"/>
            <a:endCxn id="1717" idx="1"/>
          </p:cNvCxnSpPr>
          <p:nvPr/>
        </p:nvCxnSpPr>
        <p:spPr>
          <a:xfrm flipV="1">
            <a:off x="4929188" y="8790687"/>
            <a:ext cx="3577077" cy="203660"/>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586" name="図 1585">
            <a:extLst>
              <a:ext uri="{FF2B5EF4-FFF2-40B4-BE49-F238E27FC236}">
                <a16:creationId xmlns:a16="http://schemas.microsoft.com/office/drawing/2014/main" id="{27481A14-4834-07B7-F81F-62CFA99675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2603582" y="8694556"/>
            <a:ext cx="937729" cy="937729"/>
          </a:xfrm>
          <a:prstGeom prst="rect">
            <a:avLst/>
          </a:prstGeom>
        </p:spPr>
      </p:pic>
      <p:sp>
        <p:nvSpPr>
          <p:cNvPr id="1599" name="テキスト ボックス 1598">
            <a:extLst>
              <a:ext uri="{FF2B5EF4-FFF2-40B4-BE49-F238E27FC236}">
                <a16:creationId xmlns:a16="http://schemas.microsoft.com/office/drawing/2014/main" id="{0D56D4DB-93EE-9582-BE92-A6495DC68D59}"/>
              </a:ext>
            </a:extLst>
          </p:cNvPr>
          <p:cNvSpPr txBox="1"/>
          <p:nvPr/>
        </p:nvSpPr>
        <p:spPr>
          <a:xfrm>
            <a:off x="176525" y="5614990"/>
            <a:ext cx="17688423" cy="1102844"/>
          </a:xfrm>
          <a:prstGeom prst="rect">
            <a:avLst/>
          </a:prstGeom>
          <a:noFill/>
          <a:ln w="38100">
            <a:solidFill>
              <a:srgbClr val="FFC866"/>
            </a:solidFill>
          </a:ln>
        </p:spPr>
        <p:txBody>
          <a:bodyPr wrap="square" rtlCol="0">
            <a:noAutofit/>
          </a:bodyPr>
          <a:lstStyle/>
          <a:p>
            <a:pPr algn="l"/>
            <a:r>
              <a:rPr kumimoji="1" lang="en-US" altLang="ja-JP" sz="3200">
                <a:solidFill>
                  <a:schemeClr val="bg1">
                    <a:lumMod val="10000"/>
                  </a:schemeClr>
                </a:solidFill>
                <a:latin typeface="Meiryo UI" panose="020B0604030504040204" pitchFamily="50" charset="-128"/>
                <a:ea typeface="Meiryo UI" panose="020B0604030504040204" pitchFamily="50" charset="-128"/>
              </a:rPr>
              <a:t>Ks</a:t>
            </a:r>
            <a:r>
              <a:rPr kumimoji="1" lang="ja-JP" altLang="en-US" sz="3200">
                <a:solidFill>
                  <a:schemeClr val="bg1">
                    <a:lumMod val="10000"/>
                  </a:schemeClr>
                </a:solidFill>
                <a:latin typeface="Meiryo UI" panose="020B0604030504040204" pitchFamily="50" charset="-128"/>
                <a:ea typeface="Meiryo UI" panose="020B0604030504040204" pitchFamily="50" charset="-128"/>
              </a:rPr>
              <a:t>検証</a:t>
            </a:r>
            <a:endParaRPr kumimoji="1" lang="ja-JP" altLang="en-US" sz="3200" dirty="0">
              <a:solidFill>
                <a:schemeClr val="bg1">
                  <a:lumMod val="10000"/>
                </a:schemeClr>
              </a:solidFill>
              <a:latin typeface="Meiryo UI" panose="020B0604030504040204" pitchFamily="50" charset="-128"/>
              <a:ea typeface="Meiryo UI" panose="020B0604030504040204" pitchFamily="50" charset="-128"/>
            </a:endParaRPr>
          </a:p>
        </p:txBody>
      </p:sp>
      <p:sp>
        <p:nvSpPr>
          <p:cNvPr id="1600" name="テキスト ボックス 1599">
            <a:extLst>
              <a:ext uri="{FF2B5EF4-FFF2-40B4-BE49-F238E27FC236}">
                <a16:creationId xmlns:a16="http://schemas.microsoft.com/office/drawing/2014/main" id="{2B53F013-D300-F27E-086B-8845AACEBD63}"/>
              </a:ext>
            </a:extLst>
          </p:cNvPr>
          <p:cNvSpPr txBox="1"/>
          <p:nvPr/>
        </p:nvSpPr>
        <p:spPr>
          <a:xfrm>
            <a:off x="176526" y="6797937"/>
            <a:ext cx="17688423" cy="1153889"/>
          </a:xfrm>
          <a:prstGeom prst="rect">
            <a:avLst/>
          </a:prstGeom>
          <a:noFill/>
          <a:ln w="38100">
            <a:solidFill>
              <a:srgbClr val="92D050"/>
            </a:solidFill>
          </a:ln>
        </p:spPr>
        <p:txBody>
          <a:bodyPr wrap="square" rtlCol="0">
            <a:noAutofit/>
          </a:bodyPr>
          <a:lstStyle/>
          <a:p>
            <a:pPr algn="l"/>
            <a:r>
              <a:rPr kumimoji="1" lang="en-US" altLang="ja-JP" sz="3200">
                <a:solidFill>
                  <a:schemeClr val="bg1">
                    <a:lumMod val="10000"/>
                  </a:schemeClr>
                </a:solidFill>
                <a:latin typeface="Meiryo UI" panose="020B0604030504040204" pitchFamily="50" charset="-128"/>
                <a:ea typeface="Meiryo UI" panose="020B0604030504040204" pitchFamily="50" charset="-128"/>
              </a:rPr>
              <a:t>SMJ</a:t>
            </a:r>
            <a:r>
              <a:rPr kumimoji="1" lang="ja-JP" altLang="en-US" sz="3200">
                <a:solidFill>
                  <a:schemeClr val="bg1">
                    <a:lumMod val="10000"/>
                  </a:schemeClr>
                </a:solidFill>
                <a:latin typeface="Meiryo UI" panose="020B0604030504040204" pitchFamily="50" charset="-128"/>
                <a:ea typeface="Meiryo UI" panose="020B0604030504040204" pitchFamily="50" charset="-128"/>
              </a:rPr>
              <a:t>試験</a:t>
            </a:r>
            <a:endParaRPr kumimoji="1" lang="ja-JP" altLang="en-US" sz="3200" dirty="0">
              <a:solidFill>
                <a:schemeClr val="bg1">
                  <a:lumMod val="10000"/>
                </a:schemeClr>
              </a:solidFill>
              <a:latin typeface="Meiryo UI" panose="020B0604030504040204" pitchFamily="50" charset="-128"/>
              <a:ea typeface="Meiryo UI" panose="020B0604030504040204" pitchFamily="50" charset="-128"/>
            </a:endParaRPr>
          </a:p>
        </p:txBody>
      </p:sp>
      <p:sp>
        <p:nvSpPr>
          <p:cNvPr id="1603" name="スライド番号プレースホルダー 2">
            <a:extLst>
              <a:ext uri="{FF2B5EF4-FFF2-40B4-BE49-F238E27FC236}">
                <a16:creationId xmlns:a16="http://schemas.microsoft.com/office/drawing/2014/main" id="{F84723EC-92AE-47B1-EE69-DEA7CAF132B2}"/>
              </a:ext>
            </a:extLst>
          </p:cNvPr>
          <p:cNvSpPr>
            <a:spLocks noGrp="1"/>
          </p:cNvSpPr>
          <p:nvPr>
            <p:ph type="sldNum" sz="quarter" idx="12"/>
          </p:nvPr>
        </p:nvSpPr>
        <p:spPr>
          <a:xfrm>
            <a:off x="17088450" y="9974100"/>
            <a:ext cx="810000" cy="324000"/>
          </a:xfrm>
        </p:spPr>
        <p:txBody>
          <a:bodyPr/>
          <a:lstStyle/>
          <a:p>
            <a:fld id="{2A9E37A5-A917-4235-ABF6-8CD72E894915}" type="slidenum">
              <a:rPr lang="en-US" altLang="ja-JP" smtClean="0"/>
              <a:pPr/>
              <a:t>29</a:t>
            </a:fld>
            <a:endParaRPr lang="ja-JP" altLang="en-US"/>
          </a:p>
        </p:txBody>
      </p:sp>
      <p:sp>
        <p:nvSpPr>
          <p:cNvPr id="1605" name="テキスト プレースホルダー 11">
            <a:extLst>
              <a:ext uri="{FF2B5EF4-FFF2-40B4-BE49-F238E27FC236}">
                <a16:creationId xmlns:a16="http://schemas.microsoft.com/office/drawing/2014/main" id="{FA2D5177-9E49-3DA0-7634-B5F614151329}"/>
              </a:ext>
            </a:extLst>
          </p:cNvPr>
          <p:cNvSpPr txBox="1">
            <a:spLocks/>
          </p:cNvSpPr>
          <p:nvPr/>
        </p:nvSpPr>
        <p:spPr>
          <a:xfrm>
            <a:off x="5611850" y="99741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1148" name="四角形: 角を丸くする 1147">
            <a:extLst>
              <a:ext uri="{FF2B5EF4-FFF2-40B4-BE49-F238E27FC236}">
                <a16:creationId xmlns:a16="http://schemas.microsoft.com/office/drawing/2014/main" id="{FD85A8D9-E532-337F-DC95-711D56C6E155}"/>
              </a:ext>
            </a:extLst>
          </p:cNvPr>
          <p:cNvSpPr/>
          <p:nvPr/>
        </p:nvSpPr>
        <p:spPr>
          <a:xfrm>
            <a:off x="3807050" y="2027780"/>
            <a:ext cx="3316316" cy="1065696"/>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店舗</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
        <p:nvSpPr>
          <p:cNvPr id="1150" name="四角形: 角を丸くする 1149">
            <a:extLst>
              <a:ext uri="{FF2B5EF4-FFF2-40B4-BE49-F238E27FC236}">
                <a16:creationId xmlns:a16="http://schemas.microsoft.com/office/drawing/2014/main" id="{40F06913-2AD2-1F73-F308-818D58E1208D}"/>
              </a:ext>
            </a:extLst>
          </p:cNvPr>
          <p:cNvSpPr/>
          <p:nvPr/>
        </p:nvSpPr>
        <p:spPr>
          <a:xfrm>
            <a:off x="7846154" y="2008730"/>
            <a:ext cx="4463450" cy="1093464"/>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a:solidFill>
                  <a:srgbClr val="59574C"/>
                </a:solidFill>
                <a:latin typeface="Source Sans Pro" panose="020B0503030403020204" pitchFamily="34" charset="0"/>
                <a:ea typeface="源ノ角ゴシック JP Regular" panose="020B0500000000000000" pitchFamily="34" charset="-128"/>
              </a:rPr>
              <a:t>クラウド（</a:t>
            </a:r>
            <a:r>
              <a:rPr kumimoji="1" lang="en-US" altLang="ja-JP" sz="2000">
                <a:solidFill>
                  <a:srgbClr val="59574C"/>
                </a:solidFill>
                <a:latin typeface="Source Sans Pro" panose="020B0503030403020204" pitchFamily="34" charset="0"/>
                <a:ea typeface="源ノ角ゴシック JP Regular" panose="020B0500000000000000" pitchFamily="34" charset="-128"/>
              </a:rPr>
              <a:t>OCI</a:t>
            </a:r>
            <a:r>
              <a:rPr kumimoji="1" lang="ja-JP" altLang="en-US" sz="2000">
                <a:solidFill>
                  <a:srgbClr val="59574C"/>
                </a:solidFill>
                <a:latin typeface="Source Sans Pro" panose="020B0503030403020204" pitchFamily="34" charset="0"/>
                <a:ea typeface="源ノ角ゴシック JP Regular" panose="020B0500000000000000" pitchFamily="34" charset="-128"/>
              </a:rPr>
              <a:t>）</a:t>
            </a:r>
          </a:p>
        </p:txBody>
      </p:sp>
      <p:pic>
        <p:nvPicPr>
          <p:cNvPr id="1184" name="図 1183" descr="コンピューターの画面&#10;&#10;自動的に生成された説明">
            <a:extLst>
              <a:ext uri="{FF2B5EF4-FFF2-40B4-BE49-F238E27FC236}">
                <a16:creationId xmlns:a16="http://schemas.microsoft.com/office/drawing/2014/main" id="{A3B3FB34-8436-59B5-D34F-6F66EF42470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rot="16200000">
            <a:off x="5934551" y="2055122"/>
            <a:ext cx="603364" cy="937728"/>
          </a:xfrm>
          <a:prstGeom prst="rect">
            <a:avLst/>
          </a:prstGeom>
        </p:spPr>
      </p:pic>
      <p:grpSp>
        <p:nvGrpSpPr>
          <p:cNvPr id="1185" name="Graphic 4">
            <a:extLst>
              <a:ext uri="{FF2B5EF4-FFF2-40B4-BE49-F238E27FC236}">
                <a16:creationId xmlns:a16="http://schemas.microsoft.com/office/drawing/2014/main" id="{5AB43CE6-01EE-014B-5E94-7F7346E39369}"/>
              </a:ext>
            </a:extLst>
          </p:cNvPr>
          <p:cNvGrpSpPr/>
          <p:nvPr/>
        </p:nvGrpSpPr>
        <p:grpSpPr>
          <a:xfrm>
            <a:off x="8446056" y="2328973"/>
            <a:ext cx="691533" cy="645914"/>
            <a:chOff x="7859540" y="2440806"/>
            <a:chExt cx="375193" cy="385010"/>
          </a:xfrm>
        </p:grpSpPr>
        <p:sp>
          <p:nvSpPr>
            <p:cNvPr id="1186" name="Freeform: Shape 905">
              <a:extLst>
                <a:ext uri="{FF2B5EF4-FFF2-40B4-BE49-F238E27FC236}">
                  <a16:creationId xmlns:a16="http://schemas.microsoft.com/office/drawing/2014/main" id="{9E461D30-AA1F-3EE1-72C9-42524AB0B38D}"/>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187" name="Freeform: Shape 906">
              <a:extLst>
                <a:ext uri="{FF2B5EF4-FFF2-40B4-BE49-F238E27FC236}">
                  <a16:creationId xmlns:a16="http://schemas.microsoft.com/office/drawing/2014/main" id="{A87C7C3A-C306-062C-4566-B9659F53F285}"/>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188" name="Freeform: Shape 907">
              <a:extLst>
                <a:ext uri="{FF2B5EF4-FFF2-40B4-BE49-F238E27FC236}">
                  <a16:creationId xmlns:a16="http://schemas.microsoft.com/office/drawing/2014/main" id="{E56D048A-32F3-8474-04E1-999C4A2E76EE}"/>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189" name="Freeform: Shape 908">
              <a:extLst>
                <a:ext uri="{FF2B5EF4-FFF2-40B4-BE49-F238E27FC236}">
                  <a16:creationId xmlns:a16="http://schemas.microsoft.com/office/drawing/2014/main" id="{199B3D44-4389-F532-03D0-66C23373D84C}"/>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190" name="Freeform: Shape 909">
              <a:extLst>
                <a:ext uri="{FF2B5EF4-FFF2-40B4-BE49-F238E27FC236}">
                  <a16:creationId xmlns:a16="http://schemas.microsoft.com/office/drawing/2014/main" id="{504D97A9-6440-1095-88D3-68C442E16F10}"/>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191" name="Freeform: Shape 910">
              <a:extLst>
                <a:ext uri="{FF2B5EF4-FFF2-40B4-BE49-F238E27FC236}">
                  <a16:creationId xmlns:a16="http://schemas.microsoft.com/office/drawing/2014/main" id="{324B1458-E822-E2A8-7B4E-D61C57A8E1C9}"/>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192" name="Freeform: Shape 911">
              <a:extLst>
                <a:ext uri="{FF2B5EF4-FFF2-40B4-BE49-F238E27FC236}">
                  <a16:creationId xmlns:a16="http://schemas.microsoft.com/office/drawing/2014/main" id="{EC5CBD0D-DEF0-1837-C8BC-F54659195F79}"/>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193" name="Freeform: Shape 912">
              <a:extLst>
                <a:ext uri="{FF2B5EF4-FFF2-40B4-BE49-F238E27FC236}">
                  <a16:creationId xmlns:a16="http://schemas.microsoft.com/office/drawing/2014/main" id="{9BB7F825-A771-A1D3-01D8-B89651DD8860}"/>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194" name="Freeform: Shape 913">
              <a:extLst>
                <a:ext uri="{FF2B5EF4-FFF2-40B4-BE49-F238E27FC236}">
                  <a16:creationId xmlns:a16="http://schemas.microsoft.com/office/drawing/2014/main" id="{26F67836-EB5B-DD4C-08F2-29387C29B145}"/>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195" name="Freeform: Shape 914">
              <a:extLst>
                <a:ext uri="{FF2B5EF4-FFF2-40B4-BE49-F238E27FC236}">
                  <a16:creationId xmlns:a16="http://schemas.microsoft.com/office/drawing/2014/main" id="{99107F84-21FB-4AE9-ADFB-E63EC3CBA883}"/>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196" name="Freeform: Shape 915">
              <a:extLst>
                <a:ext uri="{FF2B5EF4-FFF2-40B4-BE49-F238E27FC236}">
                  <a16:creationId xmlns:a16="http://schemas.microsoft.com/office/drawing/2014/main" id="{50F47BD0-E186-C076-2EF2-B125CE14FFBE}"/>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197" name="Freeform: Shape 916">
              <a:extLst>
                <a:ext uri="{FF2B5EF4-FFF2-40B4-BE49-F238E27FC236}">
                  <a16:creationId xmlns:a16="http://schemas.microsoft.com/office/drawing/2014/main" id="{5D695668-AA62-D599-B2F4-570774CFC215}"/>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198" name="Freeform: Shape 24">
            <a:extLst>
              <a:ext uri="{FF2B5EF4-FFF2-40B4-BE49-F238E27FC236}">
                <a16:creationId xmlns:a16="http://schemas.microsoft.com/office/drawing/2014/main" id="{30833F29-E4A8-ECF7-07E8-96E2BB7DE472}"/>
              </a:ext>
            </a:extLst>
          </p:cNvPr>
          <p:cNvSpPr/>
          <p:nvPr/>
        </p:nvSpPr>
        <p:spPr>
          <a:xfrm>
            <a:off x="11082458" y="2355982"/>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199" name="Graphic 1518">
            <a:extLst>
              <a:ext uri="{FF2B5EF4-FFF2-40B4-BE49-F238E27FC236}">
                <a16:creationId xmlns:a16="http://schemas.microsoft.com/office/drawing/2014/main" id="{81078EB4-E9CA-4513-F7A7-76A62F9AB74E}"/>
              </a:ext>
            </a:extLst>
          </p:cNvPr>
          <p:cNvGrpSpPr/>
          <p:nvPr/>
        </p:nvGrpSpPr>
        <p:grpSpPr>
          <a:xfrm>
            <a:off x="9745042" y="2347323"/>
            <a:ext cx="643888" cy="668853"/>
            <a:chOff x="2747486" y="3069656"/>
            <a:chExt cx="385010" cy="385010"/>
          </a:xfrm>
        </p:grpSpPr>
        <p:grpSp>
          <p:nvGrpSpPr>
            <p:cNvPr id="1201" name="Graphic 1518">
              <a:extLst>
                <a:ext uri="{FF2B5EF4-FFF2-40B4-BE49-F238E27FC236}">
                  <a16:creationId xmlns:a16="http://schemas.microsoft.com/office/drawing/2014/main" id="{327F5E7A-295E-CEDC-D95D-C9BCFC5C3143}"/>
                </a:ext>
              </a:extLst>
            </p:cNvPr>
            <p:cNvGrpSpPr/>
            <p:nvPr/>
          </p:nvGrpSpPr>
          <p:grpSpPr>
            <a:xfrm>
              <a:off x="2747486" y="3069656"/>
              <a:ext cx="385010" cy="385010"/>
              <a:chOff x="2747486" y="3069656"/>
              <a:chExt cx="385010" cy="385010"/>
            </a:xfrm>
            <a:solidFill>
              <a:srgbClr val="FFFFFF"/>
            </a:solidFill>
          </p:grpSpPr>
          <p:sp>
            <p:nvSpPr>
              <p:cNvPr id="1210" name="Freeform: Shape 1557">
                <a:extLst>
                  <a:ext uri="{FF2B5EF4-FFF2-40B4-BE49-F238E27FC236}">
                    <a16:creationId xmlns:a16="http://schemas.microsoft.com/office/drawing/2014/main" id="{DADB3620-8610-FE64-FC9C-AD700ACF56C0}"/>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211" name="Freeform: Shape 1558">
                <a:extLst>
                  <a:ext uri="{FF2B5EF4-FFF2-40B4-BE49-F238E27FC236}">
                    <a16:creationId xmlns:a16="http://schemas.microsoft.com/office/drawing/2014/main" id="{DB594040-D551-C478-3CB1-47EB601D501C}"/>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202" name="Graphic 1518">
              <a:extLst>
                <a:ext uri="{FF2B5EF4-FFF2-40B4-BE49-F238E27FC236}">
                  <a16:creationId xmlns:a16="http://schemas.microsoft.com/office/drawing/2014/main" id="{448D6C6F-5BC4-84D2-A7BA-81493FECF375}"/>
                </a:ext>
              </a:extLst>
            </p:cNvPr>
            <p:cNvGrpSpPr/>
            <p:nvPr/>
          </p:nvGrpSpPr>
          <p:grpSpPr>
            <a:xfrm>
              <a:off x="2756636" y="3078827"/>
              <a:ext cx="366716" cy="366676"/>
              <a:chOff x="2756636" y="3078827"/>
              <a:chExt cx="366716" cy="366676"/>
            </a:xfrm>
            <a:solidFill>
              <a:srgbClr val="2D5967"/>
            </a:solidFill>
          </p:grpSpPr>
          <p:sp>
            <p:nvSpPr>
              <p:cNvPr id="1203" name="Freeform: Shape 1560">
                <a:extLst>
                  <a:ext uri="{FF2B5EF4-FFF2-40B4-BE49-F238E27FC236}">
                    <a16:creationId xmlns:a16="http://schemas.microsoft.com/office/drawing/2014/main" id="{95B61FED-D7CD-CFB4-4368-3E75B6D8A19A}"/>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204" name="Freeform: Shape 1561">
                <a:extLst>
                  <a:ext uri="{FF2B5EF4-FFF2-40B4-BE49-F238E27FC236}">
                    <a16:creationId xmlns:a16="http://schemas.microsoft.com/office/drawing/2014/main" id="{DC26C5F6-B514-2825-205E-D705BD488CF4}"/>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205" name="Freeform: Shape 1562">
                <a:extLst>
                  <a:ext uri="{FF2B5EF4-FFF2-40B4-BE49-F238E27FC236}">
                    <a16:creationId xmlns:a16="http://schemas.microsoft.com/office/drawing/2014/main" id="{89DFE3A2-70C1-EEDF-9F9C-F89F270E14DC}"/>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206" name="Freeform: Shape 1563">
                <a:extLst>
                  <a:ext uri="{FF2B5EF4-FFF2-40B4-BE49-F238E27FC236}">
                    <a16:creationId xmlns:a16="http://schemas.microsoft.com/office/drawing/2014/main" id="{87680727-3E2B-A13E-72B3-8EA86D24EEF4}"/>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207" name="Freeform: Shape 1564">
                <a:extLst>
                  <a:ext uri="{FF2B5EF4-FFF2-40B4-BE49-F238E27FC236}">
                    <a16:creationId xmlns:a16="http://schemas.microsoft.com/office/drawing/2014/main" id="{50EA046F-F824-8D29-C8BB-DF1E54B7B02B}"/>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208" name="Freeform: Shape 1565">
                <a:extLst>
                  <a:ext uri="{FF2B5EF4-FFF2-40B4-BE49-F238E27FC236}">
                    <a16:creationId xmlns:a16="http://schemas.microsoft.com/office/drawing/2014/main" id="{A2576083-8C2A-7A57-B259-2ADE2E233240}"/>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209" name="Freeform: Shape 1566">
                <a:extLst>
                  <a:ext uri="{FF2B5EF4-FFF2-40B4-BE49-F238E27FC236}">
                    <a16:creationId xmlns:a16="http://schemas.microsoft.com/office/drawing/2014/main" id="{B92E101E-F03D-C2A7-D679-9FE32E835C7F}"/>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cxnSp>
        <p:nvCxnSpPr>
          <p:cNvPr id="1214" name="直線コネクタ 1213">
            <a:extLst>
              <a:ext uri="{FF2B5EF4-FFF2-40B4-BE49-F238E27FC236}">
                <a16:creationId xmlns:a16="http://schemas.microsoft.com/office/drawing/2014/main" id="{2755C7A2-FEC0-D224-2C58-92361474071E}"/>
              </a:ext>
            </a:extLst>
          </p:cNvPr>
          <p:cNvCxnSpPr>
            <a:cxnSpLocks/>
            <a:stCxn id="1148" idx="3"/>
            <a:endCxn id="1150" idx="1"/>
          </p:cNvCxnSpPr>
          <p:nvPr/>
        </p:nvCxnSpPr>
        <p:spPr>
          <a:xfrm flipV="1">
            <a:off x="7123366" y="2555462"/>
            <a:ext cx="722788" cy="5166"/>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215" name="図 1214">
            <a:extLst>
              <a:ext uri="{FF2B5EF4-FFF2-40B4-BE49-F238E27FC236}">
                <a16:creationId xmlns:a16="http://schemas.microsoft.com/office/drawing/2014/main" id="{F666B715-317F-3112-1695-BA54DCE016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91150" y="2250900"/>
            <a:ext cx="570676" cy="570676"/>
          </a:xfrm>
          <a:prstGeom prst="rect">
            <a:avLst/>
          </a:prstGeom>
        </p:spPr>
      </p:pic>
      <p:cxnSp>
        <p:nvCxnSpPr>
          <p:cNvPr id="1344" name="直線コネクタ 1343">
            <a:extLst>
              <a:ext uri="{FF2B5EF4-FFF2-40B4-BE49-F238E27FC236}">
                <a16:creationId xmlns:a16="http://schemas.microsoft.com/office/drawing/2014/main" id="{8A02C210-F502-652F-11E3-5E60576D5E2E}"/>
              </a:ext>
            </a:extLst>
          </p:cNvPr>
          <p:cNvCxnSpPr>
            <a:cxnSpLocks/>
            <a:stCxn id="42" idx="1"/>
            <a:endCxn id="1150" idx="3"/>
          </p:cNvCxnSpPr>
          <p:nvPr/>
        </p:nvCxnSpPr>
        <p:spPr>
          <a:xfrm flipH="1">
            <a:off x="12309604" y="2538575"/>
            <a:ext cx="421024" cy="16887"/>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345" name="図 1344" descr="電子機器の部品&#10;&#10;AI によって生成されたコンテンツは間違っている可能性があります。">
            <a:extLst>
              <a:ext uri="{FF2B5EF4-FFF2-40B4-BE49-F238E27FC236}">
                <a16:creationId xmlns:a16="http://schemas.microsoft.com/office/drawing/2014/main" id="{4285E0D0-79ED-1B6A-B829-47F6AA3805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25141" y="1931482"/>
            <a:ext cx="1042171" cy="1234035"/>
          </a:xfrm>
          <a:prstGeom prst="rect">
            <a:avLst/>
          </a:prstGeom>
        </p:spPr>
      </p:pic>
      <p:pic>
        <p:nvPicPr>
          <p:cNvPr id="1346" name="図 1345">
            <a:extLst>
              <a:ext uri="{FF2B5EF4-FFF2-40B4-BE49-F238E27FC236}">
                <a16:creationId xmlns:a16="http://schemas.microsoft.com/office/drawing/2014/main" id="{C9410F81-51AB-58A0-46BE-0840040813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12054" y="2145224"/>
            <a:ext cx="559428" cy="559428"/>
          </a:xfrm>
          <a:prstGeom prst="rect">
            <a:avLst/>
          </a:prstGeom>
        </p:spPr>
      </p:pic>
      <p:sp>
        <p:nvSpPr>
          <p:cNvPr id="1348" name="Freeform: Shape 24">
            <a:extLst>
              <a:ext uri="{FF2B5EF4-FFF2-40B4-BE49-F238E27FC236}">
                <a16:creationId xmlns:a16="http://schemas.microsoft.com/office/drawing/2014/main" id="{1F6FA861-B456-7516-D10E-02AB60CE3845}"/>
              </a:ext>
            </a:extLst>
          </p:cNvPr>
          <p:cNvSpPr/>
          <p:nvPr/>
        </p:nvSpPr>
        <p:spPr>
          <a:xfrm>
            <a:off x="13080036" y="2400259"/>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352" name="Freeform: Shape 24">
            <a:extLst>
              <a:ext uri="{FF2B5EF4-FFF2-40B4-BE49-F238E27FC236}">
                <a16:creationId xmlns:a16="http://schemas.microsoft.com/office/drawing/2014/main" id="{7A842137-7973-50CC-551B-B2402AB2995D}"/>
              </a:ext>
            </a:extLst>
          </p:cNvPr>
          <p:cNvSpPr/>
          <p:nvPr/>
        </p:nvSpPr>
        <p:spPr>
          <a:xfrm>
            <a:off x="13871613" y="2400259"/>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423" name="Freeform: Shape 24">
            <a:extLst>
              <a:ext uri="{FF2B5EF4-FFF2-40B4-BE49-F238E27FC236}">
                <a16:creationId xmlns:a16="http://schemas.microsoft.com/office/drawing/2014/main" id="{77B1A19B-51FC-F4F3-FDD0-CD8DDD11A296}"/>
              </a:ext>
            </a:extLst>
          </p:cNvPr>
          <p:cNvSpPr/>
          <p:nvPr/>
        </p:nvSpPr>
        <p:spPr>
          <a:xfrm>
            <a:off x="14663190" y="2400259"/>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424" name="Freeform: Shape 24">
            <a:extLst>
              <a:ext uri="{FF2B5EF4-FFF2-40B4-BE49-F238E27FC236}">
                <a16:creationId xmlns:a16="http://schemas.microsoft.com/office/drawing/2014/main" id="{8F5224E0-6832-82A5-D2BD-06AE604FABC0}"/>
              </a:ext>
            </a:extLst>
          </p:cNvPr>
          <p:cNvSpPr/>
          <p:nvPr/>
        </p:nvSpPr>
        <p:spPr>
          <a:xfrm>
            <a:off x="15454767" y="2400259"/>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426" name="四角形: 角を丸くする 1425">
            <a:extLst>
              <a:ext uri="{FF2B5EF4-FFF2-40B4-BE49-F238E27FC236}">
                <a16:creationId xmlns:a16="http://schemas.microsoft.com/office/drawing/2014/main" id="{74C437D9-D1D6-87B3-31CA-8F0D8C0A5B1F}"/>
              </a:ext>
            </a:extLst>
          </p:cNvPr>
          <p:cNvSpPr/>
          <p:nvPr/>
        </p:nvSpPr>
        <p:spPr>
          <a:xfrm>
            <a:off x="12730628" y="3174267"/>
            <a:ext cx="3785722" cy="1076441"/>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dirty="0">
                <a:solidFill>
                  <a:srgbClr val="59574C"/>
                </a:solidFill>
                <a:latin typeface="Source Sans Pro" panose="020B0503030403020204" pitchFamily="34" charset="0"/>
                <a:ea typeface="源ノ角ゴシック JP Regular" panose="020B0500000000000000" pitchFamily="34" charset="-128"/>
              </a:rPr>
              <a:t>現行トレーニングサーバー群</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sp>
        <p:nvSpPr>
          <p:cNvPr id="1428" name="四角形: 角を丸くする 1427">
            <a:extLst>
              <a:ext uri="{FF2B5EF4-FFF2-40B4-BE49-F238E27FC236}">
                <a16:creationId xmlns:a16="http://schemas.microsoft.com/office/drawing/2014/main" id="{ACC17C04-A194-33E9-201A-3AA5FC08BBE2}"/>
              </a:ext>
            </a:extLst>
          </p:cNvPr>
          <p:cNvSpPr/>
          <p:nvPr/>
        </p:nvSpPr>
        <p:spPr>
          <a:xfrm>
            <a:off x="7846154" y="3208041"/>
            <a:ext cx="4463450" cy="1044189"/>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grpSp>
        <p:nvGrpSpPr>
          <p:cNvPr id="1430" name="Graphic 4">
            <a:extLst>
              <a:ext uri="{FF2B5EF4-FFF2-40B4-BE49-F238E27FC236}">
                <a16:creationId xmlns:a16="http://schemas.microsoft.com/office/drawing/2014/main" id="{9BDD8FF6-8296-6851-C352-CADD2345F4F8}"/>
              </a:ext>
            </a:extLst>
          </p:cNvPr>
          <p:cNvGrpSpPr/>
          <p:nvPr/>
        </p:nvGrpSpPr>
        <p:grpSpPr>
          <a:xfrm>
            <a:off x="8446056" y="3528284"/>
            <a:ext cx="691533" cy="645914"/>
            <a:chOff x="7859540" y="2440806"/>
            <a:chExt cx="375193" cy="385010"/>
          </a:xfrm>
        </p:grpSpPr>
        <p:sp>
          <p:nvSpPr>
            <p:cNvPr id="1431" name="Freeform: Shape 905">
              <a:extLst>
                <a:ext uri="{FF2B5EF4-FFF2-40B4-BE49-F238E27FC236}">
                  <a16:creationId xmlns:a16="http://schemas.microsoft.com/office/drawing/2014/main" id="{79DC5E29-812D-A4D6-A27E-096557ACA758}"/>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432" name="Freeform: Shape 906">
              <a:extLst>
                <a:ext uri="{FF2B5EF4-FFF2-40B4-BE49-F238E27FC236}">
                  <a16:creationId xmlns:a16="http://schemas.microsoft.com/office/drawing/2014/main" id="{3B06E4FE-0302-8436-72B0-3E64303CFF24}"/>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433" name="Freeform: Shape 907">
              <a:extLst>
                <a:ext uri="{FF2B5EF4-FFF2-40B4-BE49-F238E27FC236}">
                  <a16:creationId xmlns:a16="http://schemas.microsoft.com/office/drawing/2014/main" id="{79CB2657-08EE-55EF-4FBD-667CF182734F}"/>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434" name="Freeform: Shape 908">
              <a:extLst>
                <a:ext uri="{FF2B5EF4-FFF2-40B4-BE49-F238E27FC236}">
                  <a16:creationId xmlns:a16="http://schemas.microsoft.com/office/drawing/2014/main" id="{AC0A7557-7527-5146-ABCB-0BB3297624AA}"/>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435" name="Freeform: Shape 909">
              <a:extLst>
                <a:ext uri="{FF2B5EF4-FFF2-40B4-BE49-F238E27FC236}">
                  <a16:creationId xmlns:a16="http://schemas.microsoft.com/office/drawing/2014/main" id="{4F1A07EF-5928-D096-7595-FA53199733BA}"/>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436" name="Freeform: Shape 910">
              <a:extLst>
                <a:ext uri="{FF2B5EF4-FFF2-40B4-BE49-F238E27FC236}">
                  <a16:creationId xmlns:a16="http://schemas.microsoft.com/office/drawing/2014/main" id="{EA5D72D7-4C67-1F5E-61DE-F6B7C322D652}"/>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437" name="Freeform: Shape 911">
              <a:extLst>
                <a:ext uri="{FF2B5EF4-FFF2-40B4-BE49-F238E27FC236}">
                  <a16:creationId xmlns:a16="http://schemas.microsoft.com/office/drawing/2014/main" id="{0FF4361E-A04A-02EC-6804-C017274D78D5}"/>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438" name="Freeform: Shape 912">
              <a:extLst>
                <a:ext uri="{FF2B5EF4-FFF2-40B4-BE49-F238E27FC236}">
                  <a16:creationId xmlns:a16="http://schemas.microsoft.com/office/drawing/2014/main" id="{DF76C826-6E64-DFF8-3CAE-4C84D75AD934}"/>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439" name="Freeform: Shape 913">
              <a:extLst>
                <a:ext uri="{FF2B5EF4-FFF2-40B4-BE49-F238E27FC236}">
                  <a16:creationId xmlns:a16="http://schemas.microsoft.com/office/drawing/2014/main" id="{FB98D5B8-6211-9515-F5DB-920A00BBFC64}"/>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472" name="Freeform: Shape 914">
              <a:extLst>
                <a:ext uri="{FF2B5EF4-FFF2-40B4-BE49-F238E27FC236}">
                  <a16:creationId xmlns:a16="http://schemas.microsoft.com/office/drawing/2014/main" id="{ADFE3D7C-A249-59C3-60CC-6F70D98CE2E0}"/>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473" name="Freeform: Shape 915">
              <a:extLst>
                <a:ext uri="{FF2B5EF4-FFF2-40B4-BE49-F238E27FC236}">
                  <a16:creationId xmlns:a16="http://schemas.microsoft.com/office/drawing/2014/main" id="{E19F466F-4BFC-E2F9-81B2-DD06FAF0F48A}"/>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474" name="Freeform: Shape 916">
              <a:extLst>
                <a:ext uri="{FF2B5EF4-FFF2-40B4-BE49-F238E27FC236}">
                  <a16:creationId xmlns:a16="http://schemas.microsoft.com/office/drawing/2014/main" id="{72A6EA0D-8BEA-9610-8700-E05B5A0D42EF}"/>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475" name="Freeform: Shape 24">
            <a:extLst>
              <a:ext uri="{FF2B5EF4-FFF2-40B4-BE49-F238E27FC236}">
                <a16:creationId xmlns:a16="http://schemas.microsoft.com/office/drawing/2014/main" id="{4CBFD289-225F-CDB1-9439-5E21771F424F}"/>
              </a:ext>
            </a:extLst>
          </p:cNvPr>
          <p:cNvSpPr/>
          <p:nvPr/>
        </p:nvSpPr>
        <p:spPr>
          <a:xfrm>
            <a:off x="11082458" y="3555293"/>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476" name="Graphic 1518">
            <a:extLst>
              <a:ext uri="{FF2B5EF4-FFF2-40B4-BE49-F238E27FC236}">
                <a16:creationId xmlns:a16="http://schemas.microsoft.com/office/drawing/2014/main" id="{E5B2E6E8-F64F-E08D-A68B-60CC5C17530C}"/>
              </a:ext>
            </a:extLst>
          </p:cNvPr>
          <p:cNvGrpSpPr/>
          <p:nvPr/>
        </p:nvGrpSpPr>
        <p:grpSpPr>
          <a:xfrm>
            <a:off x="9745042" y="3546634"/>
            <a:ext cx="643888" cy="668853"/>
            <a:chOff x="2747486" y="3069656"/>
            <a:chExt cx="385010" cy="385010"/>
          </a:xfrm>
        </p:grpSpPr>
        <p:grpSp>
          <p:nvGrpSpPr>
            <p:cNvPr id="1477" name="Graphic 1518">
              <a:extLst>
                <a:ext uri="{FF2B5EF4-FFF2-40B4-BE49-F238E27FC236}">
                  <a16:creationId xmlns:a16="http://schemas.microsoft.com/office/drawing/2014/main" id="{49E206F4-FD8C-0F93-A0E1-BB047464F10E}"/>
                </a:ext>
              </a:extLst>
            </p:cNvPr>
            <p:cNvGrpSpPr/>
            <p:nvPr/>
          </p:nvGrpSpPr>
          <p:grpSpPr>
            <a:xfrm>
              <a:off x="2747486" y="3069656"/>
              <a:ext cx="385010" cy="385010"/>
              <a:chOff x="2747486" y="3069656"/>
              <a:chExt cx="385010" cy="385010"/>
            </a:xfrm>
            <a:solidFill>
              <a:srgbClr val="FFFFFF"/>
            </a:solidFill>
          </p:grpSpPr>
          <p:sp>
            <p:nvSpPr>
              <p:cNvPr id="1486" name="Freeform: Shape 1557">
                <a:extLst>
                  <a:ext uri="{FF2B5EF4-FFF2-40B4-BE49-F238E27FC236}">
                    <a16:creationId xmlns:a16="http://schemas.microsoft.com/office/drawing/2014/main" id="{ECF3F79E-9E23-7C7C-A83F-DC5F352F4FC1}"/>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487" name="Freeform: Shape 1558">
                <a:extLst>
                  <a:ext uri="{FF2B5EF4-FFF2-40B4-BE49-F238E27FC236}">
                    <a16:creationId xmlns:a16="http://schemas.microsoft.com/office/drawing/2014/main" id="{B3B48708-BF71-562E-C006-24E9343FFDDD}"/>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478" name="Graphic 1518">
              <a:extLst>
                <a:ext uri="{FF2B5EF4-FFF2-40B4-BE49-F238E27FC236}">
                  <a16:creationId xmlns:a16="http://schemas.microsoft.com/office/drawing/2014/main" id="{7A8180F9-D82E-CC2E-5E17-5A26584EA452}"/>
                </a:ext>
              </a:extLst>
            </p:cNvPr>
            <p:cNvGrpSpPr/>
            <p:nvPr/>
          </p:nvGrpSpPr>
          <p:grpSpPr>
            <a:xfrm>
              <a:off x="2756636" y="3078827"/>
              <a:ext cx="366716" cy="366676"/>
              <a:chOff x="2756636" y="3078827"/>
              <a:chExt cx="366716" cy="366676"/>
            </a:xfrm>
            <a:solidFill>
              <a:srgbClr val="2D5967"/>
            </a:solidFill>
          </p:grpSpPr>
          <p:sp>
            <p:nvSpPr>
              <p:cNvPr id="1479" name="Freeform: Shape 1560">
                <a:extLst>
                  <a:ext uri="{FF2B5EF4-FFF2-40B4-BE49-F238E27FC236}">
                    <a16:creationId xmlns:a16="http://schemas.microsoft.com/office/drawing/2014/main" id="{3928D42B-0351-5399-3335-B8801A435B9B}"/>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480" name="Freeform: Shape 1561">
                <a:extLst>
                  <a:ext uri="{FF2B5EF4-FFF2-40B4-BE49-F238E27FC236}">
                    <a16:creationId xmlns:a16="http://schemas.microsoft.com/office/drawing/2014/main" id="{AEA121FB-F7BF-85CB-4307-BC876A3CAAE2}"/>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481" name="Freeform: Shape 1562">
                <a:extLst>
                  <a:ext uri="{FF2B5EF4-FFF2-40B4-BE49-F238E27FC236}">
                    <a16:creationId xmlns:a16="http://schemas.microsoft.com/office/drawing/2014/main" id="{75DA3EA7-18A4-8A96-6F4A-259FBEE81859}"/>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482" name="Freeform: Shape 1563">
                <a:extLst>
                  <a:ext uri="{FF2B5EF4-FFF2-40B4-BE49-F238E27FC236}">
                    <a16:creationId xmlns:a16="http://schemas.microsoft.com/office/drawing/2014/main" id="{8A36F359-146A-E691-DFCB-87CE929FEBD4}"/>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483" name="Freeform: Shape 1564">
                <a:extLst>
                  <a:ext uri="{FF2B5EF4-FFF2-40B4-BE49-F238E27FC236}">
                    <a16:creationId xmlns:a16="http://schemas.microsoft.com/office/drawing/2014/main" id="{A809C1D3-2198-4DA2-B8D6-DDA4C62D210D}"/>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484" name="Freeform: Shape 1565">
                <a:extLst>
                  <a:ext uri="{FF2B5EF4-FFF2-40B4-BE49-F238E27FC236}">
                    <a16:creationId xmlns:a16="http://schemas.microsoft.com/office/drawing/2014/main" id="{C18AAC18-FAD9-6357-48B4-6A286CD1B6A8}"/>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485" name="Freeform: Shape 1566">
                <a:extLst>
                  <a:ext uri="{FF2B5EF4-FFF2-40B4-BE49-F238E27FC236}">
                    <a16:creationId xmlns:a16="http://schemas.microsoft.com/office/drawing/2014/main" id="{4B52F8E5-E531-4ED1-EAB6-42A28F9981E6}"/>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cxnSp>
        <p:nvCxnSpPr>
          <p:cNvPr id="1490" name="直線コネクタ 1489">
            <a:extLst>
              <a:ext uri="{FF2B5EF4-FFF2-40B4-BE49-F238E27FC236}">
                <a16:creationId xmlns:a16="http://schemas.microsoft.com/office/drawing/2014/main" id="{5891AE55-FC4D-9A0E-10AB-B33AB372E986}"/>
              </a:ext>
            </a:extLst>
          </p:cNvPr>
          <p:cNvCxnSpPr>
            <a:cxnSpLocks/>
            <a:stCxn id="1426" idx="1"/>
            <a:endCxn id="1428" idx="3"/>
          </p:cNvCxnSpPr>
          <p:nvPr/>
        </p:nvCxnSpPr>
        <p:spPr>
          <a:xfrm flipH="1">
            <a:off x="12309604" y="3712488"/>
            <a:ext cx="421024" cy="17648"/>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499" name="Freeform: Shape 24">
            <a:extLst>
              <a:ext uri="{FF2B5EF4-FFF2-40B4-BE49-F238E27FC236}">
                <a16:creationId xmlns:a16="http://schemas.microsoft.com/office/drawing/2014/main" id="{79FBD41B-CB46-5EE9-454A-A3FCBE3BD26C}"/>
              </a:ext>
            </a:extLst>
          </p:cNvPr>
          <p:cNvSpPr/>
          <p:nvPr/>
        </p:nvSpPr>
        <p:spPr>
          <a:xfrm>
            <a:off x="13080036" y="3599570"/>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500" name="Freeform: Shape 24">
            <a:extLst>
              <a:ext uri="{FF2B5EF4-FFF2-40B4-BE49-F238E27FC236}">
                <a16:creationId xmlns:a16="http://schemas.microsoft.com/office/drawing/2014/main" id="{2DB2E176-7C30-6054-A731-84A645717D3E}"/>
              </a:ext>
            </a:extLst>
          </p:cNvPr>
          <p:cNvSpPr/>
          <p:nvPr/>
        </p:nvSpPr>
        <p:spPr>
          <a:xfrm>
            <a:off x="13871613" y="3599570"/>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573" name="Freeform: Shape 24">
            <a:extLst>
              <a:ext uri="{FF2B5EF4-FFF2-40B4-BE49-F238E27FC236}">
                <a16:creationId xmlns:a16="http://schemas.microsoft.com/office/drawing/2014/main" id="{6EA4F0C7-BAD4-C8E4-BF16-832CAF9FA611}"/>
              </a:ext>
            </a:extLst>
          </p:cNvPr>
          <p:cNvSpPr/>
          <p:nvPr/>
        </p:nvSpPr>
        <p:spPr>
          <a:xfrm>
            <a:off x="14663190" y="3599570"/>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574" name="Freeform: Shape 24">
            <a:extLst>
              <a:ext uri="{FF2B5EF4-FFF2-40B4-BE49-F238E27FC236}">
                <a16:creationId xmlns:a16="http://schemas.microsoft.com/office/drawing/2014/main" id="{12A28E71-C8B6-FB7D-DD28-C8281AB542BE}"/>
              </a:ext>
            </a:extLst>
          </p:cNvPr>
          <p:cNvSpPr/>
          <p:nvPr/>
        </p:nvSpPr>
        <p:spPr>
          <a:xfrm>
            <a:off x="15454767" y="3599570"/>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575" name="四角形: 角を丸くする 1574">
            <a:extLst>
              <a:ext uri="{FF2B5EF4-FFF2-40B4-BE49-F238E27FC236}">
                <a16:creationId xmlns:a16="http://schemas.microsoft.com/office/drawing/2014/main" id="{517E5E1F-294D-38CD-49C3-7CCA9E3E2F47}"/>
              </a:ext>
            </a:extLst>
          </p:cNvPr>
          <p:cNvSpPr/>
          <p:nvPr/>
        </p:nvSpPr>
        <p:spPr>
          <a:xfrm>
            <a:off x="12749678" y="4411678"/>
            <a:ext cx="3785722" cy="1076441"/>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dirty="0">
                <a:solidFill>
                  <a:srgbClr val="59574C"/>
                </a:solidFill>
                <a:latin typeface="Source Sans Pro" panose="020B0503030403020204" pitchFamily="34" charset="0"/>
                <a:ea typeface="源ノ角ゴシック JP Regular" panose="020B0500000000000000" pitchFamily="34" charset="-128"/>
              </a:rPr>
              <a:t>現行試験サーバー群</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sp>
        <p:nvSpPr>
          <p:cNvPr id="1576" name="四角形: 角を丸くする 1575">
            <a:extLst>
              <a:ext uri="{FF2B5EF4-FFF2-40B4-BE49-F238E27FC236}">
                <a16:creationId xmlns:a16="http://schemas.microsoft.com/office/drawing/2014/main" id="{814CED85-3AD5-38A4-D5B0-A42DB9823E8E}"/>
              </a:ext>
            </a:extLst>
          </p:cNvPr>
          <p:cNvSpPr/>
          <p:nvPr/>
        </p:nvSpPr>
        <p:spPr>
          <a:xfrm>
            <a:off x="2534013" y="4464502"/>
            <a:ext cx="3316316" cy="1017672"/>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店舗</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
        <p:nvSpPr>
          <p:cNvPr id="1577" name="四角形: 角を丸くする 1576">
            <a:extLst>
              <a:ext uri="{FF2B5EF4-FFF2-40B4-BE49-F238E27FC236}">
                <a16:creationId xmlns:a16="http://schemas.microsoft.com/office/drawing/2014/main" id="{EBC715AD-EF07-C867-A3CE-DFA824535224}"/>
              </a:ext>
            </a:extLst>
          </p:cNvPr>
          <p:cNvSpPr/>
          <p:nvPr/>
        </p:nvSpPr>
        <p:spPr>
          <a:xfrm>
            <a:off x="6468420" y="4445452"/>
            <a:ext cx="5860234" cy="1044189"/>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pic>
        <p:nvPicPr>
          <p:cNvPr id="1580" name="図 1579" descr="コンピューターの画面&#10;&#10;自動的に生成された説明">
            <a:extLst>
              <a:ext uri="{FF2B5EF4-FFF2-40B4-BE49-F238E27FC236}">
                <a16:creationId xmlns:a16="http://schemas.microsoft.com/office/drawing/2014/main" id="{F08E6E31-ADB1-D9BC-FBED-9D38F430C80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rot="16200000">
            <a:off x="4661514" y="4491844"/>
            <a:ext cx="603364" cy="937728"/>
          </a:xfrm>
          <a:prstGeom prst="rect">
            <a:avLst/>
          </a:prstGeom>
        </p:spPr>
      </p:pic>
      <p:grpSp>
        <p:nvGrpSpPr>
          <p:cNvPr id="1583" name="Graphic 4">
            <a:extLst>
              <a:ext uri="{FF2B5EF4-FFF2-40B4-BE49-F238E27FC236}">
                <a16:creationId xmlns:a16="http://schemas.microsoft.com/office/drawing/2014/main" id="{59F33646-C6D3-682C-0DFE-854D0B4EE5CC}"/>
              </a:ext>
            </a:extLst>
          </p:cNvPr>
          <p:cNvGrpSpPr/>
          <p:nvPr/>
        </p:nvGrpSpPr>
        <p:grpSpPr>
          <a:xfrm>
            <a:off x="8465106" y="4765695"/>
            <a:ext cx="691533" cy="645914"/>
            <a:chOff x="7859540" y="2440806"/>
            <a:chExt cx="375193" cy="385010"/>
          </a:xfrm>
        </p:grpSpPr>
        <p:sp>
          <p:nvSpPr>
            <p:cNvPr id="1584" name="Freeform: Shape 905">
              <a:extLst>
                <a:ext uri="{FF2B5EF4-FFF2-40B4-BE49-F238E27FC236}">
                  <a16:creationId xmlns:a16="http://schemas.microsoft.com/office/drawing/2014/main" id="{17973B53-0148-2390-B060-9752E9AE36FC}"/>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585" name="Freeform: Shape 906">
              <a:extLst>
                <a:ext uri="{FF2B5EF4-FFF2-40B4-BE49-F238E27FC236}">
                  <a16:creationId xmlns:a16="http://schemas.microsoft.com/office/drawing/2014/main" id="{74ADB80C-01A4-8DBC-096B-19FF1DB66CB0}"/>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587" name="Freeform: Shape 907">
              <a:extLst>
                <a:ext uri="{FF2B5EF4-FFF2-40B4-BE49-F238E27FC236}">
                  <a16:creationId xmlns:a16="http://schemas.microsoft.com/office/drawing/2014/main" id="{FD08E2C8-5B9A-0D2B-D1EF-A95933DB82B1}"/>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588" name="Freeform: Shape 908">
              <a:extLst>
                <a:ext uri="{FF2B5EF4-FFF2-40B4-BE49-F238E27FC236}">
                  <a16:creationId xmlns:a16="http://schemas.microsoft.com/office/drawing/2014/main" id="{E51F6008-4512-4B76-B2B7-346880B28B96}"/>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589" name="Freeform: Shape 909">
              <a:extLst>
                <a:ext uri="{FF2B5EF4-FFF2-40B4-BE49-F238E27FC236}">
                  <a16:creationId xmlns:a16="http://schemas.microsoft.com/office/drawing/2014/main" id="{39EBC239-834D-3CA3-258C-EECF14E3F998}"/>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592" name="Freeform: Shape 910">
              <a:extLst>
                <a:ext uri="{FF2B5EF4-FFF2-40B4-BE49-F238E27FC236}">
                  <a16:creationId xmlns:a16="http://schemas.microsoft.com/office/drawing/2014/main" id="{BD12D39C-E9A2-C9BE-00ED-8F9EC063ECEF}"/>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593" name="Freeform: Shape 911">
              <a:extLst>
                <a:ext uri="{FF2B5EF4-FFF2-40B4-BE49-F238E27FC236}">
                  <a16:creationId xmlns:a16="http://schemas.microsoft.com/office/drawing/2014/main" id="{64CE7AEB-2433-B5A7-3E79-B28AAE346513}"/>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594" name="Freeform: Shape 912">
              <a:extLst>
                <a:ext uri="{FF2B5EF4-FFF2-40B4-BE49-F238E27FC236}">
                  <a16:creationId xmlns:a16="http://schemas.microsoft.com/office/drawing/2014/main" id="{4CFA5A21-F2A8-46CD-639F-2CAC4D76F478}"/>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595" name="Freeform: Shape 913">
              <a:extLst>
                <a:ext uri="{FF2B5EF4-FFF2-40B4-BE49-F238E27FC236}">
                  <a16:creationId xmlns:a16="http://schemas.microsoft.com/office/drawing/2014/main" id="{F808A7CC-A4C6-DF94-09EB-3D84F202BA84}"/>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596" name="Freeform: Shape 914">
              <a:extLst>
                <a:ext uri="{FF2B5EF4-FFF2-40B4-BE49-F238E27FC236}">
                  <a16:creationId xmlns:a16="http://schemas.microsoft.com/office/drawing/2014/main" id="{FDEBDCC5-653E-9CAC-84E2-E22C8FF1AAA0}"/>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597" name="Freeform: Shape 915">
              <a:extLst>
                <a:ext uri="{FF2B5EF4-FFF2-40B4-BE49-F238E27FC236}">
                  <a16:creationId xmlns:a16="http://schemas.microsoft.com/office/drawing/2014/main" id="{2C3B514E-50F1-2BD3-0D45-90D96B961A88}"/>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598" name="Freeform: Shape 916">
              <a:extLst>
                <a:ext uri="{FF2B5EF4-FFF2-40B4-BE49-F238E27FC236}">
                  <a16:creationId xmlns:a16="http://schemas.microsoft.com/office/drawing/2014/main" id="{1E07F4CC-AA2E-1D00-61C8-9B9F57E1BC6E}"/>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606" name="Freeform: Shape 24">
            <a:extLst>
              <a:ext uri="{FF2B5EF4-FFF2-40B4-BE49-F238E27FC236}">
                <a16:creationId xmlns:a16="http://schemas.microsoft.com/office/drawing/2014/main" id="{83BB06AA-46F3-0650-5834-263DFB66F4E8}"/>
              </a:ext>
            </a:extLst>
          </p:cNvPr>
          <p:cNvSpPr/>
          <p:nvPr/>
        </p:nvSpPr>
        <p:spPr>
          <a:xfrm>
            <a:off x="11101508" y="4792704"/>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607" name="Graphic 1518">
            <a:extLst>
              <a:ext uri="{FF2B5EF4-FFF2-40B4-BE49-F238E27FC236}">
                <a16:creationId xmlns:a16="http://schemas.microsoft.com/office/drawing/2014/main" id="{E6BBCBA8-D747-5D4B-F548-B7EF82A03013}"/>
              </a:ext>
            </a:extLst>
          </p:cNvPr>
          <p:cNvGrpSpPr/>
          <p:nvPr/>
        </p:nvGrpSpPr>
        <p:grpSpPr>
          <a:xfrm>
            <a:off x="9764092" y="4784045"/>
            <a:ext cx="643888" cy="668853"/>
            <a:chOff x="2747486" y="3069656"/>
            <a:chExt cx="385010" cy="385010"/>
          </a:xfrm>
        </p:grpSpPr>
        <p:grpSp>
          <p:nvGrpSpPr>
            <p:cNvPr id="1608" name="Graphic 1518">
              <a:extLst>
                <a:ext uri="{FF2B5EF4-FFF2-40B4-BE49-F238E27FC236}">
                  <a16:creationId xmlns:a16="http://schemas.microsoft.com/office/drawing/2014/main" id="{F17748F1-C8D5-9315-7E17-CF8B8AE221BA}"/>
                </a:ext>
              </a:extLst>
            </p:cNvPr>
            <p:cNvGrpSpPr/>
            <p:nvPr/>
          </p:nvGrpSpPr>
          <p:grpSpPr>
            <a:xfrm>
              <a:off x="2747486" y="3069656"/>
              <a:ext cx="385010" cy="385010"/>
              <a:chOff x="2747486" y="3069656"/>
              <a:chExt cx="385010" cy="385010"/>
            </a:xfrm>
            <a:solidFill>
              <a:srgbClr val="FFFFFF"/>
            </a:solidFill>
          </p:grpSpPr>
          <p:sp>
            <p:nvSpPr>
              <p:cNvPr id="1617" name="Freeform: Shape 1557">
                <a:extLst>
                  <a:ext uri="{FF2B5EF4-FFF2-40B4-BE49-F238E27FC236}">
                    <a16:creationId xmlns:a16="http://schemas.microsoft.com/office/drawing/2014/main" id="{8A397CC4-3643-B857-2EE0-347ADF49C9EC}"/>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618" name="Freeform: Shape 1558">
                <a:extLst>
                  <a:ext uri="{FF2B5EF4-FFF2-40B4-BE49-F238E27FC236}">
                    <a16:creationId xmlns:a16="http://schemas.microsoft.com/office/drawing/2014/main" id="{EE4A6829-43E4-6783-6A6A-2159731C3ACA}"/>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609" name="Graphic 1518">
              <a:extLst>
                <a:ext uri="{FF2B5EF4-FFF2-40B4-BE49-F238E27FC236}">
                  <a16:creationId xmlns:a16="http://schemas.microsoft.com/office/drawing/2014/main" id="{76BFAB53-E729-4D2E-A9E3-43AEDB4D1F74}"/>
                </a:ext>
              </a:extLst>
            </p:cNvPr>
            <p:cNvGrpSpPr/>
            <p:nvPr/>
          </p:nvGrpSpPr>
          <p:grpSpPr>
            <a:xfrm>
              <a:off x="2756636" y="3078827"/>
              <a:ext cx="366716" cy="366676"/>
              <a:chOff x="2756636" y="3078827"/>
              <a:chExt cx="366716" cy="366676"/>
            </a:xfrm>
            <a:solidFill>
              <a:srgbClr val="2D5967"/>
            </a:solidFill>
          </p:grpSpPr>
          <p:sp>
            <p:nvSpPr>
              <p:cNvPr id="1610" name="Freeform: Shape 1560">
                <a:extLst>
                  <a:ext uri="{FF2B5EF4-FFF2-40B4-BE49-F238E27FC236}">
                    <a16:creationId xmlns:a16="http://schemas.microsoft.com/office/drawing/2014/main" id="{E61EC12D-9A2F-31A0-3E51-1D4A8D62A531}"/>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611" name="Freeform: Shape 1561">
                <a:extLst>
                  <a:ext uri="{FF2B5EF4-FFF2-40B4-BE49-F238E27FC236}">
                    <a16:creationId xmlns:a16="http://schemas.microsoft.com/office/drawing/2014/main" id="{0C75F1BE-82D7-DC4E-9567-6BAB0D2D630B}"/>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612" name="Freeform: Shape 1562">
                <a:extLst>
                  <a:ext uri="{FF2B5EF4-FFF2-40B4-BE49-F238E27FC236}">
                    <a16:creationId xmlns:a16="http://schemas.microsoft.com/office/drawing/2014/main" id="{12280915-A62E-3215-F1B6-7752A1A201C6}"/>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613" name="Freeform: Shape 1563">
                <a:extLst>
                  <a:ext uri="{FF2B5EF4-FFF2-40B4-BE49-F238E27FC236}">
                    <a16:creationId xmlns:a16="http://schemas.microsoft.com/office/drawing/2014/main" id="{DD66911A-DEED-AAC9-B7FB-83B301504D62}"/>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614" name="Freeform: Shape 1564">
                <a:extLst>
                  <a:ext uri="{FF2B5EF4-FFF2-40B4-BE49-F238E27FC236}">
                    <a16:creationId xmlns:a16="http://schemas.microsoft.com/office/drawing/2014/main" id="{62E7AA5E-DB0B-1221-0D36-C5579FC9254B}"/>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615" name="Freeform: Shape 1565">
                <a:extLst>
                  <a:ext uri="{FF2B5EF4-FFF2-40B4-BE49-F238E27FC236}">
                    <a16:creationId xmlns:a16="http://schemas.microsoft.com/office/drawing/2014/main" id="{1749D738-8C74-808C-75FC-60615CC7502E}"/>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616" name="Freeform: Shape 1566">
                <a:extLst>
                  <a:ext uri="{FF2B5EF4-FFF2-40B4-BE49-F238E27FC236}">
                    <a16:creationId xmlns:a16="http://schemas.microsoft.com/office/drawing/2014/main" id="{95900846-F1EB-2857-3A91-A0B58254D8DA}"/>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cxnSp>
        <p:nvCxnSpPr>
          <p:cNvPr id="1619" name="直線コネクタ 1618">
            <a:extLst>
              <a:ext uri="{FF2B5EF4-FFF2-40B4-BE49-F238E27FC236}">
                <a16:creationId xmlns:a16="http://schemas.microsoft.com/office/drawing/2014/main" id="{68CE5992-BA3B-00BD-B4E8-B15DBE601099}"/>
              </a:ext>
            </a:extLst>
          </p:cNvPr>
          <p:cNvCxnSpPr>
            <a:cxnSpLocks/>
            <a:stCxn id="1576" idx="3"/>
            <a:endCxn id="1593" idx="1"/>
          </p:cNvCxnSpPr>
          <p:nvPr/>
        </p:nvCxnSpPr>
        <p:spPr>
          <a:xfrm flipV="1">
            <a:off x="5850329" y="4926054"/>
            <a:ext cx="2655936" cy="47284"/>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620" name="図 1619">
            <a:extLst>
              <a:ext uri="{FF2B5EF4-FFF2-40B4-BE49-F238E27FC236}">
                <a16:creationId xmlns:a16="http://schemas.microsoft.com/office/drawing/2014/main" id="{D8AF315C-6547-58E1-8919-BB241690E45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18113" y="4687622"/>
            <a:ext cx="570676" cy="570676"/>
          </a:xfrm>
          <a:prstGeom prst="rect">
            <a:avLst/>
          </a:prstGeom>
        </p:spPr>
      </p:pic>
      <p:cxnSp>
        <p:nvCxnSpPr>
          <p:cNvPr id="1621" name="直線コネクタ 1620">
            <a:extLst>
              <a:ext uri="{FF2B5EF4-FFF2-40B4-BE49-F238E27FC236}">
                <a16:creationId xmlns:a16="http://schemas.microsoft.com/office/drawing/2014/main" id="{D0F58087-C87F-51B3-F1C8-9532641CB359}"/>
              </a:ext>
            </a:extLst>
          </p:cNvPr>
          <p:cNvCxnSpPr>
            <a:cxnSpLocks/>
            <a:stCxn id="1575" idx="1"/>
            <a:endCxn id="1577" idx="3"/>
          </p:cNvCxnSpPr>
          <p:nvPr/>
        </p:nvCxnSpPr>
        <p:spPr>
          <a:xfrm flipH="1">
            <a:off x="12328654" y="4949899"/>
            <a:ext cx="421024" cy="17648"/>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622" name="図 1621" descr="電子機器の部品&#10;&#10;AI によって生成されたコンテンツは間違っている可能性があります。">
            <a:extLst>
              <a:ext uri="{FF2B5EF4-FFF2-40B4-BE49-F238E27FC236}">
                <a16:creationId xmlns:a16="http://schemas.microsoft.com/office/drawing/2014/main" id="{FE50D566-0726-905B-FCF8-8C27764F54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52104" y="4368204"/>
            <a:ext cx="1042171" cy="1234035"/>
          </a:xfrm>
          <a:prstGeom prst="rect">
            <a:avLst/>
          </a:prstGeom>
        </p:spPr>
      </p:pic>
      <p:pic>
        <p:nvPicPr>
          <p:cNvPr id="1623" name="図 1622">
            <a:extLst>
              <a:ext uri="{FF2B5EF4-FFF2-40B4-BE49-F238E27FC236}">
                <a16:creationId xmlns:a16="http://schemas.microsoft.com/office/drawing/2014/main" id="{1383F723-1273-A801-07EB-504D6698B87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39017" y="4581946"/>
            <a:ext cx="559428" cy="559428"/>
          </a:xfrm>
          <a:prstGeom prst="rect">
            <a:avLst/>
          </a:prstGeom>
        </p:spPr>
      </p:pic>
      <p:sp>
        <p:nvSpPr>
          <p:cNvPr id="1624" name="Freeform: Shape 24">
            <a:extLst>
              <a:ext uri="{FF2B5EF4-FFF2-40B4-BE49-F238E27FC236}">
                <a16:creationId xmlns:a16="http://schemas.microsoft.com/office/drawing/2014/main" id="{ABD5634D-6133-2AAC-E17D-F97FA86A6F9D}"/>
              </a:ext>
            </a:extLst>
          </p:cNvPr>
          <p:cNvSpPr/>
          <p:nvPr/>
        </p:nvSpPr>
        <p:spPr>
          <a:xfrm>
            <a:off x="13099086" y="4836981"/>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25" name="Freeform: Shape 24">
            <a:extLst>
              <a:ext uri="{FF2B5EF4-FFF2-40B4-BE49-F238E27FC236}">
                <a16:creationId xmlns:a16="http://schemas.microsoft.com/office/drawing/2014/main" id="{2651EB6A-DB38-A8D7-46D0-1D4BB371ACF8}"/>
              </a:ext>
            </a:extLst>
          </p:cNvPr>
          <p:cNvSpPr/>
          <p:nvPr/>
        </p:nvSpPr>
        <p:spPr>
          <a:xfrm>
            <a:off x="13890663" y="4836981"/>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26" name="Freeform: Shape 24">
            <a:extLst>
              <a:ext uri="{FF2B5EF4-FFF2-40B4-BE49-F238E27FC236}">
                <a16:creationId xmlns:a16="http://schemas.microsoft.com/office/drawing/2014/main" id="{B2E63EEB-5AA2-7031-3AA2-078FD1C374E6}"/>
              </a:ext>
            </a:extLst>
          </p:cNvPr>
          <p:cNvSpPr/>
          <p:nvPr/>
        </p:nvSpPr>
        <p:spPr>
          <a:xfrm>
            <a:off x="14682240" y="4836981"/>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27" name="Freeform: Shape 24">
            <a:extLst>
              <a:ext uri="{FF2B5EF4-FFF2-40B4-BE49-F238E27FC236}">
                <a16:creationId xmlns:a16="http://schemas.microsoft.com/office/drawing/2014/main" id="{4505C983-C418-1F81-957D-084E6D0DAC13}"/>
              </a:ext>
            </a:extLst>
          </p:cNvPr>
          <p:cNvSpPr/>
          <p:nvPr/>
        </p:nvSpPr>
        <p:spPr>
          <a:xfrm>
            <a:off x="15473817" y="4836981"/>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28" name="四角形: 角を丸くする 1627">
            <a:extLst>
              <a:ext uri="{FF2B5EF4-FFF2-40B4-BE49-F238E27FC236}">
                <a16:creationId xmlns:a16="http://schemas.microsoft.com/office/drawing/2014/main" id="{57BC8C3A-172A-FFD9-3254-9837845F1967}"/>
              </a:ext>
            </a:extLst>
          </p:cNvPr>
          <p:cNvSpPr/>
          <p:nvPr/>
        </p:nvSpPr>
        <p:spPr>
          <a:xfrm>
            <a:off x="12749678" y="5610989"/>
            <a:ext cx="3785722" cy="1076441"/>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dirty="0">
                <a:solidFill>
                  <a:srgbClr val="59574C"/>
                </a:solidFill>
                <a:latin typeface="Source Sans Pro" panose="020B0503030403020204" pitchFamily="34" charset="0"/>
                <a:ea typeface="源ノ角ゴシック JP Regular" panose="020B0500000000000000" pitchFamily="34" charset="-128"/>
              </a:rPr>
              <a:t>現行試験サーバー群</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sp>
        <p:nvSpPr>
          <p:cNvPr id="1629" name="四角形: 角を丸くする 1628">
            <a:extLst>
              <a:ext uri="{FF2B5EF4-FFF2-40B4-BE49-F238E27FC236}">
                <a16:creationId xmlns:a16="http://schemas.microsoft.com/office/drawing/2014/main" id="{0AA10635-6853-5417-F474-58217428074B}"/>
              </a:ext>
            </a:extLst>
          </p:cNvPr>
          <p:cNvSpPr/>
          <p:nvPr/>
        </p:nvSpPr>
        <p:spPr>
          <a:xfrm>
            <a:off x="2534013" y="5663813"/>
            <a:ext cx="3316316" cy="1017672"/>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店舗</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
        <p:nvSpPr>
          <p:cNvPr id="1630" name="四角形: 角を丸くする 1629">
            <a:extLst>
              <a:ext uri="{FF2B5EF4-FFF2-40B4-BE49-F238E27FC236}">
                <a16:creationId xmlns:a16="http://schemas.microsoft.com/office/drawing/2014/main" id="{64985A4E-ABD9-C6CA-087E-55E5593B5773}"/>
              </a:ext>
            </a:extLst>
          </p:cNvPr>
          <p:cNvSpPr/>
          <p:nvPr/>
        </p:nvSpPr>
        <p:spPr>
          <a:xfrm>
            <a:off x="6461826" y="5644763"/>
            <a:ext cx="5866828" cy="1044189"/>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pic>
        <p:nvPicPr>
          <p:cNvPr id="1631" name="図 1630" descr="コンピューターの画面&#10;&#10;自動的に生成された説明">
            <a:extLst>
              <a:ext uri="{FF2B5EF4-FFF2-40B4-BE49-F238E27FC236}">
                <a16:creationId xmlns:a16="http://schemas.microsoft.com/office/drawing/2014/main" id="{41A1CDEC-330F-8A72-0096-61295832045C}"/>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rot="16200000">
            <a:off x="4661514" y="5691155"/>
            <a:ext cx="603364" cy="937728"/>
          </a:xfrm>
          <a:prstGeom prst="rect">
            <a:avLst/>
          </a:prstGeom>
        </p:spPr>
      </p:pic>
      <p:grpSp>
        <p:nvGrpSpPr>
          <p:cNvPr id="1632" name="Graphic 4">
            <a:extLst>
              <a:ext uri="{FF2B5EF4-FFF2-40B4-BE49-F238E27FC236}">
                <a16:creationId xmlns:a16="http://schemas.microsoft.com/office/drawing/2014/main" id="{EFDA5AF2-03B9-72C5-60E4-45AACFFCF2B8}"/>
              </a:ext>
            </a:extLst>
          </p:cNvPr>
          <p:cNvGrpSpPr/>
          <p:nvPr/>
        </p:nvGrpSpPr>
        <p:grpSpPr>
          <a:xfrm>
            <a:off x="8465106" y="5965006"/>
            <a:ext cx="691533" cy="645914"/>
            <a:chOff x="7859540" y="2440806"/>
            <a:chExt cx="375193" cy="385010"/>
          </a:xfrm>
        </p:grpSpPr>
        <p:sp>
          <p:nvSpPr>
            <p:cNvPr id="1633" name="Freeform: Shape 905">
              <a:extLst>
                <a:ext uri="{FF2B5EF4-FFF2-40B4-BE49-F238E27FC236}">
                  <a16:creationId xmlns:a16="http://schemas.microsoft.com/office/drawing/2014/main" id="{3B48B7DC-25ED-C545-34EF-10108D1E4273}"/>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634" name="Freeform: Shape 906">
              <a:extLst>
                <a:ext uri="{FF2B5EF4-FFF2-40B4-BE49-F238E27FC236}">
                  <a16:creationId xmlns:a16="http://schemas.microsoft.com/office/drawing/2014/main" id="{429C3C09-ABE7-54FB-76B4-79035715B29C}"/>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635" name="Freeform: Shape 907">
              <a:extLst>
                <a:ext uri="{FF2B5EF4-FFF2-40B4-BE49-F238E27FC236}">
                  <a16:creationId xmlns:a16="http://schemas.microsoft.com/office/drawing/2014/main" id="{64CC630C-BAA1-15A0-D4E1-7D54C878F4E1}"/>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636" name="Freeform: Shape 908">
              <a:extLst>
                <a:ext uri="{FF2B5EF4-FFF2-40B4-BE49-F238E27FC236}">
                  <a16:creationId xmlns:a16="http://schemas.microsoft.com/office/drawing/2014/main" id="{523C554C-600C-FA92-FE51-D06512FD0F6C}"/>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637" name="Freeform: Shape 909">
              <a:extLst>
                <a:ext uri="{FF2B5EF4-FFF2-40B4-BE49-F238E27FC236}">
                  <a16:creationId xmlns:a16="http://schemas.microsoft.com/office/drawing/2014/main" id="{AC137837-5B8A-1A70-A8B8-9FFE069B4EAE}"/>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638" name="Freeform: Shape 910">
              <a:extLst>
                <a:ext uri="{FF2B5EF4-FFF2-40B4-BE49-F238E27FC236}">
                  <a16:creationId xmlns:a16="http://schemas.microsoft.com/office/drawing/2014/main" id="{F98E2B53-1098-C824-183E-B736DF3C43D1}"/>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639" name="Freeform: Shape 911">
              <a:extLst>
                <a:ext uri="{FF2B5EF4-FFF2-40B4-BE49-F238E27FC236}">
                  <a16:creationId xmlns:a16="http://schemas.microsoft.com/office/drawing/2014/main" id="{8EE7A0AB-5008-3913-3C4E-101F65B23E9B}"/>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640" name="Freeform: Shape 912">
              <a:extLst>
                <a:ext uri="{FF2B5EF4-FFF2-40B4-BE49-F238E27FC236}">
                  <a16:creationId xmlns:a16="http://schemas.microsoft.com/office/drawing/2014/main" id="{ECC19138-71DF-9D6F-9A0D-DE15E8C2D07A}"/>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641" name="Freeform: Shape 913">
              <a:extLst>
                <a:ext uri="{FF2B5EF4-FFF2-40B4-BE49-F238E27FC236}">
                  <a16:creationId xmlns:a16="http://schemas.microsoft.com/office/drawing/2014/main" id="{06B28528-ED7C-A5B1-772D-0650B9C1C2E8}"/>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642" name="Freeform: Shape 914">
              <a:extLst>
                <a:ext uri="{FF2B5EF4-FFF2-40B4-BE49-F238E27FC236}">
                  <a16:creationId xmlns:a16="http://schemas.microsoft.com/office/drawing/2014/main" id="{274AA378-B0FD-0322-CA74-0E3BFFFA27C7}"/>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643" name="Freeform: Shape 915">
              <a:extLst>
                <a:ext uri="{FF2B5EF4-FFF2-40B4-BE49-F238E27FC236}">
                  <a16:creationId xmlns:a16="http://schemas.microsoft.com/office/drawing/2014/main" id="{970CA611-B041-33C4-35F3-F0BD6E25B6C0}"/>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644" name="Freeform: Shape 916">
              <a:extLst>
                <a:ext uri="{FF2B5EF4-FFF2-40B4-BE49-F238E27FC236}">
                  <a16:creationId xmlns:a16="http://schemas.microsoft.com/office/drawing/2014/main" id="{7B4E8062-63C4-9348-68EA-3DB663123D51}"/>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645" name="Freeform: Shape 24">
            <a:extLst>
              <a:ext uri="{FF2B5EF4-FFF2-40B4-BE49-F238E27FC236}">
                <a16:creationId xmlns:a16="http://schemas.microsoft.com/office/drawing/2014/main" id="{1EECC3A6-4765-F7B9-5506-D5ECF8AD7E26}"/>
              </a:ext>
            </a:extLst>
          </p:cNvPr>
          <p:cNvSpPr/>
          <p:nvPr/>
        </p:nvSpPr>
        <p:spPr>
          <a:xfrm>
            <a:off x="11101508" y="5992015"/>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646" name="Graphic 1518">
            <a:extLst>
              <a:ext uri="{FF2B5EF4-FFF2-40B4-BE49-F238E27FC236}">
                <a16:creationId xmlns:a16="http://schemas.microsoft.com/office/drawing/2014/main" id="{C157FD69-8B24-4961-9EBE-A840A4EAC07C}"/>
              </a:ext>
            </a:extLst>
          </p:cNvPr>
          <p:cNvGrpSpPr/>
          <p:nvPr/>
        </p:nvGrpSpPr>
        <p:grpSpPr>
          <a:xfrm>
            <a:off x="9764092" y="5983356"/>
            <a:ext cx="643888" cy="668853"/>
            <a:chOff x="2747486" y="3069656"/>
            <a:chExt cx="385010" cy="385010"/>
          </a:xfrm>
        </p:grpSpPr>
        <p:grpSp>
          <p:nvGrpSpPr>
            <p:cNvPr id="1647" name="Graphic 1518">
              <a:extLst>
                <a:ext uri="{FF2B5EF4-FFF2-40B4-BE49-F238E27FC236}">
                  <a16:creationId xmlns:a16="http://schemas.microsoft.com/office/drawing/2014/main" id="{DA3BAC1F-0769-A830-5760-F2E5C136E201}"/>
                </a:ext>
              </a:extLst>
            </p:cNvPr>
            <p:cNvGrpSpPr/>
            <p:nvPr/>
          </p:nvGrpSpPr>
          <p:grpSpPr>
            <a:xfrm>
              <a:off x="2747486" y="3069656"/>
              <a:ext cx="385010" cy="385010"/>
              <a:chOff x="2747486" y="3069656"/>
              <a:chExt cx="385010" cy="385010"/>
            </a:xfrm>
            <a:solidFill>
              <a:srgbClr val="FFFFFF"/>
            </a:solidFill>
          </p:grpSpPr>
          <p:sp>
            <p:nvSpPr>
              <p:cNvPr id="1656" name="Freeform: Shape 1557">
                <a:extLst>
                  <a:ext uri="{FF2B5EF4-FFF2-40B4-BE49-F238E27FC236}">
                    <a16:creationId xmlns:a16="http://schemas.microsoft.com/office/drawing/2014/main" id="{BEED53D5-444F-7DC9-BAA5-3A0DF138EB10}"/>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657" name="Freeform: Shape 1558">
                <a:extLst>
                  <a:ext uri="{FF2B5EF4-FFF2-40B4-BE49-F238E27FC236}">
                    <a16:creationId xmlns:a16="http://schemas.microsoft.com/office/drawing/2014/main" id="{E4B72BAA-1BDD-E6F4-D98F-67C301E46F5F}"/>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648" name="Graphic 1518">
              <a:extLst>
                <a:ext uri="{FF2B5EF4-FFF2-40B4-BE49-F238E27FC236}">
                  <a16:creationId xmlns:a16="http://schemas.microsoft.com/office/drawing/2014/main" id="{D2493043-4664-89F9-BE1D-1A26FE4852AB}"/>
                </a:ext>
              </a:extLst>
            </p:cNvPr>
            <p:cNvGrpSpPr/>
            <p:nvPr/>
          </p:nvGrpSpPr>
          <p:grpSpPr>
            <a:xfrm>
              <a:off x="2756636" y="3078827"/>
              <a:ext cx="366716" cy="366676"/>
              <a:chOff x="2756636" y="3078827"/>
              <a:chExt cx="366716" cy="366676"/>
            </a:xfrm>
            <a:solidFill>
              <a:srgbClr val="2D5967"/>
            </a:solidFill>
          </p:grpSpPr>
          <p:sp>
            <p:nvSpPr>
              <p:cNvPr id="1649" name="Freeform: Shape 1560">
                <a:extLst>
                  <a:ext uri="{FF2B5EF4-FFF2-40B4-BE49-F238E27FC236}">
                    <a16:creationId xmlns:a16="http://schemas.microsoft.com/office/drawing/2014/main" id="{1622E7DD-E1B4-BEAA-4017-F5FA66FB8C74}"/>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650" name="Freeform: Shape 1561">
                <a:extLst>
                  <a:ext uri="{FF2B5EF4-FFF2-40B4-BE49-F238E27FC236}">
                    <a16:creationId xmlns:a16="http://schemas.microsoft.com/office/drawing/2014/main" id="{A6DA6CA5-45E5-C85A-21E9-AD5DFE69A91A}"/>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651" name="Freeform: Shape 1562">
                <a:extLst>
                  <a:ext uri="{FF2B5EF4-FFF2-40B4-BE49-F238E27FC236}">
                    <a16:creationId xmlns:a16="http://schemas.microsoft.com/office/drawing/2014/main" id="{C5D64EA3-CBC3-4C5F-8980-49F65CCA5BF5}"/>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652" name="Freeform: Shape 1563">
                <a:extLst>
                  <a:ext uri="{FF2B5EF4-FFF2-40B4-BE49-F238E27FC236}">
                    <a16:creationId xmlns:a16="http://schemas.microsoft.com/office/drawing/2014/main" id="{DEBC2F10-92A2-2827-E82C-21781C2DC8E5}"/>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653" name="Freeform: Shape 1564">
                <a:extLst>
                  <a:ext uri="{FF2B5EF4-FFF2-40B4-BE49-F238E27FC236}">
                    <a16:creationId xmlns:a16="http://schemas.microsoft.com/office/drawing/2014/main" id="{19FBE634-4D79-4F56-D416-B1A78A7EE088}"/>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654" name="Freeform: Shape 1565">
                <a:extLst>
                  <a:ext uri="{FF2B5EF4-FFF2-40B4-BE49-F238E27FC236}">
                    <a16:creationId xmlns:a16="http://schemas.microsoft.com/office/drawing/2014/main" id="{3B807363-1C3A-52D5-9294-30205FFFF8E4}"/>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655" name="Freeform: Shape 1566">
                <a:extLst>
                  <a:ext uri="{FF2B5EF4-FFF2-40B4-BE49-F238E27FC236}">
                    <a16:creationId xmlns:a16="http://schemas.microsoft.com/office/drawing/2014/main" id="{60AFA575-3DE2-151A-ED2E-7A622905CAAF}"/>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cxnSp>
        <p:nvCxnSpPr>
          <p:cNvPr id="1658" name="直線コネクタ 1657">
            <a:extLst>
              <a:ext uri="{FF2B5EF4-FFF2-40B4-BE49-F238E27FC236}">
                <a16:creationId xmlns:a16="http://schemas.microsoft.com/office/drawing/2014/main" id="{45B22813-E9A4-1EC0-919B-91AE4C28EDD9}"/>
              </a:ext>
            </a:extLst>
          </p:cNvPr>
          <p:cNvCxnSpPr>
            <a:cxnSpLocks/>
            <a:stCxn id="1629" idx="3"/>
            <a:endCxn id="1639" idx="1"/>
          </p:cNvCxnSpPr>
          <p:nvPr/>
        </p:nvCxnSpPr>
        <p:spPr>
          <a:xfrm flipV="1">
            <a:off x="5850329" y="6125365"/>
            <a:ext cx="2655936" cy="47284"/>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659" name="図 1658">
            <a:extLst>
              <a:ext uri="{FF2B5EF4-FFF2-40B4-BE49-F238E27FC236}">
                <a16:creationId xmlns:a16="http://schemas.microsoft.com/office/drawing/2014/main" id="{FEB0F5AC-47A9-D76A-F12C-9BB281ADAC5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18113" y="5886933"/>
            <a:ext cx="570676" cy="570676"/>
          </a:xfrm>
          <a:prstGeom prst="rect">
            <a:avLst/>
          </a:prstGeom>
        </p:spPr>
      </p:pic>
      <p:cxnSp>
        <p:nvCxnSpPr>
          <p:cNvPr id="1660" name="直線コネクタ 1659">
            <a:extLst>
              <a:ext uri="{FF2B5EF4-FFF2-40B4-BE49-F238E27FC236}">
                <a16:creationId xmlns:a16="http://schemas.microsoft.com/office/drawing/2014/main" id="{27074058-0E37-19D9-A8AD-1FEBBBD08DAE}"/>
              </a:ext>
            </a:extLst>
          </p:cNvPr>
          <p:cNvCxnSpPr>
            <a:cxnSpLocks/>
            <a:stCxn id="1628" idx="1"/>
            <a:endCxn id="1630" idx="3"/>
          </p:cNvCxnSpPr>
          <p:nvPr/>
        </p:nvCxnSpPr>
        <p:spPr>
          <a:xfrm flipH="1">
            <a:off x="12328654" y="6149210"/>
            <a:ext cx="421024" cy="17648"/>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661" name="図 1660" descr="電子機器の部品&#10;&#10;AI によって生成されたコンテンツは間違っている可能性があります。">
            <a:extLst>
              <a:ext uri="{FF2B5EF4-FFF2-40B4-BE49-F238E27FC236}">
                <a16:creationId xmlns:a16="http://schemas.microsoft.com/office/drawing/2014/main" id="{67EF0A42-1BCB-D6F7-C169-67F62600B6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52104" y="5567515"/>
            <a:ext cx="1042171" cy="1234035"/>
          </a:xfrm>
          <a:prstGeom prst="rect">
            <a:avLst/>
          </a:prstGeom>
        </p:spPr>
      </p:pic>
      <p:pic>
        <p:nvPicPr>
          <p:cNvPr id="1662" name="図 1661">
            <a:extLst>
              <a:ext uri="{FF2B5EF4-FFF2-40B4-BE49-F238E27FC236}">
                <a16:creationId xmlns:a16="http://schemas.microsoft.com/office/drawing/2014/main" id="{0238A645-C1B1-B785-725A-BE9B2ED906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39017" y="5781257"/>
            <a:ext cx="559428" cy="559428"/>
          </a:xfrm>
          <a:prstGeom prst="rect">
            <a:avLst/>
          </a:prstGeom>
        </p:spPr>
      </p:pic>
      <p:sp>
        <p:nvSpPr>
          <p:cNvPr id="1663" name="Freeform: Shape 24">
            <a:extLst>
              <a:ext uri="{FF2B5EF4-FFF2-40B4-BE49-F238E27FC236}">
                <a16:creationId xmlns:a16="http://schemas.microsoft.com/office/drawing/2014/main" id="{CCFE3E61-2170-A618-BAA9-C6D0C45B8011}"/>
              </a:ext>
            </a:extLst>
          </p:cNvPr>
          <p:cNvSpPr/>
          <p:nvPr/>
        </p:nvSpPr>
        <p:spPr>
          <a:xfrm>
            <a:off x="13099086" y="6036292"/>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64" name="Freeform: Shape 24">
            <a:extLst>
              <a:ext uri="{FF2B5EF4-FFF2-40B4-BE49-F238E27FC236}">
                <a16:creationId xmlns:a16="http://schemas.microsoft.com/office/drawing/2014/main" id="{10971C58-B201-E294-8CEC-6F39DCDB0E54}"/>
              </a:ext>
            </a:extLst>
          </p:cNvPr>
          <p:cNvSpPr/>
          <p:nvPr/>
        </p:nvSpPr>
        <p:spPr>
          <a:xfrm>
            <a:off x="13890663" y="6036292"/>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65" name="Freeform: Shape 24">
            <a:extLst>
              <a:ext uri="{FF2B5EF4-FFF2-40B4-BE49-F238E27FC236}">
                <a16:creationId xmlns:a16="http://schemas.microsoft.com/office/drawing/2014/main" id="{93305D85-FB84-50FB-0D42-47CE9E8E0DA8}"/>
              </a:ext>
            </a:extLst>
          </p:cNvPr>
          <p:cNvSpPr/>
          <p:nvPr/>
        </p:nvSpPr>
        <p:spPr>
          <a:xfrm>
            <a:off x="14682240" y="6036292"/>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66" name="Freeform: Shape 24">
            <a:extLst>
              <a:ext uri="{FF2B5EF4-FFF2-40B4-BE49-F238E27FC236}">
                <a16:creationId xmlns:a16="http://schemas.microsoft.com/office/drawing/2014/main" id="{FA28947D-6356-3EBF-9A9E-28D2BDF2DB7C}"/>
              </a:ext>
            </a:extLst>
          </p:cNvPr>
          <p:cNvSpPr/>
          <p:nvPr/>
        </p:nvSpPr>
        <p:spPr>
          <a:xfrm>
            <a:off x="15473817" y="6036292"/>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667" name="四角形: 角を丸くする 1666">
            <a:extLst>
              <a:ext uri="{FF2B5EF4-FFF2-40B4-BE49-F238E27FC236}">
                <a16:creationId xmlns:a16="http://schemas.microsoft.com/office/drawing/2014/main" id="{B9A539BF-7CA9-D508-A0E6-ED0CC76263F6}"/>
              </a:ext>
            </a:extLst>
          </p:cNvPr>
          <p:cNvSpPr/>
          <p:nvPr/>
        </p:nvSpPr>
        <p:spPr>
          <a:xfrm>
            <a:off x="12749678" y="6810300"/>
            <a:ext cx="3785722" cy="1076441"/>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dirty="0">
                <a:solidFill>
                  <a:srgbClr val="59574C"/>
                </a:solidFill>
                <a:latin typeface="Source Sans Pro" panose="020B0503030403020204" pitchFamily="34" charset="0"/>
                <a:ea typeface="源ノ角ゴシック JP Regular" panose="020B0500000000000000" pitchFamily="34" charset="-128"/>
              </a:rPr>
              <a:t>現行試験サーバー群</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sp>
        <p:nvSpPr>
          <p:cNvPr id="1668" name="四角形: 角を丸くする 1667">
            <a:extLst>
              <a:ext uri="{FF2B5EF4-FFF2-40B4-BE49-F238E27FC236}">
                <a16:creationId xmlns:a16="http://schemas.microsoft.com/office/drawing/2014/main" id="{2BF53458-7D14-2BAB-8027-611324FF3E48}"/>
              </a:ext>
            </a:extLst>
          </p:cNvPr>
          <p:cNvSpPr/>
          <p:nvPr/>
        </p:nvSpPr>
        <p:spPr>
          <a:xfrm>
            <a:off x="2534013" y="6863124"/>
            <a:ext cx="3316316" cy="1017672"/>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a:solidFill>
                  <a:srgbClr val="59574C"/>
                </a:solidFill>
                <a:latin typeface="Source Sans Pro" panose="020B0503030403020204" pitchFamily="34" charset="0"/>
                <a:ea typeface="源ノ角ゴシック JP Regular" panose="020B0500000000000000" pitchFamily="34" charset="-128"/>
              </a:rPr>
              <a:t>店舗</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
        <p:nvSpPr>
          <p:cNvPr id="1669" name="四角形: 角を丸くする 1668">
            <a:extLst>
              <a:ext uri="{FF2B5EF4-FFF2-40B4-BE49-F238E27FC236}">
                <a16:creationId xmlns:a16="http://schemas.microsoft.com/office/drawing/2014/main" id="{BA418E7E-5CAE-B816-3225-2843687B2D94}"/>
              </a:ext>
            </a:extLst>
          </p:cNvPr>
          <p:cNvSpPr/>
          <p:nvPr/>
        </p:nvSpPr>
        <p:spPr>
          <a:xfrm>
            <a:off x="6461826" y="6844074"/>
            <a:ext cx="5866828" cy="1044189"/>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pic>
        <p:nvPicPr>
          <p:cNvPr id="1670" name="図 1669" descr="コンピューターの画面&#10;&#10;自動的に生成された説明">
            <a:extLst>
              <a:ext uri="{FF2B5EF4-FFF2-40B4-BE49-F238E27FC236}">
                <a16:creationId xmlns:a16="http://schemas.microsoft.com/office/drawing/2014/main" id="{41BE1A1A-821E-A85D-0045-A3A44E36804E}"/>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rot="16200000">
            <a:off x="4661514" y="6890466"/>
            <a:ext cx="603364" cy="937728"/>
          </a:xfrm>
          <a:prstGeom prst="rect">
            <a:avLst/>
          </a:prstGeom>
        </p:spPr>
      </p:pic>
      <p:grpSp>
        <p:nvGrpSpPr>
          <p:cNvPr id="1671" name="Graphic 4">
            <a:extLst>
              <a:ext uri="{FF2B5EF4-FFF2-40B4-BE49-F238E27FC236}">
                <a16:creationId xmlns:a16="http://schemas.microsoft.com/office/drawing/2014/main" id="{39343F46-0783-5C57-4104-5E56CF20C86D}"/>
              </a:ext>
            </a:extLst>
          </p:cNvPr>
          <p:cNvGrpSpPr/>
          <p:nvPr/>
        </p:nvGrpSpPr>
        <p:grpSpPr>
          <a:xfrm>
            <a:off x="8465106" y="7164317"/>
            <a:ext cx="691533" cy="645914"/>
            <a:chOff x="7859540" y="2440806"/>
            <a:chExt cx="375193" cy="385010"/>
          </a:xfrm>
        </p:grpSpPr>
        <p:sp>
          <p:nvSpPr>
            <p:cNvPr id="1672" name="Freeform: Shape 905">
              <a:extLst>
                <a:ext uri="{FF2B5EF4-FFF2-40B4-BE49-F238E27FC236}">
                  <a16:creationId xmlns:a16="http://schemas.microsoft.com/office/drawing/2014/main" id="{953E2D29-D7E3-01D3-6BC6-42E17E424213}"/>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673" name="Freeform: Shape 906">
              <a:extLst>
                <a:ext uri="{FF2B5EF4-FFF2-40B4-BE49-F238E27FC236}">
                  <a16:creationId xmlns:a16="http://schemas.microsoft.com/office/drawing/2014/main" id="{E332DE04-3E55-7E59-5BA1-BCB76056D3F2}"/>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674" name="Freeform: Shape 907">
              <a:extLst>
                <a:ext uri="{FF2B5EF4-FFF2-40B4-BE49-F238E27FC236}">
                  <a16:creationId xmlns:a16="http://schemas.microsoft.com/office/drawing/2014/main" id="{EAA595E4-C3C7-39D0-B3EF-E344B6DCE501}"/>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675" name="Freeform: Shape 908">
              <a:extLst>
                <a:ext uri="{FF2B5EF4-FFF2-40B4-BE49-F238E27FC236}">
                  <a16:creationId xmlns:a16="http://schemas.microsoft.com/office/drawing/2014/main" id="{845B6250-BF73-3C5D-CAE5-6E4B42BF80A6}"/>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676" name="Freeform: Shape 909">
              <a:extLst>
                <a:ext uri="{FF2B5EF4-FFF2-40B4-BE49-F238E27FC236}">
                  <a16:creationId xmlns:a16="http://schemas.microsoft.com/office/drawing/2014/main" id="{D9FFF4D2-E845-7FD3-1DA7-65707F36D761}"/>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677" name="Freeform: Shape 910">
              <a:extLst>
                <a:ext uri="{FF2B5EF4-FFF2-40B4-BE49-F238E27FC236}">
                  <a16:creationId xmlns:a16="http://schemas.microsoft.com/office/drawing/2014/main" id="{F7A5BF11-CBEF-8AF1-5030-EF114ECB2D0A}"/>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678" name="Freeform: Shape 911">
              <a:extLst>
                <a:ext uri="{FF2B5EF4-FFF2-40B4-BE49-F238E27FC236}">
                  <a16:creationId xmlns:a16="http://schemas.microsoft.com/office/drawing/2014/main" id="{39473871-BF4C-8945-5101-38F8F832D47E}"/>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679" name="Freeform: Shape 912">
              <a:extLst>
                <a:ext uri="{FF2B5EF4-FFF2-40B4-BE49-F238E27FC236}">
                  <a16:creationId xmlns:a16="http://schemas.microsoft.com/office/drawing/2014/main" id="{1512402A-23C0-A370-60E5-DBA8B2B590A0}"/>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680" name="Freeform: Shape 913">
              <a:extLst>
                <a:ext uri="{FF2B5EF4-FFF2-40B4-BE49-F238E27FC236}">
                  <a16:creationId xmlns:a16="http://schemas.microsoft.com/office/drawing/2014/main" id="{776CA67E-5265-AF78-ACB1-2E44FA3EE759}"/>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681" name="Freeform: Shape 914">
              <a:extLst>
                <a:ext uri="{FF2B5EF4-FFF2-40B4-BE49-F238E27FC236}">
                  <a16:creationId xmlns:a16="http://schemas.microsoft.com/office/drawing/2014/main" id="{9A174107-9251-7989-F778-3CF9B5D052D6}"/>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682" name="Freeform: Shape 915">
              <a:extLst>
                <a:ext uri="{FF2B5EF4-FFF2-40B4-BE49-F238E27FC236}">
                  <a16:creationId xmlns:a16="http://schemas.microsoft.com/office/drawing/2014/main" id="{D04901A6-D760-1A52-DDEE-F81932272AD2}"/>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683" name="Freeform: Shape 916">
              <a:extLst>
                <a:ext uri="{FF2B5EF4-FFF2-40B4-BE49-F238E27FC236}">
                  <a16:creationId xmlns:a16="http://schemas.microsoft.com/office/drawing/2014/main" id="{05C6DB4D-CF16-0831-B159-453C40A2C5E3}"/>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684" name="Freeform: Shape 24">
            <a:extLst>
              <a:ext uri="{FF2B5EF4-FFF2-40B4-BE49-F238E27FC236}">
                <a16:creationId xmlns:a16="http://schemas.microsoft.com/office/drawing/2014/main" id="{6AA31C70-DB68-79E1-3DA9-C8E56216F81C}"/>
              </a:ext>
            </a:extLst>
          </p:cNvPr>
          <p:cNvSpPr/>
          <p:nvPr/>
        </p:nvSpPr>
        <p:spPr>
          <a:xfrm>
            <a:off x="11101508" y="7191326"/>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685" name="Graphic 1518">
            <a:extLst>
              <a:ext uri="{FF2B5EF4-FFF2-40B4-BE49-F238E27FC236}">
                <a16:creationId xmlns:a16="http://schemas.microsoft.com/office/drawing/2014/main" id="{67677CD4-A951-89DE-08C6-81E7BF1ECEDD}"/>
              </a:ext>
            </a:extLst>
          </p:cNvPr>
          <p:cNvGrpSpPr/>
          <p:nvPr/>
        </p:nvGrpSpPr>
        <p:grpSpPr>
          <a:xfrm>
            <a:off x="9764092" y="7182667"/>
            <a:ext cx="643888" cy="668853"/>
            <a:chOff x="2747486" y="3069656"/>
            <a:chExt cx="385010" cy="385010"/>
          </a:xfrm>
        </p:grpSpPr>
        <p:grpSp>
          <p:nvGrpSpPr>
            <p:cNvPr id="1686" name="Graphic 1518">
              <a:extLst>
                <a:ext uri="{FF2B5EF4-FFF2-40B4-BE49-F238E27FC236}">
                  <a16:creationId xmlns:a16="http://schemas.microsoft.com/office/drawing/2014/main" id="{7C6502A4-4D31-9AC9-C4F4-5030E6B49CE8}"/>
                </a:ext>
              </a:extLst>
            </p:cNvPr>
            <p:cNvGrpSpPr/>
            <p:nvPr/>
          </p:nvGrpSpPr>
          <p:grpSpPr>
            <a:xfrm>
              <a:off x="2747486" y="3069656"/>
              <a:ext cx="385010" cy="385010"/>
              <a:chOff x="2747486" y="3069656"/>
              <a:chExt cx="385010" cy="385010"/>
            </a:xfrm>
            <a:solidFill>
              <a:srgbClr val="FFFFFF"/>
            </a:solidFill>
          </p:grpSpPr>
          <p:sp>
            <p:nvSpPr>
              <p:cNvPr id="1695" name="Freeform: Shape 1557">
                <a:extLst>
                  <a:ext uri="{FF2B5EF4-FFF2-40B4-BE49-F238E27FC236}">
                    <a16:creationId xmlns:a16="http://schemas.microsoft.com/office/drawing/2014/main" id="{626657D1-A73C-206F-F7BF-AFBC89367A29}"/>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696" name="Freeform: Shape 1558">
                <a:extLst>
                  <a:ext uri="{FF2B5EF4-FFF2-40B4-BE49-F238E27FC236}">
                    <a16:creationId xmlns:a16="http://schemas.microsoft.com/office/drawing/2014/main" id="{7D314DBF-D77A-F0A8-0615-0A9B3C972BB5}"/>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687" name="Graphic 1518">
              <a:extLst>
                <a:ext uri="{FF2B5EF4-FFF2-40B4-BE49-F238E27FC236}">
                  <a16:creationId xmlns:a16="http://schemas.microsoft.com/office/drawing/2014/main" id="{25E81955-D771-8B47-A6D7-59755B7E56FA}"/>
                </a:ext>
              </a:extLst>
            </p:cNvPr>
            <p:cNvGrpSpPr/>
            <p:nvPr/>
          </p:nvGrpSpPr>
          <p:grpSpPr>
            <a:xfrm>
              <a:off x="2756636" y="3078827"/>
              <a:ext cx="366716" cy="366676"/>
              <a:chOff x="2756636" y="3078827"/>
              <a:chExt cx="366716" cy="366676"/>
            </a:xfrm>
            <a:solidFill>
              <a:srgbClr val="2D5967"/>
            </a:solidFill>
          </p:grpSpPr>
          <p:sp>
            <p:nvSpPr>
              <p:cNvPr id="1688" name="Freeform: Shape 1560">
                <a:extLst>
                  <a:ext uri="{FF2B5EF4-FFF2-40B4-BE49-F238E27FC236}">
                    <a16:creationId xmlns:a16="http://schemas.microsoft.com/office/drawing/2014/main" id="{A391B80A-362E-AC3D-BECA-322131830BB4}"/>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689" name="Freeform: Shape 1561">
                <a:extLst>
                  <a:ext uri="{FF2B5EF4-FFF2-40B4-BE49-F238E27FC236}">
                    <a16:creationId xmlns:a16="http://schemas.microsoft.com/office/drawing/2014/main" id="{C751E5FF-FBBF-F32F-94B3-3C34BD0226D6}"/>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690" name="Freeform: Shape 1562">
                <a:extLst>
                  <a:ext uri="{FF2B5EF4-FFF2-40B4-BE49-F238E27FC236}">
                    <a16:creationId xmlns:a16="http://schemas.microsoft.com/office/drawing/2014/main" id="{21B583F7-A44B-AC11-CF5C-0710A0684C0A}"/>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691" name="Freeform: Shape 1563">
                <a:extLst>
                  <a:ext uri="{FF2B5EF4-FFF2-40B4-BE49-F238E27FC236}">
                    <a16:creationId xmlns:a16="http://schemas.microsoft.com/office/drawing/2014/main" id="{55B8E985-A1A0-5C08-2DC0-29A04C99609A}"/>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692" name="Freeform: Shape 1564">
                <a:extLst>
                  <a:ext uri="{FF2B5EF4-FFF2-40B4-BE49-F238E27FC236}">
                    <a16:creationId xmlns:a16="http://schemas.microsoft.com/office/drawing/2014/main" id="{D879308A-3092-AD7B-B938-A4AF9946F36D}"/>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693" name="Freeform: Shape 1565">
                <a:extLst>
                  <a:ext uri="{FF2B5EF4-FFF2-40B4-BE49-F238E27FC236}">
                    <a16:creationId xmlns:a16="http://schemas.microsoft.com/office/drawing/2014/main" id="{A421A31F-46FD-1DEC-53F6-35C5A5D4707B}"/>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694" name="Freeform: Shape 1566">
                <a:extLst>
                  <a:ext uri="{FF2B5EF4-FFF2-40B4-BE49-F238E27FC236}">
                    <a16:creationId xmlns:a16="http://schemas.microsoft.com/office/drawing/2014/main" id="{0AEF3199-B2E3-DCCC-E794-C219A79C16CC}"/>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cxnSp>
        <p:nvCxnSpPr>
          <p:cNvPr id="1697" name="直線コネクタ 1696">
            <a:extLst>
              <a:ext uri="{FF2B5EF4-FFF2-40B4-BE49-F238E27FC236}">
                <a16:creationId xmlns:a16="http://schemas.microsoft.com/office/drawing/2014/main" id="{D5C2013A-5E33-2F60-874A-5D82EBAB2A1C}"/>
              </a:ext>
            </a:extLst>
          </p:cNvPr>
          <p:cNvCxnSpPr>
            <a:cxnSpLocks/>
            <a:stCxn id="1668" idx="3"/>
            <a:endCxn id="1673" idx="7"/>
          </p:cNvCxnSpPr>
          <p:nvPr/>
        </p:nvCxnSpPr>
        <p:spPr>
          <a:xfrm flipV="1">
            <a:off x="5850329" y="7303690"/>
            <a:ext cx="2619744" cy="68270"/>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698" name="図 1697">
            <a:extLst>
              <a:ext uri="{FF2B5EF4-FFF2-40B4-BE49-F238E27FC236}">
                <a16:creationId xmlns:a16="http://schemas.microsoft.com/office/drawing/2014/main" id="{0F9F9DA7-0EE9-BF00-9329-B878DF57F6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18113" y="7086244"/>
            <a:ext cx="570676" cy="570676"/>
          </a:xfrm>
          <a:prstGeom prst="rect">
            <a:avLst/>
          </a:prstGeom>
        </p:spPr>
      </p:pic>
      <p:cxnSp>
        <p:nvCxnSpPr>
          <p:cNvPr id="1699" name="直線コネクタ 1698">
            <a:extLst>
              <a:ext uri="{FF2B5EF4-FFF2-40B4-BE49-F238E27FC236}">
                <a16:creationId xmlns:a16="http://schemas.microsoft.com/office/drawing/2014/main" id="{C9B45732-5854-EA15-5F5C-C30C6EAD11EC}"/>
              </a:ext>
            </a:extLst>
          </p:cNvPr>
          <p:cNvCxnSpPr>
            <a:cxnSpLocks/>
            <a:stCxn id="1667" idx="1"/>
            <a:endCxn id="1669" idx="3"/>
          </p:cNvCxnSpPr>
          <p:nvPr/>
        </p:nvCxnSpPr>
        <p:spPr>
          <a:xfrm flipH="1">
            <a:off x="12328654" y="7348521"/>
            <a:ext cx="421024" cy="17648"/>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1700" name="図 1699" descr="電子機器の部品&#10;&#10;AI によって生成されたコンテンツは間違っている可能性があります。">
            <a:extLst>
              <a:ext uri="{FF2B5EF4-FFF2-40B4-BE49-F238E27FC236}">
                <a16:creationId xmlns:a16="http://schemas.microsoft.com/office/drawing/2014/main" id="{8999219C-D353-4D06-F3D9-70E007328BB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52104" y="6766826"/>
            <a:ext cx="1042171" cy="1234035"/>
          </a:xfrm>
          <a:prstGeom prst="rect">
            <a:avLst/>
          </a:prstGeom>
        </p:spPr>
      </p:pic>
      <p:pic>
        <p:nvPicPr>
          <p:cNvPr id="1701" name="図 1700">
            <a:extLst>
              <a:ext uri="{FF2B5EF4-FFF2-40B4-BE49-F238E27FC236}">
                <a16:creationId xmlns:a16="http://schemas.microsoft.com/office/drawing/2014/main" id="{9173F2D1-A237-45CD-391C-8A5516506F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39017" y="6980568"/>
            <a:ext cx="559428" cy="559428"/>
          </a:xfrm>
          <a:prstGeom prst="rect">
            <a:avLst/>
          </a:prstGeom>
        </p:spPr>
      </p:pic>
      <p:sp>
        <p:nvSpPr>
          <p:cNvPr id="1702" name="Freeform: Shape 24">
            <a:extLst>
              <a:ext uri="{FF2B5EF4-FFF2-40B4-BE49-F238E27FC236}">
                <a16:creationId xmlns:a16="http://schemas.microsoft.com/office/drawing/2014/main" id="{400B541C-E865-86BE-C5EC-A15FD855990E}"/>
              </a:ext>
            </a:extLst>
          </p:cNvPr>
          <p:cNvSpPr/>
          <p:nvPr/>
        </p:nvSpPr>
        <p:spPr>
          <a:xfrm>
            <a:off x="13099086" y="7235603"/>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703" name="Freeform: Shape 24">
            <a:extLst>
              <a:ext uri="{FF2B5EF4-FFF2-40B4-BE49-F238E27FC236}">
                <a16:creationId xmlns:a16="http://schemas.microsoft.com/office/drawing/2014/main" id="{637F5AF7-D99C-EF6C-67D9-5DF5DADE2B2B}"/>
              </a:ext>
            </a:extLst>
          </p:cNvPr>
          <p:cNvSpPr/>
          <p:nvPr/>
        </p:nvSpPr>
        <p:spPr>
          <a:xfrm>
            <a:off x="13890663" y="7235603"/>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704" name="Freeform: Shape 24">
            <a:extLst>
              <a:ext uri="{FF2B5EF4-FFF2-40B4-BE49-F238E27FC236}">
                <a16:creationId xmlns:a16="http://schemas.microsoft.com/office/drawing/2014/main" id="{FF358E5E-AD11-3856-0395-F72FE61ED08D}"/>
              </a:ext>
            </a:extLst>
          </p:cNvPr>
          <p:cNvSpPr/>
          <p:nvPr/>
        </p:nvSpPr>
        <p:spPr>
          <a:xfrm>
            <a:off x="14682240" y="7235603"/>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705" name="Freeform: Shape 24">
            <a:extLst>
              <a:ext uri="{FF2B5EF4-FFF2-40B4-BE49-F238E27FC236}">
                <a16:creationId xmlns:a16="http://schemas.microsoft.com/office/drawing/2014/main" id="{88F5EF33-918B-43A0-92FD-C9DA98A9D254}"/>
              </a:ext>
            </a:extLst>
          </p:cNvPr>
          <p:cNvSpPr/>
          <p:nvPr/>
        </p:nvSpPr>
        <p:spPr>
          <a:xfrm>
            <a:off x="15473817" y="7235603"/>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706" name="四角形: 角を丸くする 1705">
            <a:extLst>
              <a:ext uri="{FF2B5EF4-FFF2-40B4-BE49-F238E27FC236}">
                <a16:creationId xmlns:a16="http://schemas.microsoft.com/office/drawing/2014/main" id="{1502420D-343A-57CE-879F-D8B52674274B}"/>
              </a:ext>
            </a:extLst>
          </p:cNvPr>
          <p:cNvSpPr/>
          <p:nvPr/>
        </p:nvSpPr>
        <p:spPr>
          <a:xfrm>
            <a:off x="12749678" y="8276311"/>
            <a:ext cx="2502877" cy="1127238"/>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dirty="0">
                <a:solidFill>
                  <a:srgbClr val="59574C"/>
                </a:solidFill>
                <a:latin typeface="Source Sans Pro" panose="020B0503030403020204" pitchFamily="34" charset="0"/>
                <a:ea typeface="源ノ角ゴシック JP Regular" panose="020B0500000000000000" pitchFamily="34" charset="-128"/>
              </a:rPr>
              <a:t>疑似現行サーバー</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sp>
        <p:nvSpPr>
          <p:cNvPr id="1708" name="四角形: 角を丸くする 1707">
            <a:extLst>
              <a:ext uri="{FF2B5EF4-FFF2-40B4-BE49-F238E27FC236}">
                <a16:creationId xmlns:a16="http://schemas.microsoft.com/office/drawing/2014/main" id="{DD7F72B4-0614-9672-4787-D1343128A1CC}"/>
              </a:ext>
            </a:extLst>
          </p:cNvPr>
          <p:cNvSpPr/>
          <p:nvPr/>
        </p:nvSpPr>
        <p:spPr>
          <a:xfrm>
            <a:off x="6468420" y="8043384"/>
            <a:ext cx="10066980" cy="1919107"/>
          </a:xfrm>
          <a:prstGeom prst="roundRect">
            <a:avLst>
              <a:gd name="adj" fmla="val 5568"/>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a:solidFill>
                  <a:srgbClr val="59574C"/>
                </a:solidFill>
                <a:latin typeface="Source Sans Pro" panose="020B0503030403020204" pitchFamily="34" charset="0"/>
                <a:ea typeface="源ノ角ゴシック JP Regular" panose="020B0500000000000000" pitchFamily="34" charset="-128"/>
              </a:rPr>
              <a:t>クラウド（</a:t>
            </a:r>
            <a:r>
              <a:rPr kumimoji="1" lang="en-US" altLang="ja-JP" sz="2000">
                <a:solidFill>
                  <a:srgbClr val="59574C"/>
                </a:solidFill>
                <a:latin typeface="Source Sans Pro" panose="020B0503030403020204" pitchFamily="34" charset="0"/>
                <a:ea typeface="源ノ角ゴシック JP Regular" panose="020B0500000000000000" pitchFamily="34" charset="-128"/>
              </a:rPr>
              <a:t>OCI</a:t>
            </a:r>
            <a:r>
              <a:rPr kumimoji="1" lang="ja-JP" altLang="en-US" sz="2000">
                <a:solidFill>
                  <a:srgbClr val="59574C"/>
                </a:solidFill>
                <a:latin typeface="Source Sans Pro" panose="020B0503030403020204" pitchFamily="34" charset="0"/>
                <a:ea typeface="源ノ角ゴシック JP Regular" panose="020B0500000000000000" pitchFamily="34" charset="-128"/>
              </a:rPr>
              <a:t>）</a:t>
            </a:r>
            <a:r>
              <a:rPr kumimoji="1" lang="en-US" altLang="ja-JP" sz="2000">
                <a:solidFill>
                  <a:srgbClr val="59574C"/>
                </a:solidFill>
                <a:latin typeface="Source Sans Pro" panose="020B0503030403020204" pitchFamily="34" charset="0"/>
                <a:ea typeface="源ノ角ゴシック JP Regular" panose="020B0500000000000000" pitchFamily="34" charset="-128"/>
              </a:rPr>
              <a:t>※SMJ</a:t>
            </a:r>
            <a:r>
              <a:rPr kumimoji="1" lang="ja-JP" altLang="en-US" sz="2000">
                <a:solidFill>
                  <a:srgbClr val="59574C"/>
                </a:solidFill>
                <a:latin typeface="Source Sans Pro" panose="020B0503030403020204" pitchFamily="34" charset="0"/>
                <a:ea typeface="源ノ角ゴシック JP Regular" panose="020B0500000000000000" pitchFamily="34" charset="-128"/>
              </a:rPr>
              <a:t>管理のサブテナント</a:t>
            </a:r>
          </a:p>
        </p:txBody>
      </p:sp>
      <p:pic>
        <p:nvPicPr>
          <p:cNvPr id="1709" name="図 1708" descr="コンピューターの画面&#10;&#10;自動的に生成された説明">
            <a:extLst>
              <a:ext uri="{FF2B5EF4-FFF2-40B4-BE49-F238E27FC236}">
                <a16:creationId xmlns:a16="http://schemas.microsoft.com/office/drawing/2014/main" id="{B92C637D-D460-C1D7-FFA9-7AD41AF4FF7E}"/>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rot="16200000">
            <a:off x="4031312" y="8689215"/>
            <a:ext cx="603364" cy="937728"/>
          </a:xfrm>
          <a:prstGeom prst="rect">
            <a:avLst/>
          </a:prstGeom>
        </p:spPr>
      </p:pic>
      <p:grpSp>
        <p:nvGrpSpPr>
          <p:cNvPr id="1710" name="Graphic 4">
            <a:extLst>
              <a:ext uri="{FF2B5EF4-FFF2-40B4-BE49-F238E27FC236}">
                <a16:creationId xmlns:a16="http://schemas.microsoft.com/office/drawing/2014/main" id="{B21AB769-D96A-C31B-3A80-D547429FB4E6}"/>
              </a:ext>
            </a:extLst>
          </p:cNvPr>
          <p:cNvGrpSpPr/>
          <p:nvPr/>
        </p:nvGrpSpPr>
        <p:grpSpPr>
          <a:xfrm>
            <a:off x="8465106" y="8630328"/>
            <a:ext cx="691533" cy="645914"/>
            <a:chOff x="7859540" y="2440806"/>
            <a:chExt cx="375193" cy="385010"/>
          </a:xfrm>
        </p:grpSpPr>
        <p:sp>
          <p:nvSpPr>
            <p:cNvPr id="1711" name="Freeform: Shape 905">
              <a:extLst>
                <a:ext uri="{FF2B5EF4-FFF2-40B4-BE49-F238E27FC236}">
                  <a16:creationId xmlns:a16="http://schemas.microsoft.com/office/drawing/2014/main" id="{D2743FA8-B91E-8D60-232D-803A42C3952C}"/>
                </a:ext>
              </a:extLst>
            </p:cNvPr>
            <p:cNvSpPr/>
            <p:nvPr/>
          </p:nvSpPr>
          <p:spPr>
            <a:xfrm>
              <a:off x="7864032" y="2450633"/>
              <a:ext cx="90220" cy="360892"/>
            </a:xfrm>
            <a:custGeom>
              <a:avLst/>
              <a:gdLst>
                <a:gd name="connsiteX0" fmla="*/ 0 w 90220"/>
                <a:gd name="connsiteY0" fmla="*/ 282281 h 360892"/>
                <a:gd name="connsiteX1" fmla="*/ 0 w 90220"/>
                <a:gd name="connsiteY1" fmla="*/ 77717 h 360892"/>
                <a:gd name="connsiteX2" fmla="*/ 90220 w 90220"/>
                <a:gd name="connsiteY2" fmla="*/ 0 h 360892"/>
                <a:gd name="connsiteX3" fmla="*/ 90220 w 90220"/>
                <a:gd name="connsiteY3" fmla="*/ 360893 h 360892"/>
                <a:gd name="connsiteX4" fmla="*/ 0 w 90220"/>
                <a:gd name="connsiteY4" fmla="*/ 282281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282281"/>
                  </a:moveTo>
                  <a:lnTo>
                    <a:pt x="0" y="77717"/>
                  </a:lnTo>
                  <a:lnTo>
                    <a:pt x="90220" y="0"/>
                  </a:lnTo>
                  <a:lnTo>
                    <a:pt x="90220" y="360893"/>
                  </a:lnTo>
                  <a:lnTo>
                    <a:pt x="0" y="282281"/>
                  </a:lnTo>
                  <a:close/>
                </a:path>
              </a:pathLst>
            </a:custGeom>
            <a:solidFill>
              <a:srgbClr val="FFFFFF"/>
            </a:solidFill>
            <a:ln w="6417" cap="flat">
              <a:noFill/>
              <a:prstDash val="solid"/>
              <a:miter/>
            </a:ln>
          </p:spPr>
          <p:txBody>
            <a:bodyPr rtlCol="0" anchor="ctr"/>
            <a:lstStyle/>
            <a:p>
              <a:endParaRPr lang="en-US" sz="810"/>
            </a:p>
          </p:txBody>
        </p:sp>
        <p:sp>
          <p:nvSpPr>
            <p:cNvPr id="1712" name="Freeform: Shape 906">
              <a:extLst>
                <a:ext uri="{FF2B5EF4-FFF2-40B4-BE49-F238E27FC236}">
                  <a16:creationId xmlns:a16="http://schemas.microsoft.com/office/drawing/2014/main" id="{8E31A3F9-EC8D-78E5-6712-25B768B2FFA7}"/>
                </a:ext>
              </a:extLst>
            </p:cNvPr>
            <p:cNvSpPr/>
            <p:nvPr/>
          </p:nvSpPr>
          <p:spPr>
            <a:xfrm>
              <a:off x="7859540" y="2440806"/>
              <a:ext cx="99204" cy="381436"/>
            </a:xfrm>
            <a:custGeom>
              <a:avLst/>
              <a:gdLst>
                <a:gd name="connsiteX0" fmla="*/ 90221 w 99204"/>
                <a:gd name="connsiteY0" fmla="*/ 19652 h 381436"/>
                <a:gd name="connsiteX1" fmla="*/ 90221 w 99204"/>
                <a:gd name="connsiteY1" fmla="*/ 360890 h 381436"/>
                <a:gd name="connsiteX2" fmla="*/ 8984 w 99204"/>
                <a:gd name="connsiteY2" fmla="*/ 289428 h 381436"/>
                <a:gd name="connsiteX3" fmla="*/ 8984 w 99204"/>
                <a:gd name="connsiteY3" fmla="*/ 89330 h 381436"/>
                <a:gd name="connsiteX4" fmla="*/ 90221 w 99204"/>
                <a:gd name="connsiteY4" fmla="*/ 19652 h 381436"/>
                <a:gd name="connsiteX5" fmla="*/ 99205 w 99204"/>
                <a:gd name="connsiteY5" fmla="*/ 0 h 381436"/>
                <a:gd name="connsiteX6" fmla="*/ 83997 w 99204"/>
                <a:gd name="connsiteY6" fmla="*/ 12506 h 381436"/>
                <a:gd name="connsiteX7" fmla="*/ 2695 w 99204"/>
                <a:gd name="connsiteY7" fmla="*/ 83076 h 381436"/>
                <a:gd name="connsiteX8" fmla="*/ 0 w 99204"/>
                <a:gd name="connsiteY8" fmla="*/ 85757 h 381436"/>
                <a:gd name="connsiteX9" fmla="*/ 0 w 99204"/>
                <a:gd name="connsiteY9" fmla="*/ 89330 h 381436"/>
                <a:gd name="connsiteX10" fmla="*/ 0 w 99204"/>
                <a:gd name="connsiteY10" fmla="*/ 289428 h 381436"/>
                <a:gd name="connsiteX11" fmla="*/ 0 w 99204"/>
                <a:gd name="connsiteY11" fmla="*/ 293895 h 381436"/>
                <a:gd name="connsiteX12" fmla="*/ 2695 w 99204"/>
                <a:gd name="connsiteY12" fmla="*/ 296574 h 381436"/>
                <a:gd name="connsiteX13" fmla="*/ 83997 w 99204"/>
                <a:gd name="connsiteY13" fmla="*/ 368038 h 381436"/>
                <a:gd name="connsiteX14" fmla="*/ 99205 w 99204"/>
                <a:gd name="connsiteY14" fmla="*/ 381436 h 381436"/>
                <a:gd name="connsiteX15" fmla="*/ 99205 w 99204"/>
                <a:gd name="connsiteY15" fmla="*/ 361788 h 381436"/>
                <a:gd name="connsiteX16" fmla="*/ 99205 w 99204"/>
                <a:gd name="connsiteY16" fmla="*/ 19652 h 381436"/>
                <a:gd name="connsiteX17" fmla="*/ 99205 w 99204"/>
                <a:gd name="connsiteY17" fmla="*/ 0 h 38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04" h="381436">
                  <a:moveTo>
                    <a:pt x="90221" y="19652"/>
                  </a:moveTo>
                  <a:lnTo>
                    <a:pt x="90221" y="360890"/>
                  </a:lnTo>
                  <a:lnTo>
                    <a:pt x="8984" y="289428"/>
                  </a:lnTo>
                  <a:lnTo>
                    <a:pt x="8984" y="89330"/>
                  </a:lnTo>
                  <a:lnTo>
                    <a:pt x="90221" y="19652"/>
                  </a:lnTo>
                  <a:close/>
                  <a:moveTo>
                    <a:pt x="99205" y="0"/>
                  </a:moveTo>
                  <a:lnTo>
                    <a:pt x="83997" y="12506"/>
                  </a:lnTo>
                  <a:lnTo>
                    <a:pt x="2695" y="83076"/>
                  </a:lnTo>
                  <a:lnTo>
                    <a:pt x="0" y="85757"/>
                  </a:lnTo>
                  <a:lnTo>
                    <a:pt x="0" y="89330"/>
                  </a:lnTo>
                  <a:lnTo>
                    <a:pt x="0" y="289428"/>
                  </a:lnTo>
                  <a:lnTo>
                    <a:pt x="0" y="293895"/>
                  </a:lnTo>
                  <a:lnTo>
                    <a:pt x="2695" y="296574"/>
                  </a:lnTo>
                  <a:lnTo>
                    <a:pt x="83997" y="368038"/>
                  </a:lnTo>
                  <a:lnTo>
                    <a:pt x="99205" y="381436"/>
                  </a:lnTo>
                  <a:lnTo>
                    <a:pt x="99205" y="361788"/>
                  </a:lnTo>
                  <a:lnTo>
                    <a:pt x="99205" y="19652"/>
                  </a:lnTo>
                  <a:lnTo>
                    <a:pt x="99205" y="0"/>
                  </a:lnTo>
                  <a:close/>
                </a:path>
              </a:pathLst>
            </a:custGeom>
            <a:solidFill>
              <a:srgbClr val="FFFFFF"/>
            </a:solidFill>
            <a:ln w="6417" cap="flat">
              <a:noFill/>
              <a:prstDash val="solid"/>
              <a:miter/>
            </a:ln>
          </p:spPr>
          <p:txBody>
            <a:bodyPr rtlCol="0" anchor="ctr"/>
            <a:lstStyle/>
            <a:p>
              <a:endParaRPr lang="en-US" sz="810"/>
            </a:p>
          </p:txBody>
        </p:sp>
        <p:sp>
          <p:nvSpPr>
            <p:cNvPr id="1713" name="Freeform: Shape 907">
              <a:extLst>
                <a:ext uri="{FF2B5EF4-FFF2-40B4-BE49-F238E27FC236}">
                  <a16:creationId xmlns:a16="http://schemas.microsoft.com/office/drawing/2014/main" id="{2D50DD2C-9E67-7555-66D0-CE6C5E88C307}"/>
                </a:ext>
              </a:extLst>
            </p:cNvPr>
            <p:cNvSpPr/>
            <p:nvPr/>
          </p:nvSpPr>
          <p:spPr>
            <a:xfrm>
              <a:off x="8140021" y="2450633"/>
              <a:ext cx="90220" cy="360892"/>
            </a:xfrm>
            <a:custGeom>
              <a:avLst/>
              <a:gdLst>
                <a:gd name="connsiteX0" fmla="*/ 0 w 90220"/>
                <a:gd name="connsiteY0" fmla="*/ 0 h 360892"/>
                <a:gd name="connsiteX1" fmla="*/ 90220 w 90220"/>
                <a:gd name="connsiteY1" fmla="*/ 77717 h 360892"/>
                <a:gd name="connsiteX2" fmla="*/ 90220 w 90220"/>
                <a:gd name="connsiteY2" fmla="*/ 282281 h 360892"/>
                <a:gd name="connsiteX3" fmla="*/ 0 w 90220"/>
                <a:gd name="connsiteY3" fmla="*/ 360893 h 360892"/>
                <a:gd name="connsiteX4" fmla="*/ 0 w 90220"/>
                <a:gd name="connsiteY4" fmla="*/ 0 h 36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20" h="360892">
                  <a:moveTo>
                    <a:pt x="0" y="0"/>
                  </a:moveTo>
                  <a:lnTo>
                    <a:pt x="90220" y="77717"/>
                  </a:lnTo>
                  <a:lnTo>
                    <a:pt x="90220" y="282281"/>
                  </a:lnTo>
                  <a:lnTo>
                    <a:pt x="0" y="360893"/>
                  </a:lnTo>
                  <a:lnTo>
                    <a:pt x="0" y="0"/>
                  </a:lnTo>
                  <a:close/>
                </a:path>
              </a:pathLst>
            </a:custGeom>
            <a:solidFill>
              <a:srgbClr val="FFFFFF"/>
            </a:solidFill>
            <a:ln w="6417" cap="flat">
              <a:noFill/>
              <a:prstDash val="solid"/>
              <a:miter/>
            </a:ln>
          </p:spPr>
          <p:txBody>
            <a:bodyPr rtlCol="0" anchor="ctr"/>
            <a:lstStyle/>
            <a:p>
              <a:endParaRPr lang="en-US" sz="810"/>
            </a:p>
          </p:txBody>
        </p:sp>
        <p:sp>
          <p:nvSpPr>
            <p:cNvPr id="1714" name="Freeform: Shape 908">
              <a:extLst>
                <a:ext uri="{FF2B5EF4-FFF2-40B4-BE49-F238E27FC236}">
                  <a16:creationId xmlns:a16="http://schemas.microsoft.com/office/drawing/2014/main" id="{C078508B-5158-A4C2-5B61-1048436EB392}"/>
                </a:ext>
              </a:extLst>
            </p:cNvPr>
            <p:cNvSpPr/>
            <p:nvPr/>
          </p:nvSpPr>
          <p:spPr>
            <a:xfrm>
              <a:off x="8135593" y="2440806"/>
              <a:ext cx="99140" cy="380544"/>
            </a:xfrm>
            <a:custGeom>
              <a:avLst/>
              <a:gdLst>
                <a:gd name="connsiteX0" fmla="*/ 8920 w 99140"/>
                <a:gd name="connsiteY0" fmla="*/ 19652 h 380544"/>
                <a:gd name="connsiteX1" fmla="*/ 90221 w 99140"/>
                <a:gd name="connsiteY1" fmla="*/ 89330 h 380544"/>
                <a:gd name="connsiteX2" fmla="*/ 90221 w 99140"/>
                <a:gd name="connsiteY2" fmla="*/ 289428 h 380544"/>
                <a:gd name="connsiteX3" fmla="*/ 8920 w 99140"/>
                <a:gd name="connsiteY3" fmla="*/ 360890 h 380544"/>
                <a:gd name="connsiteX4" fmla="*/ 8920 w 99140"/>
                <a:gd name="connsiteY4" fmla="*/ 19652 h 380544"/>
                <a:gd name="connsiteX5" fmla="*/ 0 w 99140"/>
                <a:gd name="connsiteY5" fmla="*/ 0 h 380544"/>
                <a:gd name="connsiteX6" fmla="*/ 0 w 99140"/>
                <a:gd name="connsiteY6" fmla="*/ 19652 h 380544"/>
                <a:gd name="connsiteX7" fmla="*/ 0 w 99140"/>
                <a:gd name="connsiteY7" fmla="*/ 360890 h 380544"/>
                <a:gd name="connsiteX8" fmla="*/ 0 w 99140"/>
                <a:gd name="connsiteY8" fmla="*/ 380544 h 380544"/>
                <a:gd name="connsiteX9" fmla="*/ 15208 w 99140"/>
                <a:gd name="connsiteY9" fmla="*/ 367146 h 380544"/>
                <a:gd name="connsiteX10" fmla="*/ 96510 w 99140"/>
                <a:gd name="connsiteY10" fmla="*/ 295681 h 380544"/>
                <a:gd name="connsiteX11" fmla="*/ 99141 w 99140"/>
                <a:gd name="connsiteY11" fmla="*/ 293001 h 380544"/>
                <a:gd name="connsiteX12" fmla="*/ 99141 w 99140"/>
                <a:gd name="connsiteY12" fmla="*/ 288535 h 380544"/>
                <a:gd name="connsiteX13" fmla="*/ 99141 w 99140"/>
                <a:gd name="connsiteY13" fmla="*/ 89330 h 380544"/>
                <a:gd name="connsiteX14" fmla="*/ 99141 w 99140"/>
                <a:gd name="connsiteY14" fmla="*/ 85757 h 380544"/>
                <a:gd name="connsiteX15" fmla="*/ 96510 w 99140"/>
                <a:gd name="connsiteY15" fmla="*/ 83076 h 380544"/>
                <a:gd name="connsiteX16" fmla="*/ 15208 w 99140"/>
                <a:gd name="connsiteY16" fmla="*/ 13400 h 380544"/>
                <a:gd name="connsiteX17" fmla="*/ 0 w 99140"/>
                <a:gd name="connsiteY17" fmla="*/ 0 h 38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140" h="380544">
                  <a:moveTo>
                    <a:pt x="8920" y="19652"/>
                  </a:moveTo>
                  <a:lnTo>
                    <a:pt x="90221" y="89330"/>
                  </a:lnTo>
                  <a:lnTo>
                    <a:pt x="90221" y="289428"/>
                  </a:lnTo>
                  <a:lnTo>
                    <a:pt x="8920" y="360890"/>
                  </a:lnTo>
                  <a:lnTo>
                    <a:pt x="8920" y="19652"/>
                  </a:lnTo>
                  <a:close/>
                  <a:moveTo>
                    <a:pt x="0" y="0"/>
                  </a:moveTo>
                  <a:lnTo>
                    <a:pt x="0" y="19652"/>
                  </a:lnTo>
                  <a:lnTo>
                    <a:pt x="0" y="360890"/>
                  </a:lnTo>
                  <a:lnTo>
                    <a:pt x="0" y="380544"/>
                  </a:lnTo>
                  <a:lnTo>
                    <a:pt x="15208" y="367146"/>
                  </a:lnTo>
                  <a:lnTo>
                    <a:pt x="96510" y="295681"/>
                  </a:lnTo>
                  <a:lnTo>
                    <a:pt x="99141" y="293001"/>
                  </a:lnTo>
                  <a:lnTo>
                    <a:pt x="99141" y="288535"/>
                  </a:lnTo>
                  <a:lnTo>
                    <a:pt x="99141" y="89330"/>
                  </a:lnTo>
                  <a:lnTo>
                    <a:pt x="99141" y="85757"/>
                  </a:lnTo>
                  <a:lnTo>
                    <a:pt x="96510" y="83076"/>
                  </a:lnTo>
                  <a:lnTo>
                    <a:pt x="15208" y="13400"/>
                  </a:lnTo>
                  <a:lnTo>
                    <a:pt x="0" y="0"/>
                  </a:lnTo>
                  <a:close/>
                </a:path>
              </a:pathLst>
            </a:custGeom>
            <a:solidFill>
              <a:srgbClr val="FFFFFF"/>
            </a:solidFill>
            <a:ln w="6417" cap="flat">
              <a:noFill/>
              <a:prstDash val="solid"/>
              <a:miter/>
            </a:ln>
          </p:spPr>
          <p:txBody>
            <a:bodyPr rtlCol="0" anchor="ctr"/>
            <a:lstStyle/>
            <a:p>
              <a:endParaRPr lang="en-US" sz="810"/>
            </a:p>
          </p:txBody>
        </p:sp>
        <p:sp>
          <p:nvSpPr>
            <p:cNvPr id="1715" name="Freeform: Shape 909">
              <a:extLst>
                <a:ext uri="{FF2B5EF4-FFF2-40B4-BE49-F238E27FC236}">
                  <a16:creationId xmlns:a16="http://schemas.microsoft.com/office/drawing/2014/main" id="{B2700E27-B9CF-637D-41D0-21FFBE6DF91B}"/>
                </a:ext>
              </a:extLst>
            </p:cNvPr>
            <p:cNvSpPr/>
            <p:nvPr/>
          </p:nvSpPr>
          <p:spPr>
            <a:xfrm>
              <a:off x="7953354" y="2455093"/>
              <a:ext cx="187564" cy="366250"/>
            </a:xfrm>
            <a:custGeom>
              <a:avLst/>
              <a:gdLst>
                <a:gd name="connsiteX0" fmla="*/ 97344 w 187564"/>
                <a:gd name="connsiteY0" fmla="*/ 366250 h 366250"/>
                <a:gd name="connsiteX1" fmla="*/ 93814 w 187564"/>
                <a:gd name="connsiteY1" fmla="*/ 334096 h 366250"/>
                <a:gd name="connsiteX2" fmla="*/ 90221 w 187564"/>
                <a:gd name="connsiteY2" fmla="*/ 366250 h 366250"/>
                <a:gd name="connsiteX3" fmla="*/ 0 w 187564"/>
                <a:gd name="connsiteY3" fmla="*/ 366250 h 366250"/>
                <a:gd name="connsiteX4" fmla="*/ 59870 w 187564"/>
                <a:gd name="connsiteY4" fmla="*/ 0 h 366250"/>
                <a:gd name="connsiteX5" fmla="*/ 129492 w 187564"/>
                <a:gd name="connsiteY5" fmla="*/ 0 h 366250"/>
                <a:gd name="connsiteX6" fmla="*/ 187565 w 187564"/>
                <a:gd name="connsiteY6" fmla="*/ 366250 h 366250"/>
                <a:gd name="connsiteX7" fmla="*/ 97344 w 187564"/>
                <a:gd name="connsiteY7" fmla="*/ 366250 h 36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64" h="366250">
                  <a:moveTo>
                    <a:pt x="97344" y="366250"/>
                  </a:moveTo>
                  <a:lnTo>
                    <a:pt x="93814" y="334096"/>
                  </a:lnTo>
                  <a:lnTo>
                    <a:pt x="90221" y="366250"/>
                  </a:lnTo>
                  <a:lnTo>
                    <a:pt x="0" y="366250"/>
                  </a:lnTo>
                  <a:lnTo>
                    <a:pt x="59870" y="0"/>
                  </a:lnTo>
                  <a:lnTo>
                    <a:pt x="129492" y="0"/>
                  </a:lnTo>
                  <a:lnTo>
                    <a:pt x="187565" y="366250"/>
                  </a:lnTo>
                  <a:lnTo>
                    <a:pt x="97344" y="366250"/>
                  </a:lnTo>
                  <a:close/>
                </a:path>
              </a:pathLst>
            </a:custGeom>
            <a:solidFill>
              <a:srgbClr val="FFFFFF"/>
            </a:solidFill>
            <a:ln w="6417" cap="flat">
              <a:noFill/>
              <a:prstDash val="solid"/>
              <a:miter/>
            </a:ln>
          </p:spPr>
          <p:txBody>
            <a:bodyPr rtlCol="0" anchor="ctr"/>
            <a:lstStyle/>
            <a:p>
              <a:endParaRPr lang="en-US" sz="810"/>
            </a:p>
          </p:txBody>
        </p:sp>
        <p:sp>
          <p:nvSpPr>
            <p:cNvPr id="1716" name="Freeform: Shape 910">
              <a:extLst>
                <a:ext uri="{FF2B5EF4-FFF2-40B4-BE49-F238E27FC236}">
                  <a16:creationId xmlns:a16="http://schemas.microsoft.com/office/drawing/2014/main" id="{DF202325-8D21-CACB-0919-84DEBEC2AF14}"/>
                </a:ext>
              </a:extLst>
            </p:cNvPr>
            <p:cNvSpPr/>
            <p:nvPr/>
          </p:nvSpPr>
          <p:spPr>
            <a:xfrm>
              <a:off x="7948028" y="2450633"/>
              <a:ext cx="198280" cy="375183"/>
            </a:xfrm>
            <a:custGeom>
              <a:avLst/>
              <a:gdLst>
                <a:gd name="connsiteX0" fmla="*/ 131288 w 198280"/>
                <a:gd name="connsiteY0" fmla="*/ 8933 h 375183"/>
                <a:gd name="connsiteX1" fmla="*/ 188463 w 198280"/>
                <a:gd name="connsiteY1" fmla="*/ 366251 h 375183"/>
                <a:gd name="connsiteX2" fmla="*/ 107161 w 198280"/>
                <a:gd name="connsiteY2" fmla="*/ 366251 h 375183"/>
                <a:gd name="connsiteX3" fmla="*/ 100038 w 198280"/>
                <a:gd name="connsiteY3" fmla="*/ 294788 h 375183"/>
                <a:gd name="connsiteX4" fmla="*/ 92852 w 198280"/>
                <a:gd name="connsiteY4" fmla="*/ 366251 h 375183"/>
                <a:gd name="connsiteX5" fmla="*/ 11615 w 198280"/>
                <a:gd name="connsiteY5" fmla="*/ 366251 h 375183"/>
                <a:gd name="connsiteX6" fmla="*/ 69623 w 198280"/>
                <a:gd name="connsiteY6" fmla="*/ 8933 h 375183"/>
                <a:gd name="connsiteX7" fmla="*/ 131288 w 198280"/>
                <a:gd name="connsiteY7" fmla="*/ 8933 h 375183"/>
                <a:gd name="connsiteX8" fmla="*/ 139309 w 198280"/>
                <a:gd name="connsiteY8" fmla="*/ 0 h 375183"/>
                <a:gd name="connsiteX9" fmla="*/ 131288 w 198280"/>
                <a:gd name="connsiteY9" fmla="*/ 0 h 375183"/>
                <a:gd name="connsiteX10" fmla="*/ 68788 w 198280"/>
                <a:gd name="connsiteY10" fmla="*/ 0 h 375183"/>
                <a:gd name="connsiteX11" fmla="*/ 60703 w 198280"/>
                <a:gd name="connsiteY11" fmla="*/ 0 h 375183"/>
                <a:gd name="connsiteX12" fmla="*/ 59805 w 198280"/>
                <a:gd name="connsiteY12" fmla="*/ 7146 h 375183"/>
                <a:gd name="connsiteX13" fmla="*/ 1733 w 198280"/>
                <a:gd name="connsiteY13" fmla="*/ 364467 h 375183"/>
                <a:gd name="connsiteX14" fmla="*/ 0 w 198280"/>
                <a:gd name="connsiteY14" fmla="*/ 375183 h 375183"/>
                <a:gd name="connsiteX15" fmla="*/ 10716 w 198280"/>
                <a:gd name="connsiteY15" fmla="*/ 375183 h 375183"/>
                <a:gd name="connsiteX16" fmla="*/ 91953 w 198280"/>
                <a:gd name="connsiteY16" fmla="*/ 375183 h 375183"/>
                <a:gd name="connsiteX17" fmla="*/ 100038 w 198280"/>
                <a:gd name="connsiteY17" fmla="*/ 375183 h 375183"/>
                <a:gd name="connsiteX18" fmla="*/ 106263 w 198280"/>
                <a:gd name="connsiteY18" fmla="*/ 375183 h 375183"/>
                <a:gd name="connsiteX19" fmla="*/ 187564 w 198280"/>
                <a:gd name="connsiteY19" fmla="*/ 375183 h 375183"/>
                <a:gd name="connsiteX20" fmla="*/ 198281 w 198280"/>
                <a:gd name="connsiteY20" fmla="*/ 375183 h 375183"/>
                <a:gd name="connsiteX21" fmla="*/ 196484 w 198280"/>
                <a:gd name="connsiteY21" fmla="*/ 364467 h 375183"/>
                <a:gd name="connsiteX22" fmla="*/ 139309 w 198280"/>
                <a:gd name="connsiteY22" fmla="*/ 7146 h 375183"/>
                <a:gd name="connsiteX23" fmla="*/ 139309 w 198280"/>
                <a:gd name="connsiteY23" fmla="*/ 0 h 37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280" h="375183">
                  <a:moveTo>
                    <a:pt x="131288" y="8933"/>
                  </a:moveTo>
                  <a:lnTo>
                    <a:pt x="188463" y="366251"/>
                  </a:lnTo>
                  <a:lnTo>
                    <a:pt x="107161" y="366251"/>
                  </a:lnTo>
                  <a:lnTo>
                    <a:pt x="100038" y="294788"/>
                  </a:lnTo>
                  <a:lnTo>
                    <a:pt x="92852" y="366251"/>
                  </a:lnTo>
                  <a:lnTo>
                    <a:pt x="11615" y="366251"/>
                  </a:lnTo>
                  <a:lnTo>
                    <a:pt x="69623" y="8933"/>
                  </a:lnTo>
                  <a:lnTo>
                    <a:pt x="131288" y="8933"/>
                  </a:lnTo>
                  <a:close/>
                  <a:moveTo>
                    <a:pt x="139309" y="0"/>
                  </a:moveTo>
                  <a:lnTo>
                    <a:pt x="131288" y="0"/>
                  </a:lnTo>
                  <a:lnTo>
                    <a:pt x="68788" y="0"/>
                  </a:lnTo>
                  <a:lnTo>
                    <a:pt x="60703" y="0"/>
                  </a:lnTo>
                  <a:lnTo>
                    <a:pt x="59805" y="7146"/>
                  </a:lnTo>
                  <a:lnTo>
                    <a:pt x="1733" y="364467"/>
                  </a:lnTo>
                  <a:lnTo>
                    <a:pt x="0" y="375183"/>
                  </a:lnTo>
                  <a:lnTo>
                    <a:pt x="10716" y="375183"/>
                  </a:lnTo>
                  <a:lnTo>
                    <a:pt x="91953" y="375183"/>
                  </a:lnTo>
                  <a:lnTo>
                    <a:pt x="100038" y="375183"/>
                  </a:lnTo>
                  <a:lnTo>
                    <a:pt x="106263" y="375183"/>
                  </a:lnTo>
                  <a:lnTo>
                    <a:pt x="187564" y="375183"/>
                  </a:lnTo>
                  <a:lnTo>
                    <a:pt x="198281" y="375183"/>
                  </a:lnTo>
                  <a:lnTo>
                    <a:pt x="196484" y="364467"/>
                  </a:lnTo>
                  <a:lnTo>
                    <a:pt x="139309" y="7146"/>
                  </a:lnTo>
                  <a:lnTo>
                    <a:pt x="139309" y="0"/>
                  </a:lnTo>
                  <a:close/>
                </a:path>
              </a:pathLst>
            </a:custGeom>
            <a:solidFill>
              <a:srgbClr val="FFFFFF"/>
            </a:solidFill>
            <a:ln w="6417" cap="flat">
              <a:noFill/>
              <a:prstDash val="solid"/>
              <a:miter/>
            </a:ln>
          </p:spPr>
          <p:txBody>
            <a:bodyPr rtlCol="0" anchor="ctr"/>
            <a:lstStyle/>
            <a:p>
              <a:endParaRPr lang="en-US" sz="810"/>
            </a:p>
          </p:txBody>
        </p:sp>
        <p:sp>
          <p:nvSpPr>
            <p:cNvPr id="1717" name="Freeform: Shape 911">
              <a:extLst>
                <a:ext uri="{FF2B5EF4-FFF2-40B4-BE49-F238E27FC236}">
                  <a16:creationId xmlns:a16="http://schemas.microsoft.com/office/drawing/2014/main" id="{388F8C07-C2C6-0BC7-474C-28B75BB7A4D9}"/>
                </a:ext>
              </a:extLst>
            </p:cNvPr>
            <p:cNvSpPr/>
            <p:nvPr/>
          </p:nvSpPr>
          <p:spPr>
            <a:xfrm>
              <a:off x="7881871" y="2489046"/>
              <a:ext cx="54543" cy="283176"/>
            </a:xfrm>
            <a:custGeom>
              <a:avLst/>
              <a:gdLst>
                <a:gd name="connsiteX0" fmla="*/ 54543 w 54543"/>
                <a:gd name="connsiteY0" fmla="*/ 0 h 283176"/>
                <a:gd name="connsiteX1" fmla="*/ 0 w 54543"/>
                <a:gd name="connsiteY1" fmla="*/ 47345 h 283176"/>
                <a:gd name="connsiteX2" fmla="*/ 0 w 54543"/>
                <a:gd name="connsiteY2" fmla="*/ 235831 h 283176"/>
                <a:gd name="connsiteX3" fmla="*/ 54543 w 54543"/>
                <a:gd name="connsiteY3" fmla="*/ 283177 h 283176"/>
                <a:gd name="connsiteX4" fmla="*/ 54543 w 54543"/>
                <a:gd name="connsiteY4" fmla="*/ 0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43" h="283176">
                  <a:moveTo>
                    <a:pt x="54543" y="0"/>
                  </a:moveTo>
                  <a:lnTo>
                    <a:pt x="0" y="47345"/>
                  </a:lnTo>
                  <a:lnTo>
                    <a:pt x="0" y="235831"/>
                  </a:lnTo>
                  <a:lnTo>
                    <a:pt x="54543" y="283177"/>
                  </a:lnTo>
                  <a:lnTo>
                    <a:pt x="54543" y="0"/>
                  </a:lnTo>
                  <a:close/>
                </a:path>
              </a:pathLst>
            </a:custGeom>
            <a:solidFill>
              <a:srgbClr val="FFFFFF"/>
            </a:solidFill>
            <a:ln w="6417" cap="flat">
              <a:noFill/>
              <a:prstDash val="solid"/>
              <a:miter/>
            </a:ln>
          </p:spPr>
          <p:txBody>
            <a:bodyPr rtlCol="0" anchor="ctr"/>
            <a:lstStyle/>
            <a:p>
              <a:endParaRPr lang="en-US" sz="810"/>
            </a:p>
          </p:txBody>
        </p:sp>
        <p:sp>
          <p:nvSpPr>
            <p:cNvPr id="1718" name="Freeform: Shape 912">
              <a:extLst>
                <a:ext uri="{FF2B5EF4-FFF2-40B4-BE49-F238E27FC236}">
                  <a16:creationId xmlns:a16="http://schemas.microsoft.com/office/drawing/2014/main" id="{24C05237-7ECD-4431-DD19-C1077D5D9700}"/>
                </a:ext>
              </a:extLst>
            </p:cNvPr>
            <p:cNvSpPr/>
            <p:nvPr/>
          </p:nvSpPr>
          <p:spPr>
            <a:xfrm>
              <a:off x="7868524" y="2460462"/>
              <a:ext cx="81237" cy="342131"/>
            </a:xfrm>
            <a:custGeom>
              <a:avLst/>
              <a:gdLst>
                <a:gd name="connsiteX0" fmla="*/ 0 w 81237"/>
                <a:gd name="connsiteY0" fmla="*/ 270669 h 342131"/>
                <a:gd name="connsiteX1" fmla="*/ 81237 w 81237"/>
                <a:gd name="connsiteY1" fmla="*/ 342132 h 342131"/>
                <a:gd name="connsiteX2" fmla="*/ 81237 w 81237"/>
                <a:gd name="connsiteY2" fmla="*/ 0 h 342131"/>
                <a:gd name="connsiteX3" fmla="*/ 0 w 81237"/>
                <a:gd name="connsiteY3" fmla="*/ 69677 h 342131"/>
                <a:gd name="connsiteX4" fmla="*/ 0 w 81237"/>
                <a:gd name="connsiteY4" fmla="*/ 270669 h 342131"/>
                <a:gd name="connsiteX5" fmla="*/ 13348 w 81237"/>
                <a:gd name="connsiteY5" fmla="*/ 75931 h 342131"/>
                <a:gd name="connsiteX6" fmla="*/ 67891 w 81237"/>
                <a:gd name="connsiteY6" fmla="*/ 28586 h 342131"/>
                <a:gd name="connsiteX7" fmla="*/ 67891 w 81237"/>
                <a:gd name="connsiteY7" fmla="*/ 311761 h 342131"/>
                <a:gd name="connsiteX8" fmla="*/ 13348 w 81237"/>
                <a:gd name="connsiteY8" fmla="*/ 263522 h 342131"/>
                <a:gd name="connsiteX9" fmla="*/ 13348 w 81237"/>
                <a:gd name="connsiteY9" fmla="*/ 75931 h 34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37" h="342131">
                  <a:moveTo>
                    <a:pt x="0" y="270669"/>
                  </a:moveTo>
                  <a:lnTo>
                    <a:pt x="81237" y="342132"/>
                  </a:lnTo>
                  <a:lnTo>
                    <a:pt x="81237" y="0"/>
                  </a:lnTo>
                  <a:lnTo>
                    <a:pt x="0" y="69677"/>
                  </a:lnTo>
                  <a:lnTo>
                    <a:pt x="0" y="270669"/>
                  </a:lnTo>
                  <a:close/>
                  <a:moveTo>
                    <a:pt x="13348" y="75931"/>
                  </a:moveTo>
                  <a:lnTo>
                    <a:pt x="67891" y="28586"/>
                  </a:lnTo>
                  <a:lnTo>
                    <a:pt x="67891" y="311761"/>
                  </a:lnTo>
                  <a:lnTo>
                    <a:pt x="13348" y="263522"/>
                  </a:lnTo>
                  <a:lnTo>
                    <a:pt x="13348" y="75931"/>
                  </a:lnTo>
                  <a:close/>
                </a:path>
              </a:pathLst>
            </a:custGeom>
            <a:solidFill>
              <a:srgbClr val="2D5967"/>
            </a:solidFill>
            <a:ln w="6417" cap="flat">
              <a:noFill/>
              <a:prstDash val="solid"/>
              <a:miter/>
            </a:ln>
          </p:spPr>
          <p:txBody>
            <a:bodyPr rtlCol="0" anchor="ctr"/>
            <a:lstStyle/>
            <a:p>
              <a:endParaRPr lang="en-US" sz="810"/>
            </a:p>
          </p:txBody>
        </p:sp>
        <p:sp>
          <p:nvSpPr>
            <p:cNvPr id="1719" name="Freeform: Shape 913">
              <a:extLst>
                <a:ext uri="{FF2B5EF4-FFF2-40B4-BE49-F238E27FC236}">
                  <a16:creationId xmlns:a16="http://schemas.microsoft.com/office/drawing/2014/main" id="{53EA8BEC-ABD3-084F-A249-370415DAAB54}"/>
                </a:ext>
              </a:extLst>
            </p:cNvPr>
            <p:cNvSpPr/>
            <p:nvPr/>
          </p:nvSpPr>
          <p:spPr>
            <a:xfrm>
              <a:off x="8157923" y="2489046"/>
              <a:ext cx="54478" cy="283176"/>
            </a:xfrm>
            <a:custGeom>
              <a:avLst/>
              <a:gdLst>
                <a:gd name="connsiteX0" fmla="*/ 0 w 54478"/>
                <a:gd name="connsiteY0" fmla="*/ 283177 h 283176"/>
                <a:gd name="connsiteX1" fmla="*/ 54479 w 54478"/>
                <a:gd name="connsiteY1" fmla="*/ 235831 h 283176"/>
                <a:gd name="connsiteX2" fmla="*/ 54479 w 54478"/>
                <a:gd name="connsiteY2" fmla="*/ 47345 h 283176"/>
                <a:gd name="connsiteX3" fmla="*/ 0 w 54478"/>
                <a:gd name="connsiteY3" fmla="*/ 0 h 283176"/>
                <a:gd name="connsiteX4" fmla="*/ 0 w 54478"/>
                <a:gd name="connsiteY4" fmla="*/ 283177 h 283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8" h="283176">
                  <a:moveTo>
                    <a:pt x="0" y="283177"/>
                  </a:moveTo>
                  <a:lnTo>
                    <a:pt x="54479" y="235831"/>
                  </a:lnTo>
                  <a:lnTo>
                    <a:pt x="54479" y="47345"/>
                  </a:lnTo>
                  <a:lnTo>
                    <a:pt x="0" y="0"/>
                  </a:lnTo>
                  <a:lnTo>
                    <a:pt x="0" y="283177"/>
                  </a:lnTo>
                  <a:close/>
                </a:path>
              </a:pathLst>
            </a:custGeom>
            <a:solidFill>
              <a:srgbClr val="FFFFFF"/>
            </a:solidFill>
            <a:ln w="6417" cap="flat">
              <a:noFill/>
              <a:prstDash val="solid"/>
              <a:miter/>
            </a:ln>
          </p:spPr>
          <p:txBody>
            <a:bodyPr rtlCol="0" anchor="ctr"/>
            <a:lstStyle/>
            <a:p>
              <a:endParaRPr lang="en-US" sz="810"/>
            </a:p>
          </p:txBody>
        </p:sp>
        <p:sp>
          <p:nvSpPr>
            <p:cNvPr id="1720" name="Freeform: Shape 914">
              <a:extLst>
                <a:ext uri="{FF2B5EF4-FFF2-40B4-BE49-F238E27FC236}">
                  <a16:creationId xmlns:a16="http://schemas.microsoft.com/office/drawing/2014/main" id="{215745F4-3D99-2E29-7974-310393429702}"/>
                </a:ext>
              </a:extLst>
            </p:cNvPr>
            <p:cNvSpPr/>
            <p:nvPr/>
          </p:nvSpPr>
          <p:spPr>
            <a:xfrm>
              <a:off x="8144512" y="2460462"/>
              <a:ext cx="81301" cy="341239"/>
            </a:xfrm>
            <a:custGeom>
              <a:avLst/>
              <a:gdLst>
                <a:gd name="connsiteX0" fmla="*/ 0 w 81301"/>
                <a:gd name="connsiteY0" fmla="*/ 0 h 341239"/>
                <a:gd name="connsiteX1" fmla="*/ 0 w 81301"/>
                <a:gd name="connsiteY1" fmla="*/ 341240 h 341239"/>
                <a:gd name="connsiteX2" fmla="*/ 81302 w 81301"/>
                <a:gd name="connsiteY2" fmla="*/ 269776 h 341239"/>
                <a:gd name="connsiteX3" fmla="*/ 81302 w 81301"/>
                <a:gd name="connsiteY3" fmla="*/ 69677 h 341239"/>
                <a:gd name="connsiteX4" fmla="*/ 0 w 81301"/>
                <a:gd name="connsiteY4" fmla="*/ 0 h 341239"/>
                <a:gd name="connsiteX5" fmla="*/ 67890 w 81301"/>
                <a:gd name="connsiteY5" fmla="*/ 264416 h 341239"/>
                <a:gd name="connsiteX6" fmla="*/ 13411 w 81301"/>
                <a:gd name="connsiteY6" fmla="*/ 312653 h 341239"/>
                <a:gd name="connsiteX7" fmla="*/ 13411 w 81301"/>
                <a:gd name="connsiteY7" fmla="*/ 28586 h 341239"/>
                <a:gd name="connsiteX8" fmla="*/ 67890 w 81301"/>
                <a:gd name="connsiteY8" fmla="*/ 75931 h 341239"/>
                <a:gd name="connsiteX9" fmla="*/ 67890 w 81301"/>
                <a:gd name="connsiteY9" fmla="*/ 264416 h 341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01" h="341239">
                  <a:moveTo>
                    <a:pt x="0" y="0"/>
                  </a:moveTo>
                  <a:lnTo>
                    <a:pt x="0" y="341240"/>
                  </a:lnTo>
                  <a:lnTo>
                    <a:pt x="81302" y="269776"/>
                  </a:lnTo>
                  <a:lnTo>
                    <a:pt x="81302" y="69677"/>
                  </a:lnTo>
                  <a:lnTo>
                    <a:pt x="0" y="0"/>
                  </a:lnTo>
                  <a:close/>
                  <a:moveTo>
                    <a:pt x="67890" y="264416"/>
                  </a:moveTo>
                  <a:lnTo>
                    <a:pt x="13411" y="312653"/>
                  </a:lnTo>
                  <a:lnTo>
                    <a:pt x="13411" y="28586"/>
                  </a:lnTo>
                  <a:lnTo>
                    <a:pt x="67890" y="75931"/>
                  </a:lnTo>
                  <a:lnTo>
                    <a:pt x="67890" y="264416"/>
                  </a:lnTo>
                  <a:close/>
                </a:path>
              </a:pathLst>
            </a:custGeom>
            <a:solidFill>
              <a:srgbClr val="2D5967"/>
            </a:solidFill>
            <a:ln w="6417" cap="flat">
              <a:noFill/>
              <a:prstDash val="solid"/>
              <a:miter/>
            </a:ln>
          </p:spPr>
          <p:txBody>
            <a:bodyPr rtlCol="0" anchor="ctr"/>
            <a:lstStyle/>
            <a:p>
              <a:endParaRPr lang="en-US" sz="810"/>
            </a:p>
          </p:txBody>
        </p:sp>
        <p:sp>
          <p:nvSpPr>
            <p:cNvPr id="1721" name="Freeform: Shape 915">
              <a:extLst>
                <a:ext uri="{FF2B5EF4-FFF2-40B4-BE49-F238E27FC236}">
                  <a16:creationId xmlns:a16="http://schemas.microsoft.com/office/drawing/2014/main" id="{AE4E2273-AE78-A60A-9342-0E94A1CB0BFA}"/>
                </a:ext>
              </a:extLst>
            </p:cNvPr>
            <p:cNvSpPr/>
            <p:nvPr/>
          </p:nvSpPr>
          <p:spPr>
            <a:xfrm>
              <a:off x="7973888" y="2472964"/>
              <a:ext cx="146496" cy="330521"/>
            </a:xfrm>
            <a:custGeom>
              <a:avLst/>
              <a:gdLst>
                <a:gd name="connsiteX0" fmla="*/ 54479 w 146496"/>
                <a:gd name="connsiteY0" fmla="*/ 0 h 330521"/>
                <a:gd name="connsiteX1" fmla="*/ 0 w 146496"/>
                <a:gd name="connsiteY1" fmla="*/ 330522 h 330521"/>
                <a:gd name="connsiteX2" fmla="*/ 54479 w 146496"/>
                <a:gd name="connsiteY2" fmla="*/ 330522 h 330521"/>
                <a:gd name="connsiteX3" fmla="*/ 73280 w 146496"/>
                <a:gd name="connsiteY3" fmla="*/ 141140 h 330521"/>
                <a:gd name="connsiteX4" fmla="*/ 92017 w 146496"/>
                <a:gd name="connsiteY4" fmla="*/ 330522 h 330521"/>
                <a:gd name="connsiteX5" fmla="*/ 146496 w 146496"/>
                <a:gd name="connsiteY5" fmla="*/ 330522 h 330521"/>
                <a:gd name="connsiteX6" fmla="*/ 93814 w 146496"/>
                <a:gd name="connsiteY6" fmla="*/ 0 h 330521"/>
                <a:gd name="connsiteX7" fmla="*/ 54479 w 146496"/>
                <a:gd name="connsiteY7" fmla="*/ 0 h 3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496" h="330521">
                  <a:moveTo>
                    <a:pt x="54479" y="0"/>
                  </a:moveTo>
                  <a:lnTo>
                    <a:pt x="0" y="330522"/>
                  </a:lnTo>
                  <a:lnTo>
                    <a:pt x="54479" y="330522"/>
                  </a:lnTo>
                  <a:lnTo>
                    <a:pt x="73280" y="141140"/>
                  </a:lnTo>
                  <a:lnTo>
                    <a:pt x="92017" y="330522"/>
                  </a:lnTo>
                  <a:lnTo>
                    <a:pt x="146496" y="330522"/>
                  </a:lnTo>
                  <a:lnTo>
                    <a:pt x="93814" y="0"/>
                  </a:lnTo>
                  <a:lnTo>
                    <a:pt x="54479" y="0"/>
                  </a:lnTo>
                  <a:close/>
                </a:path>
              </a:pathLst>
            </a:custGeom>
            <a:solidFill>
              <a:srgbClr val="FFFFFF"/>
            </a:solidFill>
            <a:ln w="6417" cap="flat">
              <a:noFill/>
              <a:prstDash val="solid"/>
              <a:miter/>
            </a:ln>
          </p:spPr>
          <p:txBody>
            <a:bodyPr rtlCol="0" anchor="ctr"/>
            <a:lstStyle/>
            <a:p>
              <a:endParaRPr lang="en-US" sz="810"/>
            </a:p>
          </p:txBody>
        </p:sp>
        <p:sp>
          <p:nvSpPr>
            <p:cNvPr id="1722" name="Freeform: Shape 916">
              <a:extLst>
                <a:ext uri="{FF2B5EF4-FFF2-40B4-BE49-F238E27FC236}">
                  <a16:creationId xmlns:a16="http://schemas.microsoft.com/office/drawing/2014/main" id="{DE51E84D-E878-16D3-A109-4239E1AE0174}"/>
                </a:ext>
              </a:extLst>
            </p:cNvPr>
            <p:cNvSpPr/>
            <p:nvPr/>
          </p:nvSpPr>
          <p:spPr>
            <a:xfrm>
              <a:off x="7958745" y="2459563"/>
              <a:ext cx="176847" cy="357321"/>
            </a:xfrm>
            <a:custGeom>
              <a:avLst/>
              <a:gdLst>
                <a:gd name="connsiteX0" fmla="*/ 58008 w 176847"/>
                <a:gd name="connsiteY0" fmla="*/ 0 h 357321"/>
                <a:gd name="connsiteX1" fmla="*/ 0 w 176847"/>
                <a:gd name="connsiteY1" fmla="*/ 357321 h 357321"/>
                <a:gd name="connsiteX2" fmla="*/ 81237 w 176847"/>
                <a:gd name="connsiteY2" fmla="*/ 357321 h 357321"/>
                <a:gd name="connsiteX3" fmla="*/ 88423 w 176847"/>
                <a:gd name="connsiteY3" fmla="*/ 285855 h 357321"/>
                <a:gd name="connsiteX4" fmla="*/ 95547 w 176847"/>
                <a:gd name="connsiteY4" fmla="*/ 357321 h 357321"/>
                <a:gd name="connsiteX5" fmla="*/ 176848 w 176847"/>
                <a:gd name="connsiteY5" fmla="*/ 357321 h 357321"/>
                <a:gd name="connsiteX6" fmla="*/ 119673 w 176847"/>
                <a:gd name="connsiteY6" fmla="*/ 0 h 357321"/>
                <a:gd name="connsiteX7" fmla="*/ 58008 w 176847"/>
                <a:gd name="connsiteY7" fmla="*/ 0 h 357321"/>
                <a:gd name="connsiteX8" fmla="*/ 107161 w 176847"/>
                <a:gd name="connsiteY8" fmla="*/ 343916 h 357321"/>
                <a:gd name="connsiteX9" fmla="*/ 88423 w 176847"/>
                <a:gd name="connsiteY9" fmla="*/ 154540 h 357321"/>
                <a:gd name="connsiteX10" fmla="*/ 69623 w 176847"/>
                <a:gd name="connsiteY10" fmla="*/ 343916 h 357321"/>
                <a:gd name="connsiteX11" fmla="*/ 15144 w 176847"/>
                <a:gd name="connsiteY11" fmla="*/ 343916 h 357321"/>
                <a:gd name="connsiteX12" fmla="*/ 69623 w 176847"/>
                <a:gd name="connsiteY12" fmla="*/ 13400 h 357321"/>
                <a:gd name="connsiteX13" fmla="*/ 109856 w 176847"/>
                <a:gd name="connsiteY13" fmla="*/ 13400 h 357321"/>
                <a:gd name="connsiteX14" fmla="*/ 162538 w 176847"/>
                <a:gd name="connsiteY14" fmla="*/ 343916 h 357321"/>
                <a:gd name="connsiteX15" fmla="*/ 107161 w 176847"/>
                <a:gd name="connsiteY15" fmla="*/ 343916 h 35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847" h="357321">
                  <a:moveTo>
                    <a:pt x="58008" y="0"/>
                  </a:moveTo>
                  <a:lnTo>
                    <a:pt x="0" y="357321"/>
                  </a:lnTo>
                  <a:lnTo>
                    <a:pt x="81237" y="357321"/>
                  </a:lnTo>
                  <a:lnTo>
                    <a:pt x="88423" y="285855"/>
                  </a:lnTo>
                  <a:lnTo>
                    <a:pt x="95547" y="357321"/>
                  </a:lnTo>
                  <a:lnTo>
                    <a:pt x="176848" y="357321"/>
                  </a:lnTo>
                  <a:lnTo>
                    <a:pt x="119673" y="0"/>
                  </a:lnTo>
                  <a:cubicBezTo>
                    <a:pt x="120572" y="0"/>
                    <a:pt x="58008" y="0"/>
                    <a:pt x="58008" y="0"/>
                  </a:cubicBezTo>
                  <a:close/>
                  <a:moveTo>
                    <a:pt x="107161" y="343916"/>
                  </a:moveTo>
                  <a:lnTo>
                    <a:pt x="88423" y="154540"/>
                  </a:lnTo>
                  <a:lnTo>
                    <a:pt x="69623" y="343916"/>
                  </a:lnTo>
                  <a:lnTo>
                    <a:pt x="15144" y="343916"/>
                  </a:lnTo>
                  <a:lnTo>
                    <a:pt x="69623" y="13400"/>
                  </a:lnTo>
                  <a:lnTo>
                    <a:pt x="109856" y="13400"/>
                  </a:lnTo>
                  <a:lnTo>
                    <a:pt x="162538" y="343916"/>
                  </a:lnTo>
                  <a:lnTo>
                    <a:pt x="107161" y="343916"/>
                  </a:lnTo>
                  <a:close/>
                </a:path>
              </a:pathLst>
            </a:custGeom>
            <a:solidFill>
              <a:srgbClr val="2D5967"/>
            </a:solidFill>
            <a:ln w="6417" cap="flat">
              <a:noFill/>
              <a:prstDash val="solid"/>
              <a:miter/>
            </a:ln>
          </p:spPr>
          <p:txBody>
            <a:bodyPr rtlCol="0" anchor="ctr"/>
            <a:lstStyle/>
            <a:p>
              <a:endParaRPr lang="en-US" sz="810"/>
            </a:p>
          </p:txBody>
        </p:sp>
      </p:grpSp>
      <p:sp>
        <p:nvSpPr>
          <p:cNvPr id="1723" name="Freeform: Shape 24">
            <a:extLst>
              <a:ext uri="{FF2B5EF4-FFF2-40B4-BE49-F238E27FC236}">
                <a16:creationId xmlns:a16="http://schemas.microsoft.com/office/drawing/2014/main" id="{B35B4F24-09EE-0B25-6FEF-FBCD485C884E}"/>
              </a:ext>
            </a:extLst>
          </p:cNvPr>
          <p:cNvSpPr/>
          <p:nvPr/>
        </p:nvSpPr>
        <p:spPr>
          <a:xfrm>
            <a:off x="11101508" y="8657337"/>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grpSp>
        <p:nvGrpSpPr>
          <p:cNvPr id="1724" name="Graphic 1518">
            <a:extLst>
              <a:ext uri="{FF2B5EF4-FFF2-40B4-BE49-F238E27FC236}">
                <a16:creationId xmlns:a16="http://schemas.microsoft.com/office/drawing/2014/main" id="{02068386-4930-E6FA-93AD-D8C153AE7EA6}"/>
              </a:ext>
            </a:extLst>
          </p:cNvPr>
          <p:cNvGrpSpPr/>
          <p:nvPr/>
        </p:nvGrpSpPr>
        <p:grpSpPr>
          <a:xfrm>
            <a:off x="9764092" y="8648678"/>
            <a:ext cx="643888" cy="668853"/>
            <a:chOff x="2747486" y="3069656"/>
            <a:chExt cx="385010" cy="385010"/>
          </a:xfrm>
        </p:grpSpPr>
        <p:grpSp>
          <p:nvGrpSpPr>
            <p:cNvPr id="1725" name="Graphic 1518">
              <a:extLst>
                <a:ext uri="{FF2B5EF4-FFF2-40B4-BE49-F238E27FC236}">
                  <a16:creationId xmlns:a16="http://schemas.microsoft.com/office/drawing/2014/main" id="{C47A8F69-BE67-7B54-51AC-905834132BA8}"/>
                </a:ext>
              </a:extLst>
            </p:cNvPr>
            <p:cNvGrpSpPr/>
            <p:nvPr/>
          </p:nvGrpSpPr>
          <p:grpSpPr>
            <a:xfrm>
              <a:off x="2747486" y="3069656"/>
              <a:ext cx="385010" cy="385010"/>
              <a:chOff x="2747486" y="3069656"/>
              <a:chExt cx="385010" cy="385010"/>
            </a:xfrm>
            <a:solidFill>
              <a:srgbClr val="FFFFFF"/>
            </a:solidFill>
          </p:grpSpPr>
          <p:sp>
            <p:nvSpPr>
              <p:cNvPr id="1734" name="Freeform: Shape 1557">
                <a:extLst>
                  <a:ext uri="{FF2B5EF4-FFF2-40B4-BE49-F238E27FC236}">
                    <a16:creationId xmlns:a16="http://schemas.microsoft.com/office/drawing/2014/main" id="{C50B3F22-8D25-FE38-0FD6-EA5E17E2A506}"/>
                  </a:ext>
                </a:extLst>
              </p:cNvPr>
              <p:cNvSpPr/>
              <p:nvPr/>
            </p:nvSpPr>
            <p:spPr>
              <a:xfrm>
                <a:off x="2752048" y="3074240"/>
                <a:ext cx="375866" cy="376762"/>
              </a:xfrm>
              <a:custGeom>
                <a:avLst/>
                <a:gdLst>
                  <a:gd name="connsiteX0" fmla="*/ 20123 w 375866"/>
                  <a:gd name="connsiteY0" fmla="*/ 375845 h 376762"/>
                  <a:gd name="connsiteX1" fmla="*/ 0 w 375866"/>
                  <a:gd name="connsiteY1" fmla="*/ 355677 h 376762"/>
                  <a:gd name="connsiteX2" fmla="*/ 0 w 375866"/>
                  <a:gd name="connsiteY2" fmla="*/ 20167 h 376762"/>
                  <a:gd name="connsiteX3" fmla="*/ 20123 w 375866"/>
                  <a:gd name="connsiteY3" fmla="*/ 0 h 376762"/>
                  <a:gd name="connsiteX4" fmla="*/ 355750 w 375866"/>
                  <a:gd name="connsiteY4" fmla="*/ 0 h 376762"/>
                  <a:gd name="connsiteX5" fmla="*/ 375867 w 375866"/>
                  <a:gd name="connsiteY5" fmla="*/ 20167 h 376762"/>
                  <a:gd name="connsiteX6" fmla="*/ 375867 w 375866"/>
                  <a:gd name="connsiteY6" fmla="*/ 356594 h 376762"/>
                  <a:gd name="connsiteX7" fmla="*/ 355750 w 375866"/>
                  <a:gd name="connsiteY7" fmla="*/ 376762 h 376762"/>
                  <a:gd name="connsiteX8" fmla="*/ 20123 w 375866"/>
                  <a:gd name="connsiteY8" fmla="*/ 375845 h 37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866" h="376762">
                    <a:moveTo>
                      <a:pt x="20123" y="375845"/>
                    </a:moveTo>
                    <a:cubicBezTo>
                      <a:pt x="9144" y="375845"/>
                      <a:pt x="0" y="366675"/>
                      <a:pt x="0" y="355677"/>
                    </a:cubicBezTo>
                    <a:lnTo>
                      <a:pt x="0" y="20167"/>
                    </a:lnTo>
                    <a:cubicBezTo>
                      <a:pt x="0" y="9166"/>
                      <a:pt x="9144" y="0"/>
                      <a:pt x="20123" y="0"/>
                    </a:cubicBezTo>
                    <a:lnTo>
                      <a:pt x="355750" y="0"/>
                    </a:lnTo>
                    <a:cubicBezTo>
                      <a:pt x="366723" y="0"/>
                      <a:pt x="375867" y="9166"/>
                      <a:pt x="375867" y="20167"/>
                    </a:cubicBezTo>
                    <a:lnTo>
                      <a:pt x="375867" y="356594"/>
                    </a:lnTo>
                    <a:cubicBezTo>
                      <a:pt x="375867" y="367593"/>
                      <a:pt x="366723" y="376762"/>
                      <a:pt x="355750" y="376762"/>
                    </a:cubicBezTo>
                    <a:lnTo>
                      <a:pt x="20123" y="375845"/>
                    </a:lnTo>
                    <a:close/>
                  </a:path>
                </a:pathLst>
              </a:custGeom>
              <a:solidFill>
                <a:srgbClr val="FFFFFF"/>
              </a:solidFill>
              <a:ln w="6417" cap="flat">
                <a:noFill/>
                <a:prstDash val="solid"/>
                <a:miter/>
              </a:ln>
            </p:spPr>
            <p:txBody>
              <a:bodyPr rtlCol="0" anchor="ctr"/>
              <a:lstStyle/>
              <a:p>
                <a:endParaRPr lang="en-US" sz="810"/>
              </a:p>
            </p:txBody>
          </p:sp>
          <p:sp>
            <p:nvSpPr>
              <p:cNvPr id="1735" name="Freeform: Shape 1558">
                <a:extLst>
                  <a:ext uri="{FF2B5EF4-FFF2-40B4-BE49-F238E27FC236}">
                    <a16:creationId xmlns:a16="http://schemas.microsoft.com/office/drawing/2014/main" id="{43886D11-AD47-A9AB-9C1B-69C678A09D6D}"/>
                  </a:ext>
                </a:extLst>
              </p:cNvPr>
              <p:cNvSpPr/>
              <p:nvPr/>
            </p:nvSpPr>
            <p:spPr>
              <a:xfrm>
                <a:off x="2747486" y="3069656"/>
                <a:ext cx="385010" cy="385010"/>
              </a:xfrm>
              <a:custGeom>
                <a:avLst/>
                <a:gdLst>
                  <a:gd name="connsiteX0" fmla="*/ 359407 w 385010"/>
                  <a:gd name="connsiteY0" fmla="*/ 9167 h 385010"/>
                  <a:gd name="connsiteX1" fmla="*/ 374949 w 385010"/>
                  <a:gd name="connsiteY1" fmla="*/ 24750 h 385010"/>
                  <a:gd name="connsiteX2" fmla="*/ 374949 w 385010"/>
                  <a:gd name="connsiteY2" fmla="*/ 361179 h 385010"/>
                  <a:gd name="connsiteX3" fmla="*/ 359407 w 385010"/>
                  <a:gd name="connsiteY3" fmla="*/ 376759 h 385010"/>
                  <a:gd name="connsiteX4" fmla="*/ 24692 w 385010"/>
                  <a:gd name="connsiteY4" fmla="*/ 376759 h 385010"/>
                  <a:gd name="connsiteX5" fmla="*/ 9144 w 385010"/>
                  <a:gd name="connsiteY5" fmla="*/ 360261 h 385010"/>
                  <a:gd name="connsiteX6" fmla="*/ 9144 w 385010"/>
                  <a:gd name="connsiteY6" fmla="*/ 24750 h 385010"/>
                  <a:gd name="connsiteX7" fmla="*/ 24692 w 385010"/>
                  <a:gd name="connsiteY7" fmla="*/ 9167 h 385010"/>
                  <a:gd name="connsiteX8" fmla="*/ 359407 w 385010"/>
                  <a:gd name="connsiteY8" fmla="*/ 9167 h 385010"/>
                  <a:gd name="connsiteX9" fmla="*/ 359407 w 385010"/>
                  <a:gd name="connsiteY9" fmla="*/ 0 h 385010"/>
                  <a:gd name="connsiteX10" fmla="*/ 24692 w 385010"/>
                  <a:gd name="connsiteY10" fmla="*/ 0 h 385010"/>
                  <a:gd name="connsiteX11" fmla="*/ 0 w 385010"/>
                  <a:gd name="connsiteY11" fmla="*/ 24750 h 385010"/>
                  <a:gd name="connsiteX12" fmla="*/ 0 w 385010"/>
                  <a:gd name="connsiteY12" fmla="*/ 361179 h 385010"/>
                  <a:gd name="connsiteX13" fmla="*/ 24692 w 385010"/>
                  <a:gd name="connsiteY13" fmla="*/ 385011 h 385010"/>
                  <a:gd name="connsiteX14" fmla="*/ 360319 w 385010"/>
                  <a:gd name="connsiteY14" fmla="*/ 385011 h 385010"/>
                  <a:gd name="connsiteX15" fmla="*/ 385011 w 385010"/>
                  <a:gd name="connsiteY15" fmla="*/ 360261 h 385010"/>
                  <a:gd name="connsiteX16" fmla="*/ 385011 w 385010"/>
                  <a:gd name="connsiteY16" fmla="*/ 24750 h 385010"/>
                  <a:gd name="connsiteX17" fmla="*/ 359407 w 385010"/>
                  <a:gd name="connsiteY17"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010" h="385010">
                    <a:moveTo>
                      <a:pt x="359407" y="9167"/>
                    </a:moveTo>
                    <a:cubicBezTo>
                      <a:pt x="367634" y="9167"/>
                      <a:pt x="374949" y="16500"/>
                      <a:pt x="374949" y="24750"/>
                    </a:cubicBezTo>
                    <a:lnTo>
                      <a:pt x="374949" y="361179"/>
                    </a:lnTo>
                    <a:cubicBezTo>
                      <a:pt x="374949" y="369424"/>
                      <a:pt x="367634" y="376759"/>
                      <a:pt x="359407" y="376759"/>
                    </a:cubicBezTo>
                    <a:lnTo>
                      <a:pt x="24692" y="376759"/>
                    </a:lnTo>
                    <a:cubicBezTo>
                      <a:pt x="16459" y="375841"/>
                      <a:pt x="9144" y="368513"/>
                      <a:pt x="9144" y="360261"/>
                    </a:cubicBezTo>
                    <a:lnTo>
                      <a:pt x="9144" y="24750"/>
                    </a:lnTo>
                    <a:cubicBezTo>
                      <a:pt x="9144" y="16500"/>
                      <a:pt x="16459" y="9167"/>
                      <a:pt x="24692" y="9167"/>
                    </a:cubicBezTo>
                    <a:lnTo>
                      <a:pt x="359407" y="9167"/>
                    </a:lnTo>
                    <a:close/>
                    <a:moveTo>
                      <a:pt x="359407" y="0"/>
                    </a:moveTo>
                    <a:lnTo>
                      <a:pt x="24692" y="0"/>
                    </a:lnTo>
                    <a:cubicBezTo>
                      <a:pt x="10973" y="0"/>
                      <a:pt x="0" y="11000"/>
                      <a:pt x="0" y="24750"/>
                    </a:cubicBezTo>
                    <a:lnTo>
                      <a:pt x="0" y="361179"/>
                    </a:lnTo>
                    <a:cubicBezTo>
                      <a:pt x="0" y="374012"/>
                      <a:pt x="10973" y="385011"/>
                      <a:pt x="24692" y="385011"/>
                    </a:cubicBezTo>
                    <a:lnTo>
                      <a:pt x="360319" y="385011"/>
                    </a:lnTo>
                    <a:cubicBezTo>
                      <a:pt x="374038" y="385011"/>
                      <a:pt x="385011" y="374012"/>
                      <a:pt x="385011" y="360261"/>
                    </a:cubicBezTo>
                    <a:lnTo>
                      <a:pt x="385011" y="24750"/>
                    </a:lnTo>
                    <a:cubicBezTo>
                      <a:pt x="384093" y="11000"/>
                      <a:pt x="373120" y="0"/>
                      <a:pt x="359407" y="0"/>
                    </a:cubicBezTo>
                    <a:close/>
                  </a:path>
                </a:pathLst>
              </a:custGeom>
              <a:solidFill>
                <a:srgbClr val="FFFFFF"/>
              </a:solidFill>
              <a:ln w="6417" cap="flat">
                <a:noFill/>
                <a:prstDash val="solid"/>
                <a:miter/>
              </a:ln>
            </p:spPr>
            <p:txBody>
              <a:bodyPr rtlCol="0" anchor="ctr"/>
              <a:lstStyle/>
              <a:p>
                <a:endParaRPr lang="en-US" sz="810"/>
              </a:p>
            </p:txBody>
          </p:sp>
        </p:grpSp>
        <p:grpSp>
          <p:nvGrpSpPr>
            <p:cNvPr id="1726" name="Graphic 1518">
              <a:extLst>
                <a:ext uri="{FF2B5EF4-FFF2-40B4-BE49-F238E27FC236}">
                  <a16:creationId xmlns:a16="http://schemas.microsoft.com/office/drawing/2014/main" id="{69F0EC73-AC7D-6F88-62AE-0446B0BDF33F}"/>
                </a:ext>
              </a:extLst>
            </p:cNvPr>
            <p:cNvGrpSpPr/>
            <p:nvPr/>
          </p:nvGrpSpPr>
          <p:grpSpPr>
            <a:xfrm>
              <a:off x="2756636" y="3078827"/>
              <a:ext cx="366716" cy="366676"/>
              <a:chOff x="2756636" y="3078827"/>
              <a:chExt cx="366716" cy="366676"/>
            </a:xfrm>
            <a:solidFill>
              <a:srgbClr val="2D5967"/>
            </a:solidFill>
          </p:grpSpPr>
          <p:sp>
            <p:nvSpPr>
              <p:cNvPr id="1727" name="Freeform: Shape 1560">
                <a:extLst>
                  <a:ext uri="{FF2B5EF4-FFF2-40B4-BE49-F238E27FC236}">
                    <a16:creationId xmlns:a16="http://schemas.microsoft.com/office/drawing/2014/main" id="{C70697EF-5E96-8015-65DC-5F07A071DDFD}"/>
                  </a:ext>
                </a:extLst>
              </p:cNvPr>
              <p:cNvSpPr/>
              <p:nvPr/>
            </p:nvSpPr>
            <p:spPr>
              <a:xfrm>
                <a:off x="2756636" y="3078827"/>
                <a:ext cx="366716" cy="366676"/>
              </a:xfrm>
              <a:custGeom>
                <a:avLst/>
                <a:gdLst>
                  <a:gd name="connsiteX0" fmla="*/ 350257 w 366716"/>
                  <a:gd name="connsiteY0" fmla="*/ 0 h 366676"/>
                  <a:gd name="connsiteX1" fmla="*/ 15542 w 366716"/>
                  <a:gd name="connsiteY1" fmla="*/ 0 h 366676"/>
                  <a:gd name="connsiteX2" fmla="*/ 0 w 366716"/>
                  <a:gd name="connsiteY2" fmla="*/ 15584 h 366676"/>
                  <a:gd name="connsiteX3" fmla="*/ 0 w 366716"/>
                  <a:gd name="connsiteY3" fmla="*/ 352008 h 366676"/>
                  <a:gd name="connsiteX4" fmla="*/ 15542 w 366716"/>
                  <a:gd name="connsiteY4" fmla="*/ 366676 h 366676"/>
                  <a:gd name="connsiteX5" fmla="*/ 351168 w 366716"/>
                  <a:gd name="connsiteY5" fmla="*/ 366676 h 366676"/>
                  <a:gd name="connsiteX6" fmla="*/ 366716 w 366716"/>
                  <a:gd name="connsiteY6" fmla="*/ 351090 h 366676"/>
                  <a:gd name="connsiteX7" fmla="*/ 366716 w 366716"/>
                  <a:gd name="connsiteY7" fmla="*/ 15584 h 366676"/>
                  <a:gd name="connsiteX8" fmla="*/ 350257 w 366716"/>
                  <a:gd name="connsiteY8" fmla="*/ 0 h 366676"/>
                  <a:gd name="connsiteX9" fmla="*/ 352086 w 366716"/>
                  <a:gd name="connsiteY9" fmla="*/ 351090 h 366676"/>
                  <a:gd name="connsiteX10" fmla="*/ 350257 w 366716"/>
                  <a:gd name="connsiteY10" fmla="*/ 352925 h 366676"/>
                  <a:gd name="connsiteX11" fmla="*/ 15542 w 366716"/>
                  <a:gd name="connsiteY11" fmla="*/ 352925 h 366676"/>
                  <a:gd name="connsiteX12" fmla="*/ 13713 w 366716"/>
                  <a:gd name="connsiteY12" fmla="*/ 351090 h 366676"/>
                  <a:gd name="connsiteX13" fmla="*/ 13713 w 366716"/>
                  <a:gd name="connsiteY13" fmla="*/ 15584 h 366676"/>
                  <a:gd name="connsiteX14" fmla="*/ 15542 w 366716"/>
                  <a:gd name="connsiteY14" fmla="*/ 13751 h 366676"/>
                  <a:gd name="connsiteX15" fmla="*/ 351168 w 366716"/>
                  <a:gd name="connsiteY15" fmla="*/ 13751 h 366676"/>
                  <a:gd name="connsiteX16" fmla="*/ 352997 w 366716"/>
                  <a:gd name="connsiteY16" fmla="*/ 15584 h 366676"/>
                  <a:gd name="connsiteX17" fmla="*/ 352086 w 366716"/>
                  <a:gd name="connsiteY17" fmla="*/ 351090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716" h="366676">
                    <a:moveTo>
                      <a:pt x="350257" y="0"/>
                    </a:moveTo>
                    <a:lnTo>
                      <a:pt x="15542" y="0"/>
                    </a:lnTo>
                    <a:cubicBezTo>
                      <a:pt x="7315" y="0"/>
                      <a:pt x="0" y="7334"/>
                      <a:pt x="0" y="15584"/>
                    </a:cubicBezTo>
                    <a:lnTo>
                      <a:pt x="0" y="352008"/>
                    </a:lnTo>
                    <a:cubicBezTo>
                      <a:pt x="0" y="359342"/>
                      <a:pt x="7315" y="366676"/>
                      <a:pt x="15542" y="366676"/>
                    </a:cubicBezTo>
                    <a:lnTo>
                      <a:pt x="351168" y="366676"/>
                    </a:lnTo>
                    <a:cubicBezTo>
                      <a:pt x="359401" y="366676"/>
                      <a:pt x="366716" y="359342"/>
                      <a:pt x="366716" y="351090"/>
                    </a:cubicBezTo>
                    <a:lnTo>
                      <a:pt x="366716" y="15584"/>
                    </a:lnTo>
                    <a:cubicBezTo>
                      <a:pt x="365805" y="7334"/>
                      <a:pt x="358490" y="0"/>
                      <a:pt x="350257" y="0"/>
                    </a:cubicBezTo>
                    <a:close/>
                    <a:moveTo>
                      <a:pt x="352086" y="351090"/>
                    </a:moveTo>
                    <a:cubicBezTo>
                      <a:pt x="352086" y="352008"/>
                      <a:pt x="351168" y="352925"/>
                      <a:pt x="350257" y="352925"/>
                    </a:cubicBezTo>
                    <a:lnTo>
                      <a:pt x="15542" y="352925"/>
                    </a:lnTo>
                    <a:cubicBezTo>
                      <a:pt x="14630" y="352925"/>
                      <a:pt x="13713" y="352008"/>
                      <a:pt x="13713" y="351090"/>
                    </a:cubicBezTo>
                    <a:lnTo>
                      <a:pt x="13713" y="15584"/>
                    </a:lnTo>
                    <a:cubicBezTo>
                      <a:pt x="13713" y="14667"/>
                      <a:pt x="14630" y="13751"/>
                      <a:pt x="15542" y="13751"/>
                    </a:cubicBezTo>
                    <a:lnTo>
                      <a:pt x="351168" y="13751"/>
                    </a:lnTo>
                    <a:cubicBezTo>
                      <a:pt x="352086" y="13751"/>
                      <a:pt x="352997" y="14667"/>
                      <a:pt x="352997" y="15584"/>
                    </a:cubicBezTo>
                    <a:lnTo>
                      <a:pt x="352086" y="351090"/>
                    </a:lnTo>
                    <a:close/>
                  </a:path>
                </a:pathLst>
              </a:custGeom>
              <a:solidFill>
                <a:srgbClr val="2D5967"/>
              </a:solidFill>
              <a:ln w="6417" cap="flat">
                <a:noFill/>
                <a:prstDash val="solid"/>
                <a:miter/>
              </a:ln>
            </p:spPr>
            <p:txBody>
              <a:bodyPr rtlCol="0" anchor="ctr"/>
              <a:lstStyle/>
              <a:p>
                <a:endParaRPr lang="en-US" sz="810"/>
              </a:p>
            </p:txBody>
          </p:sp>
          <p:sp>
            <p:nvSpPr>
              <p:cNvPr id="1728" name="Freeform: Shape 1561">
                <a:extLst>
                  <a:ext uri="{FF2B5EF4-FFF2-40B4-BE49-F238E27FC236}">
                    <a16:creationId xmlns:a16="http://schemas.microsoft.com/office/drawing/2014/main" id="{AF351952-1DD3-A7AE-481F-43B0841FE13D}"/>
                  </a:ext>
                </a:extLst>
              </p:cNvPr>
              <p:cNvSpPr/>
              <p:nvPr/>
            </p:nvSpPr>
            <p:spPr>
              <a:xfrm>
                <a:off x="2796870" y="3321745"/>
                <a:ext cx="103343" cy="81586"/>
              </a:xfrm>
              <a:custGeom>
                <a:avLst/>
                <a:gdLst>
                  <a:gd name="connsiteX0" fmla="*/ 0 w 103343"/>
                  <a:gd name="connsiteY0" fmla="*/ 81586 h 81586"/>
                  <a:gd name="connsiteX1" fmla="*/ 103343 w 103343"/>
                  <a:gd name="connsiteY1" fmla="*/ 81586 h 81586"/>
                  <a:gd name="connsiteX2" fmla="*/ 103343 w 103343"/>
                  <a:gd name="connsiteY2" fmla="*/ 0 h 81586"/>
                  <a:gd name="connsiteX3" fmla="*/ 0 w 103343"/>
                  <a:gd name="connsiteY3" fmla="*/ 0 h 81586"/>
                  <a:gd name="connsiteX4" fmla="*/ 0 w 103343"/>
                  <a:gd name="connsiteY4" fmla="*/ 81586 h 81586"/>
                  <a:gd name="connsiteX5" fmla="*/ 13719 w 103343"/>
                  <a:gd name="connsiteY5" fmla="*/ 13751 h 81586"/>
                  <a:gd name="connsiteX6" fmla="*/ 89624 w 103343"/>
                  <a:gd name="connsiteY6" fmla="*/ 13751 h 81586"/>
                  <a:gd name="connsiteX7" fmla="*/ 89624 w 103343"/>
                  <a:gd name="connsiteY7" fmla="*/ 67836 h 81586"/>
                  <a:gd name="connsiteX8" fmla="*/ 13719 w 103343"/>
                  <a:gd name="connsiteY8" fmla="*/ 67836 h 81586"/>
                  <a:gd name="connsiteX9" fmla="*/ 13719 w 103343"/>
                  <a:gd name="connsiteY9" fmla="*/ 13751 h 8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343" h="81586">
                    <a:moveTo>
                      <a:pt x="0" y="81586"/>
                    </a:moveTo>
                    <a:lnTo>
                      <a:pt x="103343" y="81586"/>
                    </a:lnTo>
                    <a:lnTo>
                      <a:pt x="103343" y="0"/>
                    </a:lnTo>
                    <a:lnTo>
                      <a:pt x="0" y="0"/>
                    </a:lnTo>
                    <a:lnTo>
                      <a:pt x="0" y="81586"/>
                    </a:lnTo>
                    <a:close/>
                    <a:moveTo>
                      <a:pt x="13719" y="13751"/>
                    </a:moveTo>
                    <a:lnTo>
                      <a:pt x="89624" y="13751"/>
                    </a:lnTo>
                    <a:lnTo>
                      <a:pt x="89624"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729" name="Freeform: Shape 1562">
                <a:extLst>
                  <a:ext uri="{FF2B5EF4-FFF2-40B4-BE49-F238E27FC236}">
                    <a16:creationId xmlns:a16="http://schemas.microsoft.com/office/drawing/2014/main" id="{59BF43F5-35D8-FCCF-C9CE-D1E993B81F3D}"/>
                  </a:ext>
                </a:extLst>
              </p:cNvPr>
              <p:cNvSpPr/>
              <p:nvPr/>
            </p:nvSpPr>
            <p:spPr>
              <a:xfrm>
                <a:off x="2796870" y="3119160"/>
                <a:ext cx="284413" cy="81585"/>
              </a:xfrm>
              <a:custGeom>
                <a:avLst/>
                <a:gdLst>
                  <a:gd name="connsiteX0" fmla="*/ 0 w 284413"/>
                  <a:gd name="connsiteY0" fmla="*/ 81586 h 81585"/>
                  <a:gd name="connsiteX1" fmla="*/ 284414 w 284413"/>
                  <a:gd name="connsiteY1" fmla="*/ 81586 h 81585"/>
                  <a:gd name="connsiteX2" fmla="*/ 284414 w 284413"/>
                  <a:gd name="connsiteY2" fmla="*/ 0 h 81585"/>
                  <a:gd name="connsiteX3" fmla="*/ 0 w 284413"/>
                  <a:gd name="connsiteY3" fmla="*/ 0 h 81585"/>
                  <a:gd name="connsiteX4" fmla="*/ 0 w 284413"/>
                  <a:gd name="connsiteY4" fmla="*/ 81586 h 81585"/>
                  <a:gd name="connsiteX5" fmla="*/ 13719 w 284413"/>
                  <a:gd name="connsiteY5" fmla="*/ 13751 h 81585"/>
                  <a:gd name="connsiteX6" fmla="*/ 270701 w 284413"/>
                  <a:gd name="connsiteY6" fmla="*/ 13751 h 81585"/>
                  <a:gd name="connsiteX7" fmla="*/ 270701 w 284413"/>
                  <a:gd name="connsiteY7" fmla="*/ 67836 h 81585"/>
                  <a:gd name="connsiteX8" fmla="*/ 13719 w 284413"/>
                  <a:gd name="connsiteY8" fmla="*/ 67836 h 81585"/>
                  <a:gd name="connsiteX9" fmla="*/ 13719 w 284413"/>
                  <a:gd name="connsiteY9" fmla="*/ 13751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413" h="81585">
                    <a:moveTo>
                      <a:pt x="0" y="81586"/>
                    </a:moveTo>
                    <a:lnTo>
                      <a:pt x="284414" y="81586"/>
                    </a:lnTo>
                    <a:lnTo>
                      <a:pt x="284414" y="0"/>
                    </a:lnTo>
                    <a:lnTo>
                      <a:pt x="0" y="0"/>
                    </a:lnTo>
                    <a:lnTo>
                      <a:pt x="0" y="81586"/>
                    </a:lnTo>
                    <a:close/>
                    <a:moveTo>
                      <a:pt x="13719" y="13751"/>
                    </a:moveTo>
                    <a:lnTo>
                      <a:pt x="270701" y="13751"/>
                    </a:lnTo>
                    <a:lnTo>
                      <a:pt x="270701" y="67836"/>
                    </a:lnTo>
                    <a:lnTo>
                      <a:pt x="13719" y="67836"/>
                    </a:lnTo>
                    <a:lnTo>
                      <a:pt x="13719" y="13751"/>
                    </a:lnTo>
                    <a:close/>
                  </a:path>
                </a:pathLst>
              </a:custGeom>
              <a:solidFill>
                <a:srgbClr val="2D5967"/>
              </a:solidFill>
              <a:ln w="6417" cap="flat">
                <a:noFill/>
                <a:prstDash val="solid"/>
                <a:miter/>
              </a:ln>
            </p:spPr>
            <p:txBody>
              <a:bodyPr rtlCol="0" anchor="ctr"/>
              <a:lstStyle/>
              <a:p>
                <a:endParaRPr lang="en-US" sz="810"/>
              </a:p>
            </p:txBody>
          </p:sp>
          <p:sp>
            <p:nvSpPr>
              <p:cNvPr id="1730" name="Freeform: Shape 1563">
                <a:extLst>
                  <a:ext uri="{FF2B5EF4-FFF2-40B4-BE49-F238E27FC236}">
                    <a16:creationId xmlns:a16="http://schemas.microsoft.com/office/drawing/2014/main" id="{D0874F98-2F13-603E-3C16-0D2C8066829D}"/>
                  </a:ext>
                </a:extLst>
              </p:cNvPr>
              <p:cNvSpPr/>
              <p:nvPr/>
            </p:nvSpPr>
            <p:spPr>
              <a:xfrm>
                <a:off x="2796870" y="3221827"/>
                <a:ext cx="192049" cy="81585"/>
              </a:xfrm>
              <a:custGeom>
                <a:avLst/>
                <a:gdLst>
                  <a:gd name="connsiteX0" fmla="*/ 192050 w 192049"/>
                  <a:gd name="connsiteY0" fmla="*/ 0 h 81585"/>
                  <a:gd name="connsiteX1" fmla="*/ 0 w 192049"/>
                  <a:gd name="connsiteY1" fmla="*/ 0 h 81585"/>
                  <a:gd name="connsiteX2" fmla="*/ 0 w 192049"/>
                  <a:gd name="connsiteY2" fmla="*/ 81585 h 81585"/>
                  <a:gd name="connsiteX3" fmla="*/ 191138 w 192049"/>
                  <a:gd name="connsiteY3" fmla="*/ 81585 h 81585"/>
                  <a:gd name="connsiteX4" fmla="*/ 191138 w 192049"/>
                  <a:gd name="connsiteY4" fmla="*/ 0 h 81585"/>
                  <a:gd name="connsiteX5" fmla="*/ 192050 w 192049"/>
                  <a:gd name="connsiteY5" fmla="*/ 0 h 81585"/>
                  <a:gd name="connsiteX6" fmla="*/ 178330 w 192049"/>
                  <a:gd name="connsiteY6" fmla="*/ 67835 h 81585"/>
                  <a:gd name="connsiteX7" fmla="*/ 13719 w 192049"/>
                  <a:gd name="connsiteY7" fmla="*/ 67835 h 81585"/>
                  <a:gd name="connsiteX8" fmla="*/ 13719 w 192049"/>
                  <a:gd name="connsiteY8" fmla="*/ 12834 h 81585"/>
                  <a:gd name="connsiteX9" fmla="*/ 178330 w 192049"/>
                  <a:gd name="connsiteY9" fmla="*/ 12834 h 81585"/>
                  <a:gd name="connsiteX10" fmla="*/ 178330 w 192049"/>
                  <a:gd name="connsiteY10" fmla="*/ 67835 h 8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049" h="81585">
                    <a:moveTo>
                      <a:pt x="192050" y="0"/>
                    </a:moveTo>
                    <a:lnTo>
                      <a:pt x="0" y="0"/>
                    </a:lnTo>
                    <a:lnTo>
                      <a:pt x="0" y="81585"/>
                    </a:lnTo>
                    <a:lnTo>
                      <a:pt x="191138" y="81585"/>
                    </a:lnTo>
                    <a:lnTo>
                      <a:pt x="191138" y="0"/>
                    </a:lnTo>
                    <a:lnTo>
                      <a:pt x="192050" y="0"/>
                    </a:lnTo>
                    <a:close/>
                    <a:moveTo>
                      <a:pt x="178330" y="67835"/>
                    </a:moveTo>
                    <a:lnTo>
                      <a:pt x="13719" y="67835"/>
                    </a:lnTo>
                    <a:lnTo>
                      <a:pt x="13719" y="12834"/>
                    </a:lnTo>
                    <a:lnTo>
                      <a:pt x="178330" y="12834"/>
                    </a:lnTo>
                    <a:lnTo>
                      <a:pt x="178330" y="67835"/>
                    </a:lnTo>
                    <a:close/>
                  </a:path>
                </a:pathLst>
              </a:custGeom>
              <a:solidFill>
                <a:srgbClr val="2D5967"/>
              </a:solidFill>
              <a:ln w="6417" cap="flat">
                <a:noFill/>
                <a:prstDash val="solid"/>
                <a:miter/>
              </a:ln>
            </p:spPr>
            <p:txBody>
              <a:bodyPr rtlCol="0" anchor="ctr"/>
              <a:lstStyle/>
              <a:p>
                <a:endParaRPr lang="en-US" sz="810"/>
              </a:p>
            </p:txBody>
          </p:sp>
          <p:sp>
            <p:nvSpPr>
              <p:cNvPr id="1731" name="Freeform: Shape 1564">
                <a:extLst>
                  <a:ext uri="{FF2B5EF4-FFF2-40B4-BE49-F238E27FC236}">
                    <a16:creationId xmlns:a16="http://schemas.microsoft.com/office/drawing/2014/main" id="{FBAC5FE0-F51C-4060-06F8-A8BA225A008C}"/>
                  </a:ext>
                </a:extLst>
              </p:cNvPr>
              <p:cNvSpPr/>
              <p:nvPr/>
            </p:nvSpPr>
            <p:spPr>
              <a:xfrm>
                <a:off x="3005385" y="3228250"/>
                <a:ext cx="69500" cy="67835"/>
              </a:xfrm>
              <a:custGeom>
                <a:avLst/>
                <a:gdLst>
                  <a:gd name="connsiteX0" fmla="*/ 69501 w 69500"/>
                  <a:gd name="connsiteY0" fmla="*/ 0 h 67835"/>
                  <a:gd name="connsiteX1" fmla="*/ 0 w 69500"/>
                  <a:gd name="connsiteY1" fmla="*/ 0 h 67835"/>
                  <a:gd name="connsiteX2" fmla="*/ 0 w 69500"/>
                  <a:gd name="connsiteY2" fmla="*/ 67836 h 67835"/>
                  <a:gd name="connsiteX3" fmla="*/ 69501 w 69500"/>
                  <a:gd name="connsiteY3" fmla="*/ 67836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6"/>
                    </a:lnTo>
                    <a:lnTo>
                      <a:pt x="69501" y="67836"/>
                    </a:lnTo>
                    <a:lnTo>
                      <a:pt x="69501" y="0"/>
                    </a:lnTo>
                    <a:close/>
                  </a:path>
                </a:pathLst>
              </a:custGeom>
              <a:solidFill>
                <a:srgbClr val="2D5967"/>
              </a:solidFill>
              <a:ln w="6417" cap="flat">
                <a:noFill/>
                <a:prstDash val="solid"/>
                <a:miter/>
              </a:ln>
            </p:spPr>
            <p:txBody>
              <a:bodyPr rtlCol="0" anchor="ctr"/>
              <a:lstStyle/>
              <a:p>
                <a:endParaRPr lang="en-US" sz="810"/>
              </a:p>
            </p:txBody>
          </p:sp>
          <p:sp>
            <p:nvSpPr>
              <p:cNvPr id="1732" name="Freeform: Shape 1565">
                <a:extLst>
                  <a:ext uri="{FF2B5EF4-FFF2-40B4-BE49-F238E27FC236}">
                    <a16:creationId xmlns:a16="http://schemas.microsoft.com/office/drawing/2014/main" id="{F01158FB-C824-DE9A-F41B-7D4E47C6F39D}"/>
                  </a:ext>
                </a:extLst>
              </p:cNvPr>
              <p:cNvSpPr/>
              <p:nvPr/>
            </p:nvSpPr>
            <p:spPr>
              <a:xfrm>
                <a:off x="300538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sp>
            <p:nvSpPr>
              <p:cNvPr id="1733" name="Freeform: Shape 1566">
                <a:extLst>
                  <a:ext uri="{FF2B5EF4-FFF2-40B4-BE49-F238E27FC236}">
                    <a16:creationId xmlns:a16="http://schemas.microsoft.com/office/drawing/2014/main" id="{AA0CD4AB-37A2-A0F1-869A-62ED72D89851}"/>
                  </a:ext>
                </a:extLst>
              </p:cNvPr>
              <p:cNvSpPr/>
              <p:nvPr/>
            </p:nvSpPr>
            <p:spPr>
              <a:xfrm>
                <a:off x="2919425" y="3328169"/>
                <a:ext cx="69500" cy="67835"/>
              </a:xfrm>
              <a:custGeom>
                <a:avLst/>
                <a:gdLst>
                  <a:gd name="connsiteX0" fmla="*/ 69501 w 69500"/>
                  <a:gd name="connsiteY0" fmla="*/ 0 h 67835"/>
                  <a:gd name="connsiteX1" fmla="*/ 0 w 69500"/>
                  <a:gd name="connsiteY1" fmla="*/ 0 h 67835"/>
                  <a:gd name="connsiteX2" fmla="*/ 0 w 69500"/>
                  <a:gd name="connsiteY2" fmla="*/ 67835 h 67835"/>
                  <a:gd name="connsiteX3" fmla="*/ 69501 w 69500"/>
                  <a:gd name="connsiteY3" fmla="*/ 67835 h 67835"/>
                  <a:gd name="connsiteX4" fmla="*/ 69501 w 69500"/>
                  <a:gd name="connsiteY4" fmla="*/ 0 h 6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00" h="67835">
                    <a:moveTo>
                      <a:pt x="69501" y="0"/>
                    </a:moveTo>
                    <a:lnTo>
                      <a:pt x="0" y="0"/>
                    </a:lnTo>
                    <a:lnTo>
                      <a:pt x="0" y="67835"/>
                    </a:lnTo>
                    <a:lnTo>
                      <a:pt x="69501" y="67835"/>
                    </a:lnTo>
                    <a:lnTo>
                      <a:pt x="69501" y="0"/>
                    </a:lnTo>
                    <a:close/>
                  </a:path>
                </a:pathLst>
              </a:custGeom>
              <a:solidFill>
                <a:srgbClr val="2D5967"/>
              </a:solidFill>
              <a:ln w="6417" cap="flat">
                <a:noFill/>
                <a:prstDash val="solid"/>
                <a:miter/>
              </a:ln>
            </p:spPr>
            <p:txBody>
              <a:bodyPr rtlCol="0" anchor="ctr"/>
              <a:lstStyle/>
              <a:p>
                <a:endParaRPr lang="en-US" sz="810"/>
              </a:p>
            </p:txBody>
          </p:sp>
        </p:grpSp>
      </p:grpSp>
      <p:pic>
        <p:nvPicPr>
          <p:cNvPr id="1737" name="図 1736">
            <a:extLst>
              <a:ext uri="{FF2B5EF4-FFF2-40B4-BE49-F238E27FC236}">
                <a16:creationId xmlns:a16="http://schemas.microsoft.com/office/drawing/2014/main" id="{3D5D952E-1DB2-1688-BF3B-DEE76003A3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87911" y="8884993"/>
            <a:ext cx="570676" cy="570676"/>
          </a:xfrm>
          <a:prstGeom prst="rect">
            <a:avLst/>
          </a:prstGeom>
        </p:spPr>
      </p:pic>
      <p:sp>
        <p:nvSpPr>
          <p:cNvPr id="1741" name="Freeform: Shape 24">
            <a:extLst>
              <a:ext uri="{FF2B5EF4-FFF2-40B4-BE49-F238E27FC236}">
                <a16:creationId xmlns:a16="http://schemas.microsoft.com/office/drawing/2014/main" id="{BA3822DF-C618-D5D8-C336-DA0AFBD21FCE}"/>
              </a:ext>
            </a:extLst>
          </p:cNvPr>
          <p:cNvSpPr/>
          <p:nvPr/>
        </p:nvSpPr>
        <p:spPr>
          <a:xfrm>
            <a:off x="13099086" y="8701614"/>
            <a:ext cx="570315" cy="607100"/>
          </a:xfrm>
          <a:custGeom>
            <a:avLst/>
            <a:gdLst>
              <a:gd name="connsiteX0" fmla="*/ 326438 w 326437"/>
              <a:gd name="connsiteY0" fmla="*/ 47301 h 366676"/>
              <a:gd name="connsiteX1" fmla="*/ 163174 w 326437"/>
              <a:gd name="connsiteY1" fmla="*/ 0 h 366676"/>
              <a:gd name="connsiteX2" fmla="*/ 0 w 326437"/>
              <a:gd name="connsiteY2" fmla="*/ 47301 h 366676"/>
              <a:gd name="connsiteX3" fmla="*/ 0 w 326437"/>
              <a:gd name="connsiteY3" fmla="*/ 320841 h 366676"/>
              <a:gd name="connsiteX4" fmla="*/ 163174 w 326437"/>
              <a:gd name="connsiteY4" fmla="*/ 366676 h 366676"/>
              <a:gd name="connsiteX5" fmla="*/ 326438 w 326437"/>
              <a:gd name="connsiteY5" fmla="*/ 320841 h 366676"/>
              <a:gd name="connsiteX6" fmla="*/ 326438 w 326437"/>
              <a:gd name="connsiteY6" fmla="*/ 47301 h 366676"/>
              <a:gd name="connsiteX7" fmla="*/ 308105 w 326437"/>
              <a:gd name="connsiteY7" fmla="*/ 230640 h 366676"/>
              <a:gd name="connsiteX8" fmla="*/ 269783 w 326437"/>
              <a:gd name="connsiteY8" fmla="*/ 248148 h 366676"/>
              <a:gd name="connsiteX9" fmla="*/ 163174 w 326437"/>
              <a:gd name="connsiteY9" fmla="*/ 258599 h 366676"/>
              <a:gd name="connsiteX10" fmla="*/ 56199 w 326437"/>
              <a:gd name="connsiteY10" fmla="*/ 247965 h 366676"/>
              <a:gd name="connsiteX11" fmla="*/ 18339 w 326437"/>
              <a:gd name="connsiteY11" fmla="*/ 230456 h 366676"/>
              <a:gd name="connsiteX12" fmla="*/ 18339 w 326437"/>
              <a:gd name="connsiteY12" fmla="*/ 163171 h 366676"/>
              <a:gd name="connsiteX13" fmla="*/ 163629 w 326437"/>
              <a:gd name="connsiteY13" fmla="*/ 186455 h 366676"/>
              <a:gd name="connsiteX14" fmla="*/ 309022 w 326437"/>
              <a:gd name="connsiteY14" fmla="*/ 163171 h 366676"/>
              <a:gd name="connsiteX15" fmla="*/ 308105 w 326437"/>
              <a:gd name="connsiteY15" fmla="*/ 230640 h 366676"/>
              <a:gd name="connsiteX16" fmla="*/ 308105 w 326437"/>
              <a:gd name="connsiteY16" fmla="*/ 140621 h 366676"/>
              <a:gd name="connsiteX17" fmla="*/ 269783 w 326437"/>
              <a:gd name="connsiteY17" fmla="*/ 158130 h 366676"/>
              <a:gd name="connsiteX18" fmla="*/ 163174 w 326437"/>
              <a:gd name="connsiteY18" fmla="*/ 168579 h 366676"/>
              <a:gd name="connsiteX19" fmla="*/ 56199 w 326437"/>
              <a:gd name="connsiteY19" fmla="*/ 157946 h 366676"/>
              <a:gd name="connsiteX20" fmla="*/ 18339 w 326437"/>
              <a:gd name="connsiteY20" fmla="*/ 140437 h 366676"/>
              <a:gd name="connsiteX21" fmla="*/ 18339 w 326437"/>
              <a:gd name="connsiteY21" fmla="*/ 70585 h 366676"/>
              <a:gd name="connsiteX22" fmla="*/ 163629 w 326437"/>
              <a:gd name="connsiteY22" fmla="*/ 94511 h 366676"/>
              <a:gd name="connsiteX23" fmla="*/ 309022 w 326437"/>
              <a:gd name="connsiteY23" fmla="*/ 70585 h 366676"/>
              <a:gd name="connsiteX24" fmla="*/ 308105 w 326437"/>
              <a:gd name="connsiteY24" fmla="*/ 140621 h 366676"/>
              <a:gd name="connsiteX25" fmla="*/ 56289 w 326437"/>
              <a:gd name="connsiteY25" fmla="*/ 28876 h 366676"/>
              <a:gd name="connsiteX26" fmla="*/ 163174 w 326437"/>
              <a:gd name="connsiteY26" fmla="*/ 18334 h 366676"/>
              <a:gd name="connsiteX27" fmla="*/ 270149 w 326437"/>
              <a:gd name="connsiteY27" fmla="*/ 29334 h 366676"/>
              <a:gd name="connsiteX28" fmla="*/ 308560 w 326437"/>
              <a:gd name="connsiteY28" fmla="*/ 47301 h 366676"/>
              <a:gd name="connsiteX29" fmla="*/ 270149 w 326437"/>
              <a:gd name="connsiteY29" fmla="*/ 65635 h 366676"/>
              <a:gd name="connsiteX30" fmla="*/ 163174 w 326437"/>
              <a:gd name="connsiteY30" fmla="*/ 76636 h 366676"/>
              <a:gd name="connsiteX31" fmla="*/ 56289 w 326437"/>
              <a:gd name="connsiteY31" fmla="*/ 65727 h 366676"/>
              <a:gd name="connsiteX32" fmla="*/ 18339 w 326437"/>
              <a:gd name="connsiteY32" fmla="*/ 47301 h 366676"/>
              <a:gd name="connsiteX33" fmla="*/ 56744 w 326437"/>
              <a:gd name="connsiteY33" fmla="*/ 28968 h 366676"/>
              <a:gd name="connsiteX34" fmla="*/ 56289 w 326437"/>
              <a:gd name="connsiteY34" fmla="*/ 28876 h 366676"/>
              <a:gd name="connsiteX35" fmla="*/ 270245 w 326437"/>
              <a:gd name="connsiteY35" fmla="*/ 338166 h 366676"/>
              <a:gd name="connsiteX36" fmla="*/ 163174 w 326437"/>
              <a:gd name="connsiteY36" fmla="*/ 348799 h 366676"/>
              <a:gd name="connsiteX37" fmla="*/ 56199 w 326437"/>
              <a:gd name="connsiteY37" fmla="*/ 338166 h 366676"/>
              <a:gd name="connsiteX38" fmla="*/ 18339 w 326437"/>
              <a:gd name="connsiteY38" fmla="*/ 320841 h 366676"/>
              <a:gd name="connsiteX39" fmla="*/ 18339 w 326437"/>
              <a:gd name="connsiteY39" fmla="*/ 253190 h 366676"/>
              <a:gd name="connsiteX40" fmla="*/ 163629 w 326437"/>
              <a:gd name="connsiteY40" fmla="*/ 276474 h 366676"/>
              <a:gd name="connsiteX41" fmla="*/ 309022 w 326437"/>
              <a:gd name="connsiteY41" fmla="*/ 253190 h 366676"/>
              <a:gd name="connsiteX42" fmla="*/ 309022 w 326437"/>
              <a:gd name="connsiteY42" fmla="*/ 320841 h 366676"/>
              <a:gd name="connsiteX43" fmla="*/ 270701 w 326437"/>
              <a:gd name="connsiteY43" fmla="*/ 338352 h 36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437" h="366676">
                <a:moveTo>
                  <a:pt x="326438" y="47301"/>
                </a:moveTo>
                <a:cubicBezTo>
                  <a:pt x="326438" y="9901"/>
                  <a:pt x="220008" y="0"/>
                  <a:pt x="163174" y="0"/>
                </a:cubicBezTo>
                <a:cubicBezTo>
                  <a:pt x="106340" y="0"/>
                  <a:pt x="0" y="9901"/>
                  <a:pt x="0" y="47301"/>
                </a:cubicBezTo>
                <a:lnTo>
                  <a:pt x="0" y="320841"/>
                </a:lnTo>
                <a:cubicBezTo>
                  <a:pt x="0" y="357507"/>
                  <a:pt x="106796" y="366676"/>
                  <a:pt x="163174" y="366676"/>
                </a:cubicBezTo>
                <a:cubicBezTo>
                  <a:pt x="219552" y="366676"/>
                  <a:pt x="326438" y="357507"/>
                  <a:pt x="326438" y="320841"/>
                </a:cubicBezTo>
                <a:lnTo>
                  <a:pt x="326438" y="47301"/>
                </a:lnTo>
                <a:close/>
                <a:moveTo>
                  <a:pt x="308105" y="230640"/>
                </a:moveTo>
                <a:cubicBezTo>
                  <a:pt x="308105" y="232290"/>
                  <a:pt x="301226" y="240540"/>
                  <a:pt x="269783" y="248148"/>
                </a:cubicBezTo>
                <a:cubicBezTo>
                  <a:pt x="234754" y="255610"/>
                  <a:pt x="198993" y="259116"/>
                  <a:pt x="163174" y="258599"/>
                </a:cubicBezTo>
                <a:cubicBezTo>
                  <a:pt x="127227" y="259085"/>
                  <a:pt x="91344" y="255519"/>
                  <a:pt x="56199" y="247965"/>
                </a:cubicBezTo>
                <a:cubicBezTo>
                  <a:pt x="24756" y="240356"/>
                  <a:pt x="18339" y="232106"/>
                  <a:pt x="18339" y="230456"/>
                </a:cubicBezTo>
                <a:lnTo>
                  <a:pt x="18339" y="163171"/>
                </a:lnTo>
                <a:cubicBezTo>
                  <a:pt x="51155" y="181047"/>
                  <a:pt x="121465" y="186455"/>
                  <a:pt x="163629" y="186455"/>
                </a:cubicBezTo>
                <a:cubicBezTo>
                  <a:pt x="205801" y="186455"/>
                  <a:pt x="276200" y="181047"/>
                  <a:pt x="309022" y="163171"/>
                </a:cubicBezTo>
                <a:lnTo>
                  <a:pt x="308105" y="230640"/>
                </a:lnTo>
                <a:close/>
                <a:moveTo>
                  <a:pt x="308105" y="140621"/>
                </a:moveTo>
                <a:cubicBezTo>
                  <a:pt x="308105" y="142270"/>
                  <a:pt x="301226" y="150612"/>
                  <a:pt x="269783" y="158130"/>
                </a:cubicBezTo>
                <a:cubicBezTo>
                  <a:pt x="234754" y="165591"/>
                  <a:pt x="198993" y="169097"/>
                  <a:pt x="163174" y="168579"/>
                </a:cubicBezTo>
                <a:cubicBezTo>
                  <a:pt x="127227" y="169066"/>
                  <a:pt x="91344" y="165499"/>
                  <a:pt x="56199" y="157946"/>
                </a:cubicBezTo>
                <a:cubicBezTo>
                  <a:pt x="24756" y="150429"/>
                  <a:pt x="18339" y="142087"/>
                  <a:pt x="18339" y="140437"/>
                </a:cubicBezTo>
                <a:lnTo>
                  <a:pt x="18339" y="70585"/>
                </a:lnTo>
                <a:cubicBezTo>
                  <a:pt x="51155" y="88919"/>
                  <a:pt x="121465" y="94511"/>
                  <a:pt x="163629" y="94511"/>
                </a:cubicBezTo>
                <a:cubicBezTo>
                  <a:pt x="205801" y="94511"/>
                  <a:pt x="276200" y="89011"/>
                  <a:pt x="309022" y="70585"/>
                </a:cubicBezTo>
                <a:lnTo>
                  <a:pt x="308105" y="140621"/>
                </a:lnTo>
                <a:close/>
                <a:moveTo>
                  <a:pt x="56289" y="28876"/>
                </a:moveTo>
                <a:cubicBezTo>
                  <a:pt x="91389" y="21246"/>
                  <a:pt x="127259" y="17709"/>
                  <a:pt x="163174" y="18334"/>
                </a:cubicBezTo>
                <a:cubicBezTo>
                  <a:pt x="199140" y="17854"/>
                  <a:pt x="235036" y="21546"/>
                  <a:pt x="270149" y="29334"/>
                </a:cubicBezTo>
                <a:cubicBezTo>
                  <a:pt x="302509" y="36668"/>
                  <a:pt x="308560" y="45835"/>
                  <a:pt x="308560" y="47301"/>
                </a:cubicBezTo>
                <a:cubicBezTo>
                  <a:pt x="308560" y="48768"/>
                  <a:pt x="302054" y="57752"/>
                  <a:pt x="270149" y="65635"/>
                </a:cubicBezTo>
                <a:cubicBezTo>
                  <a:pt x="235036" y="73420"/>
                  <a:pt x="199140" y="77111"/>
                  <a:pt x="163174" y="76636"/>
                </a:cubicBezTo>
                <a:cubicBezTo>
                  <a:pt x="127246" y="77136"/>
                  <a:pt x="91376" y="73475"/>
                  <a:pt x="56289" y="65727"/>
                </a:cubicBezTo>
                <a:cubicBezTo>
                  <a:pt x="24384" y="57752"/>
                  <a:pt x="18339" y="49134"/>
                  <a:pt x="18339" y="47301"/>
                </a:cubicBezTo>
                <a:cubicBezTo>
                  <a:pt x="18339" y="45468"/>
                  <a:pt x="24846" y="36760"/>
                  <a:pt x="56744" y="28968"/>
                </a:cubicBezTo>
                <a:lnTo>
                  <a:pt x="56289" y="28876"/>
                </a:lnTo>
                <a:close/>
                <a:moveTo>
                  <a:pt x="270245" y="338166"/>
                </a:moveTo>
                <a:cubicBezTo>
                  <a:pt x="235068" y="345725"/>
                  <a:pt x="199147" y="349293"/>
                  <a:pt x="163174" y="348799"/>
                </a:cubicBezTo>
                <a:cubicBezTo>
                  <a:pt x="127227" y="349287"/>
                  <a:pt x="91344" y="345719"/>
                  <a:pt x="56199" y="338166"/>
                </a:cubicBezTo>
                <a:cubicBezTo>
                  <a:pt x="24756" y="330652"/>
                  <a:pt x="18339" y="322310"/>
                  <a:pt x="18339" y="320841"/>
                </a:cubicBezTo>
                <a:lnTo>
                  <a:pt x="18339" y="253190"/>
                </a:lnTo>
                <a:cubicBezTo>
                  <a:pt x="51155" y="271066"/>
                  <a:pt x="121465" y="276474"/>
                  <a:pt x="163629" y="276474"/>
                </a:cubicBezTo>
                <a:cubicBezTo>
                  <a:pt x="205801" y="276474"/>
                  <a:pt x="276200" y="271066"/>
                  <a:pt x="309022" y="253190"/>
                </a:cubicBezTo>
                <a:lnTo>
                  <a:pt x="309022" y="320841"/>
                </a:lnTo>
                <a:cubicBezTo>
                  <a:pt x="309022" y="322490"/>
                  <a:pt x="302143" y="330832"/>
                  <a:pt x="270701" y="338352"/>
                </a:cubicBezTo>
              </a:path>
            </a:pathLst>
          </a:custGeom>
          <a:solidFill>
            <a:srgbClr val="2D5967"/>
          </a:solidFill>
          <a:ln w="6417" cap="flat">
            <a:noFill/>
            <a:prstDash val="solid"/>
            <a:miter/>
          </a:ln>
        </p:spPr>
        <p:txBody>
          <a:bodyPr rtlCol="0" anchor="ctr"/>
          <a:lstStyle/>
          <a:p>
            <a:endParaRPr lang="en-US" sz="810"/>
          </a:p>
        </p:txBody>
      </p:sp>
      <p:sp>
        <p:nvSpPr>
          <p:cNvPr id="1750" name="テキスト ボックス 1749">
            <a:extLst>
              <a:ext uri="{FF2B5EF4-FFF2-40B4-BE49-F238E27FC236}">
                <a16:creationId xmlns:a16="http://schemas.microsoft.com/office/drawing/2014/main" id="{63239169-8080-4D99-4748-A481883B269F}"/>
              </a:ext>
            </a:extLst>
          </p:cNvPr>
          <p:cNvSpPr txBox="1"/>
          <p:nvPr/>
        </p:nvSpPr>
        <p:spPr>
          <a:xfrm>
            <a:off x="176524" y="1924447"/>
            <a:ext cx="17688423" cy="2453753"/>
          </a:xfrm>
          <a:prstGeom prst="rect">
            <a:avLst/>
          </a:prstGeom>
          <a:noFill/>
          <a:ln w="38100">
            <a:solidFill>
              <a:schemeClr val="accent1"/>
            </a:solidFill>
          </a:ln>
        </p:spPr>
        <p:txBody>
          <a:bodyPr wrap="square" rtlCol="0">
            <a:noAutofit/>
          </a:bodyPr>
          <a:lstStyle/>
          <a:p>
            <a:pPr algn="l"/>
            <a:r>
              <a:rPr kumimoji="1" lang="ja-JP" altLang="en-US" sz="3200">
                <a:solidFill>
                  <a:schemeClr val="bg1">
                    <a:lumMod val="10000"/>
                  </a:schemeClr>
                </a:solidFill>
                <a:latin typeface="Meiryo UI" panose="020B0604030504040204" pitchFamily="50" charset="-128"/>
                <a:ea typeface="Meiryo UI" panose="020B0604030504040204" pitchFamily="50" charset="-128"/>
              </a:rPr>
              <a:t>本番</a:t>
            </a:r>
            <a:endParaRPr kumimoji="1" lang="ja-JP" altLang="en-US" sz="3200" dirty="0">
              <a:solidFill>
                <a:schemeClr val="bg1">
                  <a:lumMod val="10000"/>
                </a:schemeClr>
              </a:solidFill>
              <a:latin typeface="Meiryo UI" panose="020B0604030504040204" pitchFamily="50" charset="-128"/>
              <a:ea typeface="Meiryo UI" panose="020B0604030504040204" pitchFamily="50" charset="-128"/>
            </a:endParaRPr>
          </a:p>
        </p:txBody>
      </p:sp>
      <p:sp>
        <p:nvSpPr>
          <p:cNvPr id="1751" name="テキスト ボックス 1750">
            <a:extLst>
              <a:ext uri="{FF2B5EF4-FFF2-40B4-BE49-F238E27FC236}">
                <a16:creationId xmlns:a16="http://schemas.microsoft.com/office/drawing/2014/main" id="{6AB77F59-E16D-C86F-39F5-CEB695AEA3CE}"/>
              </a:ext>
            </a:extLst>
          </p:cNvPr>
          <p:cNvSpPr txBox="1"/>
          <p:nvPr/>
        </p:nvSpPr>
        <p:spPr>
          <a:xfrm>
            <a:off x="821485" y="3162267"/>
            <a:ext cx="15866315" cy="1127421"/>
          </a:xfrm>
          <a:prstGeom prst="rect">
            <a:avLst/>
          </a:prstGeom>
          <a:noFill/>
          <a:ln w="25400">
            <a:solidFill>
              <a:schemeClr val="accent5"/>
            </a:solidFill>
          </a:ln>
        </p:spPr>
        <p:txBody>
          <a:bodyPr wrap="square" rtlCol="0">
            <a:noAutofit/>
          </a:bodyPr>
          <a:lstStyle/>
          <a:p>
            <a:pPr algn="l"/>
            <a:r>
              <a:rPr kumimoji="1" lang="ja-JP" altLang="en-US" sz="3200">
                <a:solidFill>
                  <a:schemeClr val="bg1">
                    <a:lumMod val="10000"/>
                  </a:schemeClr>
                </a:solidFill>
                <a:latin typeface="Meiryo UI" panose="020B0604030504040204" pitchFamily="50" charset="-128"/>
                <a:ea typeface="Meiryo UI" panose="020B0604030504040204" pitchFamily="50" charset="-128"/>
              </a:rPr>
              <a:t>本番トレーニング</a:t>
            </a:r>
            <a:endParaRPr kumimoji="1" lang="ja-JP" altLang="en-US" sz="32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7" name="直線コネクタ 6">
            <a:extLst>
              <a:ext uri="{FF2B5EF4-FFF2-40B4-BE49-F238E27FC236}">
                <a16:creationId xmlns:a16="http://schemas.microsoft.com/office/drawing/2014/main" id="{A2C63B44-48B9-26A9-925A-20ABAC9F7FE7}"/>
              </a:ext>
            </a:extLst>
          </p:cNvPr>
          <p:cNvCxnSpPr>
            <a:cxnSpLocks/>
            <a:stCxn id="1576" idx="3"/>
            <a:endCxn id="10" idx="1"/>
          </p:cNvCxnSpPr>
          <p:nvPr/>
        </p:nvCxnSpPr>
        <p:spPr>
          <a:xfrm>
            <a:off x="5850329" y="4973338"/>
            <a:ext cx="842493" cy="289934"/>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BC252DB3-BEA0-5209-09FA-09252A0FD370}"/>
              </a:ext>
            </a:extLst>
          </p:cNvPr>
          <p:cNvSpPr txBox="1"/>
          <p:nvPr/>
        </p:nvSpPr>
        <p:spPr>
          <a:xfrm>
            <a:off x="6692822" y="5078606"/>
            <a:ext cx="1233030" cy="369332"/>
          </a:xfrm>
          <a:prstGeom prst="rect">
            <a:avLst/>
          </a:prstGeom>
          <a:noFill/>
          <a:ln w="19050">
            <a:solidFill>
              <a:schemeClr val="tx1"/>
            </a:solidFill>
          </a:ln>
        </p:spPr>
        <p:txBody>
          <a:bodyPr wrap="none" rtlCol="0">
            <a:spAutoFit/>
          </a:bodyPr>
          <a:lstStyle/>
          <a:p>
            <a:pPr algn="l"/>
            <a:r>
              <a:rPr kumimoji="1" lang="ja-JP" altLang="en-US" sz="1800">
                <a:solidFill>
                  <a:schemeClr val="bg1">
                    <a:lumMod val="10000"/>
                  </a:schemeClr>
                </a:solidFill>
                <a:latin typeface="Meiryo UI" panose="020B0604030504040204" pitchFamily="50" charset="-128"/>
                <a:ea typeface="Meiryo UI" panose="020B0604030504040204" pitchFamily="50" charset="-128"/>
              </a:rPr>
              <a:t>トレーニング</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12" name="直線コネクタ 11">
            <a:extLst>
              <a:ext uri="{FF2B5EF4-FFF2-40B4-BE49-F238E27FC236}">
                <a16:creationId xmlns:a16="http://schemas.microsoft.com/office/drawing/2014/main" id="{14C28960-86E5-5E98-2A3D-7EFA3D878A2B}"/>
              </a:ext>
            </a:extLst>
          </p:cNvPr>
          <p:cNvCxnSpPr>
            <a:cxnSpLocks/>
            <a:stCxn id="1629" idx="3"/>
            <a:endCxn id="13" idx="1"/>
          </p:cNvCxnSpPr>
          <p:nvPr/>
        </p:nvCxnSpPr>
        <p:spPr>
          <a:xfrm>
            <a:off x="5850329" y="6172649"/>
            <a:ext cx="854768" cy="264344"/>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DEDE2A13-E8DE-6DB1-76FF-905D2EFF5EB4}"/>
              </a:ext>
            </a:extLst>
          </p:cNvPr>
          <p:cNvSpPr txBox="1"/>
          <p:nvPr/>
        </p:nvSpPr>
        <p:spPr>
          <a:xfrm>
            <a:off x="6705097" y="6252327"/>
            <a:ext cx="1233030" cy="369332"/>
          </a:xfrm>
          <a:prstGeom prst="rect">
            <a:avLst/>
          </a:prstGeom>
          <a:noFill/>
          <a:ln w="19050">
            <a:solidFill>
              <a:schemeClr val="tx1"/>
            </a:solidFill>
          </a:ln>
        </p:spPr>
        <p:txBody>
          <a:bodyPr wrap="none" rtlCol="0">
            <a:spAutoFit/>
          </a:bodyPr>
          <a:lstStyle/>
          <a:p>
            <a:pPr algn="l"/>
            <a:r>
              <a:rPr kumimoji="1" lang="ja-JP" altLang="en-US" sz="1800">
                <a:solidFill>
                  <a:schemeClr val="bg1">
                    <a:lumMod val="10000"/>
                  </a:schemeClr>
                </a:solidFill>
                <a:latin typeface="Meiryo UI" panose="020B0604030504040204" pitchFamily="50" charset="-128"/>
                <a:ea typeface="Meiryo UI" panose="020B0604030504040204" pitchFamily="50" charset="-128"/>
              </a:rPr>
              <a:t>トレーニング</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14" name="直線コネクタ 13">
            <a:extLst>
              <a:ext uri="{FF2B5EF4-FFF2-40B4-BE49-F238E27FC236}">
                <a16:creationId xmlns:a16="http://schemas.microsoft.com/office/drawing/2014/main" id="{49C82EE2-5206-338F-FBA1-EDCB834D429D}"/>
              </a:ext>
            </a:extLst>
          </p:cNvPr>
          <p:cNvCxnSpPr>
            <a:cxnSpLocks/>
            <a:stCxn id="1668" idx="3"/>
            <a:endCxn id="15" idx="1"/>
          </p:cNvCxnSpPr>
          <p:nvPr/>
        </p:nvCxnSpPr>
        <p:spPr>
          <a:xfrm>
            <a:off x="5850329" y="7371960"/>
            <a:ext cx="834979" cy="269192"/>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EC28AE14-4018-4EB1-DF09-8899553F7748}"/>
              </a:ext>
            </a:extLst>
          </p:cNvPr>
          <p:cNvSpPr txBox="1"/>
          <p:nvPr/>
        </p:nvSpPr>
        <p:spPr>
          <a:xfrm>
            <a:off x="6685308" y="7456486"/>
            <a:ext cx="1233030" cy="369332"/>
          </a:xfrm>
          <a:prstGeom prst="rect">
            <a:avLst/>
          </a:prstGeom>
          <a:noFill/>
          <a:ln w="19050">
            <a:solidFill>
              <a:schemeClr val="tx1"/>
            </a:solidFill>
          </a:ln>
        </p:spPr>
        <p:txBody>
          <a:bodyPr wrap="none" rtlCol="0">
            <a:spAutoFit/>
          </a:bodyPr>
          <a:lstStyle/>
          <a:p>
            <a:pPr algn="l"/>
            <a:r>
              <a:rPr kumimoji="1" lang="ja-JP" altLang="en-US" sz="1800">
                <a:solidFill>
                  <a:schemeClr val="bg1">
                    <a:lumMod val="10000"/>
                  </a:schemeClr>
                </a:solidFill>
                <a:latin typeface="Meiryo UI" panose="020B0604030504040204" pitchFamily="50" charset="-128"/>
                <a:ea typeface="Meiryo UI" panose="020B0604030504040204" pitchFamily="50" charset="-128"/>
              </a:rPr>
              <a:t>トレーニング</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16" name="直線コネクタ 15">
            <a:extLst>
              <a:ext uri="{FF2B5EF4-FFF2-40B4-BE49-F238E27FC236}">
                <a16:creationId xmlns:a16="http://schemas.microsoft.com/office/drawing/2014/main" id="{96E80883-8EF4-49CC-1471-1244275E63EE}"/>
              </a:ext>
            </a:extLst>
          </p:cNvPr>
          <p:cNvCxnSpPr>
            <a:cxnSpLocks/>
            <a:stCxn id="1578" idx="3"/>
            <a:endCxn id="18" idx="1"/>
          </p:cNvCxnSpPr>
          <p:nvPr/>
        </p:nvCxnSpPr>
        <p:spPr>
          <a:xfrm>
            <a:off x="4929188" y="8994347"/>
            <a:ext cx="1740972" cy="344896"/>
          </a:xfrm>
          <a:prstGeom prst="line">
            <a:avLst/>
          </a:prstGeom>
          <a:ln w="1905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7321863-94D3-F48A-A981-DA8905B6CDF8}"/>
              </a:ext>
            </a:extLst>
          </p:cNvPr>
          <p:cNvSpPr txBox="1"/>
          <p:nvPr/>
        </p:nvSpPr>
        <p:spPr>
          <a:xfrm>
            <a:off x="6670160" y="9154577"/>
            <a:ext cx="1233030" cy="369332"/>
          </a:xfrm>
          <a:prstGeom prst="rect">
            <a:avLst/>
          </a:prstGeom>
          <a:noFill/>
          <a:ln>
            <a:solidFill>
              <a:schemeClr val="tx1"/>
            </a:solidFill>
          </a:ln>
        </p:spPr>
        <p:txBody>
          <a:bodyPr wrap="square" rtlCol="0">
            <a:spAutoFit/>
          </a:bodyPr>
          <a:lstStyle/>
          <a:p>
            <a:pPr algn="l"/>
            <a:r>
              <a:rPr kumimoji="1" lang="ja-JP" altLang="en-US" sz="1800">
                <a:solidFill>
                  <a:schemeClr val="bg1">
                    <a:lumMod val="10000"/>
                  </a:schemeClr>
                </a:solidFill>
                <a:latin typeface="Meiryo UI" panose="020B0604030504040204" pitchFamily="50" charset="-128"/>
                <a:ea typeface="Meiryo UI" panose="020B0604030504040204" pitchFamily="50" charset="-128"/>
              </a:rPr>
              <a:t>トレーニング</a:t>
            </a:r>
            <a:endParaRPr kumimoji="1" lang="ja-JP" altLang="en-US" sz="1800" dirty="0">
              <a:solidFill>
                <a:schemeClr val="bg1">
                  <a:lumMod val="10000"/>
                </a:schemeClr>
              </a:solidFill>
              <a:latin typeface="Meiryo UI" panose="020B0604030504040204" pitchFamily="50" charset="-128"/>
              <a:ea typeface="Meiryo UI" panose="020B0604030504040204" pitchFamily="50" charset="-128"/>
            </a:endParaRPr>
          </a:p>
        </p:txBody>
      </p:sp>
      <p:pic>
        <p:nvPicPr>
          <p:cNvPr id="1590" name="図 1589">
            <a:extLst>
              <a:ext uri="{FF2B5EF4-FFF2-40B4-BE49-F238E27FC236}">
                <a16:creationId xmlns:a16="http://schemas.microsoft.com/office/drawing/2014/main" id="{FD9B4CE4-AF42-7013-A534-DADD3F3A8488}"/>
              </a:ext>
            </a:extLst>
          </p:cNvPr>
          <p:cNvPicPr>
            <a:picLocks noChangeAspect="1"/>
          </p:cNvPicPr>
          <p:nvPr/>
        </p:nvPicPr>
        <p:blipFill>
          <a:blip r:embed="rId8"/>
          <a:stretch>
            <a:fillRect/>
          </a:stretch>
        </p:blipFill>
        <p:spPr>
          <a:xfrm>
            <a:off x="5235558" y="8628557"/>
            <a:ext cx="1063622" cy="796085"/>
          </a:xfrm>
          <a:prstGeom prst="rect">
            <a:avLst/>
          </a:prstGeom>
        </p:spPr>
      </p:pic>
      <p:pic>
        <p:nvPicPr>
          <p:cNvPr id="29" name="Graphic 8">
            <a:extLst>
              <a:ext uri="{FF2B5EF4-FFF2-40B4-BE49-F238E27FC236}">
                <a16:creationId xmlns:a16="http://schemas.microsoft.com/office/drawing/2014/main" id="{2961B752-FB23-4B14-BA1C-FB44C446A12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04957" y="9224610"/>
            <a:ext cx="457200" cy="457200"/>
          </a:xfrm>
          <a:prstGeom prst="rect">
            <a:avLst/>
          </a:prstGeom>
        </p:spPr>
      </p:pic>
      <p:sp>
        <p:nvSpPr>
          <p:cNvPr id="30" name="Rectangle 56">
            <a:extLst>
              <a:ext uri="{FF2B5EF4-FFF2-40B4-BE49-F238E27FC236}">
                <a16:creationId xmlns:a16="http://schemas.microsoft.com/office/drawing/2014/main" id="{5188FE04-284D-CC46-B2A5-2D977414F574}"/>
              </a:ext>
            </a:extLst>
          </p:cNvPr>
          <p:cNvSpPr/>
          <p:nvPr/>
        </p:nvSpPr>
        <p:spPr>
          <a:xfrm>
            <a:off x="15796848" y="9683596"/>
            <a:ext cx="673418" cy="230832"/>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850"/>
              </a:lnSpc>
            </a:pPr>
            <a:r>
              <a:rPr lang="en-US" sz="800" dirty="0">
                <a:solidFill>
                  <a:schemeClr val="tx2"/>
                </a:solidFill>
                <a:ea typeface="Open Sans" panose="020B0606030504020204" pitchFamily="34" charset="0"/>
                <a:cs typeface="Open Sans" panose="020B0606030504020204" pitchFamily="34" charset="0"/>
              </a:rPr>
              <a:t>Bastion Service</a:t>
            </a:r>
          </a:p>
        </p:txBody>
      </p:sp>
    </p:spTree>
    <p:extLst>
      <p:ext uri="{BB962C8B-B14F-4D97-AF65-F5344CB8AC3E}">
        <p14:creationId xmlns:p14="http://schemas.microsoft.com/office/powerpoint/2010/main" val="3391447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39BDC-5242-804C-99D4-9146174BE75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5F7E0FE-B726-F898-474E-C9AC316F9C17}"/>
              </a:ext>
            </a:extLst>
          </p:cNvPr>
          <p:cNvSpPr>
            <a:spLocks noGrp="1"/>
          </p:cNvSpPr>
          <p:nvPr>
            <p:ph type="ctrTitle"/>
          </p:nvPr>
        </p:nvSpPr>
        <p:spPr>
          <a:xfrm>
            <a:off x="0" y="3969000"/>
            <a:ext cx="18288000" cy="1512000"/>
          </a:xfrm>
        </p:spPr>
        <p:txBody>
          <a:bodyPr wrap="none" anchor="ctr">
            <a:normAutofit/>
          </a:bodyPr>
          <a:lstStyle/>
          <a:p>
            <a:r>
              <a:rPr kumimoji="1" lang="ja-JP" altLang="en-US"/>
              <a:t>６．システム開発のポイント</a:t>
            </a:r>
          </a:p>
        </p:txBody>
      </p:sp>
      <p:sp>
        <p:nvSpPr>
          <p:cNvPr id="6" name="フッター プレースホルダー 5">
            <a:extLst>
              <a:ext uri="{FF2B5EF4-FFF2-40B4-BE49-F238E27FC236}">
                <a16:creationId xmlns:a16="http://schemas.microsoft.com/office/drawing/2014/main" id="{80300A77-463D-BE2F-FABC-26538728DCD1}"/>
              </a:ext>
            </a:extLst>
          </p:cNvPr>
          <p:cNvSpPr>
            <a:spLocks noGrp="1"/>
          </p:cNvSpPr>
          <p:nvPr>
            <p:ph type="ftr" sz="quarter" idx="16"/>
          </p:nvPr>
        </p:nvSpPr>
        <p:spPr>
          <a:xfrm>
            <a:off x="14294731" y="9903315"/>
            <a:ext cx="2619755" cy="378000"/>
          </a:xfrm>
        </p:spPr>
        <p:txBody>
          <a:bodyPr anchor="ctr">
            <a:normAutofit/>
          </a:bodyPr>
          <a:lstStyle/>
          <a:p>
            <a:pPr>
              <a:spcAft>
                <a:spcPts val="600"/>
              </a:spcAft>
            </a:pPr>
            <a:r>
              <a:rPr kumimoji="1" lang="en-US" altLang="ja-JP"/>
              <a:t>Confidential </a:t>
            </a:r>
            <a:endParaRPr kumimoji="1" lang="ja-JP" altLang="en-US"/>
          </a:p>
        </p:txBody>
      </p:sp>
      <p:sp>
        <p:nvSpPr>
          <p:cNvPr id="3" name="スライド番号プレースホルダー 2" hidden="1">
            <a:extLst>
              <a:ext uri="{FF2B5EF4-FFF2-40B4-BE49-F238E27FC236}">
                <a16:creationId xmlns:a16="http://schemas.microsoft.com/office/drawing/2014/main" id="{1A8C3BDB-9E54-FC58-FE4F-44AAF513204B}"/>
              </a:ext>
            </a:extLst>
          </p:cNvPr>
          <p:cNvSpPr>
            <a:spLocks noGrp="1"/>
          </p:cNvSpPr>
          <p:nvPr>
            <p:ph type="sldNum" sz="quarter" idx="4294967295"/>
          </p:nvPr>
        </p:nvSpPr>
        <p:spPr>
          <a:xfrm>
            <a:off x="17069400" y="9936000"/>
            <a:ext cx="810000" cy="324000"/>
          </a:xfrm>
        </p:spPr>
        <p:txBody>
          <a:bodyPr/>
          <a:lstStyle/>
          <a:p>
            <a:pPr>
              <a:spcAft>
                <a:spcPts val="600"/>
              </a:spcAft>
            </a:pPr>
            <a:fld id="{2A9E37A5-A917-4235-ABF6-8CD72E894915}" type="slidenum">
              <a:rPr kumimoji="1" lang="ja-JP" altLang="en-US" smtClean="0"/>
              <a:pPr>
                <a:spcAft>
                  <a:spcPts val="600"/>
                </a:spcAft>
              </a:pPr>
              <a:t>30</a:t>
            </a:fld>
            <a:endParaRPr kumimoji="1" lang="ja-JP" altLang="en-US"/>
          </a:p>
        </p:txBody>
      </p:sp>
    </p:spTree>
    <p:extLst>
      <p:ext uri="{BB962C8B-B14F-4D97-AF65-F5344CB8AC3E}">
        <p14:creationId xmlns:p14="http://schemas.microsoft.com/office/powerpoint/2010/main" val="1868995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６－１．</a:t>
            </a:r>
            <a:r>
              <a:rPr lang="ja-JP" altLang="en-US"/>
              <a:t>マルチプラットフォーム対応</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31</a:t>
            </a:fld>
            <a:endParaRPr lang="ja-JP" altLang="en-US"/>
          </a:p>
        </p:txBody>
      </p:sp>
      <p:sp>
        <p:nvSpPr>
          <p:cNvPr id="6" name="テキスト ボックス 5">
            <a:extLst>
              <a:ext uri="{FF2B5EF4-FFF2-40B4-BE49-F238E27FC236}">
                <a16:creationId xmlns:a16="http://schemas.microsoft.com/office/drawing/2014/main" id="{63544B8B-58F7-BCCC-4FE4-2DB6ABE37D2D}"/>
              </a:ext>
            </a:extLst>
          </p:cNvPr>
          <p:cNvSpPr txBox="1"/>
          <p:nvPr/>
        </p:nvSpPr>
        <p:spPr>
          <a:xfrm>
            <a:off x="561140" y="1588322"/>
            <a:ext cx="11468499" cy="6920678"/>
          </a:xfrm>
          <a:prstGeom prst="rect">
            <a:avLst/>
          </a:prstGeom>
          <a:noFill/>
        </p:spPr>
        <p:txBody>
          <a:bodyPr wrap="square" lIns="0" tIns="0" rIns="0" bIns="0" rtlCol="0">
            <a:noAutofit/>
          </a:bodyPr>
          <a:lstStyle/>
          <a:p>
            <a:pPr>
              <a:lnSpc>
                <a:spcPct val="150000"/>
              </a:lnSpc>
            </a:pPr>
            <a:r>
              <a:rPr lang="en-US" altLang="ja-JP" sz="2400">
                <a:latin typeface="メイリオ" panose="020B0604030504040204" pitchFamily="50" charset="-128"/>
                <a:ea typeface="メイリオ" panose="020B0604030504040204" pitchFamily="50" charset="-128"/>
              </a:rPr>
              <a:t>MAUI</a:t>
            </a:r>
            <a:r>
              <a:rPr lang="ja-JP" altLang="en-US" sz="2400">
                <a:latin typeface="メイリオ" panose="020B0604030504040204" pitchFamily="50" charset="-128"/>
                <a:ea typeface="メイリオ" panose="020B0604030504040204" pitchFamily="50" charset="-128"/>
              </a:rPr>
              <a:t>（</a:t>
            </a:r>
            <a:r>
              <a:rPr lang="en-US" altLang="ja-JP" sz="2400">
                <a:latin typeface="メイリオ" panose="020B0604030504040204" pitchFamily="50" charset="-128"/>
                <a:ea typeface="メイリオ" panose="020B0604030504040204" pitchFamily="50" charset="-128"/>
              </a:rPr>
              <a:t>.NET Multi-platform App UI</a:t>
            </a:r>
            <a:r>
              <a:rPr lang="ja-JP" altLang="en-US" sz="2400">
                <a:latin typeface="メイリオ" panose="020B0604030504040204" pitchFamily="50" charset="-128"/>
                <a:ea typeface="メイリオ" panose="020B0604030504040204" pitchFamily="50" charset="-128"/>
              </a:rPr>
              <a:t>）の採用</a:t>
            </a:r>
            <a:endParaRPr lang="en-US" altLang="ja-JP" sz="2400">
              <a:solidFill>
                <a:srgbClr val="FF0000"/>
              </a:solidFill>
              <a:latin typeface="メイリオ" panose="020B0604030504040204" pitchFamily="50" charset="-128"/>
              <a:ea typeface="メイリオ" panose="020B0604030504040204" pitchFamily="50" charset="-128"/>
            </a:endParaRPr>
          </a:p>
          <a:p>
            <a:pPr>
              <a:lnSpc>
                <a:spcPct val="150000"/>
              </a:lnSpc>
            </a:pPr>
            <a:endParaRPr lang="en-US" altLang="ja-JP" sz="2400">
              <a:solidFill>
                <a:srgbClr val="FF0000"/>
              </a:solidFill>
              <a:latin typeface="メイリオ" panose="020B0604030504040204" pitchFamily="50" charset="-128"/>
              <a:ea typeface="メイリオ" panose="020B0604030504040204" pitchFamily="50" charset="-128"/>
            </a:endParaRPr>
          </a:p>
          <a:p>
            <a:pPr>
              <a:lnSpc>
                <a:spcPct val="150000"/>
              </a:lnSpc>
            </a:pPr>
            <a:r>
              <a:rPr lang="ja-JP" altLang="en-US" sz="2400">
                <a:latin typeface="メイリオ" panose="020B0604030504040204" pitchFamily="50" charset="-128"/>
                <a:ea typeface="メイリオ" panose="020B0604030504040204" pitchFamily="50" charset="-128"/>
              </a:rPr>
              <a:t>異なる種類</a:t>
            </a:r>
            <a:r>
              <a:rPr lang="en-US" altLang="ja-JP" sz="2400">
                <a:latin typeface="メイリオ" panose="020B0604030504040204" pitchFamily="50" charset="-128"/>
                <a:ea typeface="メイリオ" panose="020B0604030504040204" pitchFamily="50" charset="-128"/>
              </a:rPr>
              <a:t>OS</a:t>
            </a:r>
            <a:r>
              <a:rPr lang="ja-JP" altLang="en-US" sz="2400">
                <a:latin typeface="メイリオ" panose="020B0604030504040204" pitchFamily="50" charset="-128"/>
                <a:ea typeface="メイリオ" panose="020B0604030504040204" pitchFamily="50" charset="-128"/>
              </a:rPr>
              <a:t>上で同一コードを実行可能なフレームワークとして</a:t>
            </a:r>
            <a:r>
              <a:rPr lang="en-US" altLang="ja-JP" sz="2400">
                <a:latin typeface="メイリオ" panose="020B0604030504040204" pitchFamily="50" charset="-128"/>
                <a:ea typeface="メイリオ" panose="020B0604030504040204" pitchFamily="50" charset="-128"/>
              </a:rPr>
              <a:t>MAUI</a:t>
            </a:r>
            <a:r>
              <a:rPr lang="ja-JP" altLang="en-US" sz="2400">
                <a:latin typeface="メイリオ" panose="020B0604030504040204" pitchFamily="50" charset="-128"/>
                <a:ea typeface="メイリオ" panose="020B0604030504040204" pitchFamily="50" charset="-128"/>
              </a:rPr>
              <a:t>を採用します。これにより、据置</a:t>
            </a:r>
            <a:r>
              <a:rPr lang="en-US" altLang="ja-JP" sz="2400">
                <a:latin typeface="メイリオ" panose="020B0604030504040204" pitchFamily="50" charset="-128"/>
                <a:ea typeface="メイリオ" panose="020B0604030504040204" pitchFamily="50" charset="-128"/>
              </a:rPr>
              <a:t>POS</a:t>
            </a:r>
            <a:r>
              <a:rPr lang="ja-JP" altLang="en-US" sz="2400">
                <a:latin typeface="メイリオ" panose="020B0604030504040204" pitchFamily="50" charset="-128"/>
                <a:ea typeface="メイリオ" panose="020B0604030504040204" pitchFamily="50" charset="-128"/>
              </a:rPr>
              <a:t>用、</a:t>
            </a:r>
            <a:r>
              <a:rPr lang="en-US" altLang="ja-JP" sz="2400">
                <a:latin typeface="メイリオ" panose="020B0604030504040204" pitchFamily="50" charset="-128"/>
                <a:ea typeface="メイリオ" panose="020B0604030504040204" pitchFamily="50" charset="-128"/>
              </a:rPr>
              <a:t>Windows</a:t>
            </a:r>
            <a:r>
              <a:rPr lang="ja-JP" altLang="en-US" sz="2400">
                <a:latin typeface="メイリオ" panose="020B0604030504040204" pitchFamily="50" charset="-128"/>
                <a:ea typeface="メイリオ" panose="020B0604030504040204" pitchFamily="50" charset="-128"/>
              </a:rPr>
              <a:t>タブレット用、</a:t>
            </a:r>
            <a:r>
              <a:rPr lang="en-US" altLang="ja-JP" sz="2400">
                <a:latin typeface="メイリオ" panose="020B0604030504040204" pitchFamily="50" charset="-128"/>
                <a:ea typeface="メイリオ" panose="020B0604030504040204" pitchFamily="50" charset="-128"/>
              </a:rPr>
              <a:t>iPad</a:t>
            </a:r>
            <a:r>
              <a:rPr lang="ja-JP" altLang="en-US" sz="2400">
                <a:latin typeface="メイリオ" panose="020B0604030504040204" pitchFamily="50" charset="-128"/>
                <a:ea typeface="メイリオ" panose="020B0604030504040204" pitchFamily="50" charset="-128"/>
              </a:rPr>
              <a:t>用など、複数のアプリケーションを開発する必要がなくなります。</a:t>
            </a:r>
          </a:p>
          <a:p>
            <a:pPr>
              <a:lnSpc>
                <a:spcPct val="150000"/>
              </a:lnSpc>
            </a:pPr>
            <a:endParaRPr lang="ja-JP" altLang="en-US" sz="2400">
              <a:solidFill>
                <a:srgbClr val="FF0000"/>
              </a:solidFill>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7577090B-68B3-2427-C201-53BAF3909C55}"/>
              </a:ext>
            </a:extLst>
          </p:cNvPr>
          <p:cNvPicPr>
            <a:picLocks noChangeAspect="1"/>
          </p:cNvPicPr>
          <p:nvPr/>
        </p:nvPicPr>
        <p:blipFill>
          <a:blip r:embed="rId2"/>
          <a:stretch>
            <a:fillRect/>
          </a:stretch>
        </p:blipFill>
        <p:spPr>
          <a:xfrm>
            <a:off x="12528134" y="1726233"/>
            <a:ext cx="5351266" cy="4669495"/>
          </a:xfrm>
          <a:prstGeom prst="rect">
            <a:avLst/>
          </a:prstGeom>
          <a:ln>
            <a:noFill/>
          </a:ln>
          <a:effectLst>
            <a:outerShdw blurRad="190500" algn="tl" rotWithShape="0">
              <a:srgbClr val="000000">
                <a:alpha val="70000"/>
              </a:srgbClr>
            </a:outerShdw>
          </a:effectLst>
        </p:spPr>
      </p:pic>
      <p:sp>
        <p:nvSpPr>
          <p:cNvPr id="4" name="フッター プレースホルダー 3">
            <a:extLst>
              <a:ext uri="{FF2B5EF4-FFF2-40B4-BE49-F238E27FC236}">
                <a16:creationId xmlns:a16="http://schemas.microsoft.com/office/drawing/2014/main" id="{5FE5C845-C310-4E57-C3CB-1F4D4328E3F6}"/>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A3418D46-2A83-62B6-B7F9-F56D0629E714}"/>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11681138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フローチャート: 代替処理 12">
            <a:extLst>
              <a:ext uri="{FF2B5EF4-FFF2-40B4-BE49-F238E27FC236}">
                <a16:creationId xmlns:a16="http://schemas.microsoft.com/office/drawing/2014/main" id="{2C53C94B-7EBC-414C-8B65-8ED19A6E7451}"/>
              </a:ext>
            </a:extLst>
          </p:cNvPr>
          <p:cNvSpPr/>
          <p:nvPr/>
        </p:nvSpPr>
        <p:spPr>
          <a:xfrm>
            <a:off x="15336383" y="2521984"/>
            <a:ext cx="2634309" cy="3720545"/>
          </a:xfrm>
          <a:prstGeom prst="flowChartAlternateProcess">
            <a:avLst/>
          </a:prstGeom>
          <a:solidFill>
            <a:schemeClr val="accent5">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050">
              <a:solidFill>
                <a:srgbClr val="59574C"/>
              </a:solidFill>
              <a:latin typeface="HGSｺﾞｼｯｸM" panose="020B0600000000000000" pitchFamily="50" charset="-128"/>
              <a:ea typeface="HGSｺﾞｼｯｸM" panose="020B0600000000000000" pitchFamily="50" charset="-128"/>
            </a:endParaRPr>
          </a:p>
        </p:txBody>
      </p:sp>
      <p:sp>
        <p:nvSpPr>
          <p:cNvPr id="10" name="スライド番号プレースホルダー 9"/>
          <p:cNvSpPr>
            <a:spLocks noGrp="1"/>
          </p:cNvSpPr>
          <p:nvPr>
            <p:ph type="sldNum" sz="quarter" idx="12"/>
          </p:nvPr>
        </p:nvSpPr>
        <p:spPr/>
        <p:txBody>
          <a:bodyPr/>
          <a:lstStyle/>
          <a:p>
            <a:fld id="{2A9E37A5-A917-4235-ABF6-8CD72E894915}" type="slidenum">
              <a:rPr lang="en-US" altLang="ja-JP" smtClean="0"/>
              <a:pPr/>
              <a:t>32</a:t>
            </a:fld>
            <a:endParaRPr lang="ja-JP" altLang="en-US"/>
          </a:p>
        </p:txBody>
      </p:sp>
      <p:sp>
        <p:nvSpPr>
          <p:cNvPr id="8" name="タイトル 1">
            <a:extLst>
              <a:ext uri="{FF2B5EF4-FFF2-40B4-BE49-F238E27FC236}">
                <a16:creationId xmlns:a16="http://schemas.microsoft.com/office/drawing/2014/main" id="{398F57B3-5F68-4533-A9DB-38E6D6397BE3}"/>
              </a:ext>
            </a:extLst>
          </p:cNvPr>
          <p:cNvSpPr>
            <a:spLocks noGrp="1"/>
          </p:cNvSpPr>
          <p:nvPr>
            <p:ph type="title"/>
          </p:nvPr>
        </p:nvSpPr>
        <p:spPr>
          <a:xfrm>
            <a:off x="383382" y="438151"/>
            <a:ext cx="15513843" cy="414338"/>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６－２</a:t>
            </a:r>
            <a:r>
              <a:rPr lang="en-US" altLang="ja-JP" dirty="0"/>
              <a:t>.</a:t>
            </a:r>
            <a:r>
              <a:rPr lang="ja-JP" altLang="en-US" dirty="0"/>
              <a:t>　</a:t>
            </a:r>
            <a:r>
              <a:rPr lang="ja-JP" altLang="en-US" dirty="0">
                <a:latin typeface="Meiryo UI" panose="020B0604030504040204" pitchFamily="50" charset="-128"/>
                <a:ea typeface="Meiryo UI" panose="020B0604030504040204" pitchFamily="50" charset="-128"/>
              </a:rPr>
              <a:t>マルチデバイス対応（１）</a:t>
            </a:r>
            <a:r>
              <a:rPr lang="en-US" altLang="ja-JP" dirty="0"/>
              <a:t>iPad</a:t>
            </a:r>
            <a:r>
              <a:rPr lang="ja-JP" altLang="en-US" dirty="0"/>
              <a:t>／</a:t>
            </a:r>
            <a:r>
              <a:rPr lang="en-US" altLang="ja-JP" dirty="0"/>
              <a:t>Windows</a:t>
            </a:r>
            <a:r>
              <a:rPr lang="ja-JP" altLang="en-US" dirty="0"/>
              <a:t>（通常デバイス）</a:t>
            </a:r>
            <a:endParaRPr lang="ja-JP" altLang="en-US" dirty="0">
              <a:latin typeface="Meiryo UI" panose="020B0604030504040204" pitchFamily="50" charset="-128"/>
              <a:ea typeface="Meiryo UI" panose="020B0604030504040204" pitchFamily="50" charset="-128"/>
            </a:endParaRPr>
          </a:p>
        </p:txBody>
      </p:sp>
      <p:sp>
        <p:nvSpPr>
          <p:cNvPr id="163" name="正方形/長方形 162">
            <a:extLst>
              <a:ext uri="{FF2B5EF4-FFF2-40B4-BE49-F238E27FC236}">
                <a16:creationId xmlns:a16="http://schemas.microsoft.com/office/drawing/2014/main" id="{B1E258B2-8112-4D79-800A-9849A687BE6C}"/>
              </a:ext>
            </a:extLst>
          </p:cNvPr>
          <p:cNvSpPr/>
          <p:nvPr/>
        </p:nvSpPr>
        <p:spPr>
          <a:xfrm>
            <a:off x="606792" y="2469210"/>
            <a:ext cx="14354413" cy="7379639"/>
          </a:xfrm>
          <a:prstGeom prst="rect">
            <a:avLst/>
          </a:prstGeom>
          <a:solidFill>
            <a:schemeClr val="accent1">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050">
              <a:solidFill>
                <a:srgbClr val="59574C"/>
              </a:solidFill>
              <a:latin typeface="HGSｺﾞｼｯｸM" panose="020B0600000000000000" pitchFamily="50" charset="-128"/>
              <a:ea typeface="HGSｺﾞｼｯｸM" panose="020B0600000000000000" pitchFamily="50" charset="-128"/>
            </a:endParaRPr>
          </a:p>
        </p:txBody>
      </p:sp>
      <p:sp>
        <p:nvSpPr>
          <p:cNvPr id="17" name="正方形/長方形 16">
            <a:extLst>
              <a:ext uri="{FF2B5EF4-FFF2-40B4-BE49-F238E27FC236}">
                <a16:creationId xmlns:a16="http://schemas.microsoft.com/office/drawing/2014/main" id="{AB052732-726E-4A94-B8CD-11DA8523A2D2}"/>
              </a:ext>
            </a:extLst>
          </p:cNvPr>
          <p:cNvSpPr/>
          <p:nvPr/>
        </p:nvSpPr>
        <p:spPr>
          <a:xfrm>
            <a:off x="3735738" y="3134519"/>
            <a:ext cx="9126925" cy="6515709"/>
          </a:xfrm>
          <a:prstGeom prst="rect">
            <a:avLst/>
          </a:prstGeom>
          <a:solidFill>
            <a:schemeClr val="accent1">
              <a:lumMod val="20000"/>
              <a:lumOff val="80000"/>
            </a:schemeClr>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800" b="1">
                <a:solidFill>
                  <a:schemeClr val="tx1"/>
                </a:solidFill>
                <a:latin typeface="メイリオ" panose="020B0604030504040204" pitchFamily="50" charset="-128"/>
                <a:ea typeface="メイリオ" panose="020B0604030504040204" pitchFamily="50" charset="-128"/>
              </a:rPr>
              <a:t>　　　</a:t>
            </a:r>
            <a:r>
              <a:rPr lang="ja-JP" altLang="en-US" sz="1650" b="1">
                <a:solidFill>
                  <a:schemeClr val="tx1"/>
                </a:solidFill>
                <a:latin typeface="メイリオ" panose="020B0604030504040204" pitchFamily="50" charset="-128"/>
                <a:ea typeface="メイリオ" panose="020B0604030504040204" pitchFamily="50" charset="-128"/>
              </a:rPr>
              <a:t>　マルチプラットフォーム対応アプリ（</a:t>
            </a:r>
            <a:r>
              <a:rPr lang="en-US" altLang="ja-JP" sz="1650" b="1">
                <a:solidFill>
                  <a:schemeClr val="tx1"/>
                </a:solidFill>
                <a:latin typeface="メイリオ" panose="020B0604030504040204" pitchFamily="50" charset="-128"/>
                <a:ea typeface="メイリオ" panose="020B0604030504040204" pitchFamily="50" charset="-128"/>
              </a:rPr>
              <a:t>MAUI</a:t>
            </a:r>
            <a:r>
              <a:rPr lang="ja-JP" altLang="en-US" sz="1650" b="1">
                <a:solidFill>
                  <a:schemeClr val="tx1"/>
                </a:solidFill>
                <a:latin typeface="メイリオ" panose="020B0604030504040204" pitchFamily="50" charset="-128"/>
                <a:ea typeface="メイリオ" panose="020B0604030504040204" pitchFamily="50" charset="-128"/>
              </a:rPr>
              <a:t>）</a:t>
            </a:r>
            <a:endParaRPr lang="en-US" altLang="ja-JP" sz="1800" b="1">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3ABF820C-536C-43AB-9BE9-CAE3EA40EEC3}"/>
              </a:ext>
            </a:extLst>
          </p:cNvPr>
          <p:cNvSpPr/>
          <p:nvPr/>
        </p:nvSpPr>
        <p:spPr>
          <a:xfrm>
            <a:off x="711069" y="3134520"/>
            <a:ext cx="2583438" cy="6515707"/>
          </a:xfrm>
          <a:prstGeom prst="rect">
            <a:avLst/>
          </a:prstGeom>
          <a:solidFill>
            <a:schemeClr val="accent1">
              <a:lumMod val="20000"/>
              <a:lumOff val="80000"/>
            </a:schemeClr>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sz="2400" b="1">
                <a:solidFill>
                  <a:schemeClr val="tx1"/>
                </a:solidFill>
              </a:rPr>
              <a:t>OCI</a:t>
            </a:r>
          </a:p>
        </p:txBody>
      </p:sp>
      <p:sp>
        <p:nvSpPr>
          <p:cNvPr id="19" name="正方形/長方形 18">
            <a:extLst>
              <a:ext uri="{FF2B5EF4-FFF2-40B4-BE49-F238E27FC236}">
                <a16:creationId xmlns:a16="http://schemas.microsoft.com/office/drawing/2014/main" id="{23C24300-97E7-4AB5-8061-47607F018B4E}"/>
              </a:ext>
            </a:extLst>
          </p:cNvPr>
          <p:cNvSpPr/>
          <p:nvPr/>
        </p:nvSpPr>
        <p:spPr>
          <a:xfrm>
            <a:off x="711070" y="2626580"/>
            <a:ext cx="2583437" cy="415498"/>
          </a:xfrm>
          <a:prstGeom prst="rect">
            <a:avLst/>
          </a:prstGeom>
          <a:solidFill>
            <a:schemeClr val="accent5"/>
          </a:solidFill>
          <a:ln>
            <a:solidFill>
              <a:schemeClr val="accent1">
                <a:lumMod val="50000"/>
              </a:schemeClr>
            </a:solidFill>
          </a:ln>
        </p:spPr>
        <p:txBody>
          <a:bodyPr wrap="square">
            <a:spAutoFit/>
          </a:bodyPr>
          <a:lstStyle/>
          <a:p>
            <a:pPr algn="ctr"/>
            <a:r>
              <a:rPr lang="ja-JP" altLang="en-US" sz="2100" b="1">
                <a:solidFill>
                  <a:schemeClr val="bg1"/>
                </a:solidFill>
                <a:latin typeface="メイリオ" panose="020B0604030504040204" pitchFamily="50" charset="-128"/>
                <a:ea typeface="メイリオ" panose="020B0604030504040204" pitchFamily="50" charset="-128"/>
                <a:cs typeface="Aldhabi" panose="020F0502020204030204" pitchFamily="2" charset="-78"/>
              </a:rPr>
              <a:t>サーバー</a:t>
            </a:r>
          </a:p>
        </p:txBody>
      </p:sp>
      <p:sp>
        <p:nvSpPr>
          <p:cNvPr id="28" name="正方形/長方形 27">
            <a:extLst>
              <a:ext uri="{FF2B5EF4-FFF2-40B4-BE49-F238E27FC236}">
                <a16:creationId xmlns:a16="http://schemas.microsoft.com/office/drawing/2014/main" id="{872F5819-7C7F-4253-B4AB-EE94146877B2}"/>
              </a:ext>
            </a:extLst>
          </p:cNvPr>
          <p:cNvSpPr/>
          <p:nvPr/>
        </p:nvSpPr>
        <p:spPr>
          <a:xfrm>
            <a:off x="9324213" y="3606800"/>
            <a:ext cx="3219172" cy="4796690"/>
          </a:xfrm>
          <a:prstGeom prst="rect">
            <a:avLst/>
          </a:prstGeom>
          <a:solidFill>
            <a:srgbClr val="92D050"/>
          </a:solidFill>
          <a:ln>
            <a:solidFill>
              <a:srgbClr val="008000"/>
            </a:solidFill>
          </a:ln>
        </p:spPr>
        <p:style>
          <a:lnRef idx="1">
            <a:schemeClr val="accent6"/>
          </a:lnRef>
          <a:fillRef idx="2">
            <a:schemeClr val="accent6"/>
          </a:fillRef>
          <a:effectRef idx="1">
            <a:schemeClr val="accent6"/>
          </a:effectRef>
          <a:fontRef idx="minor">
            <a:schemeClr val="dk1"/>
          </a:fontRef>
        </p:style>
        <p:txBody>
          <a:bodyPr vert="horz" rtlCol="0" anchor="t" anchorCtr="0"/>
          <a:lstStyle/>
          <a:p>
            <a:pPr algn="ctr"/>
            <a:r>
              <a:rPr lang="ja-JP" altLang="en-US" sz="1500">
                <a:solidFill>
                  <a:schemeClr val="tx1"/>
                </a:solidFill>
              </a:rPr>
              <a:t>デバイス制御基盤</a:t>
            </a:r>
            <a:endParaRPr lang="en-US" altLang="ja-JP" sz="1500">
              <a:solidFill>
                <a:schemeClr val="tx1"/>
              </a:solidFill>
            </a:endParaRPr>
          </a:p>
        </p:txBody>
      </p:sp>
      <p:sp>
        <p:nvSpPr>
          <p:cNvPr id="20" name="正方形/長方形 19">
            <a:extLst>
              <a:ext uri="{FF2B5EF4-FFF2-40B4-BE49-F238E27FC236}">
                <a16:creationId xmlns:a16="http://schemas.microsoft.com/office/drawing/2014/main" id="{1977DEEC-A88D-4B84-8E3E-655FC461EAF1}"/>
              </a:ext>
            </a:extLst>
          </p:cNvPr>
          <p:cNvSpPr/>
          <p:nvPr/>
        </p:nvSpPr>
        <p:spPr>
          <a:xfrm>
            <a:off x="5953994" y="3754288"/>
            <a:ext cx="3281521" cy="2339468"/>
          </a:xfrm>
          <a:prstGeom prst="rect">
            <a:avLst/>
          </a:prstGeom>
          <a:solidFill>
            <a:schemeClr val="accent5">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t"/>
          <a:lstStyle/>
          <a:p>
            <a:pPr algn="ctr"/>
            <a:r>
              <a:rPr lang="en-US" altLang="ja-JP" sz="1500">
                <a:solidFill>
                  <a:schemeClr val="tx1"/>
                </a:solidFill>
                <a:latin typeface="メイリオ" panose="020B0604030504040204" pitchFamily="50" charset="-128"/>
                <a:ea typeface="メイリオ" panose="020B0604030504040204" pitchFamily="50" charset="-128"/>
              </a:rPr>
              <a:t>UI</a:t>
            </a: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45CEE538-0999-47D4-A7AA-96AAB28DB746}"/>
              </a:ext>
            </a:extLst>
          </p:cNvPr>
          <p:cNvSpPr/>
          <p:nvPr/>
        </p:nvSpPr>
        <p:spPr>
          <a:xfrm>
            <a:off x="3876986" y="5436472"/>
            <a:ext cx="1693766" cy="605168"/>
          </a:xfrm>
          <a:prstGeom prst="rect">
            <a:avLst/>
          </a:prstGeom>
          <a:solidFill>
            <a:schemeClr val="accent1">
              <a:lumMod val="50000"/>
            </a:schemeClr>
          </a:solidFill>
          <a:ln>
            <a:solidFill>
              <a:srgbClr val="FFFFFF"/>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350">
                <a:solidFill>
                  <a:schemeClr val="bg1"/>
                </a:solidFill>
                <a:latin typeface="メイリオ" panose="020B0604030504040204" pitchFamily="50" charset="-128"/>
                <a:ea typeface="メイリオ" panose="020B0604030504040204" pitchFamily="50" charset="-128"/>
              </a:rPr>
              <a:t>API</a:t>
            </a:r>
          </a:p>
          <a:p>
            <a:pPr algn="ctr"/>
            <a:r>
              <a:rPr lang="en-US" altLang="ja-JP" sz="1200">
                <a:solidFill>
                  <a:schemeClr val="bg1"/>
                </a:solidFill>
                <a:latin typeface="メイリオ" panose="020B0604030504040204" pitchFamily="50" charset="-128"/>
                <a:ea typeface="メイリオ" panose="020B0604030504040204" pitchFamily="50" charset="-128"/>
              </a:rPr>
              <a:t>(</a:t>
            </a:r>
            <a:r>
              <a:rPr lang="ja-JP" altLang="en-US" sz="1200">
                <a:solidFill>
                  <a:schemeClr val="bg1"/>
                </a:solidFill>
                <a:latin typeface="メイリオ" panose="020B0604030504040204" pitchFamily="50" charset="-128"/>
                <a:ea typeface="メイリオ" panose="020B0604030504040204" pitchFamily="50" charset="-128"/>
              </a:rPr>
              <a:t>バックグラウンド</a:t>
            </a:r>
            <a:r>
              <a:rPr lang="en-US" altLang="ja-JP" sz="1200">
                <a:solidFill>
                  <a:schemeClr val="bg1"/>
                </a:solidFill>
                <a:latin typeface="メイリオ" panose="020B0604030504040204" pitchFamily="50" charset="-128"/>
                <a:ea typeface="メイリオ" panose="020B0604030504040204" pitchFamily="50" charset="-128"/>
              </a:rPr>
              <a:t>)</a:t>
            </a:r>
          </a:p>
        </p:txBody>
      </p:sp>
      <p:sp>
        <p:nvSpPr>
          <p:cNvPr id="31" name="正方形/長方形 30">
            <a:extLst>
              <a:ext uri="{FF2B5EF4-FFF2-40B4-BE49-F238E27FC236}">
                <a16:creationId xmlns:a16="http://schemas.microsoft.com/office/drawing/2014/main" id="{C4284B6D-7C68-407B-B98D-8EC5467E85D9}"/>
              </a:ext>
            </a:extLst>
          </p:cNvPr>
          <p:cNvSpPr/>
          <p:nvPr/>
        </p:nvSpPr>
        <p:spPr>
          <a:xfrm>
            <a:off x="5189853" y="7521971"/>
            <a:ext cx="1693766" cy="605168"/>
          </a:xfrm>
          <a:prstGeom prst="rect">
            <a:avLst/>
          </a:prstGeom>
          <a:solidFill>
            <a:schemeClr val="accent1">
              <a:lumMod val="50000"/>
            </a:schemeClr>
          </a:solidFill>
          <a:ln>
            <a:solidFill>
              <a:srgbClr val="FFFFFF"/>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350">
                <a:solidFill>
                  <a:schemeClr val="bg1"/>
                </a:solidFill>
              </a:rPr>
              <a:t>ログ制御</a:t>
            </a:r>
            <a:endParaRPr lang="en-US" altLang="ja-JP" sz="1350">
              <a:solidFill>
                <a:schemeClr val="bg1"/>
              </a:solidFill>
            </a:endParaRPr>
          </a:p>
        </p:txBody>
      </p:sp>
      <p:sp>
        <p:nvSpPr>
          <p:cNvPr id="36" name="円柱 35">
            <a:extLst>
              <a:ext uri="{FF2B5EF4-FFF2-40B4-BE49-F238E27FC236}">
                <a16:creationId xmlns:a16="http://schemas.microsoft.com/office/drawing/2014/main" id="{5741B89C-FF5D-4DDE-9175-1C8AA6EE8E24}"/>
              </a:ext>
            </a:extLst>
          </p:cNvPr>
          <p:cNvSpPr/>
          <p:nvPr/>
        </p:nvSpPr>
        <p:spPr>
          <a:xfrm>
            <a:off x="5184737" y="8588408"/>
            <a:ext cx="1693766" cy="605167"/>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1350">
                <a:solidFill>
                  <a:schemeClr val="tx1"/>
                </a:solidFill>
              </a:rPr>
              <a:t>ログ（一時保管）</a:t>
            </a:r>
          </a:p>
        </p:txBody>
      </p:sp>
      <p:sp>
        <p:nvSpPr>
          <p:cNvPr id="49" name="円柱 48">
            <a:extLst>
              <a:ext uri="{FF2B5EF4-FFF2-40B4-BE49-F238E27FC236}">
                <a16:creationId xmlns:a16="http://schemas.microsoft.com/office/drawing/2014/main" id="{FFDAC0EF-781F-47EF-B89D-09EBDDC2B946}"/>
              </a:ext>
            </a:extLst>
          </p:cNvPr>
          <p:cNvSpPr/>
          <p:nvPr/>
        </p:nvSpPr>
        <p:spPr>
          <a:xfrm>
            <a:off x="924306" y="4412873"/>
            <a:ext cx="1314348" cy="550673"/>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1350">
                <a:solidFill>
                  <a:schemeClr val="tx1"/>
                </a:solidFill>
              </a:rPr>
              <a:t>DB</a:t>
            </a:r>
            <a:endParaRPr lang="ja-JP" altLang="en-US" sz="1350">
              <a:solidFill>
                <a:schemeClr val="tx1"/>
              </a:solidFill>
            </a:endParaRPr>
          </a:p>
        </p:txBody>
      </p:sp>
      <p:sp>
        <p:nvSpPr>
          <p:cNvPr id="51" name="正方形/長方形 50">
            <a:extLst>
              <a:ext uri="{FF2B5EF4-FFF2-40B4-BE49-F238E27FC236}">
                <a16:creationId xmlns:a16="http://schemas.microsoft.com/office/drawing/2014/main" id="{C5D69464-5181-438F-9DBA-1B458620FBA3}"/>
              </a:ext>
            </a:extLst>
          </p:cNvPr>
          <p:cNvSpPr/>
          <p:nvPr/>
        </p:nvSpPr>
        <p:spPr>
          <a:xfrm>
            <a:off x="2623036" y="4701440"/>
            <a:ext cx="687935" cy="1305815"/>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sz="1350">
                <a:solidFill>
                  <a:schemeClr val="bg1"/>
                </a:solidFill>
              </a:rPr>
              <a:t>Web</a:t>
            </a:r>
          </a:p>
          <a:p>
            <a:pPr algn="ctr"/>
            <a:r>
              <a:rPr lang="en-US" altLang="ja-JP" sz="1350">
                <a:solidFill>
                  <a:schemeClr val="bg1"/>
                </a:solidFill>
              </a:rPr>
              <a:t>API</a:t>
            </a:r>
          </a:p>
          <a:p>
            <a:pPr algn="ctr"/>
            <a:endParaRPr lang="en-US" altLang="ja-JP" sz="1350">
              <a:solidFill>
                <a:schemeClr val="bg1"/>
              </a:solidFill>
            </a:endParaRPr>
          </a:p>
        </p:txBody>
      </p:sp>
      <p:pic>
        <p:nvPicPr>
          <p:cNvPr id="53" name="Picture 9" descr="C:\Users\ooba2\Documents\51i36k8loIL._AC_SY450_.jpg">
            <a:extLst>
              <a:ext uri="{FF2B5EF4-FFF2-40B4-BE49-F238E27FC236}">
                <a16:creationId xmlns:a16="http://schemas.microsoft.com/office/drawing/2014/main" id="{69A74793-61A9-4134-95C1-FA6F955FBC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37856" y="5434685"/>
            <a:ext cx="777281" cy="604770"/>
          </a:xfrm>
          <a:prstGeom prst="rect">
            <a:avLst/>
          </a:prstGeom>
          <a:noFill/>
          <a:extLst>
            <a:ext uri="{909E8E84-426E-40DD-AFC4-6F175D3DCCD1}">
              <a14:hiddenFill xmlns:a14="http://schemas.microsoft.com/office/drawing/2010/main">
                <a:solidFill>
                  <a:srgbClr val="FFFFFF"/>
                </a:solidFill>
              </a14:hiddenFill>
            </a:ext>
          </a:extLst>
        </p:spPr>
      </p:pic>
      <p:sp>
        <p:nvSpPr>
          <p:cNvPr id="54" name="円/楕円 248">
            <a:extLst>
              <a:ext uri="{FF2B5EF4-FFF2-40B4-BE49-F238E27FC236}">
                <a16:creationId xmlns:a16="http://schemas.microsoft.com/office/drawing/2014/main" id="{F137E751-40D6-454A-801C-EB68F385C02B}"/>
              </a:ext>
            </a:extLst>
          </p:cNvPr>
          <p:cNvSpPr/>
          <p:nvPr/>
        </p:nvSpPr>
        <p:spPr>
          <a:xfrm>
            <a:off x="13266986" y="5066477"/>
            <a:ext cx="562606" cy="270105"/>
          </a:xfrm>
          <a:prstGeom prst="ellipse">
            <a:avLst/>
          </a:prstGeom>
          <a:ln>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050"/>
              <a:t>内蔵</a:t>
            </a:r>
          </a:p>
        </p:txBody>
      </p:sp>
      <p:sp>
        <p:nvSpPr>
          <p:cNvPr id="62" name="円柱 61">
            <a:extLst>
              <a:ext uri="{FF2B5EF4-FFF2-40B4-BE49-F238E27FC236}">
                <a16:creationId xmlns:a16="http://schemas.microsoft.com/office/drawing/2014/main" id="{56B52E94-DB26-4406-BCF2-099A697DE217}"/>
              </a:ext>
            </a:extLst>
          </p:cNvPr>
          <p:cNvSpPr/>
          <p:nvPr/>
        </p:nvSpPr>
        <p:spPr>
          <a:xfrm>
            <a:off x="7516867" y="6846904"/>
            <a:ext cx="1366115" cy="595297"/>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1350">
                <a:solidFill>
                  <a:schemeClr val="tx1"/>
                </a:solidFill>
              </a:rPr>
              <a:t>DB</a:t>
            </a:r>
            <a:endParaRPr lang="ja-JP" altLang="en-US" sz="1350">
              <a:solidFill>
                <a:schemeClr val="tx1"/>
              </a:solidFill>
            </a:endParaRPr>
          </a:p>
        </p:txBody>
      </p:sp>
      <p:cxnSp>
        <p:nvCxnSpPr>
          <p:cNvPr id="72" name="直線矢印コネクタ 71">
            <a:extLst>
              <a:ext uri="{FF2B5EF4-FFF2-40B4-BE49-F238E27FC236}">
                <a16:creationId xmlns:a16="http://schemas.microsoft.com/office/drawing/2014/main" id="{AF8354C8-D495-4989-B631-1F7B6CDBCCDD}"/>
              </a:ext>
            </a:extLst>
          </p:cNvPr>
          <p:cNvCxnSpPr>
            <a:cxnSpLocks/>
            <a:stCxn id="51" idx="3"/>
            <a:endCxn id="30" idx="1"/>
          </p:cNvCxnSpPr>
          <p:nvPr/>
        </p:nvCxnSpPr>
        <p:spPr>
          <a:xfrm>
            <a:off x="3310971" y="5354348"/>
            <a:ext cx="566015" cy="38470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5D2B083A-810C-40DF-A530-294197FDE71D}"/>
              </a:ext>
            </a:extLst>
          </p:cNvPr>
          <p:cNvCxnSpPr>
            <a:cxnSpLocks/>
            <a:stCxn id="92" idx="1"/>
            <a:endCxn id="51" idx="3"/>
          </p:cNvCxnSpPr>
          <p:nvPr/>
        </p:nvCxnSpPr>
        <p:spPr>
          <a:xfrm flipH="1">
            <a:off x="3310971" y="5018538"/>
            <a:ext cx="551636" cy="33581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5DCBC4C7-D353-4DB0-AFE3-26C25471B4BD}"/>
              </a:ext>
            </a:extLst>
          </p:cNvPr>
          <p:cNvSpPr/>
          <p:nvPr/>
        </p:nvSpPr>
        <p:spPr>
          <a:xfrm>
            <a:off x="3735737" y="2626580"/>
            <a:ext cx="9126925" cy="415498"/>
          </a:xfrm>
          <a:prstGeom prst="rect">
            <a:avLst/>
          </a:prstGeom>
          <a:solidFill>
            <a:schemeClr val="accent5"/>
          </a:solidFill>
          <a:ln>
            <a:solidFill>
              <a:schemeClr val="accent5">
                <a:lumMod val="75000"/>
              </a:schemeClr>
            </a:solidFill>
          </a:ln>
        </p:spPr>
        <p:txBody>
          <a:bodyPr wrap="square">
            <a:spAutoFit/>
          </a:bodyPr>
          <a:lstStyle/>
          <a:p>
            <a:pPr algn="ctr"/>
            <a:r>
              <a:rPr lang="ja-JP" altLang="en-US" sz="2100" b="1">
                <a:solidFill>
                  <a:schemeClr val="bg1"/>
                </a:solidFill>
                <a:latin typeface="メイリオ" panose="020B0604030504040204" pitchFamily="50" charset="-128"/>
                <a:ea typeface="メイリオ" panose="020B0604030504040204" pitchFamily="50" charset="-128"/>
                <a:cs typeface="Aldhabi" panose="020F0502020204030204" pitchFamily="2" charset="-78"/>
              </a:rPr>
              <a:t>端末</a:t>
            </a:r>
          </a:p>
        </p:txBody>
      </p:sp>
      <p:sp>
        <p:nvSpPr>
          <p:cNvPr id="92" name="正方形/長方形 91">
            <a:extLst>
              <a:ext uri="{FF2B5EF4-FFF2-40B4-BE49-F238E27FC236}">
                <a16:creationId xmlns:a16="http://schemas.microsoft.com/office/drawing/2014/main" id="{3ECECE0E-BF18-45D1-A9BA-DBD647FF5DAE}"/>
              </a:ext>
            </a:extLst>
          </p:cNvPr>
          <p:cNvSpPr/>
          <p:nvPr/>
        </p:nvSpPr>
        <p:spPr>
          <a:xfrm>
            <a:off x="3862607" y="4715954"/>
            <a:ext cx="1693766" cy="605168"/>
          </a:xfrm>
          <a:prstGeom prst="rect">
            <a:avLst/>
          </a:prstGeom>
          <a:solidFill>
            <a:schemeClr val="accent1">
              <a:lumMod val="50000"/>
            </a:schemeClr>
          </a:solidFill>
          <a:ln>
            <a:solidFill>
              <a:srgbClr val="FFFFFF"/>
            </a:solidFill>
          </a:ln>
        </p:spPr>
        <p:txBody>
          <a:bodyPr wrap="none" anchor="ctr" anchorCtr="0">
            <a:noAutofit/>
          </a:bodyPr>
          <a:lstStyle/>
          <a:p>
            <a:pPr algn="ctr"/>
            <a:r>
              <a:rPr lang="en-US" altLang="ja-JP" sz="1350">
                <a:solidFill>
                  <a:schemeClr val="bg1"/>
                </a:solidFill>
                <a:latin typeface="メイリオ" panose="020B0604030504040204" pitchFamily="50" charset="-128"/>
                <a:ea typeface="メイリオ" panose="020B0604030504040204" pitchFamily="50" charset="-128"/>
              </a:rPr>
              <a:t>API</a:t>
            </a:r>
          </a:p>
          <a:p>
            <a:pPr algn="ctr"/>
            <a:r>
              <a:rPr lang="en-US" altLang="ja-JP" sz="1200">
                <a:solidFill>
                  <a:schemeClr val="bg1"/>
                </a:solidFill>
                <a:latin typeface="メイリオ" panose="020B0604030504040204" pitchFamily="50" charset="-128"/>
                <a:ea typeface="メイリオ" panose="020B0604030504040204" pitchFamily="50" charset="-128"/>
              </a:rPr>
              <a:t>(</a:t>
            </a:r>
            <a:r>
              <a:rPr lang="ja-JP" altLang="en-US" sz="1200">
                <a:solidFill>
                  <a:schemeClr val="bg1"/>
                </a:solidFill>
                <a:latin typeface="メイリオ" panose="020B0604030504040204" pitchFamily="50" charset="-128"/>
                <a:ea typeface="メイリオ" panose="020B0604030504040204" pitchFamily="50" charset="-128"/>
              </a:rPr>
              <a:t>リアルタイム</a:t>
            </a:r>
            <a:r>
              <a:rPr lang="en-US" altLang="ja-JP" sz="1200">
                <a:solidFill>
                  <a:schemeClr val="bg1"/>
                </a:solidFill>
                <a:latin typeface="メイリオ" panose="020B0604030504040204" pitchFamily="50" charset="-128"/>
                <a:ea typeface="メイリオ" panose="020B0604030504040204" pitchFamily="50" charset="-128"/>
              </a:rPr>
              <a:t>)</a:t>
            </a:r>
            <a:endParaRPr lang="ja-JP" altLang="en-US" sz="1350">
              <a:solidFill>
                <a:schemeClr val="bg1"/>
              </a:solidFill>
              <a:latin typeface="メイリオ" panose="020B0604030504040204" pitchFamily="50" charset="-128"/>
              <a:ea typeface="メイリオ" panose="020B0604030504040204" pitchFamily="50" charset="-128"/>
            </a:endParaRPr>
          </a:p>
        </p:txBody>
      </p:sp>
      <p:pic>
        <p:nvPicPr>
          <p:cNvPr id="100" name="図 99">
            <a:extLst>
              <a:ext uri="{FF2B5EF4-FFF2-40B4-BE49-F238E27FC236}">
                <a16:creationId xmlns:a16="http://schemas.microsoft.com/office/drawing/2014/main" id="{86BBAC0B-E250-4DE4-B6D8-F8D9E1D8DB22}"/>
              </a:ext>
            </a:extLst>
          </p:cNvPr>
          <p:cNvPicPr>
            <a:picLocks noChangeAspect="1"/>
          </p:cNvPicPr>
          <p:nvPr/>
        </p:nvPicPr>
        <p:blipFill>
          <a:blip r:embed="rId4"/>
          <a:stretch>
            <a:fillRect/>
          </a:stretch>
        </p:blipFill>
        <p:spPr>
          <a:xfrm>
            <a:off x="13234017" y="4387160"/>
            <a:ext cx="393357" cy="595751"/>
          </a:xfrm>
          <a:prstGeom prst="rect">
            <a:avLst/>
          </a:prstGeom>
        </p:spPr>
      </p:pic>
      <p:sp>
        <p:nvSpPr>
          <p:cNvPr id="9" name="正方形/長方形 8">
            <a:extLst>
              <a:ext uri="{FF2B5EF4-FFF2-40B4-BE49-F238E27FC236}">
                <a16:creationId xmlns:a16="http://schemas.microsoft.com/office/drawing/2014/main" id="{BBFF9F20-28E9-5854-8DE4-054258DA3C99}"/>
              </a:ext>
            </a:extLst>
          </p:cNvPr>
          <p:cNvSpPr/>
          <p:nvPr/>
        </p:nvSpPr>
        <p:spPr>
          <a:xfrm>
            <a:off x="10091162" y="4039874"/>
            <a:ext cx="2252867" cy="4115968"/>
          </a:xfrm>
          <a:prstGeom prst="rect">
            <a:avLst/>
          </a:prstGeom>
          <a:solidFill>
            <a:schemeClr val="accent5">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t"/>
          <a:lstStyle/>
          <a:p>
            <a:pPr algn="ctr"/>
            <a:r>
              <a:rPr lang="ja-JP" altLang="en-US" sz="1600" b="1">
                <a:solidFill>
                  <a:srgbClr val="FFFF00"/>
                </a:solidFill>
                <a:latin typeface="メイリオ" panose="020B0604030504040204" pitchFamily="50" charset="-128"/>
                <a:ea typeface="メイリオ" panose="020B0604030504040204" pitchFamily="50" charset="-128"/>
              </a:rPr>
              <a:t>ストラテジーパターン</a:t>
            </a:r>
            <a:endParaRPr lang="en-US" altLang="ja-JP" sz="1600" b="1">
              <a:solidFill>
                <a:srgbClr val="FFFF00"/>
              </a:solidFill>
              <a:latin typeface="メイリオ" panose="020B0604030504040204" pitchFamily="50" charset="-128"/>
              <a:ea typeface="メイリオ" panose="020B0604030504040204" pitchFamily="50" charset="-128"/>
            </a:endParaRPr>
          </a:p>
          <a:p>
            <a:pPr algn="ctr"/>
            <a:endParaRPr lang="en-US" altLang="ja-JP" sz="1600" b="1">
              <a:solidFill>
                <a:srgbClr val="FFFF00"/>
              </a:solidFill>
              <a:latin typeface="メイリオ" panose="020B0604030504040204" pitchFamily="50" charset="-128"/>
              <a:ea typeface="メイリオ" panose="020B0604030504040204" pitchFamily="50" charset="-128"/>
            </a:endParaRPr>
          </a:p>
          <a:p>
            <a:pPr algn="ctr"/>
            <a:endParaRPr lang="en-US" altLang="ja-JP" sz="1600" b="1">
              <a:solidFill>
                <a:srgbClr val="FFFF00"/>
              </a:solidFill>
              <a:latin typeface="メイリオ" panose="020B0604030504040204" pitchFamily="50" charset="-128"/>
              <a:ea typeface="メイリオ" panose="020B0604030504040204" pitchFamily="50" charset="-128"/>
            </a:endParaRPr>
          </a:p>
          <a:p>
            <a:pPr algn="ctr"/>
            <a:endParaRPr lang="en-US" altLang="ja-JP" sz="1600" b="1">
              <a:solidFill>
                <a:srgbClr val="FFFF00"/>
              </a:solidFill>
              <a:latin typeface="メイリオ" panose="020B0604030504040204" pitchFamily="50" charset="-128"/>
              <a:ea typeface="メイリオ" panose="020B0604030504040204" pitchFamily="50" charset="-128"/>
            </a:endParaRPr>
          </a:p>
          <a:p>
            <a:pPr algn="ctr"/>
            <a:endParaRPr lang="en-US" altLang="ja-JP" sz="1600" b="1">
              <a:solidFill>
                <a:srgbClr val="FFFF00"/>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9637850A-ED41-4D96-B3EB-0E5A43E81810}"/>
              </a:ext>
            </a:extLst>
          </p:cNvPr>
          <p:cNvSpPr/>
          <p:nvPr/>
        </p:nvSpPr>
        <p:spPr>
          <a:xfrm>
            <a:off x="10587772" y="5492753"/>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a:solidFill>
                  <a:schemeClr val="tx1"/>
                </a:solidFill>
              </a:rPr>
              <a:t>プリンター</a:t>
            </a:r>
            <a:endParaRPr lang="en-US" altLang="ja-JP" sz="1200">
              <a:solidFill>
                <a:schemeClr val="tx1"/>
              </a:solidFill>
            </a:endParaRPr>
          </a:p>
          <a:p>
            <a:pPr algn="ctr"/>
            <a:r>
              <a:rPr lang="en-US" altLang="ja-JP" sz="1200">
                <a:solidFill>
                  <a:schemeClr val="tx1"/>
                </a:solidFill>
              </a:rPr>
              <a:t>(</a:t>
            </a:r>
            <a:r>
              <a:rPr lang="ja-JP" altLang="en-US" sz="1200">
                <a:solidFill>
                  <a:schemeClr val="tx1"/>
                </a:solidFill>
              </a:rPr>
              <a:t>レシート</a:t>
            </a:r>
            <a:r>
              <a:rPr lang="en-US" altLang="ja-JP" sz="1200">
                <a:solidFill>
                  <a:schemeClr val="tx1"/>
                </a:solidFill>
              </a:rPr>
              <a:t>/A4)</a:t>
            </a:r>
          </a:p>
        </p:txBody>
      </p:sp>
      <p:sp>
        <p:nvSpPr>
          <p:cNvPr id="29" name="正方形/長方形 28">
            <a:extLst>
              <a:ext uri="{FF2B5EF4-FFF2-40B4-BE49-F238E27FC236}">
                <a16:creationId xmlns:a16="http://schemas.microsoft.com/office/drawing/2014/main" id="{663FDA27-B425-49B3-BD2D-C1495F68ECAD}"/>
              </a:ext>
            </a:extLst>
          </p:cNvPr>
          <p:cNvSpPr/>
          <p:nvPr/>
        </p:nvSpPr>
        <p:spPr>
          <a:xfrm>
            <a:off x="10569346" y="4970055"/>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lIns="0" tIns="0" rIns="0" bIns="0" rtlCol="0" anchor="ctr"/>
          <a:lstStyle/>
          <a:p>
            <a:pPr algn="ctr"/>
            <a:r>
              <a:rPr lang="ja-JP" altLang="en-US" sz="1200">
                <a:solidFill>
                  <a:schemeClr val="tx1"/>
                </a:solidFill>
              </a:rPr>
              <a:t>カメラ</a:t>
            </a:r>
            <a:endParaRPr lang="en-US" altLang="ja-JP" sz="1200">
              <a:solidFill>
                <a:schemeClr val="tx1"/>
              </a:solidFill>
            </a:endParaRPr>
          </a:p>
          <a:p>
            <a:pPr algn="ctr"/>
            <a:r>
              <a:rPr lang="ja-JP" altLang="en-US" sz="1200">
                <a:solidFill>
                  <a:schemeClr val="tx1"/>
                </a:solidFill>
              </a:rPr>
              <a:t>（バーコード読取）</a:t>
            </a:r>
            <a:endParaRPr lang="en-US" altLang="ja-JP" sz="1200">
              <a:solidFill>
                <a:schemeClr val="tx1"/>
              </a:solidFill>
            </a:endParaRPr>
          </a:p>
        </p:txBody>
      </p:sp>
      <p:sp>
        <p:nvSpPr>
          <p:cNvPr id="23" name="正方形/長方形 22">
            <a:extLst>
              <a:ext uri="{FF2B5EF4-FFF2-40B4-BE49-F238E27FC236}">
                <a16:creationId xmlns:a16="http://schemas.microsoft.com/office/drawing/2014/main" id="{63EAEE92-EC92-47EE-AE30-B83C8A735B4B}"/>
              </a:ext>
            </a:extLst>
          </p:cNvPr>
          <p:cNvSpPr/>
          <p:nvPr/>
        </p:nvSpPr>
        <p:spPr>
          <a:xfrm>
            <a:off x="10569346" y="4447820"/>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a:solidFill>
                  <a:schemeClr val="tx1"/>
                </a:solidFill>
              </a:rPr>
              <a:t>スキャナー</a:t>
            </a:r>
            <a:endParaRPr lang="en-US" altLang="ja-JP" sz="1200">
              <a:solidFill>
                <a:schemeClr val="tx1"/>
              </a:solidFill>
            </a:endParaRPr>
          </a:p>
          <a:p>
            <a:pPr algn="ctr"/>
            <a:r>
              <a:rPr lang="en-US" altLang="ja-JP" sz="1200">
                <a:solidFill>
                  <a:schemeClr val="tx1"/>
                </a:solidFill>
              </a:rPr>
              <a:t>(USB/Bluetooth)</a:t>
            </a:r>
          </a:p>
        </p:txBody>
      </p:sp>
      <p:sp>
        <p:nvSpPr>
          <p:cNvPr id="105" name="正方形/長方形 104">
            <a:extLst>
              <a:ext uri="{FF2B5EF4-FFF2-40B4-BE49-F238E27FC236}">
                <a16:creationId xmlns:a16="http://schemas.microsoft.com/office/drawing/2014/main" id="{A8ACF3BC-A69E-447D-B190-6E7DDAD585C2}"/>
              </a:ext>
            </a:extLst>
          </p:cNvPr>
          <p:cNvSpPr/>
          <p:nvPr/>
        </p:nvSpPr>
        <p:spPr>
          <a:xfrm>
            <a:off x="12944775" y="2624295"/>
            <a:ext cx="1695896" cy="426537"/>
          </a:xfrm>
          <a:prstGeom prst="rect">
            <a:avLst/>
          </a:prstGeom>
          <a:solidFill>
            <a:schemeClr val="accent5"/>
          </a:solidFill>
          <a:ln>
            <a:solidFill>
              <a:schemeClr val="accent5">
                <a:lumMod val="75000"/>
              </a:schemeClr>
            </a:solidFill>
          </a:ln>
        </p:spPr>
        <p:txBody>
          <a:bodyPr wrap="square">
            <a:noAutofit/>
          </a:bodyPr>
          <a:lstStyle/>
          <a:p>
            <a:pPr algn="ctr"/>
            <a:r>
              <a:rPr lang="ja-JP" altLang="en-US" sz="2100" b="1">
                <a:solidFill>
                  <a:schemeClr val="bg1"/>
                </a:solidFill>
                <a:latin typeface="メイリオ" panose="020B0604030504040204" pitchFamily="50" charset="-128"/>
                <a:ea typeface="メイリオ" panose="020B0604030504040204" pitchFamily="50" charset="-128"/>
              </a:rPr>
              <a:t>周辺機器</a:t>
            </a:r>
          </a:p>
        </p:txBody>
      </p:sp>
      <p:cxnSp>
        <p:nvCxnSpPr>
          <p:cNvPr id="40" name="直線矢印コネクタ 39">
            <a:extLst>
              <a:ext uri="{FF2B5EF4-FFF2-40B4-BE49-F238E27FC236}">
                <a16:creationId xmlns:a16="http://schemas.microsoft.com/office/drawing/2014/main" id="{DEBE6A17-2CAF-4260-9D08-982CCBBA511C}"/>
              </a:ext>
            </a:extLst>
          </p:cNvPr>
          <p:cNvCxnSpPr>
            <a:cxnSpLocks/>
            <a:stCxn id="5" idx="3"/>
            <a:endCxn id="22" idx="1"/>
          </p:cNvCxnSpPr>
          <p:nvPr/>
        </p:nvCxnSpPr>
        <p:spPr>
          <a:xfrm>
            <a:off x="9057168" y="5026057"/>
            <a:ext cx="385331" cy="62966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71904F17-EED6-4FD0-A8E9-16A05BE5ADFF}"/>
              </a:ext>
            </a:extLst>
          </p:cNvPr>
          <p:cNvCxnSpPr>
            <a:cxnSpLocks/>
            <a:stCxn id="29" idx="3"/>
            <a:endCxn id="54" idx="2"/>
          </p:cNvCxnSpPr>
          <p:nvPr/>
        </p:nvCxnSpPr>
        <p:spPr>
          <a:xfrm flipV="1">
            <a:off x="12263112" y="5201530"/>
            <a:ext cx="1003874" cy="8071"/>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7C84D4F2-0606-43CD-9908-CEE32048E99B}"/>
              </a:ext>
            </a:extLst>
          </p:cNvPr>
          <p:cNvCxnSpPr>
            <a:cxnSpLocks/>
            <a:stCxn id="23" idx="3"/>
            <a:endCxn id="100" idx="1"/>
          </p:cNvCxnSpPr>
          <p:nvPr/>
        </p:nvCxnSpPr>
        <p:spPr>
          <a:xfrm flipV="1">
            <a:off x="12263112" y="4685036"/>
            <a:ext cx="970905" cy="233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直線矢印コネクタ 95">
            <a:extLst>
              <a:ext uri="{FF2B5EF4-FFF2-40B4-BE49-F238E27FC236}">
                <a16:creationId xmlns:a16="http://schemas.microsoft.com/office/drawing/2014/main" id="{19FEAF3F-BBBD-4D2C-AC81-AD4980FCE1D6}"/>
              </a:ext>
            </a:extLst>
          </p:cNvPr>
          <p:cNvCxnSpPr>
            <a:cxnSpLocks/>
            <a:stCxn id="24" idx="3"/>
            <a:endCxn id="53" idx="1"/>
          </p:cNvCxnSpPr>
          <p:nvPr/>
        </p:nvCxnSpPr>
        <p:spPr>
          <a:xfrm>
            <a:off x="12281538" y="5732299"/>
            <a:ext cx="856318" cy="4771"/>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5" name="テキスト ボックス 164">
            <a:extLst>
              <a:ext uri="{FF2B5EF4-FFF2-40B4-BE49-F238E27FC236}">
                <a16:creationId xmlns:a16="http://schemas.microsoft.com/office/drawing/2014/main" id="{9BE6A443-7FC4-4C68-81E0-8223F2CB370F}"/>
              </a:ext>
            </a:extLst>
          </p:cNvPr>
          <p:cNvSpPr txBox="1"/>
          <p:nvPr/>
        </p:nvSpPr>
        <p:spPr>
          <a:xfrm>
            <a:off x="650606" y="1207322"/>
            <a:ext cx="17199585" cy="833757"/>
          </a:xfrm>
          <a:prstGeom prst="rect">
            <a:avLst/>
          </a:prstGeom>
          <a:noFill/>
        </p:spPr>
        <p:txBody>
          <a:bodyPr wrap="square" lIns="0" tIns="0" rIns="0" bIns="0" rtlCol="0">
            <a:noAutofit/>
          </a:bodyPr>
          <a:lstStyle/>
          <a:p>
            <a:r>
              <a:rPr lang="ja-JP" altLang="en-US" sz="2400">
                <a:latin typeface="メイリオ" panose="020B0604030504040204" pitchFamily="50" charset="-128"/>
                <a:ea typeface="メイリオ" panose="020B0604030504040204" pitchFamily="50" charset="-128"/>
              </a:rPr>
              <a:t>周辺機器の入れ替え時の改修が最低限となるよう、ストラテジーパターン（処理方法をクラスとして分離し、自由に差し替えるためのパターン）を採用します。</a:t>
            </a:r>
            <a:endParaRPr lang="en-US" altLang="ja-JP" sz="2400">
              <a:latin typeface="メイリオ" panose="020B0604030504040204" pitchFamily="50" charset="-128"/>
              <a:ea typeface="メイリオ" panose="020B0604030504040204" pitchFamily="50" charset="-128"/>
            </a:endParaRPr>
          </a:p>
        </p:txBody>
      </p:sp>
      <p:sp>
        <p:nvSpPr>
          <p:cNvPr id="166" name="テキスト ボックス 165">
            <a:extLst>
              <a:ext uri="{FF2B5EF4-FFF2-40B4-BE49-F238E27FC236}">
                <a16:creationId xmlns:a16="http://schemas.microsoft.com/office/drawing/2014/main" id="{A2BF393C-A620-47F8-AC3E-E3DBA347FDF5}"/>
              </a:ext>
            </a:extLst>
          </p:cNvPr>
          <p:cNvSpPr txBox="1"/>
          <p:nvPr/>
        </p:nvSpPr>
        <p:spPr>
          <a:xfrm>
            <a:off x="463184" y="2053712"/>
            <a:ext cx="2255746" cy="415498"/>
          </a:xfrm>
          <a:prstGeom prst="rect">
            <a:avLst/>
          </a:prstGeom>
          <a:noFill/>
        </p:spPr>
        <p:txBody>
          <a:bodyPr wrap="none" rtlCol="0">
            <a:spAutoFit/>
          </a:bodyPr>
          <a:lstStyle/>
          <a:p>
            <a:r>
              <a:rPr lang="en-US" altLang="ja-JP" sz="2100">
                <a:latin typeface="HGPｺﾞｼｯｸM" panose="020B0600000000000000" pitchFamily="50" charset="-128"/>
                <a:ea typeface="HGPｺﾞｼｯｸM" panose="020B0600000000000000" pitchFamily="50" charset="-128"/>
              </a:rPr>
              <a:t>【</a:t>
            </a:r>
            <a:r>
              <a:rPr lang="ja-JP" altLang="en-US" sz="2100">
                <a:latin typeface="HGPｺﾞｼｯｸM" panose="020B0600000000000000" pitchFamily="50" charset="-128"/>
                <a:ea typeface="HGPｺﾞｼｯｸM" panose="020B0600000000000000" pitchFamily="50" charset="-128"/>
              </a:rPr>
              <a:t>機能構成図</a:t>
            </a:r>
            <a:r>
              <a:rPr lang="en-US" altLang="ja-JP" sz="2100">
                <a:latin typeface="HGPｺﾞｼｯｸM" panose="020B0600000000000000" pitchFamily="50" charset="-128"/>
                <a:ea typeface="HGPｺﾞｼｯｸM" panose="020B0600000000000000" pitchFamily="50" charset="-128"/>
              </a:rPr>
              <a:t>(</a:t>
            </a:r>
            <a:r>
              <a:rPr lang="ja-JP" altLang="en-US" sz="2100">
                <a:latin typeface="HGPｺﾞｼｯｸM" panose="020B0600000000000000" pitchFamily="50" charset="-128"/>
                <a:ea typeface="HGPｺﾞｼｯｸM" panose="020B0600000000000000" pitchFamily="50" charset="-128"/>
              </a:rPr>
              <a:t>案</a:t>
            </a:r>
            <a:r>
              <a:rPr lang="en-US" altLang="ja-JP" sz="2100">
                <a:latin typeface="HGPｺﾞｼｯｸM" panose="020B0600000000000000" pitchFamily="50" charset="-128"/>
                <a:ea typeface="HGPｺﾞｼｯｸM" panose="020B0600000000000000" pitchFamily="50" charset="-128"/>
              </a:rPr>
              <a:t>)】</a:t>
            </a:r>
            <a:endParaRPr lang="ja-JP" altLang="en-US" sz="2100">
              <a:latin typeface="HGPｺﾞｼｯｸM" panose="020B0600000000000000" pitchFamily="50" charset="-128"/>
              <a:ea typeface="HGPｺﾞｼｯｸM" panose="020B0600000000000000" pitchFamily="50" charset="-128"/>
            </a:endParaRPr>
          </a:p>
        </p:txBody>
      </p:sp>
      <p:sp>
        <p:nvSpPr>
          <p:cNvPr id="217" name="正方形/長方形 216">
            <a:extLst>
              <a:ext uri="{FF2B5EF4-FFF2-40B4-BE49-F238E27FC236}">
                <a16:creationId xmlns:a16="http://schemas.microsoft.com/office/drawing/2014/main" id="{36CA7172-6420-4535-A228-A05F099722FA}"/>
              </a:ext>
            </a:extLst>
          </p:cNvPr>
          <p:cNvSpPr/>
          <p:nvPr/>
        </p:nvSpPr>
        <p:spPr>
          <a:xfrm>
            <a:off x="15679642" y="4218194"/>
            <a:ext cx="2001567" cy="605168"/>
          </a:xfrm>
          <a:prstGeom prst="rect">
            <a:avLst/>
          </a:prstGeom>
          <a:solidFill>
            <a:srgbClr val="92D050"/>
          </a:solidFill>
          <a:ln>
            <a:solidFill>
              <a:srgbClr val="00B050"/>
            </a:solidFill>
          </a:ln>
        </p:spPr>
        <p:txBody>
          <a:bodyPr wrap="none" anchor="ctr" anchorCtr="0">
            <a:noAutofit/>
          </a:bodyPr>
          <a:lstStyle/>
          <a:p>
            <a:pPr algn="ctr"/>
            <a:r>
              <a:rPr lang="ja-JP" altLang="en-US" sz="1350">
                <a:latin typeface="メイリオ" panose="020B0604030504040204" pitchFamily="50" charset="-128"/>
                <a:ea typeface="メイリオ" panose="020B0604030504040204" pitchFamily="50" charset="-128"/>
              </a:rPr>
              <a:t>デバイス制御基盤</a:t>
            </a:r>
            <a:endParaRPr lang="en-US" altLang="ja-JP" sz="1350">
              <a:latin typeface="メイリオ" panose="020B0604030504040204" pitchFamily="50" charset="-128"/>
              <a:ea typeface="メイリオ" panose="020B0604030504040204" pitchFamily="50" charset="-128"/>
            </a:endParaRPr>
          </a:p>
        </p:txBody>
      </p:sp>
      <p:sp>
        <p:nvSpPr>
          <p:cNvPr id="218" name="正方形/長方形 217">
            <a:extLst>
              <a:ext uri="{FF2B5EF4-FFF2-40B4-BE49-F238E27FC236}">
                <a16:creationId xmlns:a16="http://schemas.microsoft.com/office/drawing/2014/main" id="{F996D904-1204-4751-B78E-F80C54AE074D}"/>
              </a:ext>
            </a:extLst>
          </p:cNvPr>
          <p:cNvSpPr/>
          <p:nvPr/>
        </p:nvSpPr>
        <p:spPr>
          <a:xfrm>
            <a:off x="15679642" y="3434705"/>
            <a:ext cx="2001566" cy="605168"/>
          </a:xfrm>
          <a:prstGeom prst="rect">
            <a:avLst/>
          </a:prstGeom>
          <a:solidFill>
            <a:schemeClr val="accent1">
              <a:lumMod val="50000"/>
            </a:schemeClr>
          </a:solidFill>
          <a:ln>
            <a:solidFill>
              <a:schemeClr val="tx1"/>
            </a:solidFill>
          </a:ln>
        </p:spPr>
        <p:txBody>
          <a:bodyPr wrap="none" anchor="ctr" anchorCtr="0">
            <a:noAutofit/>
          </a:bodyPr>
          <a:lstStyle/>
          <a:p>
            <a:pPr algn="ctr"/>
            <a:r>
              <a:rPr lang="ja-JP" altLang="en-US" sz="1350">
                <a:solidFill>
                  <a:schemeClr val="bg1"/>
                </a:solidFill>
                <a:latin typeface="メイリオ" panose="020B0604030504040204" pitchFamily="50" charset="-128"/>
                <a:ea typeface="メイリオ" panose="020B0604030504040204" pitchFamily="50" charset="-128"/>
              </a:rPr>
              <a:t>データ制御基盤</a:t>
            </a:r>
            <a:endParaRPr lang="en-US" altLang="ja-JP" sz="1350">
              <a:solidFill>
                <a:schemeClr val="bg1"/>
              </a:solidFill>
              <a:latin typeface="メイリオ" panose="020B0604030504040204" pitchFamily="50" charset="-128"/>
              <a:ea typeface="メイリオ" panose="020B0604030504040204" pitchFamily="50" charset="-128"/>
            </a:endParaRPr>
          </a:p>
          <a:p>
            <a:pPr algn="ctr"/>
            <a:r>
              <a:rPr lang="en-US" altLang="ja-JP" sz="1050">
                <a:solidFill>
                  <a:schemeClr val="bg1"/>
                </a:solidFill>
                <a:latin typeface="メイリオ" panose="020B0604030504040204" pitchFamily="50" charset="-128"/>
                <a:ea typeface="メイリオ" panose="020B0604030504040204" pitchFamily="50" charset="-128"/>
              </a:rPr>
              <a:t>(</a:t>
            </a:r>
            <a:r>
              <a:rPr lang="ja-JP" altLang="en-US" sz="1050">
                <a:solidFill>
                  <a:schemeClr val="bg1"/>
                </a:solidFill>
                <a:latin typeface="メイリオ" panose="020B0604030504040204" pitchFamily="50" charset="-128"/>
                <a:ea typeface="メイリオ" panose="020B0604030504040204" pitchFamily="50" charset="-128"/>
              </a:rPr>
              <a:t>リアル</a:t>
            </a:r>
            <a:r>
              <a:rPr lang="en-US" altLang="ja-JP" sz="1050">
                <a:solidFill>
                  <a:schemeClr val="bg1"/>
                </a:solidFill>
                <a:latin typeface="メイリオ" panose="020B0604030504040204" pitchFamily="50" charset="-128"/>
                <a:ea typeface="メイリオ" panose="020B0604030504040204" pitchFamily="50" charset="-128"/>
              </a:rPr>
              <a:t>/</a:t>
            </a:r>
            <a:r>
              <a:rPr lang="ja-JP" altLang="en-US" sz="1050">
                <a:solidFill>
                  <a:schemeClr val="bg1"/>
                </a:solidFill>
                <a:latin typeface="メイリオ" panose="020B0604030504040204" pitchFamily="50" charset="-128"/>
                <a:ea typeface="メイリオ" panose="020B0604030504040204" pitchFamily="50" charset="-128"/>
              </a:rPr>
              <a:t>バックグラウンド</a:t>
            </a:r>
            <a:r>
              <a:rPr lang="en-US" altLang="ja-JP" sz="1050">
                <a:solidFill>
                  <a:schemeClr val="bg1"/>
                </a:solidFill>
                <a:latin typeface="メイリオ" panose="020B0604030504040204" pitchFamily="50" charset="-128"/>
                <a:ea typeface="メイリオ" panose="020B0604030504040204" pitchFamily="50" charset="-128"/>
              </a:rPr>
              <a:t>)</a:t>
            </a:r>
            <a:endParaRPr lang="ja-JP" altLang="en-US" sz="105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A6026AF1-DB06-4DC5-9228-74C80703BFAA}"/>
              </a:ext>
            </a:extLst>
          </p:cNvPr>
          <p:cNvSpPr txBox="1"/>
          <p:nvPr/>
        </p:nvSpPr>
        <p:spPr>
          <a:xfrm>
            <a:off x="15581688" y="2767155"/>
            <a:ext cx="1648208" cy="369332"/>
          </a:xfrm>
          <a:prstGeom prst="rect">
            <a:avLst/>
          </a:prstGeom>
          <a:noFill/>
        </p:spPr>
        <p:txBody>
          <a:bodyPr wrap="none" rtlCol="0">
            <a:spAutoFit/>
          </a:bodyPr>
          <a:lstStyle/>
          <a:p>
            <a:r>
              <a:rPr lang="ja-JP" altLang="en-US" sz="1800">
                <a:latin typeface="メイリオ" panose="020B0604030504040204" pitchFamily="50" charset="-128"/>
                <a:ea typeface="メイリオ" panose="020B0604030504040204" pitchFamily="50" charset="-128"/>
              </a:rPr>
              <a:t>■構成図 凡例</a:t>
            </a:r>
          </a:p>
        </p:txBody>
      </p:sp>
      <p:pic>
        <p:nvPicPr>
          <p:cNvPr id="69" name="図 68">
            <a:extLst>
              <a:ext uri="{FF2B5EF4-FFF2-40B4-BE49-F238E27FC236}">
                <a16:creationId xmlns:a16="http://schemas.microsoft.com/office/drawing/2014/main" id="{0442FB50-C78C-441C-9F47-D6FFC2F0E350}"/>
              </a:ext>
            </a:extLst>
          </p:cNvPr>
          <p:cNvPicPr>
            <a:picLocks noChangeAspect="1"/>
          </p:cNvPicPr>
          <p:nvPr/>
        </p:nvPicPr>
        <p:blipFill rotWithShape="1">
          <a:blip r:embed="rId5"/>
          <a:srcRect l="80089" t="69813" r="4544" b="17147"/>
          <a:stretch/>
        </p:blipFill>
        <p:spPr>
          <a:xfrm>
            <a:off x="13108641" y="7046817"/>
            <a:ext cx="915426" cy="490191"/>
          </a:xfrm>
          <a:prstGeom prst="rect">
            <a:avLst/>
          </a:prstGeom>
        </p:spPr>
      </p:pic>
      <p:cxnSp>
        <p:nvCxnSpPr>
          <p:cNvPr id="70" name="直線矢印コネクタ 69">
            <a:extLst>
              <a:ext uri="{FF2B5EF4-FFF2-40B4-BE49-F238E27FC236}">
                <a16:creationId xmlns:a16="http://schemas.microsoft.com/office/drawing/2014/main" id="{5EEE5E5D-71A9-4EC9-A0EC-6DB389BADAAF}"/>
              </a:ext>
            </a:extLst>
          </p:cNvPr>
          <p:cNvCxnSpPr>
            <a:cxnSpLocks/>
            <a:stCxn id="6" idx="3"/>
            <a:endCxn id="69" idx="1"/>
          </p:cNvCxnSpPr>
          <p:nvPr/>
        </p:nvCxnSpPr>
        <p:spPr>
          <a:xfrm>
            <a:off x="12273018" y="7291262"/>
            <a:ext cx="835623" cy="651"/>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7651F80B-3FB5-6E45-804D-CDDDD602CF79}"/>
              </a:ext>
            </a:extLst>
          </p:cNvPr>
          <p:cNvSpPr/>
          <p:nvPr/>
        </p:nvSpPr>
        <p:spPr>
          <a:xfrm>
            <a:off x="10579252" y="7051716"/>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a:solidFill>
                  <a:schemeClr val="tx1"/>
                </a:solidFill>
              </a:rPr>
              <a:t>自動釣銭機</a:t>
            </a:r>
            <a:endParaRPr lang="en-US" altLang="ja-JP" sz="1200">
              <a:solidFill>
                <a:schemeClr val="tx1"/>
              </a:solidFill>
            </a:endParaRPr>
          </a:p>
        </p:txBody>
      </p:sp>
      <p:pic>
        <p:nvPicPr>
          <p:cNvPr id="7" name="Picture 3">
            <a:extLst>
              <a:ext uri="{FF2B5EF4-FFF2-40B4-BE49-F238E27FC236}">
                <a16:creationId xmlns:a16="http://schemas.microsoft.com/office/drawing/2014/main" id="{53782660-8FBD-220F-A872-DCD4444F020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135511" y="6553198"/>
            <a:ext cx="800103" cy="40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a:extLst>
              <a:ext uri="{FF2B5EF4-FFF2-40B4-BE49-F238E27FC236}">
                <a16:creationId xmlns:a16="http://schemas.microsoft.com/office/drawing/2014/main" id="{2D3DB908-C3E8-DC08-401B-4311B12A25C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152147" y="6137558"/>
            <a:ext cx="761091" cy="215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図 15">
            <a:extLst>
              <a:ext uri="{FF2B5EF4-FFF2-40B4-BE49-F238E27FC236}">
                <a16:creationId xmlns:a16="http://schemas.microsoft.com/office/drawing/2014/main" id="{F2DB1044-0B3D-7BBC-498B-7B467BBBD2BA}"/>
              </a:ext>
            </a:extLst>
          </p:cNvPr>
          <p:cNvPicPr>
            <a:picLocks noChangeAspect="1"/>
          </p:cNvPicPr>
          <p:nvPr/>
        </p:nvPicPr>
        <p:blipFill rotWithShape="1">
          <a:blip r:embed="rId8"/>
          <a:srcRect t="5267"/>
          <a:stretch/>
        </p:blipFill>
        <p:spPr>
          <a:xfrm>
            <a:off x="13255069" y="7606257"/>
            <a:ext cx="574523" cy="394236"/>
          </a:xfrm>
          <a:prstGeom prst="rect">
            <a:avLst/>
          </a:prstGeom>
        </p:spPr>
      </p:pic>
      <p:sp>
        <p:nvSpPr>
          <p:cNvPr id="22" name="正方形/長方形 21">
            <a:extLst>
              <a:ext uri="{FF2B5EF4-FFF2-40B4-BE49-F238E27FC236}">
                <a16:creationId xmlns:a16="http://schemas.microsoft.com/office/drawing/2014/main" id="{8A00C142-7270-89A4-896B-955726E77CA4}"/>
              </a:ext>
            </a:extLst>
          </p:cNvPr>
          <p:cNvSpPr/>
          <p:nvPr/>
        </p:nvSpPr>
        <p:spPr>
          <a:xfrm>
            <a:off x="9442499" y="4728594"/>
            <a:ext cx="505055" cy="1854255"/>
          </a:xfrm>
          <a:prstGeom prst="rect">
            <a:avLst/>
          </a:prstGeom>
          <a:solidFill>
            <a:srgbClr val="92D050"/>
          </a:solidFill>
          <a:ln>
            <a:solidFill>
              <a:srgbClr val="008000"/>
            </a:solidFill>
          </a:ln>
        </p:spPr>
        <p:style>
          <a:lnRef idx="1">
            <a:schemeClr val="accent6"/>
          </a:lnRef>
          <a:fillRef idx="2">
            <a:schemeClr val="accent6"/>
          </a:fillRef>
          <a:effectRef idx="1">
            <a:schemeClr val="accent6"/>
          </a:effectRef>
          <a:fontRef idx="minor">
            <a:schemeClr val="dk1"/>
          </a:fontRef>
        </p:style>
        <p:txBody>
          <a:bodyPr vert="eaVert" rtlCol="0" anchor="ctr"/>
          <a:lstStyle/>
          <a:p>
            <a:pPr algn="ctr"/>
            <a:r>
              <a:rPr lang="ja-JP" altLang="en-US" sz="1200"/>
              <a:t>デバイス制御ブリッジ</a:t>
            </a:r>
            <a:endParaRPr lang="en-US" altLang="ja-JP" sz="1200"/>
          </a:p>
        </p:txBody>
      </p:sp>
      <p:sp>
        <p:nvSpPr>
          <p:cNvPr id="43" name="正方形/長方形 42">
            <a:extLst>
              <a:ext uri="{FF2B5EF4-FFF2-40B4-BE49-F238E27FC236}">
                <a16:creationId xmlns:a16="http://schemas.microsoft.com/office/drawing/2014/main" id="{CFB83C9D-E65E-9B13-F60D-AA8B08C144E9}"/>
              </a:ext>
            </a:extLst>
          </p:cNvPr>
          <p:cNvSpPr/>
          <p:nvPr/>
        </p:nvSpPr>
        <p:spPr>
          <a:xfrm>
            <a:off x="10579252" y="6008546"/>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a:solidFill>
                  <a:schemeClr val="tx1"/>
                </a:solidFill>
              </a:rPr>
              <a:t>カスタマ</a:t>
            </a:r>
            <a:endParaRPr lang="en-US" altLang="ja-JP" sz="1200">
              <a:solidFill>
                <a:schemeClr val="tx1"/>
              </a:solidFill>
            </a:endParaRPr>
          </a:p>
          <a:p>
            <a:pPr algn="ctr"/>
            <a:r>
              <a:rPr lang="ja-JP" altLang="en-US" sz="1200">
                <a:solidFill>
                  <a:schemeClr val="tx1"/>
                </a:solidFill>
              </a:rPr>
              <a:t>ディスプレイ</a:t>
            </a:r>
            <a:endParaRPr lang="en-US" altLang="ja-JP" sz="1200">
              <a:solidFill>
                <a:schemeClr val="tx1"/>
              </a:solidFill>
            </a:endParaRPr>
          </a:p>
        </p:txBody>
      </p:sp>
      <p:sp>
        <p:nvSpPr>
          <p:cNvPr id="50" name="正方形/長方形 49">
            <a:extLst>
              <a:ext uri="{FF2B5EF4-FFF2-40B4-BE49-F238E27FC236}">
                <a16:creationId xmlns:a16="http://schemas.microsoft.com/office/drawing/2014/main" id="{621C97CB-6850-2827-4DD0-DF97FC37C4FF}"/>
              </a:ext>
            </a:extLst>
          </p:cNvPr>
          <p:cNvSpPr/>
          <p:nvPr/>
        </p:nvSpPr>
        <p:spPr>
          <a:xfrm>
            <a:off x="10589797" y="7570361"/>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a:solidFill>
                  <a:schemeClr val="tx1"/>
                </a:solidFill>
              </a:rPr>
              <a:t>決済端末</a:t>
            </a:r>
            <a:endParaRPr lang="en-US" altLang="ja-JP" sz="1200">
              <a:solidFill>
                <a:schemeClr val="tx1"/>
              </a:solidFill>
            </a:endParaRPr>
          </a:p>
        </p:txBody>
      </p:sp>
      <p:sp>
        <p:nvSpPr>
          <p:cNvPr id="52" name="正方形/長方形 51">
            <a:extLst>
              <a:ext uri="{FF2B5EF4-FFF2-40B4-BE49-F238E27FC236}">
                <a16:creationId xmlns:a16="http://schemas.microsoft.com/office/drawing/2014/main" id="{C0113036-D08B-F9D0-80B8-D19028E81920}"/>
              </a:ext>
            </a:extLst>
          </p:cNvPr>
          <p:cNvSpPr/>
          <p:nvPr/>
        </p:nvSpPr>
        <p:spPr>
          <a:xfrm>
            <a:off x="10579252" y="6533072"/>
            <a:ext cx="1693766" cy="479091"/>
          </a:xfrm>
          <a:prstGeom prst="rect">
            <a:avLst/>
          </a:prstGeom>
          <a:solidFill>
            <a:srgbClr val="33CC33"/>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a:solidFill>
                  <a:schemeClr val="tx1"/>
                </a:solidFill>
              </a:rPr>
              <a:t>ドロア</a:t>
            </a:r>
            <a:endParaRPr lang="en-US" altLang="ja-JP" sz="1200">
              <a:solidFill>
                <a:schemeClr val="tx1"/>
              </a:solidFill>
            </a:endParaRPr>
          </a:p>
        </p:txBody>
      </p:sp>
      <p:cxnSp>
        <p:nvCxnSpPr>
          <p:cNvPr id="60" name="直線矢印コネクタ 59">
            <a:extLst>
              <a:ext uri="{FF2B5EF4-FFF2-40B4-BE49-F238E27FC236}">
                <a16:creationId xmlns:a16="http://schemas.microsoft.com/office/drawing/2014/main" id="{E991E339-6DB1-9573-19E6-DD0EA3B305B3}"/>
              </a:ext>
            </a:extLst>
          </p:cNvPr>
          <p:cNvCxnSpPr>
            <a:cxnSpLocks/>
            <a:stCxn id="43" idx="3"/>
            <a:endCxn id="12" idx="1"/>
          </p:cNvCxnSpPr>
          <p:nvPr/>
        </p:nvCxnSpPr>
        <p:spPr>
          <a:xfrm flipV="1">
            <a:off x="12273018" y="6245291"/>
            <a:ext cx="879129" cy="2801"/>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3" name="直線矢印コネクタ 512">
            <a:extLst>
              <a:ext uri="{FF2B5EF4-FFF2-40B4-BE49-F238E27FC236}">
                <a16:creationId xmlns:a16="http://schemas.microsoft.com/office/drawing/2014/main" id="{581B1677-711C-A783-8552-80201124CDD9}"/>
              </a:ext>
            </a:extLst>
          </p:cNvPr>
          <p:cNvCxnSpPr>
            <a:cxnSpLocks/>
            <a:stCxn id="52" idx="3"/>
            <a:endCxn id="7" idx="1"/>
          </p:cNvCxnSpPr>
          <p:nvPr/>
        </p:nvCxnSpPr>
        <p:spPr>
          <a:xfrm flipV="1">
            <a:off x="12273018" y="6757555"/>
            <a:ext cx="862493" cy="15063"/>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0" name="直線矢印コネクタ 519">
            <a:extLst>
              <a:ext uri="{FF2B5EF4-FFF2-40B4-BE49-F238E27FC236}">
                <a16:creationId xmlns:a16="http://schemas.microsoft.com/office/drawing/2014/main" id="{48FBC3F7-929E-8048-643C-52C9A7A52E44}"/>
              </a:ext>
            </a:extLst>
          </p:cNvPr>
          <p:cNvCxnSpPr>
            <a:cxnSpLocks/>
            <a:stCxn id="50" idx="3"/>
            <a:endCxn id="16" idx="1"/>
          </p:cNvCxnSpPr>
          <p:nvPr/>
        </p:nvCxnSpPr>
        <p:spPr>
          <a:xfrm flipV="1">
            <a:off x="12283563" y="7803375"/>
            <a:ext cx="971506" cy="65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7" name="コネクタ: カギ線 526">
            <a:extLst>
              <a:ext uri="{FF2B5EF4-FFF2-40B4-BE49-F238E27FC236}">
                <a16:creationId xmlns:a16="http://schemas.microsoft.com/office/drawing/2014/main" id="{2BBFF2FF-FC8B-6EB4-B7B7-928D7C15DDED}"/>
              </a:ext>
            </a:extLst>
          </p:cNvPr>
          <p:cNvCxnSpPr>
            <a:cxnSpLocks/>
            <a:stCxn id="22" idx="3"/>
            <a:endCxn id="23" idx="1"/>
          </p:cNvCxnSpPr>
          <p:nvPr/>
        </p:nvCxnSpPr>
        <p:spPr>
          <a:xfrm flipV="1">
            <a:off x="9947554" y="4687366"/>
            <a:ext cx="621792" cy="968356"/>
          </a:xfrm>
          <a:prstGeom prst="bentConnector3">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0" name="コネクタ: カギ線 529">
            <a:extLst>
              <a:ext uri="{FF2B5EF4-FFF2-40B4-BE49-F238E27FC236}">
                <a16:creationId xmlns:a16="http://schemas.microsoft.com/office/drawing/2014/main" id="{42C48529-A988-972A-3079-465C41417E1A}"/>
              </a:ext>
            </a:extLst>
          </p:cNvPr>
          <p:cNvCxnSpPr>
            <a:cxnSpLocks/>
            <a:stCxn id="22" idx="3"/>
            <a:endCxn id="50" idx="1"/>
          </p:cNvCxnSpPr>
          <p:nvPr/>
        </p:nvCxnSpPr>
        <p:spPr>
          <a:xfrm>
            <a:off x="9947554" y="5655722"/>
            <a:ext cx="642243" cy="215418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2" name="コネクタ: カギ線 531">
            <a:extLst>
              <a:ext uri="{FF2B5EF4-FFF2-40B4-BE49-F238E27FC236}">
                <a16:creationId xmlns:a16="http://schemas.microsoft.com/office/drawing/2014/main" id="{809236D1-E60A-5B68-C46B-62539DFBC006}"/>
              </a:ext>
            </a:extLst>
          </p:cNvPr>
          <p:cNvCxnSpPr>
            <a:cxnSpLocks/>
            <a:stCxn id="22" idx="3"/>
            <a:endCxn id="6" idx="1"/>
          </p:cNvCxnSpPr>
          <p:nvPr/>
        </p:nvCxnSpPr>
        <p:spPr>
          <a:xfrm>
            <a:off x="9947554" y="5655722"/>
            <a:ext cx="631698" cy="163554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5" name="コネクタ: カギ線 534">
            <a:extLst>
              <a:ext uri="{FF2B5EF4-FFF2-40B4-BE49-F238E27FC236}">
                <a16:creationId xmlns:a16="http://schemas.microsoft.com/office/drawing/2014/main" id="{C1A7474F-965E-E034-09ED-F0F07FB4DAE9}"/>
              </a:ext>
            </a:extLst>
          </p:cNvPr>
          <p:cNvCxnSpPr>
            <a:cxnSpLocks/>
            <a:stCxn id="22" idx="3"/>
            <a:endCxn id="52" idx="1"/>
          </p:cNvCxnSpPr>
          <p:nvPr/>
        </p:nvCxnSpPr>
        <p:spPr>
          <a:xfrm>
            <a:off x="9947554" y="5655722"/>
            <a:ext cx="631698" cy="111689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8" name="コネクタ: カギ線 537">
            <a:extLst>
              <a:ext uri="{FF2B5EF4-FFF2-40B4-BE49-F238E27FC236}">
                <a16:creationId xmlns:a16="http://schemas.microsoft.com/office/drawing/2014/main" id="{8B64F1A5-E6F5-529C-A1DC-A5710FBA4193}"/>
              </a:ext>
            </a:extLst>
          </p:cNvPr>
          <p:cNvCxnSpPr>
            <a:cxnSpLocks/>
            <a:stCxn id="22" idx="3"/>
            <a:endCxn id="43" idx="1"/>
          </p:cNvCxnSpPr>
          <p:nvPr/>
        </p:nvCxnSpPr>
        <p:spPr>
          <a:xfrm>
            <a:off x="9947554" y="5655722"/>
            <a:ext cx="631698" cy="5923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1" name="コネクタ: カギ線 540">
            <a:extLst>
              <a:ext uri="{FF2B5EF4-FFF2-40B4-BE49-F238E27FC236}">
                <a16:creationId xmlns:a16="http://schemas.microsoft.com/office/drawing/2014/main" id="{E15841A9-69AC-566A-E671-D25C69591382}"/>
              </a:ext>
            </a:extLst>
          </p:cNvPr>
          <p:cNvCxnSpPr>
            <a:cxnSpLocks/>
            <a:stCxn id="22" idx="3"/>
            <a:endCxn id="24" idx="1"/>
          </p:cNvCxnSpPr>
          <p:nvPr/>
        </p:nvCxnSpPr>
        <p:spPr>
          <a:xfrm>
            <a:off x="9947554" y="5655722"/>
            <a:ext cx="640218" cy="7657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4" name="コネクタ: カギ線 543">
            <a:extLst>
              <a:ext uri="{FF2B5EF4-FFF2-40B4-BE49-F238E27FC236}">
                <a16:creationId xmlns:a16="http://schemas.microsoft.com/office/drawing/2014/main" id="{43823F24-F54B-ABC4-3224-B0DA1D0782C5}"/>
              </a:ext>
            </a:extLst>
          </p:cNvPr>
          <p:cNvCxnSpPr>
            <a:cxnSpLocks/>
            <a:stCxn id="22" idx="3"/>
            <a:endCxn id="29" idx="1"/>
          </p:cNvCxnSpPr>
          <p:nvPr/>
        </p:nvCxnSpPr>
        <p:spPr>
          <a:xfrm flipV="1">
            <a:off x="9947554" y="5209601"/>
            <a:ext cx="621792" cy="44612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正方形/長方形 78">
            <a:extLst>
              <a:ext uri="{FF2B5EF4-FFF2-40B4-BE49-F238E27FC236}">
                <a16:creationId xmlns:a16="http://schemas.microsoft.com/office/drawing/2014/main" id="{4CD02D95-1FC3-466E-A872-76EC410BBD5D}"/>
              </a:ext>
            </a:extLst>
          </p:cNvPr>
          <p:cNvSpPr/>
          <p:nvPr/>
        </p:nvSpPr>
        <p:spPr>
          <a:xfrm>
            <a:off x="11057059" y="8208682"/>
            <a:ext cx="718337" cy="819455"/>
          </a:xfrm>
          <a:prstGeom prst="rect">
            <a:avLst/>
          </a:prstGeom>
        </p:spPr>
        <p:txBody>
          <a:bodyPr wrap="square">
            <a:spAutoFit/>
          </a:bodyPr>
          <a:lstStyle/>
          <a:p>
            <a:pPr algn="ctr"/>
            <a:r>
              <a:rPr lang="ja-JP" altLang="en-US" sz="1575"/>
              <a:t>・</a:t>
            </a:r>
            <a:endParaRPr lang="en-US" altLang="ja-JP" sz="1575"/>
          </a:p>
          <a:p>
            <a:pPr algn="ctr"/>
            <a:r>
              <a:rPr lang="ja-JP" altLang="en-US" sz="1575"/>
              <a:t>・</a:t>
            </a:r>
            <a:endParaRPr lang="en-US" altLang="ja-JP" sz="1575"/>
          </a:p>
          <a:p>
            <a:pPr algn="ctr"/>
            <a:r>
              <a:rPr lang="ja-JP" altLang="en-US" sz="1575"/>
              <a:t>・</a:t>
            </a:r>
            <a:endParaRPr lang="en-US" altLang="ja-JP" sz="1575"/>
          </a:p>
        </p:txBody>
      </p:sp>
      <p:sp>
        <p:nvSpPr>
          <p:cNvPr id="2" name="フッター プレースホルダー 3">
            <a:extLst>
              <a:ext uri="{FF2B5EF4-FFF2-40B4-BE49-F238E27FC236}">
                <a16:creationId xmlns:a16="http://schemas.microsoft.com/office/drawing/2014/main" id="{514F8B04-2437-4922-EE85-6ECB4AC6882A}"/>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pic>
        <p:nvPicPr>
          <p:cNvPr id="5" name="図 4">
            <a:extLst>
              <a:ext uri="{FF2B5EF4-FFF2-40B4-BE49-F238E27FC236}">
                <a16:creationId xmlns:a16="http://schemas.microsoft.com/office/drawing/2014/main" id="{45314013-7C01-46EC-2069-658DC650D26A}"/>
              </a:ext>
            </a:extLst>
          </p:cNvPr>
          <p:cNvPicPr>
            <a:picLocks noChangeAspect="1"/>
          </p:cNvPicPr>
          <p:nvPr/>
        </p:nvPicPr>
        <p:blipFill>
          <a:blip r:embed="rId9"/>
          <a:stretch>
            <a:fillRect/>
          </a:stretch>
        </p:blipFill>
        <p:spPr>
          <a:xfrm>
            <a:off x="6103445" y="4030345"/>
            <a:ext cx="2953723" cy="1991424"/>
          </a:xfrm>
          <a:prstGeom prst="rect">
            <a:avLst/>
          </a:prstGeom>
        </p:spPr>
      </p:pic>
      <p:cxnSp>
        <p:nvCxnSpPr>
          <p:cNvPr id="42" name="直線矢印コネクタ 41">
            <a:extLst>
              <a:ext uri="{FF2B5EF4-FFF2-40B4-BE49-F238E27FC236}">
                <a16:creationId xmlns:a16="http://schemas.microsoft.com/office/drawing/2014/main" id="{8ADE5CFB-BD77-D5DB-FFEB-F7A8DE26D33D}"/>
              </a:ext>
            </a:extLst>
          </p:cNvPr>
          <p:cNvCxnSpPr>
            <a:cxnSpLocks/>
            <a:endCxn id="31" idx="0"/>
          </p:cNvCxnSpPr>
          <p:nvPr/>
        </p:nvCxnSpPr>
        <p:spPr>
          <a:xfrm>
            <a:off x="4673035" y="6007255"/>
            <a:ext cx="1363701" cy="1514716"/>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A37FD90C-DBAE-75BB-B06B-AD985F7B437D}"/>
              </a:ext>
            </a:extLst>
          </p:cNvPr>
          <p:cNvCxnSpPr>
            <a:cxnSpLocks/>
            <a:stCxn id="31" idx="2"/>
            <a:endCxn id="36" idx="1"/>
          </p:cNvCxnSpPr>
          <p:nvPr/>
        </p:nvCxnSpPr>
        <p:spPr>
          <a:xfrm flipH="1">
            <a:off x="6031620" y="8127139"/>
            <a:ext cx="5116" cy="461269"/>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1F501D2B-8B18-0FB0-5CE5-F8E659ADE937}"/>
              </a:ext>
            </a:extLst>
          </p:cNvPr>
          <p:cNvSpPr txBox="1"/>
          <p:nvPr/>
        </p:nvSpPr>
        <p:spPr>
          <a:xfrm>
            <a:off x="7421394" y="7579604"/>
            <a:ext cx="1755609" cy="584775"/>
          </a:xfrm>
          <a:prstGeom prst="rect">
            <a:avLst/>
          </a:prstGeom>
          <a:noFill/>
        </p:spPr>
        <p:txBody>
          <a:bodyPr wrap="non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オフライン用マスター</a:t>
            </a:r>
            <a:endParaRPr kumimoji="1" lang="en-US" altLang="ja-JP" sz="1600">
              <a:solidFill>
                <a:schemeClr val="bg1">
                  <a:lumMod val="10000"/>
                </a:schemeClr>
              </a:solidFill>
              <a:latin typeface="Meiryo UI" panose="020B0604030504040204" pitchFamily="50" charset="-128"/>
              <a:ea typeface="Meiryo UI" panose="020B0604030504040204" pitchFamily="50" charset="-128"/>
            </a:endParaRPr>
          </a:p>
          <a:p>
            <a:pPr algn="l"/>
            <a:r>
              <a:rPr lang="ja-JP" altLang="en-US" sz="1600">
                <a:solidFill>
                  <a:schemeClr val="bg1">
                    <a:lumMod val="10000"/>
                  </a:schemeClr>
                </a:solidFill>
                <a:latin typeface="Meiryo UI" panose="020B0604030504040204" pitchFamily="50" charset="-128"/>
                <a:ea typeface="Meiryo UI" panose="020B0604030504040204" pitchFamily="50" charset="-128"/>
              </a:rPr>
              <a:t>リカバリデータ</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68" name="直線矢印コネクタ 67">
            <a:extLst>
              <a:ext uri="{FF2B5EF4-FFF2-40B4-BE49-F238E27FC236}">
                <a16:creationId xmlns:a16="http://schemas.microsoft.com/office/drawing/2014/main" id="{B8D890B1-3EF7-520E-2D51-5EB3D87B9CDC}"/>
              </a:ext>
            </a:extLst>
          </p:cNvPr>
          <p:cNvCxnSpPr>
            <a:cxnSpLocks/>
            <a:stCxn id="92" idx="3"/>
            <a:endCxn id="5" idx="1"/>
          </p:cNvCxnSpPr>
          <p:nvPr/>
        </p:nvCxnSpPr>
        <p:spPr>
          <a:xfrm>
            <a:off x="5556373" y="5018538"/>
            <a:ext cx="547072" cy="7519"/>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9" name="テキスト プレースホルダー 11">
            <a:extLst>
              <a:ext uri="{FF2B5EF4-FFF2-40B4-BE49-F238E27FC236}">
                <a16:creationId xmlns:a16="http://schemas.microsoft.com/office/drawing/2014/main" id="{41B4F4B4-CE72-B563-EED3-CF58691D957B}"/>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4277574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48F5F-E2AD-D062-6F6C-77D138A6B75A}"/>
            </a:ext>
          </a:extLst>
        </p:cNvPr>
        <p:cNvGrpSpPr/>
        <p:nvPr/>
      </p:nvGrpSpPr>
      <p:grpSpPr>
        <a:xfrm>
          <a:off x="0" y="0"/>
          <a:ext cx="0" cy="0"/>
          <a:chOff x="0" y="0"/>
          <a:chExt cx="0" cy="0"/>
        </a:xfrm>
      </p:grpSpPr>
      <p:sp>
        <p:nvSpPr>
          <p:cNvPr id="13" name="フローチャート: 代替処理 12">
            <a:extLst>
              <a:ext uri="{FF2B5EF4-FFF2-40B4-BE49-F238E27FC236}">
                <a16:creationId xmlns:a16="http://schemas.microsoft.com/office/drawing/2014/main" id="{09B3DB4C-7886-EB86-3611-40A4A3E7B7A5}"/>
              </a:ext>
            </a:extLst>
          </p:cNvPr>
          <p:cNvSpPr/>
          <p:nvPr/>
        </p:nvSpPr>
        <p:spPr>
          <a:xfrm>
            <a:off x="15336383" y="2521985"/>
            <a:ext cx="2634309" cy="4467828"/>
          </a:xfrm>
          <a:prstGeom prst="flowChartAlternateProcess">
            <a:avLst/>
          </a:prstGeom>
          <a:solidFill>
            <a:schemeClr val="accent5">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050">
              <a:solidFill>
                <a:srgbClr val="59574C"/>
              </a:solidFill>
              <a:latin typeface="HGSｺﾞｼｯｸM" panose="020B0600000000000000" pitchFamily="50" charset="-128"/>
              <a:ea typeface="HGSｺﾞｼｯｸM" panose="020B0600000000000000" pitchFamily="50" charset="-128"/>
            </a:endParaRPr>
          </a:p>
        </p:txBody>
      </p:sp>
      <p:sp>
        <p:nvSpPr>
          <p:cNvPr id="10" name="スライド番号プレースホルダー 9">
            <a:extLst>
              <a:ext uri="{FF2B5EF4-FFF2-40B4-BE49-F238E27FC236}">
                <a16:creationId xmlns:a16="http://schemas.microsoft.com/office/drawing/2014/main" id="{25AA4531-8555-4322-A35A-A515ACAED7F5}"/>
              </a:ext>
            </a:extLst>
          </p:cNvPr>
          <p:cNvSpPr>
            <a:spLocks noGrp="1"/>
          </p:cNvSpPr>
          <p:nvPr>
            <p:ph type="sldNum" sz="quarter" idx="12"/>
          </p:nvPr>
        </p:nvSpPr>
        <p:spPr/>
        <p:txBody>
          <a:bodyPr/>
          <a:lstStyle/>
          <a:p>
            <a:fld id="{2A9E37A5-A917-4235-ABF6-8CD72E894915}" type="slidenum">
              <a:rPr lang="en-US" altLang="ja-JP" smtClean="0"/>
              <a:pPr/>
              <a:t>33</a:t>
            </a:fld>
            <a:endParaRPr lang="ja-JP" altLang="en-US"/>
          </a:p>
        </p:txBody>
      </p:sp>
      <p:sp>
        <p:nvSpPr>
          <p:cNvPr id="8" name="タイトル 1">
            <a:extLst>
              <a:ext uri="{FF2B5EF4-FFF2-40B4-BE49-F238E27FC236}">
                <a16:creationId xmlns:a16="http://schemas.microsoft.com/office/drawing/2014/main" id="{5B119A82-C0E9-CE25-18FB-761BFF6EADC6}"/>
              </a:ext>
            </a:extLst>
          </p:cNvPr>
          <p:cNvSpPr>
            <a:spLocks noGrp="1"/>
          </p:cNvSpPr>
          <p:nvPr>
            <p:ph type="title"/>
          </p:nvPr>
        </p:nvSpPr>
        <p:spPr>
          <a:xfrm>
            <a:off x="383382" y="438151"/>
            <a:ext cx="15513843" cy="414338"/>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６－２</a:t>
            </a:r>
            <a:r>
              <a:rPr lang="en-US" altLang="ja-JP" dirty="0"/>
              <a:t>.</a:t>
            </a:r>
            <a:r>
              <a:rPr lang="ja-JP" altLang="en-US" dirty="0"/>
              <a:t>　</a:t>
            </a:r>
            <a:r>
              <a:rPr lang="ja-JP" altLang="en-US" dirty="0">
                <a:latin typeface="Meiryo UI" panose="020B0604030504040204" pitchFamily="50" charset="-128"/>
                <a:ea typeface="Meiryo UI" panose="020B0604030504040204" pitchFamily="50" charset="-128"/>
              </a:rPr>
              <a:t>マルチデバイス対応（２）</a:t>
            </a:r>
            <a:r>
              <a:rPr lang="en-US" altLang="ja-JP" dirty="0">
                <a:latin typeface="Meiryo UI" panose="020B0604030504040204" pitchFamily="50" charset="-128"/>
                <a:ea typeface="Meiryo UI" panose="020B0604030504040204" pitchFamily="50" charset="-128"/>
              </a:rPr>
              <a:t>Windows</a:t>
            </a:r>
            <a:r>
              <a:rPr lang="ja-JP" altLang="en-US" dirty="0">
                <a:latin typeface="Meiryo UI" panose="020B0604030504040204" pitchFamily="50" charset="-128"/>
                <a:ea typeface="Meiryo UI" panose="020B0604030504040204" pitchFamily="50" charset="-128"/>
              </a:rPr>
              <a:t>（レガシー</a:t>
            </a:r>
            <a:r>
              <a:rPr lang="en-US" altLang="ja-JP" dirty="0">
                <a:latin typeface="Meiryo UI" panose="020B0604030504040204" pitchFamily="50" charset="-128"/>
                <a:ea typeface="Meiryo UI" panose="020B0604030504040204" pitchFamily="50" charset="-128"/>
              </a:rPr>
              <a:t>OCX</a:t>
            </a:r>
            <a:r>
              <a:rPr lang="ja-JP" altLang="en-US" dirty="0">
                <a:latin typeface="Meiryo UI" panose="020B0604030504040204" pitchFamily="50" charset="-128"/>
                <a:ea typeface="Meiryo UI" panose="020B0604030504040204" pitchFamily="50" charset="-128"/>
              </a:rPr>
              <a:t>デバイス）</a:t>
            </a:r>
          </a:p>
        </p:txBody>
      </p:sp>
      <p:sp>
        <p:nvSpPr>
          <p:cNvPr id="163" name="正方形/長方形 162">
            <a:extLst>
              <a:ext uri="{FF2B5EF4-FFF2-40B4-BE49-F238E27FC236}">
                <a16:creationId xmlns:a16="http://schemas.microsoft.com/office/drawing/2014/main" id="{91154985-F50C-4AF3-3BEE-3F51A76A8EB9}"/>
              </a:ext>
            </a:extLst>
          </p:cNvPr>
          <p:cNvSpPr/>
          <p:nvPr/>
        </p:nvSpPr>
        <p:spPr>
          <a:xfrm>
            <a:off x="606792" y="2469210"/>
            <a:ext cx="14354413" cy="7379639"/>
          </a:xfrm>
          <a:prstGeom prst="rect">
            <a:avLst/>
          </a:prstGeom>
          <a:solidFill>
            <a:schemeClr val="accent1">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050">
              <a:solidFill>
                <a:srgbClr val="59574C"/>
              </a:solidFill>
              <a:latin typeface="HGSｺﾞｼｯｸM" panose="020B0600000000000000" pitchFamily="50" charset="-128"/>
              <a:ea typeface="HGSｺﾞｼｯｸM" panose="020B0600000000000000" pitchFamily="50" charset="-128"/>
            </a:endParaRPr>
          </a:p>
        </p:txBody>
      </p:sp>
      <p:sp>
        <p:nvSpPr>
          <p:cNvPr id="17" name="正方形/長方形 16">
            <a:extLst>
              <a:ext uri="{FF2B5EF4-FFF2-40B4-BE49-F238E27FC236}">
                <a16:creationId xmlns:a16="http://schemas.microsoft.com/office/drawing/2014/main" id="{59F31F79-9FFD-1189-B72C-AEA5577C23AF}"/>
              </a:ext>
            </a:extLst>
          </p:cNvPr>
          <p:cNvSpPr/>
          <p:nvPr/>
        </p:nvSpPr>
        <p:spPr>
          <a:xfrm>
            <a:off x="3735738" y="3134519"/>
            <a:ext cx="7080046" cy="6515709"/>
          </a:xfrm>
          <a:prstGeom prst="rect">
            <a:avLst/>
          </a:prstGeom>
          <a:solidFill>
            <a:schemeClr val="accent1">
              <a:lumMod val="20000"/>
              <a:lumOff val="80000"/>
            </a:schemeClr>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800" b="1">
                <a:solidFill>
                  <a:schemeClr val="tx1"/>
                </a:solidFill>
                <a:latin typeface="メイリオ" panose="020B0604030504040204" pitchFamily="50" charset="-128"/>
                <a:ea typeface="メイリオ" panose="020B0604030504040204" pitchFamily="50" charset="-128"/>
              </a:rPr>
              <a:t>　　　</a:t>
            </a:r>
            <a:r>
              <a:rPr lang="ja-JP" altLang="en-US" sz="1650" b="1">
                <a:solidFill>
                  <a:schemeClr val="tx1"/>
                </a:solidFill>
                <a:latin typeface="メイリオ" panose="020B0604030504040204" pitchFamily="50" charset="-128"/>
                <a:ea typeface="メイリオ" panose="020B0604030504040204" pitchFamily="50" charset="-128"/>
              </a:rPr>
              <a:t>　マルチプラットフォーム対応アプリ（</a:t>
            </a:r>
            <a:r>
              <a:rPr lang="en-US" altLang="ja-JP" sz="1650" b="1">
                <a:solidFill>
                  <a:schemeClr val="tx1"/>
                </a:solidFill>
                <a:latin typeface="メイリオ" panose="020B0604030504040204" pitchFamily="50" charset="-128"/>
                <a:ea typeface="メイリオ" panose="020B0604030504040204" pitchFamily="50" charset="-128"/>
              </a:rPr>
              <a:t>MAUI</a:t>
            </a:r>
            <a:r>
              <a:rPr lang="ja-JP" altLang="en-US" sz="1650" b="1">
                <a:solidFill>
                  <a:schemeClr val="tx1"/>
                </a:solidFill>
                <a:latin typeface="メイリオ" panose="020B0604030504040204" pitchFamily="50" charset="-128"/>
                <a:ea typeface="メイリオ" panose="020B0604030504040204" pitchFamily="50" charset="-128"/>
              </a:rPr>
              <a:t>）</a:t>
            </a:r>
            <a:endParaRPr lang="en-US" altLang="ja-JP" sz="1800" b="1">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B9D8972C-9E00-3736-9075-CF52AC602D43}"/>
              </a:ext>
            </a:extLst>
          </p:cNvPr>
          <p:cNvSpPr/>
          <p:nvPr/>
        </p:nvSpPr>
        <p:spPr>
          <a:xfrm>
            <a:off x="711069" y="3134520"/>
            <a:ext cx="2583438" cy="6515707"/>
          </a:xfrm>
          <a:prstGeom prst="rect">
            <a:avLst/>
          </a:prstGeom>
          <a:solidFill>
            <a:schemeClr val="accent1">
              <a:lumMod val="20000"/>
              <a:lumOff val="80000"/>
            </a:schemeClr>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sz="2400" b="1">
                <a:solidFill>
                  <a:schemeClr val="tx1"/>
                </a:solidFill>
              </a:rPr>
              <a:t>OCI</a:t>
            </a:r>
          </a:p>
        </p:txBody>
      </p:sp>
      <p:sp>
        <p:nvSpPr>
          <p:cNvPr id="19" name="正方形/長方形 18">
            <a:extLst>
              <a:ext uri="{FF2B5EF4-FFF2-40B4-BE49-F238E27FC236}">
                <a16:creationId xmlns:a16="http://schemas.microsoft.com/office/drawing/2014/main" id="{0745B36A-8E0E-F0E0-15F0-6973E2839833}"/>
              </a:ext>
            </a:extLst>
          </p:cNvPr>
          <p:cNvSpPr/>
          <p:nvPr/>
        </p:nvSpPr>
        <p:spPr>
          <a:xfrm>
            <a:off x="711070" y="2626580"/>
            <a:ext cx="2583437" cy="415498"/>
          </a:xfrm>
          <a:prstGeom prst="rect">
            <a:avLst/>
          </a:prstGeom>
          <a:solidFill>
            <a:schemeClr val="accent5"/>
          </a:solidFill>
          <a:ln>
            <a:solidFill>
              <a:schemeClr val="accent1">
                <a:lumMod val="50000"/>
              </a:schemeClr>
            </a:solidFill>
          </a:ln>
        </p:spPr>
        <p:txBody>
          <a:bodyPr wrap="square">
            <a:spAutoFit/>
          </a:bodyPr>
          <a:lstStyle/>
          <a:p>
            <a:pPr algn="ctr"/>
            <a:r>
              <a:rPr lang="ja-JP" altLang="en-US" sz="2100" b="1">
                <a:solidFill>
                  <a:schemeClr val="bg1"/>
                </a:solidFill>
                <a:latin typeface="メイリオ" panose="020B0604030504040204" pitchFamily="50" charset="-128"/>
                <a:ea typeface="メイリオ" panose="020B0604030504040204" pitchFamily="50" charset="-128"/>
                <a:cs typeface="Aldhabi" panose="020F0502020204030204" pitchFamily="2" charset="-78"/>
              </a:rPr>
              <a:t>サーバー</a:t>
            </a:r>
          </a:p>
        </p:txBody>
      </p:sp>
      <p:sp>
        <p:nvSpPr>
          <p:cNvPr id="28" name="正方形/長方形 27">
            <a:extLst>
              <a:ext uri="{FF2B5EF4-FFF2-40B4-BE49-F238E27FC236}">
                <a16:creationId xmlns:a16="http://schemas.microsoft.com/office/drawing/2014/main" id="{F98021D2-93D0-1CC1-0E14-A313DC57B63B}"/>
              </a:ext>
            </a:extLst>
          </p:cNvPr>
          <p:cNvSpPr/>
          <p:nvPr/>
        </p:nvSpPr>
        <p:spPr>
          <a:xfrm>
            <a:off x="9324213" y="3606800"/>
            <a:ext cx="1373743" cy="4796690"/>
          </a:xfrm>
          <a:prstGeom prst="rect">
            <a:avLst/>
          </a:prstGeom>
          <a:solidFill>
            <a:srgbClr val="92D050"/>
          </a:solidFill>
          <a:ln>
            <a:solidFill>
              <a:srgbClr val="008000"/>
            </a:solidFill>
          </a:ln>
        </p:spPr>
        <p:style>
          <a:lnRef idx="1">
            <a:schemeClr val="accent6"/>
          </a:lnRef>
          <a:fillRef idx="2">
            <a:schemeClr val="accent6"/>
          </a:fillRef>
          <a:effectRef idx="1">
            <a:schemeClr val="accent6"/>
          </a:effectRef>
          <a:fontRef idx="minor">
            <a:schemeClr val="dk1"/>
          </a:fontRef>
        </p:style>
        <p:txBody>
          <a:bodyPr vert="horz" rtlCol="0" anchor="t" anchorCtr="0"/>
          <a:lstStyle/>
          <a:p>
            <a:pPr algn="ctr"/>
            <a:r>
              <a:rPr lang="ja-JP" altLang="en-US" sz="1500">
                <a:solidFill>
                  <a:schemeClr val="tx1"/>
                </a:solidFill>
              </a:rPr>
              <a:t>デバイス制御基盤</a:t>
            </a:r>
            <a:endParaRPr lang="en-US" altLang="ja-JP" sz="1500">
              <a:solidFill>
                <a:schemeClr val="tx1"/>
              </a:solidFill>
            </a:endParaRPr>
          </a:p>
        </p:txBody>
      </p:sp>
      <p:sp>
        <p:nvSpPr>
          <p:cNvPr id="20" name="正方形/長方形 19">
            <a:extLst>
              <a:ext uri="{FF2B5EF4-FFF2-40B4-BE49-F238E27FC236}">
                <a16:creationId xmlns:a16="http://schemas.microsoft.com/office/drawing/2014/main" id="{5E6D64C0-FD4A-8435-AD3D-5BC1EFED7596}"/>
              </a:ext>
            </a:extLst>
          </p:cNvPr>
          <p:cNvSpPr/>
          <p:nvPr/>
        </p:nvSpPr>
        <p:spPr>
          <a:xfrm>
            <a:off x="5953994" y="3754288"/>
            <a:ext cx="3281521" cy="2339468"/>
          </a:xfrm>
          <a:prstGeom prst="rect">
            <a:avLst/>
          </a:prstGeom>
          <a:solidFill>
            <a:schemeClr val="accent5">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t"/>
          <a:lstStyle/>
          <a:p>
            <a:pPr algn="ctr"/>
            <a:r>
              <a:rPr lang="en-US" altLang="ja-JP" sz="1500">
                <a:solidFill>
                  <a:schemeClr val="tx1"/>
                </a:solidFill>
                <a:latin typeface="メイリオ" panose="020B0604030504040204" pitchFamily="50" charset="-128"/>
                <a:ea typeface="メイリオ" panose="020B0604030504040204" pitchFamily="50" charset="-128"/>
              </a:rPr>
              <a:t>UI</a:t>
            </a: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a:p>
            <a:pPr algn="ctr"/>
            <a:endParaRPr lang="en-US" altLang="ja-JP" sz="1500">
              <a:solidFill>
                <a:schemeClr val="tx1"/>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8C7A5CD5-7633-6117-569C-4719CE7DC860}"/>
              </a:ext>
            </a:extLst>
          </p:cNvPr>
          <p:cNvSpPr/>
          <p:nvPr/>
        </p:nvSpPr>
        <p:spPr>
          <a:xfrm>
            <a:off x="3876986" y="5436472"/>
            <a:ext cx="1693766" cy="605168"/>
          </a:xfrm>
          <a:prstGeom prst="rect">
            <a:avLst/>
          </a:prstGeom>
          <a:solidFill>
            <a:schemeClr val="accent1">
              <a:lumMod val="50000"/>
            </a:schemeClr>
          </a:solidFill>
          <a:ln>
            <a:solidFill>
              <a:srgbClr val="FFFFFF"/>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350">
                <a:solidFill>
                  <a:schemeClr val="bg1"/>
                </a:solidFill>
                <a:latin typeface="メイリオ" panose="020B0604030504040204" pitchFamily="50" charset="-128"/>
                <a:ea typeface="メイリオ" panose="020B0604030504040204" pitchFamily="50" charset="-128"/>
              </a:rPr>
              <a:t>API</a:t>
            </a:r>
          </a:p>
          <a:p>
            <a:pPr algn="ctr"/>
            <a:r>
              <a:rPr lang="en-US" altLang="ja-JP" sz="1200">
                <a:solidFill>
                  <a:schemeClr val="bg1"/>
                </a:solidFill>
                <a:latin typeface="メイリオ" panose="020B0604030504040204" pitchFamily="50" charset="-128"/>
                <a:ea typeface="メイリオ" panose="020B0604030504040204" pitchFamily="50" charset="-128"/>
              </a:rPr>
              <a:t>(</a:t>
            </a:r>
            <a:r>
              <a:rPr lang="ja-JP" altLang="en-US" sz="1200">
                <a:solidFill>
                  <a:schemeClr val="bg1"/>
                </a:solidFill>
                <a:latin typeface="メイリオ" panose="020B0604030504040204" pitchFamily="50" charset="-128"/>
                <a:ea typeface="メイリオ" panose="020B0604030504040204" pitchFamily="50" charset="-128"/>
              </a:rPr>
              <a:t>バックグラウンド</a:t>
            </a:r>
            <a:r>
              <a:rPr lang="en-US" altLang="ja-JP" sz="1200">
                <a:solidFill>
                  <a:schemeClr val="bg1"/>
                </a:solidFill>
                <a:latin typeface="メイリオ" panose="020B0604030504040204" pitchFamily="50" charset="-128"/>
                <a:ea typeface="メイリオ" panose="020B0604030504040204" pitchFamily="50" charset="-128"/>
              </a:rPr>
              <a:t>)</a:t>
            </a:r>
          </a:p>
        </p:txBody>
      </p:sp>
      <p:sp>
        <p:nvSpPr>
          <p:cNvPr id="31" name="正方形/長方形 30">
            <a:extLst>
              <a:ext uri="{FF2B5EF4-FFF2-40B4-BE49-F238E27FC236}">
                <a16:creationId xmlns:a16="http://schemas.microsoft.com/office/drawing/2014/main" id="{A43B7A75-6E32-9CA8-ACD6-F2AB07BB867D}"/>
              </a:ext>
            </a:extLst>
          </p:cNvPr>
          <p:cNvSpPr/>
          <p:nvPr/>
        </p:nvSpPr>
        <p:spPr>
          <a:xfrm>
            <a:off x="5189853" y="7521971"/>
            <a:ext cx="1693766" cy="605168"/>
          </a:xfrm>
          <a:prstGeom prst="rect">
            <a:avLst/>
          </a:prstGeom>
          <a:solidFill>
            <a:schemeClr val="accent1">
              <a:lumMod val="50000"/>
            </a:schemeClr>
          </a:solidFill>
          <a:ln>
            <a:solidFill>
              <a:srgbClr val="FFFFFF"/>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350">
                <a:solidFill>
                  <a:schemeClr val="bg1"/>
                </a:solidFill>
              </a:rPr>
              <a:t>ログ制御</a:t>
            </a:r>
            <a:endParaRPr lang="en-US" altLang="ja-JP" sz="1350">
              <a:solidFill>
                <a:schemeClr val="bg1"/>
              </a:solidFill>
            </a:endParaRPr>
          </a:p>
        </p:txBody>
      </p:sp>
      <p:sp>
        <p:nvSpPr>
          <p:cNvPr id="36" name="円柱 35">
            <a:extLst>
              <a:ext uri="{FF2B5EF4-FFF2-40B4-BE49-F238E27FC236}">
                <a16:creationId xmlns:a16="http://schemas.microsoft.com/office/drawing/2014/main" id="{06A0D3BD-C18B-763B-7815-BAD979922C9C}"/>
              </a:ext>
            </a:extLst>
          </p:cNvPr>
          <p:cNvSpPr/>
          <p:nvPr/>
        </p:nvSpPr>
        <p:spPr>
          <a:xfrm>
            <a:off x="5184737" y="8588408"/>
            <a:ext cx="1693766" cy="605167"/>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1350">
                <a:solidFill>
                  <a:schemeClr val="tx1"/>
                </a:solidFill>
              </a:rPr>
              <a:t>ログ（一時保管）</a:t>
            </a:r>
          </a:p>
        </p:txBody>
      </p:sp>
      <p:sp>
        <p:nvSpPr>
          <p:cNvPr id="49" name="円柱 48">
            <a:extLst>
              <a:ext uri="{FF2B5EF4-FFF2-40B4-BE49-F238E27FC236}">
                <a16:creationId xmlns:a16="http://schemas.microsoft.com/office/drawing/2014/main" id="{28DB18B8-53D0-18A0-5041-6DCC71AE9AF4}"/>
              </a:ext>
            </a:extLst>
          </p:cNvPr>
          <p:cNvSpPr/>
          <p:nvPr/>
        </p:nvSpPr>
        <p:spPr>
          <a:xfrm>
            <a:off x="924306" y="4412873"/>
            <a:ext cx="1314348" cy="550673"/>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1350">
                <a:solidFill>
                  <a:schemeClr val="tx1"/>
                </a:solidFill>
              </a:rPr>
              <a:t>DB</a:t>
            </a:r>
            <a:endParaRPr lang="ja-JP" altLang="en-US" sz="1350">
              <a:solidFill>
                <a:schemeClr val="tx1"/>
              </a:solidFill>
            </a:endParaRPr>
          </a:p>
        </p:txBody>
      </p:sp>
      <p:sp>
        <p:nvSpPr>
          <p:cNvPr id="51" name="正方形/長方形 50">
            <a:extLst>
              <a:ext uri="{FF2B5EF4-FFF2-40B4-BE49-F238E27FC236}">
                <a16:creationId xmlns:a16="http://schemas.microsoft.com/office/drawing/2014/main" id="{B06C54A3-1AC9-9D10-EB75-DEB8533FAC2C}"/>
              </a:ext>
            </a:extLst>
          </p:cNvPr>
          <p:cNvSpPr/>
          <p:nvPr/>
        </p:nvSpPr>
        <p:spPr>
          <a:xfrm>
            <a:off x="2623036" y="4701440"/>
            <a:ext cx="687935" cy="1305815"/>
          </a:xfrm>
          <a:prstGeom prst="rect">
            <a:avLst/>
          </a:prstGeom>
          <a:solidFill>
            <a:schemeClr val="accent1">
              <a:lumMod val="50000"/>
            </a:schemeClr>
          </a:solidFill>
          <a:ln>
            <a:solidFill>
              <a:srgbClr val="FFFF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sz="1350">
                <a:solidFill>
                  <a:schemeClr val="bg1"/>
                </a:solidFill>
              </a:rPr>
              <a:t>Web</a:t>
            </a:r>
          </a:p>
          <a:p>
            <a:pPr algn="ctr"/>
            <a:r>
              <a:rPr lang="en-US" altLang="ja-JP" sz="1350">
                <a:solidFill>
                  <a:schemeClr val="bg1"/>
                </a:solidFill>
              </a:rPr>
              <a:t>API</a:t>
            </a:r>
          </a:p>
          <a:p>
            <a:pPr algn="ctr"/>
            <a:endParaRPr lang="en-US" altLang="ja-JP" sz="1350">
              <a:solidFill>
                <a:schemeClr val="bg1"/>
              </a:solidFill>
            </a:endParaRPr>
          </a:p>
        </p:txBody>
      </p:sp>
      <p:sp>
        <p:nvSpPr>
          <p:cNvPr id="62" name="円柱 61">
            <a:extLst>
              <a:ext uri="{FF2B5EF4-FFF2-40B4-BE49-F238E27FC236}">
                <a16:creationId xmlns:a16="http://schemas.microsoft.com/office/drawing/2014/main" id="{B8DFE97C-016F-F90E-DB1E-FC878E44D2C0}"/>
              </a:ext>
            </a:extLst>
          </p:cNvPr>
          <p:cNvSpPr/>
          <p:nvPr/>
        </p:nvSpPr>
        <p:spPr>
          <a:xfrm>
            <a:off x="7516867" y="6846904"/>
            <a:ext cx="1366115" cy="595297"/>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1350">
                <a:solidFill>
                  <a:schemeClr val="tx1"/>
                </a:solidFill>
              </a:rPr>
              <a:t>DB</a:t>
            </a:r>
            <a:endParaRPr lang="ja-JP" altLang="en-US" sz="1350">
              <a:solidFill>
                <a:schemeClr val="tx1"/>
              </a:solidFill>
            </a:endParaRPr>
          </a:p>
        </p:txBody>
      </p:sp>
      <p:cxnSp>
        <p:nvCxnSpPr>
          <p:cNvPr id="72" name="直線矢印コネクタ 71">
            <a:extLst>
              <a:ext uri="{FF2B5EF4-FFF2-40B4-BE49-F238E27FC236}">
                <a16:creationId xmlns:a16="http://schemas.microsoft.com/office/drawing/2014/main" id="{81727E64-1FF6-FCE7-FF95-DA085A650CEB}"/>
              </a:ext>
            </a:extLst>
          </p:cNvPr>
          <p:cNvCxnSpPr>
            <a:cxnSpLocks/>
            <a:stCxn id="51" idx="3"/>
            <a:endCxn id="30" idx="1"/>
          </p:cNvCxnSpPr>
          <p:nvPr/>
        </p:nvCxnSpPr>
        <p:spPr>
          <a:xfrm>
            <a:off x="3310971" y="5354348"/>
            <a:ext cx="566015" cy="38470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FFA7479F-F0AB-16A0-5C81-D030434B6FED}"/>
              </a:ext>
            </a:extLst>
          </p:cNvPr>
          <p:cNvCxnSpPr>
            <a:cxnSpLocks/>
            <a:stCxn id="92" idx="1"/>
            <a:endCxn id="51" idx="3"/>
          </p:cNvCxnSpPr>
          <p:nvPr/>
        </p:nvCxnSpPr>
        <p:spPr>
          <a:xfrm flipH="1">
            <a:off x="3310971" y="5018538"/>
            <a:ext cx="551636" cy="33581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CCCFE9C7-378C-436E-765A-5BA6D9C1EF43}"/>
              </a:ext>
            </a:extLst>
          </p:cNvPr>
          <p:cNvSpPr/>
          <p:nvPr/>
        </p:nvSpPr>
        <p:spPr>
          <a:xfrm>
            <a:off x="3735737" y="2626580"/>
            <a:ext cx="7080046" cy="415498"/>
          </a:xfrm>
          <a:prstGeom prst="rect">
            <a:avLst/>
          </a:prstGeom>
          <a:solidFill>
            <a:schemeClr val="accent5"/>
          </a:solidFill>
          <a:ln>
            <a:solidFill>
              <a:schemeClr val="accent5">
                <a:lumMod val="75000"/>
              </a:schemeClr>
            </a:solidFill>
          </a:ln>
        </p:spPr>
        <p:txBody>
          <a:bodyPr wrap="square">
            <a:spAutoFit/>
          </a:bodyPr>
          <a:lstStyle/>
          <a:p>
            <a:pPr algn="ctr"/>
            <a:r>
              <a:rPr lang="ja-JP" altLang="en-US" sz="2100" b="1">
                <a:solidFill>
                  <a:schemeClr val="bg1"/>
                </a:solidFill>
                <a:latin typeface="メイリオ" panose="020B0604030504040204" pitchFamily="50" charset="-128"/>
                <a:ea typeface="メイリオ" panose="020B0604030504040204" pitchFamily="50" charset="-128"/>
                <a:cs typeface="Aldhabi" panose="020F0502020204030204" pitchFamily="2" charset="-78"/>
              </a:rPr>
              <a:t>端末</a:t>
            </a:r>
          </a:p>
        </p:txBody>
      </p:sp>
      <p:sp>
        <p:nvSpPr>
          <p:cNvPr id="92" name="正方形/長方形 91">
            <a:extLst>
              <a:ext uri="{FF2B5EF4-FFF2-40B4-BE49-F238E27FC236}">
                <a16:creationId xmlns:a16="http://schemas.microsoft.com/office/drawing/2014/main" id="{31370EAE-0E53-C265-D3AF-3080A0C60217}"/>
              </a:ext>
            </a:extLst>
          </p:cNvPr>
          <p:cNvSpPr/>
          <p:nvPr/>
        </p:nvSpPr>
        <p:spPr>
          <a:xfrm>
            <a:off x="3862607" y="4715954"/>
            <a:ext cx="1693766" cy="605168"/>
          </a:xfrm>
          <a:prstGeom prst="rect">
            <a:avLst/>
          </a:prstGeom>
          <a:solidFill>
            <a:schemeClr val="accent1">
              <a:lumMod val="50000"/>
            </a:schemeClr>
          </a:solidFill>
          <a:ln>
            <a:solidFill>
              <a:srgbClr val="FFFFFF"/>
            </a:solidFill>
          </a:ln>
        </p:spPr>
        <p:txBody>
          <a:bodyPr wrap="none" anchor="ctr" anchorCtr="0">
            <a:noAutofit/>
          </a:bodyPr>
          <a:lstStyle/>
          <a:p>
            <a:pPr algn="ctr"/>
            <a:r>
              <a:rPr lang="en-US" altLang="ja-JP" sz="1350">
                <a:solidFill>
                  <a:schemeClr val="bg1"/>
                </a:solidFill>
                <a:latin typeface="メイリオ" panose="020B0604030504040204" pitchFamily="50" charset="-128"/>
                <a:ea typeface="メイリオ" panose="020B0604030504040204" pitchFamily="50" charset="-128"/>
              </a:rPr>
              <a:t>API</a:t>
            </a:r>
          </a:p>
          <a:p>
            <a:pPr algn="ctr"/>
            <a:r>
              <a:rPr lang="en-US" altLang="ja-JP" sz="1200">
                <a:solidFill>
                  <a:schemeClr val="bg1"/>
                </a:solidFill>
                <a:latin typeface="メイリオ" panose="020B0604030504040204" pitchFamily="50" charset="-128"/>
                <a:ea typeface="メイリオ" panose="020B0604030504040204" pitchFamily="50" charset="-128"/>
              </a:rPr>
              <a:t>(</a:t>
            </a:r>
            <a:r>
              <a:rPr lang="ja-JP" altLang="en-US" sz="1200">
                <a:solidFill>
                  <a:schemeClr val="bg1"/>
                </a:solidFill>
                <a:latin typeface="メイリオ" panose="020B0604030504040204" pitchFamily="50" charset="-128"/>
                <a:ea typeface="メイリオ" panose="020B0604030504040204" pitchFamily="50" charset="-128"/>
              </a:rPr>
              <a:t>リアルタイム</a:t>
            </a:r>
            <a:r>
              <a:rPr lang="en-US" altLang="ja-JP" sz="1200">
                <a:solidFill>
                  <a:schemeClr val="bg1"/>
                </a:solidFill>
                <a:latin typeface="メイリオ" panose="020B0604030504040204" pitchFamily="50" charset="-128"/>
                <a:ea typeface="メイリオ" panose="020B0604030504040204" pitchFamily="50" charset="-128"/>
              </a:rPr>
              <a:t>)</a:t>
            </a:r>
            <a:endParaRPr lang="ja-JP" altLang="en-US" sz="135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994BE7CB-5303-BE5F-8441-E2B81432295D}"/>
              </a:ext>
            </a:extLst>
          </p:cNvPr>
          <p:cNvSpPr/>
          <p:nvPr/>
        </p:nvSpPr>
        <p:spPr>
          <a:xfrm>
            <a:off x="13303891" y="2624295"/>
            <a:ext cx="1336779" cy="426537"/>
          </a:xfrm>
          <a:prstGeom prst="rect">
            <a:avLst/>
          </a:prstGeom>
          <a:solidFill>
            <a:schemeClr val="accent5"/>
          </a:solidFill>
          <a:ln>
            <a:solidFill>
              <a:schemeClr val="accent5">
                <a:lumMod val="75000"/>
              </a:schemeClr>
            </a:solidFill>
          </a:ln>
        </p:spPr>
        <p:txBody>
          <a:bodyPr wrap="square">
            <a:noAutofit/>
          </a:bodyPr>
          <a:lstStyle/>
          <a:p>
            <a:pPr algn="ctr"/>
            <a:r>
              <a:rPr lang="ja-JP" altLang="en-US" sz="2100" b="1">
                <a:solidFill>
                  <a:schemeClr val="bg1"/>
                </a:solidFill>
                <a:latin typeface="メイリオ" panose="020B0604030504040204" pitchFamily="50" charset="-128"/>
                <a:ea typeface="メイリオ" panose="020B0604030504040204" pitchFamily="50" charset="-128"/>
              </a:rPr>
              <a:t>周辺機器</a:t>
            </a:r>
          </a:p>
        </p:txBody>
      </p:sp>
      <p:cxnSp>
        <p:nvCxnSpPr>
          <p:cNvPr id="40" name="直線矢印コネクタ 39">
            <a:extLst>
              <a:ext uri="{FF2B5EF4-FFF2-40B4-BE49-F238E27FC236}">
                <a16:creationId xmlns:a16="http://schemas.microsoft.com/office/drawing/2014/main" id="{EDAA7883-6484-B163-4EEA-14A71F8C9D7B}"/>
              </a:ext>
            </a:extLst>
          </p:cNvPr>
          <p:cNvCxnSpPr>
            <a:cxnSpLocks/>
            <a:stCxn id="5" idx="3"/>
            <a:endCxn id="22" idx="1"/>
          </p:cNvCxnSpPr>
          <p:nvPr/>
        </p:nvCxnSpPr>
        <p:spPr>
          <a:xfrm>
            <a:off x="9057168" y="5026057"/>
            <a:ext cx="710185" cy="62966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5" name="テキスト ボックス 164">
            <a:extLst>
              <a:ext uri="{FF2B5EF4-FFF2-40B4-BE49-F238E27FC236}">
                <a16:creationId xmlns:a16="http://schemas.microsoft.com/office/drawing/2014/main" id="{766556CF-C21E-3335-6B21-06FD2ABCA258}"/>
              </a:ext>
            </a:extLst>
          </p:cNvPr>
          <p:cNvSpPr txBox="1"/>
          <p:nvPr/>
        </p:nvSpPr>
        <p:spPr>
          <a:xfrm>
            <a:off x="650606" y="1207322"/>
            <a:ext cx="17199585" cy="833757"/>
          </a:xfrm>
          <a:prstGeom prst="rect">
            <a:avLst/>
          </a:prstGeom>
          <a:noFill/>
        </p:spPr>
        <p:txBody>
          <a:bodyPr wrap="square" lIns="0" tIns="0" rIns="0" bIns="0" rtlCol="0">
            <a:noAutofit/>
          </a:bodyPr>
          <a:lstStyle/>
          <a:p>
            <a:r>
              <a:rPr lang="ja-JP" altLang="en-US" sz="2400" dirty="0">
                <a:latin typeface="メイリオ" panose="020B0604030504040204" pitchFamily="50" charset="-128"/>
                <a:ea typeface="メイリオ" panose="020B0604030504040204" pitchFamily="50" charset="-128"/>
              </a:rPr>
              <a:t>現行</a:t>
            </a:r>
            <a:r>
              <a:rPr lang="en-US" altLang="ja-JP" sz="2400" dirty="0">
                <a:latin typeface="メイリオ" panose="020B0604030504040204" pitchFamily="50" charset="-128"/>
                <a:ea typeface="メイリオ" panose="020B0604030504040204" pitchFamily="50" charset="-128"/>
              </a:rPr>
              <a:t>POS</a:t>
            </a:r>
            <a:r>
              <a:rPr lang="ja-JP" altLang="en-US" sz="2400" dirty="0">
                <a:latin typeface="メイリオ" panose="020B0604030504040204" pitchFamily="50" charset="-128"/>
                <a:ea typeface="メイリオ" panose="020B0604030504040204" pitchFamily="50" charset="-128"/>
              </a:rPr>
              <a:t>と接続する</a:t>
            </a:r>
            <a:r>
              <a:rPr lang="en-US" altLang="ja-JP" sz="2400" dirty="0">
                <a:latin typeface="メイリオ" panose="020B0604030504040204" pitchFamily="50" charset="-128"/>
                <a:ea typeface="メイリオ" panose="020B0604030504040204" pitchFamily="50" charset="-128"/>
              </a:rPr>
              <a:t>Windows</a:t>
            </a:r>
            <a:r>
              <a:rPr lang="ja-JP" altLang="en-US" sz="2400" dirty="0">
                <a:latin typeface="メイリオ" panose="020B0604030504040204" pitchFamily="50" charset="-128"/>
                <a:ea typeface="メイリオ" panose="020B0604030504040204" pitchFamily="50" charset="-128"/>
              </a:rPr>
              <a:t>レガシー</a:t>
            </a:r>
            <a:r>
              <a:rPr lang="en-US" altLang="ja-JP" sz="2400" dirty="0">
                <a:latin typeface="メイリオ" panose="020B0604030504040204" pitchFamily="50" charset="-128"/>
                <a:ea typeface="メイリオ" panose="020B0604030504040204" pitchFamily="50" charset="-128"/>
              </a:rPr>
              <a:t>OCX</a:t>
            </a:r>
            <a:r>
              <a:rPr lang="ja-JP" altLang="en-US" sz="2400" dirty="0">
                <a:latin typeface="メイリオ" panose="020B0604030504040204" pitchFamily="50" charset="-128"/>
                <a:ea typeface="メイリオ" panose="020B0604030504040204" pitchFamily="50" charset="-128"/>
              </a:rPr>
              <a:t>機材と接続するために「デバイスコネクタサービス」を開発し、並行稼働可能にします。新規デバイスはストラテジーパターンの直接接続方式で追加する方針とします。</a:t>
            </a:r>
            <a:endParaRPr lang="en-US" altLang="ja-JP" sz="2400" dirty="0">
              <a:latin typeface="メイリオ" panose="020B0604030504040204" pitchFamily="50" charset="-128"/>
              <a:ea typeface="メイリオ" panose="020B0604030504040204" pitchFamily="50" charset="-128"/>
            </a:endParaRPr>
          </a:p>
        </p:txBody>
      </p:sp>
      <p:sp>
        <p:nvSpPr>
          <p:cNvPr id="166" name="テキスト ボックス 165">
            <a:extLst>
              <a:ext uri="{FF2B5EF4-FFF2-40B4-BE49-F238E27FC236}">
                <a16:creationId xmlns:a16="http://schemas.microsoft.com/office/drawing/2014/main" id="{A405071D-D5C7-1337-550F-725EFC0B93BA}"/>
              </a:ext>
            </a:extLst>
          </p:cNvPr>
          <p:cNvSpPr txBox="1"/>
          <p:nvPr/>
        </p:nvSpPr>
        <p:spPr>
          <a:xfrm>
            <a:off x="463184" y="2053712"/>
            <a:ext cx="2255746" cy="415498"/>
          </a:xfrm>
          <a:prstGeom prst="rect">
            <a:avLst/>
          </a:prstGeom>
          <a:noFill/>
        </p:spPr>
        <p:txBody>
          <a:bodyPr wrap="none" rtlCol="0">
            <a:spAutoFit/>
          </a:bodyPr>
          <a:lstStyle/>
          <a:p>
            <a:r>
              <a:rPr lang="en-US" altLang="ja-JP" sz="2100" dirty="0">
                <a:latin typeface="HGPｺﾞｼｯｸM" panose="020B0600000000000000" pitchFamily="50" charset="-128"/>
                <a:ea typeface="HGPｺﾞｼｯｸM" panose="020B0600000000000000" pitchFamily="50" charset="-128"/>
              </a:rPr>
              <a:t>【</a:t>
            </a:r>
            <a:r>
              <a:rPr lang="ja-JP" altLang="en-US" sz="2100" dirty="0">
                <a:latin typeface="HGPｺﾞｼｯｸM" panose="020B0600000000000000" pitchFamily="50" charset="-128"/>
                <a:ea typeface="HGPｺﾞｼｯｸM" panose="020B0600000000000000" pitchFamily="50" charset="-128"/>
              </a:rPr>
              <a:t>機能構成図</a:t>
            </a:r>
            <a:r>
              <a:rPr lang="en-US" altLang="ja-JP" sz="2100" dirty="0">
                <a:latin typeface="HGPｺﾞｼｯｸM" panose="020B0600000000000000" pitchFamily="50" charset="-128"/>
                <a:ea typeface="HGPｺﾞｼｯｸM" panose="020B0600000000000000" pitchFamily="50" charset="-128"/>
              </a:rPr>
              <a:t>(</a:t>
            </a:r>
            <a:r>
              <a:rPr lang="ja-JP" altLang="en-US" sz="2100" dirty="0">
                <a:latin typeface="HGPｺﾞｼｯｸM" panose="020B0600000000000000" pitchFamily="50" charset="-128"/>
                <a:ea typeface="HGPｺﾞｼｯｸM" panose="020B0600000000000000" pitchFamily="50" charset="-128"/>
              </a:rPr>
              <a:t>案</a:t>
            </a:r>
            <a:r>
              <a:rPr lang="en-US" altLang="ja-JP" sz="2100" dirty="0">
                <a:latin typeface="HGPｺﾞｼｯｸM" panose="020B0600000000000000" pitchFamily="50" charset="-128"/>
                <a:ea typeface="HGPｺﾞｼｯｸM" panose="020B0600000000000000" pitchFamily="50" charset="-128"/>
              </a:rPr>
              <a:t>)】</a:t>
            </a:r>
            <a:endParaRPr lang="ja-JP" altLang="en-US" sz="2100" dirty="0">
              <a:latin typeface="HGPｺﾞｼｯｸM" panose="020B0600000000000000" pitchFamily="50" charset="-128"/>
              <a:ea typeface="HGPｺﾞｼｯｸM" panose="020B0600000000000000" pitchFamily="50" charset="-128"/>
            </a:endParaRPr>
          </a:p>
        </p:txBody>
      </p:sp>
      <p:sp>
        <p:nvSpPr>
          <p:cNvPr id="217" name="正方形/長方形 216">
            <a:extLst>
              <a:ext uri="{FF2B5EF4-FFF2-40B4-BE49-F238E27FC236}">
                <a16:creationId xmlns:a16="http://schemas.microsoft.com/office/drawing/2014/main" id="{25233122-572B-E03C-1376-FBD423EFE1EE}"/>
              </a:ext>
            </a:extLst>
          </p:cNvPr>
          <p:cNvSpPr/>
          <p:nvPr/>
        </p:nvSpPr>
        <p:spPr>
          <a:xfrm>
            <a:off x="15679642" y="4218194"/>
            <a:ext cx="2001567" cy="605168"/>
          </a:xfrm>
          <a:prstGeom prst="rect">
            <a:avLst/>
          </a:prstGeom>
          <a:solidFill>
            <a:srgbClr val="92D050"/>
          </a:solidFill>
          <a:ln>
            <a:solidFill>
              <a:srgbClr val="00B050"/>
            </a:solidFill>
          </a:ln>
        </p:spPr>
        <p:txBody>
          <a:bodyPr wrap="none" anchor="ctr" anchorCtr="0">
            <a:noAutofit/>
          </a:bodyPr>
          <a:lstStyle/>
          <a:p>
            <a:pPr algn="ctr"/>
            <a:r>
              <a:rPr lang="ja-JP" altLang="en-US" sz="1350">
                <a:latin typeface="メイリオ" panose="020B0604030504040204" pitchFamily="50" charset="-128"/>
                <a:ea typeface="メイリオ" panose="020B0604030504040204" pitchFamily="50" charset="-128"/>
              </a:rPr>
              <a:t>デバイス制御基盤</a:t>
            </a:r>
            <a:endParaRPr lang="en-US" altLang="ja-JP" sz="1350">
              <a:latin typeface="メイリオ" panose="020B0604030504040204" pitchFamily="50" charset="-128"/>
              <a:ea typeface="メイリオ" panose="020B0604030504040204" pitchFamily="50" charset="-128"/>
            </a:endParaRPr>
          </a:p>
        </p:txBody>
      </p:sp>
      <p:sp>
        <p:nvSpPr>
          <p:cNvPr id="218" name="正方形/長方形 217">
            <a:extLst>
              <a:ext uri="{FF2B5EF4-FFF2-40B4-BE49-F238E27FC236}">
                <a16:creationId xmlns:a16="http://schemas.microsoft.com/office/drawing/2014/main" id="{D95746C5-3B0E-2593-4A00-D5142579464F}"/>
              </a:ext>
            </a:extLst>
          </p:cNvPr>
          <p:cNvSpPr/>
          <p:nvPr/>
        </p:nvSpPr>
        <p:spPr>
          <a:xfrm>
            <a:off x="15679642" y="3434705"/>
            <a:ext cx="2001566" cy="605168"/>
          </a:xfrm>
          <a:prstGeom prst="rect">
            <a:avLst/>
          </a:prstGeom>
          <a:solidFill>
            <a:schemeClr val="accent1">
              <a:lumMod val="50000"/>
            </a:schemeClr>
          </a:solidFill>
          <a:ln>
            <a:solidFill>
              <a:schemeClr val="tx1"/>
            </a:solidFill>
          </a:ln>
        </p:spPr>
        <p:txBody>
          <a:bodyPr wrap="none" anchor="ctr" anchorCtr="0">
            <a:noAutofit/>
          </a:bodyPr>
          <a:lstStyle/>
          <a:p>
            <a:pPr algn="ctr"/>
            <a:r>
              <a:rPr lang="ja-JP" altLang="en-US" sz="1350">
                <a:solidFill>
                  <a:schemeClr val="bg1"/>
                </a:solidFill>
                <a:latin typeface="メイリオ" panose="020B0604030504040204" pitchFamily="50" charset="-128"/>
                <a:ea typeface="メイリオ" panose="020B0604030504040204" pitchFamily="50" charset="-128"/>
              </a:rPr>
              <a:t>データ制御基盤</a:t>
            </a:r>
            <a:endParaRPr lang="en-US" altLang="ja-JP" sz="1350">
              <a:solidFill>
                <a:schemeClr val="bg1"/>
              </a:solidFill>
              <a:latin typeface="メイリオ" panose="020B0604030504040204" pitchFamily="50" charset="-128"/>
              <a:ea typeface="メイリオ" panose="020B0604030504040204" pitchFamily="50" charset="-128"/>
            </a:endParaRPr>
          </a:p>
          <a:p>
            <a:pPr algn="ctr"/>
            <a:r>
              <a:rPr lang="en-US" altLang="ja-JP" sz="1050">
                <a:solidFill>
                  <a:schemeClr val="bg1"/>
                </a:solidFill>
                <a:latin typeface="メイリオ" panose="020B0604030504040204" pitchFamily="50" charset="-128"/>
                <a:ea typeface="メイリオ" panose="020B0604030504040204" pitchFamily="50" charset="-128"/>
              </a:rPr>
              <a:t>(</a:t>
            </a:r>
            <a:r>
              <a:rPr lang="ja-JP" altLang="en-US" sz="1050">
                <a:solidFill>
                  <a:schemeClr val="bg1"/>
                </a:solidFill>
                <a:latin typeface="メイリオ" panose="020B0604030504040204" pitchFamily="50" charset="-128"/>
                <a:ea typeface="メイリオ" panose="020B0604030504040204" pitchFamily="50" charset="-128"/>
              </a:rPr>
              <a:t>リアル</a:t>
            </a:r>
            <a:r>
              <a:rPr lang="en-US" altLang="ja-JP" sz="1050">
                <a:solidFill>
                  <a:schemeClr val="bg1"/>
                </a:solidFill>
                <a:latin typeface="メイリオ" panose="020B0604030504040204" pitchFamily="50" charset="-128"/>
                <a:ea typeface="メイリオ" panose="020B0604030504040204" pitchFamily="50" charset="-128"/>
              </a:rPr>
              <a:t>/</a:t>
            </a:r>
            <a:r>
              <a:rPr lang="ja-JP" altLang="en-US" sz="1050">
                <a:solidFill>
                  <a:schemeClr val="bg1"/>
                </a:solidFill>
                <a:latin typeface="メイリオ" panose="020B0604030504040204" pitchFamily="50" charset="-128"/>
                <a:ea typeface="メイリオ" panose="020B0604030504040204" pitchFamily="50" charset="-128"/>
              </a:rPr>
              <a:t>バックグラウンド</a:t>
            </a:r>
            <a:r>
              <a:rPr lang="en-US" altLang="ja-JP" sz="1050">
                <a:solidFill>
                  <a:schemeClr val="bg1"/>
                </a:solidFill>
                <a:latin typeface="メイリオ" panose="020B0604030504040204" pitchFamily="50" charset="-128"/>
                <a:ea typeface="メイリオ" panose="020B0604030504040204" pitchFamily="50" charset="-128"/>
              </a:rPr>
              <a:t>)</a:t>
            </a:r>
            <a:endParaRPr lang="ja-JP" altLang="en-US" sz="105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D439077E-E6EF-1910-9042-4C5255ED661C}"/>
              </a:ext>
            </a:extLst>
          </p:cNvPr>
          <p:cNvSpPr txBox="1"/>
          <p:nvPr/>
        </p:nvSpPr>
        <p:spPr>
          <a:xfrm>
            <a:off x="15581688" y="2767155"/>
            <a:ext cx="1648208" cy="369332"/>
          </a:xfrm>
          <a:prstGeom prst="rect">
            <a:avLst/>
          </a:prstGeom>
          <a:noFill/>
        </p:spPr>
        <p:txBody>
          <a:bodyPr wrap="none" rtlCol="0">
            <a:spAutoFit/>
          </a:bodyPr>
          <a:lstStyle/>
          <a:p>
            <a:r>
              <a:rPr lang="ja-JP" altLang="en-US" sz="1800">
                <a:latin typeface="メイリオ" panose="020B0604030504040204" pitchFamily="50" charset="-128"/>
                <a:ea typeface="メイリオ" panose="020B0604030504040204" pitchFamily="50" charset="-128"/>
              </a:rPr>
              <a:t>■構成図 凡例</a:t>
            </a:r>
          </a:p>
        </p:txBody>
      </p:sp>
      <p:pic>
        <p:nvPicPr>
          <p:cNvPr id="69" name="図 68">
            <a:extLst>
              <a:ext uri="{FF2B5EF4-FFF2-40B4-BE49-F238E27FC236}">
                <a16:creationId xmlns:a16="http://schemas.microsoft.com/office/drawing/2014/main" id="{3B1BEA55-A4AE-800B-4EBE-00C81F42D490}"/>
              </a:ext>
            </a:extLst>
          </p:cNvPr>
          <p:cNvPicPr>
            <a:picLocks noChangeAspect="1"/>
          </p:cNvPicPr>
          <p:nvPr/>
        </p:nvPicPr>
        <p:blipFill rotWithShape="1">
          <a:blip r:embed="rId3"/>
          <a:srcRect l="80089" t="69813" r="4544" b="17147"/>
          <a:stretch/>
        </p:blipFill>
        <p:spPr>
          <a:xfrm>
            <a:off x="13908564" y="5820608"/>
            <a:ext cx="915426" cy="490191"/>
          </a:xfrm>
          <a:prstGeom prst="rect">
            <a:avLst/>
          </a:prstGeom>
        </p:spPr>
      </p:pic>
      <p:pic>
        <p:nvPicPr>
          <p:cNvPr id="7" name="Picture 3">
            <a:extLst>
              <a:ext uri="{FF2B5EF4-FFF2-40B4-BE49-F238E27FC236}">
                <a16:creationId xmlns:a16="http://schemas.microsoft.com/office/drawing/2014/main" id="{C791C12D-EC44-0A5A-3049-6CC673365B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985433" y="5147650"/>
            <a:ext cx="800103" cy="40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a:extLst>
              <a:ext uri="{FF2B5EF4-FFF2-40B4-BE49-F238E27FC236}">
                <a16:creationId xmlns:a16="http://schemas.microsoft.com/office/drawing/2014/main" id="{90A3A6A6-9E22-AA70-AC30-2370934FD37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967614" y="4657985"/>
            <a:ext cx="761091" cy="215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図 15">
            <a:extLst>
              <a:ext uri="{FF2B5EF4-FFF2-40B4-BE49-F238E27FC236}">
                <a16:creationId xmlns:a16="http://schemas.microsoft.com/office/drawing/2014/main" id="{4F19B742-25E8-9D8B-A171-BA9693BB117D}"/>
              </a:ext>
            </a:extLst>
          </p:cNvPr>
          <p:cNvPicPr>
            <a:picLocks noChangeAspect="1"/>
          </p:cNvPicPr>
          <p:nvPr/>
        </p:nvPicPr>
        <p:blipFill rotWithShape="1">
          <a:blip r:embed="rId6"/>
          <a:srcRect t="5267"/>
          <a:stretch/>
        </p:blipFill>
        <p:spPr>
          <a:xfrm>
            <a:off x="14103261" y="6555285"/>
            <a:ext cx="574523" cy="394236"/>
          </a:xfrm>
          <a:prstGeom prst="rect">
            <a:avLst/>
          </a:prstGeom>
        </p:spPr>
      </p:pic>
      <p:sp>
        <p:nvSpPr>
          <p:cNvPr id="22" name="正方形/長方形 21">
            <a:extLst>
              <a:ext uri="{FF2B5EF4-FFF2-40B4-BE49-F238E27FC236}">
                <a16:creationId xmlns:a16="http://schemas.microsoft.com/office/drawing/2014/main" id="{33FC7045-F0B6-A4D7-0E98-6F2891FE42B3}"/>
              </a:ext>
            </a:extLst>
          </p:cNvPr>
          <p:cNvSpPr/>
          <p:nvPr/>
        </p:nvSpPr>
        <p:spPr>
          <a:xfrm>
            <a:off x="9767353" y="4728594"/>
            <a:ext cx="505055" cy="1854255"/>
          </a:xfrm>
          <a:prstGeom prst="rect">
            <a:avLst/>
          </a:prstGeom>
          <a:solidFill>
            <a:srgbClr val="92D050"/>
          </a:solidFill>
          <a:ln>
            <a:solidFill>
              <a:srgbClr val="008000"/>
            </a:solidFill>
          </a:ln>
        </p:spPr>
        <p:style>
          <a:lnRef idx="1">
            <a:schemeClr val="accent6"/>
          </a:lnRef>
          <a:fillRef idx="2">
            <a:schemeClr val="accent6"/>
          </a:fillRef>
          <a:effectRef idx="1">
            <a:schemeClr val="accent6"/>
          </a:effectRef>
          <a:fontRef idx="minor">
            <a:schemeClr val="dk1"/>
          </a:fontRef>
        </p:style>
        <p:txBody>
          <a:bodyPr vert="eaVert" rtlCol="0" anchor="ctr"/>
          <a:lstStyle/>
          <a:p>
            <a:pPr algn="ctr"/>
            <a:r>
              <a:rPr lang="ja-JP" altLang="en-US" sz="1200"/>
              <a:t>デバイス制御ブリッジ</a:t>
            </a:r>
            <a:endParaRPr lang="en-US" altLang="ja-JP" sz="1200"/>
          </a:p>
        </p:txBody>
      </p:sp>
      <p:sp>
        <p:nvSpPr>
          <p:cNvPr id="2" name="フッター プレースホルダー 3">
            <a:extLst>
              <a:ext uri="{FF2B5EF4-FFF2-40B4-BE49-F238E27FC236}">
                <a16:creationId xmlns:a16="http://schemas.microsoft.com/office/drawing/2014/main" id="{5273FC74-F549-42F2-6547-22732236F546}"/>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pic>
        <p:nvPicPr>
          <p:cNvPr id="5" name="図 4">
            <a:extLst>
              <a:ext uri="{FF2B5EF4-FFF2-40B4-BE49-F238E27FC236}">
                <a16:creationId xmlns:a16="http://schemas.microsoft.com/office/drawing/2014/main" id="{F7B1F460-DC90-84BC-0183-5CC75B29044C}"/>
              </a:ext>
            </a:extLst>
          </p:cNvPr>
          <p:cNvPicPr>
            <a:picLocks noChangeAspect="1"/>
          </p:cNvPicPr>
          <p:nvPr/>
        </p:nvPicPr>
        <p:blipFill>
          <a:blip r:embed="rId7"/>
          <a:stretch>
            <a:fillRect/>
          </a:stretch>
        </p:blipFill>
        <p:spPr>
          <a:xfrm>
            <a:off x="6103445" y="4030345"/>
            <a:ext cx="2953723" cy="1991424"/>
          </a:xfrm>
          <a:prstGeom prst="rect">
            <a:avLst/>
          </a:prstGeom>
        </p:spPr>
      </p:pic>
      <p:cxnSp>
        <p:nvCxnSpPr>
          <p:cNvPr id="42" name="直線矢印コネクタ 41">
            <a:extLst>
              <a:ext uri="{FF2B5EF4-FFF2-40B4-BE49-F238E27FC236}">
                <a16:creationId xmlns:a16="http://schemas.microsoft.com/office/drawing/2014/main" id="{A8508217-3E1A-B5F7-547E-EB69EA147F1D}"/>
              </a:ext>
            </a:extLst>
          </p:cNvPr>
          <p:cNvCxnSpPr>
            <a:cxnSpLocks/>
            <a:endCxn id="31" idx="0"/>
          </p:cNvCxnSpPr>
          <p:nvPr/>
        </p:nvCxnSpPr>
        <p:spPr>
          <a:xfrm>
            <a:off x="4673035" y="6007255"/>
            <a:ext cx="1363701" cy="1514716"/>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1C3FD6DA-413A-324B-F5BE-701517B50E73}"/>
              </a:ext>
            </a:extLst>
          </p:cNvPr>
          <p:cNvCxnSpPr>
            <a:cxnSpLocks/>
            <a:stCxn id="31" idx="2"/>
            <a:endCxn id="36" idx="1"/>
          </p:cNvCxnSpPr>
          <p:nvPr/>
        </p:nvCxnSpPr>
        <p:spPr>
          <a:xfrm flipH="1">
            <a:off x="6031620" y="8127139"/>
            <a:ext cx="5116" cy="461269"/>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8502C7B1-1EE5-42C7-6CCB-2F4F1C4DC9D3}"/>
              </a:ext>
            </a:extLst>
          </p:cNvPr>
          <p:cNvSpPr txBox="1"/>
          <p:nvPr/>
        </p:nvSpPr>
        <p:spPr>
          <a:xfrm>
            <a:off x="7421394" y="7579604"/>
            <a:ext cx="1755609" cy="584775"/>
          </a:xfrm>
          <a:prstGeom prst="rect">
            <a:avLst/>
          </a:prstGeom>
          <a:noFill/>
        </p:spPr>
        <p:txBody>
          <a:bodyPr wrap="non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オフライン用マスター</a:t>
            </a:r>
            <a:endParaRPr kumimoji="1" lang="en-US" altLang="ja-JP" sz="1600">
              <a:solidFill>
                <a:schemeClr val="bg1">
                  <a:lumMod val="10000"/>
                </a:schemeClr>
              </a:solidFill>
              <a:latin typeface="Meiryo UI" panose="020B0604030504040204" pitchFamily="50" charset="-128"/>
              <a:ea typeface="Meiryo UI" panose="020B0604030504040204" pitchFamily="50" charset="-128"/>
            </a:endParaRPr>
          </a:p>
          <a:p>
            <a:pPr algn="l"/>
            <a:r>
              <a:rPr lang="ja-JP" altLang="en-US" sz="1600">
                <a:solidFill>
                  <a:schemeClr val="bg1">
                    <a:lumMod val="10000"/>
                  </a:schemeClr>
                </a:solidFill>
                <a:latin typeface="Meiryo UI" panose="020B0604030504040204" pitchFamily="50" charset="-128"/>
                <a:ea typeface="Meiryo UI" panose="020B0604030504040204" pitchFamily="50" charset="-128"/>
              </a:rPr>
              <a:t>リカバリデータ</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68" name="直線矢印コネクタ 67">
            <a:extLst>
              <a:ext uri="{FF2B5EF4-FFF2-40B4-BE49-F238E27FC236}">
                <a16:creationId xmlns:a16="http://schemas.microsoft.com/office/drawing/2014/main" id="{ADC413B9-7057-71EB-7DC1-8C0B2B2F1A65}"/>
              </a:ext>
            </a:extLst>
          </p:cNvPr>
          <p:cNvCxnSpPr>
            <a:cxnSpLocks/>
            <a:stCxn id="92" idx="3"/>
            <a:endCxn id="5" idx="1"/>
          </p:cNvCxnSpPr>
          <p:nvPr/>
        </p:nvCxnSpPr>
        <p:spPr>
          <a:xfrm>
            <a:off x="5556373" y="5018538"/>
            <a:ext cx="547072" cy="7519"/>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9" name="テキスト プレースホルダー 11">
            <a:extLst>
              <a:ext uri="{FF2B5EF4-FFF2-40B4-BE49-F238E27FC236}">
                <a16:creationId xmlns:a16="http://schemas.microsoft.com/office/drawing/2014/main" id="{ED536E82-291F-9D22-3D26-BD43D78D7E0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37" name="正方形/長方形 36">
            <a:extLst>
              <a:ext uri="{FF2B5EF4-FFF2-40B4-BE49-F238E27FC236}">
                <a16:creationId xmlns:a16="http://schemas.microsoft.com/office/drawing/2014/main" id="{534613E0-CDA3-360F-7E65-00104518E355}"/>
              </a:ext>
            </a:extLst>
          </p:cNvPr>
          <p:cNvSpPr/>
          <p:nvPr/>
        </p:nvSpPr>
        <p:spPr>
          <a:xfrm>
            <a:off x="10999264" y="4610463"/>
            <a:ext cx="340376" cy="2102008"/>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vert="eaVert" rtlCol="0" anchor="ctr"/>
          <a:lstStyle/>
          <a:p>
            <a:pPr algn="ctr"/>
            <a:r>
              <a:rPr lang="ja-JP" altLang="en-US" sz="1200" dirty="0"/>
              <a:t>名前付きパイプ</a:t>
            </a:r>
            <a:endParaRPr lang="en-US" altLang="ja-JP" sz="1200" dirty="0"/>
          </a:p>
        </p:txBody>
      </p:sp>
      <p:cxnSp>
        <p:nvCxnSpPr>
          <p:cNvPr id="39" name="直線矢印コネクタ 38">
            <a:extLst>
              <a:ext uri="{FF2B5EF4-FFF2-40B4-BE49-F238E27FC236}">
                <a16:creationId xmlns:a16="http://schemas.microsoft.com/office/drawing/2014/main" id="{D4068273-D144-5120-C3BF-7D89561368EF}"/>
              </a:ext>
            </a:extLst>
          </p:cNvPr>
          <p:cNvCxnSpPr>
            <a:cxnSpLocks/>
            <a:stCxn id="22" idx="3"/>
            <a:endCxn id="37" idx="1"/>
          </p:cNvCxnSpPr>
          <p:nvPr/>
        </p:nvCxnSpPr>
        <p:spPr>
          <a:xfrm>
            <a:off x="10272408" y="5655722"/>
            <a:ext cx="726856" cy="574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1728A873-5C60-68CF-CDEA-D0B9A10BB75D}"/>
              </a:ext>
            </a:extLst>
          </p:cNvPr>
          <p:cNvSpPr/>
          <p:nvPr/>
        </p:nvSpPr>
        <p:spPr>
          <a:xfrm>
            <a:off x="11593203" y="3623424"/>
            <a:ext cx="1889270" cy="4796690"/>
          </a:xfrm>
          <a:prstGeom prst="rect">
            <a:avLst/>
          </a:prstGeom>
          <a:ln/>
        </p:spPr>
        <p:style>
          <a:lnRef idx="1">
            <a:schemeClr val="accent4"/>
          </a:lnRef>
          <a:fillRef idx="2">
            <a:schemeClr val="accent4"/>
          </a:fillRef>
          <a:effectRef idx="1">
            <a:schemeClr val="accent4"/>
          </a:effectRef>
          <a:fontRef idx="minor">
            <a:schemeClr val="dk1"/>
          </a:fontRef>
        </p:style>
        <p:txBody>
          <a:bodyPr vert="horz" rtlCol="0" anchor="t" anchorCtr="0"/>
          <a:lstStyle/>
          <a:p>
            <a:pPr algn="ctr"/>
            <a:r>
              <a:rPr lang="ja-JP" altLang="en-US" sz="1500" dirty="0">
                <a:solidFill>
                  <a:schemeClr val="tx1"/>
                </a:solidFill>
              </a:rPr>
              <a:t>デバイス</a:t>
            </a:r>
            <a:endParaRPr lang="en-US" altLang="ja-JP" sz="1500" dirty="0">
              <a:solidFill>
                <a:schemeClr val="tx1"/>
              </a:solidFill>
            </a:endParaRPr>
          </a:p>
          <a:p>
            <a:pPr algn="ctr"/>
            <a:r>
              <a:rPr lang="ja-JP" altLang="en-US" sz="1500" dirty="0">
                <a:solidFill>
                  <a:schemeClr val="tx1"/>
                </a:solidFill>
              </a:rPr>
              <a:t>コネクタ</a:t>
            </a:r>
            <a:endParaRPr lang="en-US" altLang="ja-JP" sz="1500" dirty="0">
              <a:solidFill>
                <a:schemeClr val="tx1"/>
              </a:solidFill>
            </a:endParaRPr>
          </a:p>
        </p:txBody>
      </p:sp>
      <p:cxnSp>
        <p:nvCxnSpPr>
          <p:cNvPr id="48" name="直線矢印コネクタ 47">
            <a:extLst>
              <a:ext uri="{FF2B5EF4-FFF2-40B4-BE49-F238E27FC236}">
                <a16:creationId xmlns:a16="http://schemas.microsoft.com/office/drawing/2014/main" id="{E90E9267-D178-D1CE-68E4-F92ED25B175B}"/>
              </a:ext>
            </a:extLst>
          </p:cNvPr>
          <p:cNvCxnSpPr>
            <a:cxnSpLocks/>
          </p:cNvCxnSpPr>
          <p:nvPr/>
        </p:nvCxnSpPr>
        <p:spPr>
          <a:xfrm>
            <a:off x="11351554" y="5665312"/>
            <a:ext cx="241649"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C9E70BFE-B2FA-C4E1-A706-FE4459FA4728}"/>
              </a:ext>
            </a:extLst>
          </p:cNvPr>
          <p:cNvSpPr/>
          <p:nvPr/>
        </p:nvSpPr>
        <p:spPr>
          <a:xfrm>
            <a:off x="11690955" y="4535355"/>
            <a:ext cx="1693766" cy="479091"/>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ja-JP" altLang="en-US" sz="1200" dirty="0">
                <a:solidFill>
                  <a:schemeClr val="tx1"/>
                </a:solidFill>
              </a:rPr>
              <a:t>カスタマ</a:t>
            </a:r>
            <a:endParaRPr lang="en-US" altLang="ja-JP" sz="1200" dirty="0">
              <a:solidFill>
                <a:schemeClr val="tx1"/>
              </a:solidFill>
            </a:endParaRPr>
          </a:p>
          <a:p>
            <a:pPr algn="ctr"/>
            <a:r>
              <a:rPr lang="ja-JP" altLang="en-US" sz="1200" dirty="0">
                <a:solidFill>
                  <a:schemeClr val="tx1"/>
                </a:solidFill>
              </a:rPr>
              <a:t>ディスプレイ</a:t>
            </a:r>
            <a:endParaRPr lang="en-US" altLang="ja-JP" sz="1200" dirty="0">
              <a:solidFill>
                <a:schemeClr val="tx1"/>
              </a:solidFill>
            </a:endParaRPr>
          </a:p>
        </p:txBody>
      </p:sp>
      <p:sp>
        <p:nvSpPr>
          <p:cNvPr id="26" name="正方形/長方形 25">
            <a:extLst>
              <a:ext uri="{FF2B5EF4-FFF2-40B4-BE49-F238E27FC236}">
                <a16:creationId xmlns:a16="http://schemas.microsoft.com/office/drawing/2014/main" id="{7D599E79-E40E-E242-BE7D-1DAEDE5FD4E1}"/>
              </a:ext>
            </a:extLst>
          </p:cNvPr>
          <p:cNvSpPr/>
          <p:nvPr/>
        </p:nvSpPr>
        <p:spPr>
          <a:xfrm>
            <a:off x="11690955" y="5147650"/>
            <a:ext cx="1693766" cy="479091"/>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ja-JP" altLang="en-US" sz="1200">
                <a:solidFill>
                  <a:schemeClr val="tx1"/>
                </a:solidFill>
              </a:rPr>
              <a:t>ドロア</a:t>
            </a:r>
            <a:endParaRPr lang="en-US" altLang="ja-JP" sz="1200">
              <a:solidFill>
                <a:schemeClr val="tx1"/>
              </a:solidFill>
            </a:endParaRPr>
          </a:p>
        </p:txBody>
      </p:sp>
      <p:sp>
        <p:nvSpPr>
          <p:cNvPr id="32" name="正方形/長方形 31">
            <a:extLst>
              <a:ext uri="{FF2B5EF4-FFF2-40B4-BE49-F238E27FC236}">
                <a16:creationId xmlns:a16="http://schemas.microsoft.com/office/drawing/2014/main" id="{C26D5DD2-35F8-75BA-B81A-E996EE20923D}"/>
              </a:ext>
            </a:extLst>
          </p:cNvPr>
          <p:cNvSpPr/>
          <p:nvPr/>
        </p:nvSpPr>
        <p:spPr>
          <a:xfrm>
            <a:off x="11690955" y="5831098"/>
            <a:ext cx="1693766" cy="479091"/>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ja-JP" altLang="en-US" sz="1200">
                <a:solidFill>
                  <a:schemeClr val="tx1"/>
                </a:solidFill>
              </a:rPr>
              <a:t>自動釣銭機</a:t>
            </a:r>
            <a:endParaRPr lang="en-US" altLang="ja-JP" sz="1200">
              <a:solidFill>
                <a:schemeClr val="tx1"/>
              </a:solidFill>
            </a:endParaRPr>
          </a:p>
        </p:txBody>
      </p:sp>
      <p:sp>
        <p:nvSpPr>
          <p:cNvPr id="34" name="正方形/長方形 33">
            <a:extLst>
              <a:ext uri="{FF2B5EF4-FFF2-40B4-BE49-F238E27FC236}">
                <a16:creationId xmlns:a16="http://schemas.microsoft.com/office/drawing/2014/main" id="{B6D08AEA-B3BB-FEF6-4CC8-507F71AB8E60}"/>
              </a:ext>
            </a:extLst>
          </p:cNvPr>
          <p:cNvSpPr/>
          <p:nvPr/>
        </p:nvSpPr>
        <p:spPr>
          <a:xfrm>
            <a:off x="11690955" y="6510721"/>
            <a:ext cx="1693766" cy="479091"/>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ja-JP" altLang="en-US" sz="1200">
                <a:solidFill>
                  <a:schemeClr val="tx1"/>
                </a:solidFill>
              </a:rPr>
              <a:t>決済端末</a:t>
            </a:r>
            <a:endParaRPr lang="en-US" altLang="ja-JP" sz="1200">
              <a:solidFill>
                <a:schemeClr val="tx1"/>
              </a:solidFill>
            </a:endParaRPr>
          </a:p>
        </p:txBody>
      </p:sp>
      <p:cxnSp>
        <p:nvCxnSpPr>
          <p:cNvPr id="70" name="直線矢印コネクタ 69">
            <a:extLst>
              <a:ext uri="{FF2B5EF4-FFF2-40B4-BE49-F238E27FC236}">
                <a16:creationId xmlns:a16="http://schemas.microsoft.com/office/drawing/2014/main" id="{B5678F38-E813-1513-46CC-DE150A32EB60}"/>
              </a:ext>
            </a:extLst>
          </p:cNvPr>
          <p:cNvCxnSpPr>
            <a:cxnSpLocks/>
            <a:stCxn id="32" idx="3"/>
            <a:endCxn id="69" idx="1"/>
          </p:cNvCxnSpPr>
          <p:nvPr/>
        </p:nvCxnSpPr>
        <p:spPr>
          <a:xfrm flipV="1">
            <a:off x="13384721" y="6065704"/>
            <a:ext cx="523843" cy="494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24255F2D-8EB3-37F7-E1D1-5B8E6F54B6E3}"/>
              </a:ext>
            </a:extLst>
          </p:cNvPr>
          <p:cNvCxnSpPr>
            <a:cxnSpLocks/>
          </p:cNvCxnSpPr>
          <p:nvPr/>
        </p:nvCxnSpPr>
        <p:spPr>
          <a:xfrm flipV="1">
            <a:off x="13393630" y="4756535"/>
            <a:ext cx="582893" cy="9183"/>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3" name="直線矢印コネクタ 512">
            <a:extLst>
              <a:ext uri="{FF2B5EF4-FFF2-40B4-BE49-F238E27FC236}">
                <a16:creationId xmlns:a16="http://schemas.microsoft.com/office/drawing/2014/main" id="{A72ECB62-9A70-1AF6-9414-F2F05051EBD8}"/>
              </a:ext>
            </a:extLst>
          </p:cNvPr>
          <p:cNvCxnSpPr>
            <a:cxnSpLocks/>
            <a:endCxn id="7" idx="1"/>
          </p:cNvCxnSpPr>
          <p:nvPr/>
        </p:nvCxnSpPr>
        <p:spPr>
          <a:xfrm flipV="1">
            <a:off x="13384721" y="5352007"/>
            <a:ext cx="600712" cy="516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0" name="直線矢印コネクタ 519">
            <a:extLst>
              <a:ext uri="{FF2B5EF4-FFF2-40B4-BE49-F238E27FC236}">
                <a16:creationId xmlns:a16="http://schemas.microsoft.com/office/drawing/2014/main" id="{CA3866AB-02B1-F9F1-8999-B16378F414E9}"/>
              </a:ext>
            </a:extLst>
          </p:cNvPr>
          <p:cNvCxnSpPr>
            <a:cxnSpLocks/>
            <a:endCxn id="16" idx="1"/>
          </p:cNvCxnSpPr>
          <p:nvPr/>
        </p:nvCxnSpPr>
        <p:spPr>
          <a:xfrm>
            <a:off x="13393630" y="6752403"/>
            <a:ext cx="709631"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86704574-3B9C-4C24-48AC-80F307577A0C}"/>
              </a:ext>
            </a:extLst>
          </p:cNvPr>
          <p:cNvSpPr/>
          <p:nvPr/>
        </p:nvSpPr>
        <p:spPr>
          <a:xfrm>
            <a:off x="15664964" y="5985709"/>
            <a:ext cx="2016244" cy="479091"/>
          </a:xfrm>
          <a:prstGeom prst="rect">
            <a:avLst/>
          </a:prstGeom>
          <a:solidFill>
            <a:schemeClr val="accent4"/>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ja-JP" sz="1200" dirty="0">
                <a:solidFill>
                  <a:schemeClr val="tx1"/>
                </a:solidFill>
              </a:rPr>
              <a:t>OCX</a:t>
            </a:r>
          </a:p>
        </p:txBody>
      </p:sp>
      <p:sp>
        <p:nvSpPr>
          <p:cNvPr id="74" name="正方形/長方形 73">
            <a:extLst>
              <a:ext uri="{FF2B5EF4-FFF2-40B4-BE49-F238E27FC236}">
                <a16:creationId xmlns:a16="http://schemas.microsoft.com/office/drawing/2014/main" id="{9EFFCD5E-33FE-37ED-AF4E-7B4D82411206}"/>
              </a:ext>
            </a:extLst>
          </p:cNvPr>
          <p:cNvSpPr/>
          <p:nvPr/>
        </p:nvSpPr>
        <p:spPr>
          <a:xfrm>
            <a:off x="15645415" y="5081576"/>
            <a:ext cx="2016244" cy="479091"/>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ja-JP" altLang="en-US" sz="1200" dirty="0">
                <a:solidFill>
                  <a:schemeClr val="tx1"/>
                </a:solidFill>
              </a:rPr>
              <a:t>デバイスコネクタ</a:t>
            </a:r>
            <a:endParaRPr lang="en-US" altLang="ja-JP" sz="1200" dirty="0">
              <a:solidFill>
                <a:schemeClr val="tx1"/>
              </a:solidFill>
            </a:endParaRPr>
          </a:p>
        </p:txBody>
      </p:sp>
    </p:spTree>
    <p:extLst>
      <p:ext uri="{BB962C8B-B14F-4D97-AF65-F5344CB8AC3E}">
        <p14:creationId xmlns:p14="http://schemas.microsoft.com/office/powerpoint/2010/main" val="3052918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86D00-3BB3-F498-0811-C47518A57F35}"/>
            </a:ext>
          </a:extLst>
        </p:cNvPr>
        <p:cNvGrpSpPr/>
        <p:nvPr/>
      </p:nvGrpSpPr>
      <p:grpSpPr>
        <a:xfrm>
          <a:off x="0" y="0"/>
          <a:ext cx="0" cy="0"/>
          <a:chOff x="0" y="0"/>
          <a:chExt cx="0" cy="0"/>
        </a:xfrm>
      </p:grpSpPr>
      <p:sp>
        <p:nvSpPr>
          <p:cNvPr id="10" name="スライド番号プレースホルダー 9">
            <a:extLst>
              <a:ext uri="{FF2B5EF4-FFF2-40B4-BE49-F238E27FC236}">
                <a16:creationId xmlns:a16="http://schemas.microsoft.com/office/drawing/2014/main" id="{B4E334B5-0320-124D-11F4-4308AD8BC990}"/>
              </a:ext>
            </a:extLst>
          </p:cNvPr>
          <p:cNvSpPr>
            <a:spLocks noGrp="1"/>
          </p:cNvSpPr>
          <p:nvPr>
            <p:ph type="sldNum" sz="quarter" idx="12"/>
          </p:nvPr>
        </p:nvSpPr>
        <p:spPr/>
        <p:txBody>
          <a:bodyPr/>
          <a:lstStyle/>
          <a:p>
            <a:fld id="{2A9E37A5-A917-4235-ABF6-8CD72E894915}" type="slidenum">
              <a:rPr lang="en-US" altLang="ja-JP" smtClean="0"/>
              <a:pPr/>
              <a:t>34</a:t>
            </a:fld>
            <a:endParaRPr lang="ja-JP" altLang="en-US"/>
          </a:p>
        </p:txBody>
      </p:sp>
      <p:sp>
        <p:nvSpPr>
          <p:cNvPr id="8" name="タイトル 1">
            <a:extLst>
              <a:ext uri="{FF2B5EF4-FFF2-40B4-BE49-F238E27FC236}">
                <a16:creationId xmlns:a16="http://schemas.microsoft.com/office/drawing/2014/main" id="{85D9182D-ACAB-BE1F-74E8-7E5B13FA673B}"/>
              </a:ext>
            </a:extLst>
          </p:cNvPr>
          <p:cNvSpPr>
            <a:spLocks noGrp="1"/>
          </p:cNvSpPr>
          <p:nvPr>
            <p:ph type="title"/>
          </p:nvPr>
        </p:nvSpPr>
        <p:spPr>
          <a:xfrm>
            <a:off x="383382" y="438151"/>
            <a:ext cx="15513843" cy="414338"/>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６－２</a:t>
            </a:r>
            <a:r>
              <a:rPr lang="en-US" altLang="ja-JP" dirty="0"/>
              <a:t>.</a:t>
            </a:r>
            <a:r>
              <a:rPr lang="ja-JP" altLang="en-US" dirty="0"/>
              <a:t>　</a:t>
            </a:r>
            <a:r>
              <a:rPr lang="ja-JP" altLang="en-US" dirty="0">
                <a:latin typeface="Meiryo UI" panose="020B0604030504040204" pitchFamily="50" charset="-128"/>
                <a:ea typeface="Meiryo UI" panose="020B0604030504040204" pitchFamily="50" charset="-128"/>
              </a:rPr>
              <a:t>マルチデバイス対応（３）</a:t>
            </a:r>
            <a:r>
              <a:rPr lang="en-US" altLang="ja-JP" dirty="0">
                <a:latin typeface="Meiryo UI" panose="020B0604030504040204" pitchFamily="50" charset="-128"/>
                <a:ea typeface="Meiryo UI" panose="020B0604030504040204" pitchFamily="50" charset="-128"/>
              </a:rPr>
              <a:t>Windows</a:t>
            </a:r>
            <a:r>
              <a:rPr lang="ja-JP" altLang="en-US" dirty="0"/>
              <a:t>（レガシー</a:t>
            </a:r>
            <a:r>
              <a:rPr lang="en-US" altLang="ja-JP" dirty="0"/>
              <a:t>OCX</a:t>
            </a:r>
            <a:r>
              <a:rPr lang="ja-JP" altLang="en-US" dirty="0"/>
              <a:t>デバイス）</a:t>
            </a:r>
            <a:endParaRPr lang="ja-JP" altLang="en-US" dirty="0">
              <a:latin typeface="Meiryo UI" panose="020B0604030504040204" pitchFamily="50" charset="-128"/>
              <a:ea typeface="Meiryo UI" panose="020B0604030504040204" pitchFamily="50" charset="-128"/>
            </a:endParaRPr>
          </a:p>
        </p:txBody>
      </p:sp>
      <p:sp>
        <p:nvSpPr>
          <p:cNvPr id="165" name="テキスト ボックス 164">
            <a:extLst>
              <a:ext uri="{FF2B5EF4-FFF2-40B4-BE49-F238E27FC236}">
                <a16:creationId xmlns:a16="http://schemas.microsoft.com/office/drawing/2014/main" id="{2734B3C6-99EB-0B79-56A1-C4111584F0E3}"/>
              </a:ext>
            </a:extLst>
          </p:cNvPr>
          <p:cNvSpPr txBox="1"/>
          <p:nvPr/>
        </p:nvSpPr>
        <p:spPr>
          <a:xfrm>
            <a:off x="650606" y="1207321"/>
            <a:ext cx="17199585" cy="8728679"/>
          </a:xfrm>
          <a:prstGeom prst="rect">
            <a:avLst/>
          </a:prstGeom>
          <a:noFill/>
        </p:spPr>
        <p:txBody>
          <a:bodyPr wrap="square" lIns="0" tIns="0" rIns="0" bIns="0" rtlCol="0">
            <a:noAutofit/>
          </a:bodyPr>
          <a:lstStyle/>
          <a:p>
            <a:r>
              <a:rPr lang="ja-JP" altLang="en-US" sz="2400" dirty="0">
                <a:latin typeface="メイリオ" panose="020B0604030504040204" pitchFamily="50" charset="-128"/>
                <a:ea typeface="メイリオ" panose="020B0604030504040204" pitchFamily="50" charset="-128"/>
              </a:rPr>
              <a:t>現行</a:t>
            </a:r>
            <a:r>
              <a:rPr lang="en-US" altLang="ja-JP" sz="2400" dirty="0">
                <a:latin typeface="メイリオ" panose="020B0604030504040204" pitchFamily="50" charset="-128"/>
                <a:ea typeface="メイリオ" panose="020B0604030504040204" pitchFamily="50" charset="-128"/>
              </a:rPr>
              <a:t>POS</a:t>
            </a:r>
            <a:r>
              <a:rPr lang="ja-JP" altLang="en-US" sz="2400" dirty="0">
                <a:latin typeface="メイリオ" panose="020B0604030504040204" pitchFamily="50" charset="-128"/>
                <a:ea typeface="メイリオ" panose="020B0604030504040204" pitchFamily="50" charset="-128"/>
              </a:rPr>
              <a:t>の</a:t>
            </a:r>
            <a:r>
              <a:rPr lang="en-US" altLang="ja-JP" sz="2400" dirty="0">
                <a:latin typeface="メイリオ" panose="020B0604030504040204" pitchFamily="50" charset="-128"/>
                <a:ea typeface="メイリオ" panose="020B0604030504040204" pitchFamily="50" charset="-128"/>
              </a:rPr>
              <a:t>OCX</a:t>
            </a:r>
            <a:r>
              <a:rPr lang="ja-JP" altLang="en-US" sz="2400" dirty="0">
                <a:latin typeface="メイリオ" panose="020B0604030504040204" pitchFamily="50" charset="-128"/>
                <a:ea typeface="メイリオ" panose="020B0604030504040204" pitchFamily="50" charset="-128"/>
              </a:rPr>
              <a:t>使用デバイス対応</a:t>
            </a:r>
            <a:endParaRPr lang="en-US" altLang="ja-JP" sz="2400" dirty="0">
              <a:latin typeface="メイリオ" panose="020B0604030504040204" pitchFamily="50" charset="-128"/>
              <a:ea typeface="メイリオ" panose="020B0604030504040204" pitchFamily="50" charset="-128"/>
            </a:endParaRPr>
          </a:p>
          <a:p>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前提</a:t>
            </a:r>
            <a:r>
              <a:rPr lang="en-US" altLang="ja-JP" sz="2000" dirty="0">
                <a:latin typeface="メイリオ" panose="020B0604030504040204" pitchFamily="50" charset="-128"/>
                <a:ea typeface="メイリオ" panose="020B0604030504040204" pitchFamily="50" charset="-128"/>
              </a:rPr>
              <a:t>]</a:t>
            </a:r>
          </a:p>
          <a:p>
            <a:r>
              <a:rPr lang="ja-JP" altLang="en-US" sz="2000" dirty="0">
                <a:latin typeface="メイリオ" panose="020B0604030504040204" pitchFamily="50" charset="-128"/>
                <a:ea typeface="メイリオ" panose="020B0604030504040204" pitchFamily="50" charset="-128"/>
              </a:rPr>
              <a:t>現行</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で使用している以下のデバイスについては、レガシー</a:t>
            </a:r>
            <a:r>
              <a:rPr lang="en-US" altLang="ja-JP" sz="2000" dirty="0">
                <a:latin typeface="メイリオ" panose="020B0604030504040204" pitchFamily="50" charset="-128"/>
                <a:ea typeface="メイリオ" panose="020B0604030504040204" pitchFamily="50" charset="-128"/>
              </a:rPr>
              <a:t>OCX</a:t>
            </a:r>
            <a:r>
              <a:rPr lang="ja-JP" altLang="en-US" sz="2000" dirty="0">
                <a:latin typeface="メイリオ" panose="020B0604030504040204" pitchFamily="50" charset="-128"/>
                <a:ea typeface="メイリオ" panose="020B0604030504040204" pitchFamily="50" charset="-128"/>
              </a:rPr>
              <a:t>経由でのデバイス制御が必須である。</a:t>
            </a:r>
            <a:endParaRPr lang="en-US" altLang="ja-JP" sz="2000" dirty="0">
              <a:latin typeface="メイリオ" panose="020B0604030504040204" pitchFamily="50" charset="-128"/>
              <a:ea typeface="メイリオ" panose="020B0604030504040204" pitchFamily="50" charset="-128"/>
            </a:endParaRPr>
          </a:p>
          <a:p>
            <a:r>
              <a:rPr lang="ja-JP" altLang="en-US" sz="2000" dirty="0">
                <a:latin typeface="メイリオ" panose="020B0604030504040204" pitchFamily="50" charset="-128"/>
                <a:ea typeface="メイリオ" panose="020B0604030504040204" pitchFamily="50" charset="-128"/>
              </a:rPr>
              <a:t>・カスタマディスプレイ：</a:t>
            </a:r>
            <a:r>
              <a:rPr lang="en-US" altLang="ja-JP" sz="2000" dirty="0">
                <a:latin typeface="メイリオ" panose="020B0604030504040204" pitchFamily="50" charset="-128"/>
                <a:ea typeface="メイリオ" panose="020B0604030504040204" pitchFamily="50" charset="-128"/>
              </a:rPr>
              <a:t>SHARP RZ-4DP1</a:t>
            </a:r>
          </a:p>
          <a:p>
            <a:r>
              <a:rPr lang="ja-JP" altLang="en-US" sz="2000" dirty="0">
                <a:latin typeface="メイリオ" panose="020B0604030504040204" pitchFamily="50" charset="-128"/>
                <a:ea typeface="メイリオ" panose="020B0604030504040204" pitchFamily="50" charset="-128"/>
              </a:rPr>
              <a:t>・ドロア：</a:t>
            </a:r>
            <a:r>
              <a:rPr lang="en-US" altLang="ja-JP" sz="2000" dirty="0">
                <a:latin typeface="メイリオ" panose="020B0604030504040204" pitchFamily="50" charset="-128"/>
                <a:ea typeface="メイリオ" panose="020B0604030504040204" pitchFamily="50" charset="-128"/>
              </a:rPr>
              <a:t>SHARP UP-J36DW3</a:t>
            </a:r>
          </a:p>
          <a:p>
            <a:r>
              <a:rPr lang="ja-JP" altLang="en-US" sz="2000" dirty="0">
                <a:latin typeface="メイリオ" panose="020B0604030504040204" pitchFamily="50" charset="-128"/>
                <a:ea typeface="メイリオ" panose="020B0604030504040204" pitchFamily="50" charset="-128"/>
              </a:rPr>
              <a:t>・自動釣銭機：</a:t>
            </a:r>
            <a:r>
              <a:rPr lang="en-US" altLang="ja-JP" sz="2000" dirty="0">
                <a:latin typeface="メイリオ" panose="020B0604030504040204" pitchFamily="50" charset="-128"/>
                <a:ea typeface="メイリオ" panose="020B0604030504040204" pitchFamily="50" charset="-128"/>
              </a:rPr>
              <a:t>GLORY RT-300</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RAD-300</a:t>
            </a:r>
          </a:p>
          <a:p>
            <a:r>
              <a:rPr lang="ja-JP" altLang="en-US" sz="2000" dirty="0">
                <a:latin typeface="メイリオ" panose="020B0604030504040204" pitchFamily="50" charset="-128"/>
                <a:ea typeface="メイリオ" panose="020B0604030504040204" pitchFamily="50" charset="-128"/>
              </a:rPr>
              <a:t>・決済端末：</a:t>
            </a:r>
            <a:r>
              <a:rPr lang="en-US" altLang="ja-JP" sz="2000" dirty="0" err="1">
                <a:latin typeface="メイリオ" panose="020B0604030504040204" pitchFamily="50" charset="-128"/>
                <a:ea typeface="メイリオ" panose="020B0604030504040204" pitchFamily="50" charset="-128"/>
              </a:rPr>
              <a:t>CAFISArch</a:t>
            </a:r>
            <a:r>
              <a:rPr lang="en-US" altLang="ja-JP" sz="2000" dirty="0">
                <a:latin typeface="メイリオ" panose="020B0604030504040204" pitchFamily="50" charset="-128"/>
                <a:ea typeface="メイリオ" panose="020B0604030504040204" pitchFamily="50" charset="-128"/>
              </a:rPr>
              <a:t> Saturn</a:t>
            </a:r>
          </a:p>
          <a:p>
            <a:r>
              <a:rPr lang="ja-JP" altLang="en-US" sz="2000" dirty="0">
                <a:latin typeface="メイリオ" panose="020B0604030504040204" pitchFamily="50" charset="-128"/>
                <a:ea typeface="メイリオ" panose="020B0604030504040204" pitchFamily="50" charset="-128"/>
              </a:rPr>
              <a:t>これらのデバイスは各ベンダ提供の</a:t>
            </a:r>
            <a:r>
              <a:rPr lang="en-US" altLang="ja-JP" sz="2000" dirty="0">
                <a:latin typeface="メイリオ" panose="020B0604030504040204" pitchFamily="50" charset="-128"/>
                <a:ea typeface="メイリオ" panose="020B0604030504040204" pitchFamily="50" charset="-128"/>
              </a:rPr>
              <a:t>OCX</a:t>
            </a:r>
            <a:r>
              <a:rPr lang="ja-JP" altLang="en-US" sz="2000" dirty="0">
                <a:latin typeface="メイリオ" panose="020B0604030504040204" pitchFamily="50" charset="-128"/>
                <a:ea typeface="メイリオ" panose="020B0604030504040204" pitchFamily="50" charset="-128"/>
              </a:rPr>
              <a:t>コンポーネントに依存しており、タブレット</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アプリからの直接制御が出来ない。</a:t>
            </a:r>
            <a:endParaRPr lang="en-US" altLang="ja-JP" sz="2000" dirty="0">
              <a:latin typeface="メイリオ" panose="020B0604030504040204" pitchFamily="50" charset="-128"/>
              <a:ea typeface="メイリオ" panose="020B0604030504040204" pitchFamily="50" charset="-128"/>
            </a:endParaRPr>
          </a:p>
          <a:p>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課題</a:t>
            </a:r>
            <a:r>
              <a:rPr lang="en-US" altLang="ja-JP" sz="2000" dirty="0">
                <a:latin typeface="メイリオ" panose="020B0604030504040204" pitchFamily="50" charset="-128"/>
                <a:ea typeface="メイリオ" panose="020B0604030504040204" pitchFamily="50" charset="-128"/>
              </a:rPr>
              <a:t>]</a:t>
            </a:r>
          </a:p>
          <a:p>
            <a:r>
              <a:rPr lang="ja-JP" altLang="en-US" sz="2000" dirty="0">
                <a:latin typeface="メイリオ" panose="020B0604030504040204" pitchFamily="50" charset="-128"/>
                <a:ea typeface="メイリオ" panose="020B0604030504040204" pitchFamily="50" charset="-128"/>
              </a:rPr>
              <a:t>上記のデバイスで使用しているレガシー</a:t>
            </a:r>
            <a:r>
              <a:rPr lang="en-US" altLang="ja-JP" sz="2000" dirty="0">
                <a:latin typeface="メイリオ" panose="020B0604030504040204" pitchFamily="50" charset="-128"/>
                <a:ea typeface="メイリオ" panose="020B0604030504040204" pitchFamily="50" charset="-128"/>
              </a:rPr>
              <a:t>OCX</a:t>
            </a:r>
            <a:r>
              <a:rPr lang="ja-JP" altLang="en-US" sz="2000" dirty="0">
                <a:latin typeface="メイリオ" panose="020B0604030504040204" pitchFamily="50" charset="-128"/>
                <a:ea typeface="メイリオ" panose="020B0604030504040204" pitchFamily="50" charset="-128"/>
              </a:rPr>
              <a:t>動作環境はタブレット</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アプリ実行環境で動作保証対象外のため、後述する方針で対応する。</a:t>
            </a:r>
            <a:endParaRPr lang="en-US" altLang="ja-JP" sz="2000" dirty="0">
              <a:latin typeface="メイリオ" panose="020B0604030504040204" pitchFamily="50" charset="-128"/>
              <a:ea typeface="メイリオ" panose="020B0604030504040204" pitchFamily="50" charset="-128"/>
            </a:endParaRPr>
          </a:p>
          <a:p>
            <a:endParaRPr lang="en-US" altLang="ja-JP" sz="2000" dirty="0">
              <a:latin typeface="メイリオ" panose="020B0604030504040204" pitchFamily="50" charset="-128"/>
              <a:ea typeface="メイリオ" panose="020B0604030504040204" pitchFamily="50" charset="-128"/>
            </a:endParaRPr>
          </a:p>
          <a:p>
            <a:endParaRPr lang="en-US" altLang="ja-JP" sz="2000" dirty="0">
              <a:latin typeface="メイリオ" panose="020B0604030504040204" pitchFamily="50" charset="-128"/>
              <a:ea typeface="メイリオ" panose="020B0604030504040204" pitchFamily="50" charset="-128"/>
            </a:endParaRPr>
          </a:p>
          <a:p>
            <a:endParaRPr lang="en-US" altLang="ja-JP" sz="2000" dirty="0">
              <a:latin typeface="メイリオ" panose="020B0604030504040204" pitchFamily="50" charset="-128"/>
              <a:ea typeface="メイリオ" panose="020B0604030504040204" pitchFamily="50" charset="-128"/>
            </a:endParaRPr>
          </a:p>
          <a:p>
            <a:endParaRPr lang="en-US" altLang="ja-JP" sz="2000" dirty="0">
              <a:latin typeface="メイリオ" panose="020B0604030504040204" pitchFamily="50" charset="-128"/>
              <a:ea typeface="メイリオ" panose="020B0604030504040204" pitchFamily="50" charset="-128"/>
            </a:endParaRPr>
          </a:p>
          <a:p>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対応方針</a:t>
            </a:r>
            <a:r>
              <a:rPr lang="en-US" altLang="ja-JP" sz="2000" dirty="0">
                <a:latin typeface="メイリオ" panose="020B0604030504040204" pitchFamily="50" charset="-128"/>
                <a:ea typeface="メイリオ" panose="020B0604030504040204" pitchFamily="50" charset="-128"/>
              </a:rPr>
              <a:t>]</a:t>
            </a:r>
          </a:p>
          <a:p>
            <a:r>
              <a:rPr lang="ja-JP" altLang="en-US" sz="2000" dirty="0">
                <a:latin typeface="メイリオ" panose="020B0604030504040204" pitchFamily="50" charset="-128"/>
                <a:ea typeface="メイリオ" panose="020B0604030504040204" pitchFamily="50" charset="-128"/>
              </a:rPr>
              <a:t>以下の方式により、デバイス制御を実施する。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en-US" altLang="ja-JP" sz="2000" dirty="0">
                <a:latin typeface="メイリオ" panose="020B0604030504040204" pitchFamily="50" charset="-128"/>
                <a:ea typeface="メイリオ" panose="020B0604030504040204" pitchFamily="50" charset="-128"/>
              </a:rPr>
              <a:t>x84</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.NET Framework 4.8</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C#</a:t>
            </a:r>
            <a:r>
              <a:rPr lang="ja-JP" altLang="en-US" sz="2000" dirty="0">
                <a:latin typeface="メイリオ" panose="020B0604030504040204" pitchFamily="50" charset="-128"/>
                <a:ea typeface="メイリオ" panose="020B0604030504040204" pitchFamily="50" charset="-128"/>
              </a:rPr>
              <a:t>でデバイスコネクタサービスを構築する。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デバイスコネクタサービスは、タブレット</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アプリとは別プロセスで実行する。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タブレット</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アプリは、デバイスコネクタサービスの常駐状況を監視し、プロセス未実行の場合は、デバイスコネクタサービスを実行する。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タブレット</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アプリは、名前付きパイプ（</a:t>
            </a:r>
            <a:r>
              <a:rPr lang="en-US" altLang="ja-JP" sz="2000" dirty="0">
                <a:latin typeface="メイリオ" panose="020B0604030504040204" pitchFamily="50" charset="-128"/>
                <a:ea typeface="メイリオ" panose="020B0604030504040204" pitchFamily="50" charset="-128"/>
              </a:rPr>
              <a:t>Named Pipe</a:t>
            </a:r>
            <a:r>
              <a:rPr lang="ja-JP" altLang="en-US" sz="2000" dirty="0">
                <a:latin typeface="メイリオ" panose="020B0604030504040204" pitchFamily="50" charset="-128"/>
                <a:ea typeface="メイリオ" panose="020B0604030504040204" pitchFamily="50" charset="-128"/>
              </a:rPr>
              <a:t>）によりデバイスコネクタサービスと通信する。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デバイスコネクタサービスは、各デバイスの</a:t>
            </a:r>
            <a:r>
              <a:rPr lang="en-US" altLang="ja-JP" sz="2000" dirty="0">
                <a:latin typeface="メイリオ" panose="020B0604030504040204" pitchFamily="50" charset="-128"/>
                <a:ea typeface="メイリオ" panose="020B0604030504040204" pitchFamily="50" charset="-128"/>
              </a:rPr>
              <a:t>OCX</a:t>
            </a:r>
            <a:r>
              <a:rPr lang="ja-JP" altLang="en-US" sz="2000" dirty="0">
                <a:latin typeface="メイリオ" panose="020B0604030504040204" pitchFamily="50" charset="-128"/>
                <a:ea typeface="メイリオ" panose="020B0604030504040204" pitchFamily="50" charset="-128"/>
              </a:rPr>
              <a:t>を介して、各デバイスの制御を行う。</a:t>
            </a:r>
            <a:endParaRPr lang="en-US" altLang="ja-JP" sz="2000" dirty="0">
              <a:latin typeface="メイリオ" panose="020B0604030504040204" pitchFamily="50" charset="-128"/>
              <a:ea typeface="メイリオ" panose="020B0604030504040204" pitchFamily="50" charset="-128"/>
            </a:endParaRPr>
          </a:p>
          <a:p>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留意事項</a:t>
            </a:r>
            <a:r>
              <a:rPr lang="en-US" altLang="ja-JP" sz="2000" dirty="0">
                <a:latin typeface="メイリオ" panose="020B0604030504040204" pitchFamily="50" charset="-128"/>
                <a:ea typeface="メイリオ" panose="020B0604030504040204" pitchFamily="50" charset="-128"/>
              </a:rPr>
              <a:t>]</a:t>
            </a:r>
          </a:p>
          <a:p>
            <a:r>
              <a:rPr lang="ja-JP" altLang="en-US" sz="2000" dirty="0">
                <a:latin typeface="メイリオ" panose="020B0604030504040204" pitchFamily="50" charset="-128"/>
                <a:ea typeface="メイリオ" panose="020B0604030504040204" pitchFamily="50" charset="-128"/>
              </a:rPr>
              <a:t>デバイスコネクタサービスは、現行</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で使用しているデバイスの継続利用を目的として構築している。このため、</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デバイスコネクタサービスは、</a:t>
            </a:r>
            <a:r>
              <a:rPr lang="en-US" altLang="ja-JP" sz="2000" dirty="0">
                <a:latin typeface="メイリオ" panose="020B0604030504040204" pitchFamily="50" charset="-128"/>
                <a:ea typeface="メイリオ" panose="020B0604030504040204" pitchFamily="50" charset="-128"/>
              </a:rPr>
              <a:t>windows</a:t>
            </a:r>
            <a:r>
              <a:rPr lang="ja-JP" altLang="en-US" sz="2000" dirty="0">
                <a:latin typeface="メイリオ" panose="020B0604030504040204" pitchFamily="50" charset="-128"/>
                <a:ea typeface="メイリオ" panose="020B0604030504040204" pitchFamily="50" charset="-128"/>
              </a:rPr>
              <a:t>限定とする。</a:t>
            </a:r>
            <a:r>
              <a:rPr lang="en-US" altLang="ja-JP" sz="2000" dirty="0">
                <a:latin typeface="メイリオ" panose="020B0604030504040204" pitchFamily="50" charset="-128"/>
                <a:ea typeface="メイリオ" panose="020B0604030504040204" pitchFamily="50" charset="-128"/>
              </a:rPr>
              <a:t>iPad</a:t>
            </a:r>
            <a:r>
              <a:rPr lang="ja-JP" altLang="en-US" sz="2000" dirty="0">
                <a:latin typeface="メイリオ" panose="020B0604030504040204" pitchFamily="50" charset="-128"/>
                <a:ea typeface="メイリオ" panose="020B0604030504040204" pitchFamily="50" charset="-128"/>
              </a:rPr>
              <a:t>には対応しない。</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デバイスコネクタサービスは、ストラテジーパターンが未適用である。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今後追加するデバイスにおいては、デバイスコネクタサービスの利用を前提としない（レガシー</a:t>
            </a:r>
            <a:r>
              <a:rPr lang="en-US" altLang="ja-JP" sz="2000" dirty="0">
                <a:latin typeface="メイリオ" panose="020B0604030504040204" pitchFamily="50" charset="-128"/>
                <a:ea typeface="メイリオ" panose="020B0604030504040204" pitchFamily="50" charset="-128"/>
              </a:rPr>
              <a:t>OCX</a:t>
            </a:r>
            <a:r>
              <a:rPr lang="ja-JP" altLang="en-US" sz="2000" dirty="0">
                <a:latin typeface="メイリオ" panose="020B0604030504040204" pitchFamily="50" charset="-128"/>
                <a:ea typeface="メイリオ" panose="020B0604030504040204" pitchFamily="50" charset="-128"/>
              </a:rPr>
              <a:t>経由を前提としない）デバイスを選定する方針とする。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dirty="0">
                <a:latin typeface="メイリオ" panose="020B0604030504040204" pitchFamily="50" charset="-128"/>
                <a:ea typeface="メイリオ" panose="020B0604030504040204" pitchFamily="50" charset="-128"/>
              </a:rPr>
              <a:t>デバイスコネクタサービスは、現行</a:t>
            </a:r>
            <a:r>
              <a:rPr lang="en-US" altLang="ja-JP" sz="2000" dirty="0">
                <a:latin typeface="メイリオ" panose="020B0604030504040204" pitchFamily="50" charset="-128"/>
                <a:ea typeface="メイリオ" panose="020B0604030504040204" pitchFamily="50" charset="-128"/>
              </a:rPr>
              <a:t>POS</a:t>
            </a:r>
            <a:r>
              <a:rPr lang="ja-JP" altLang="en-US" sz="2000" dirty="0">
                <a:latin typeface="メイリオ" panose="020B0604030504040204" pitchFamily="50" charset="-128"/>
                <a:ea typeface="メイリオ" panose="020B0604030504040204" pitchFamily="50" charset="-128"/>
              </a:rPr>
              <a:t>との並行稼働期間が終了し、レガシー</a:t>
            </a:r>
            <a:r>
              <a:rPr lang="en-US" altLang="ja-JP" sz="2000" dirty="0">
                <a:latin typeface="メイリオ" panose="020B0604030504040204" pitchFamily="50" charset="-128"/>
                <a:ea typeface="メイリオ" panose="020B0604030504040204" pitchFamily="50" charset="-128"/>
              </a:rPr>
              <a:t>OCX</a:t>
            </a:r>
            <a:r>
              <a:rPr lang="ja-JP" altLang="en-US" sz="2000" dirty="0">
                <a:latin typeface="メイリオ" panose="020B0604030504040204" pitchFamily="50" charset="-128"/>
                <a:ea typeface="メイリオ" panose="020B0604030504040204" pitchFamily="50" charset="-128"/>
              </a:rPr>
              <a:t>依存デバイスが撤廃したタイミングで廃止とする。</a:t>
            </a:r>
            <a:endParaRPr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endParaRPr lang="en-US" altLang="ja-JP" sz="2000" dirty="0">
              <a:latin typeface="メイリオ" panose="020B0604030504040204" pitchFamily="50" charset="-128"/>
              <a:ea typeface="メイリオ" panose="020B0604030504040204" pitchFamily="50" charset="-128"/>
            </a:endParaRPr>
          </a:p>
        </p:txBody>
      </p:sp>
      <p:sp>
        <p:nvSpPr>
          <p:cNvPr id="2" name="フッター プレースホルダー 3">
            <a:extLst>
              <a:ext uri="{FF2B5EF4-FFF2-40B4-BE49-F238E27FC236}">
                <a16:creationId xmlns:a16="http://schemas.microsoft.com/office/drawing/2014/main" id="{1046FFDA-7F1F-DB02-46CC-904F20CD3353}"/>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graphicFrame>
        <p:nvGraphicFramePr>
          <p:cNvPr id="11" name="表 10">
            <a:extLst>
              <a:ext uri="{FF2B5EF4-FFF2-40B4-BE49-F238E27FC236}">
                <a16:creationId xmlns:a16="http://schemas.microsoft.com/office/drawing/2014/main" id="{E11490D9-ADD2-BEEF-F34C-5445F488190F}"/>
              </a:ext>
            </a:extLst>
          </p:cNvPr>
          <p:cNvGraphicFramePr>
            <a:graphicFrameLocks noGrp="1"/>
          </p:cNvGraphicFramePr>
          <p:nvPr>
            <p:extLst>
              <p:ext uri="{D42A27DB-BD31-4B8C-83A1-F6EECF244321}">
                <p14:modId xmlns:p14="http://schemas.microsoft.com/office/powerpoint/2010/main" val="4239706859"/>
              </p:ext>
            </p:extLst>
          </p:nvPr>
        </p:nvGraphicFramePr>
        <p:xfrm>
          <a:off x="650606" y="4279900"/>
          <a:ext cx="9961247" cy="1188720"/>
        </p:xfrm>
        <a:graphic>
          <a:graphicData uri="http://schemas.openxmlformats.org/drawingml/2006/table">
            <a:tbl>
              <a:tblPr firstRow="1" bandRow="1">
                <a:tableStyleId>{5C22544A-7EE6-4342-B048-85BDC9FD1C3A}</a:tableStyleId>
              </a:tblPr>
              <a:tblGrid>
                <a:gridCol w="2321494">
                  <a:extLst>
                    <a:ext uri="{9D8B030D-6E8A-4147-A177-3AD203B41FA5}">
                      <a16:colId xmlns:a16="http://schemas.microsoft.com/office/drawing/2014/main" val="377974779"/>
                    </a:ext>
                  </a:extLst>
                </a:gridCol>
                <a:gridCol w="3144383">
                  <a:extLst>
                    <a:ext uri="{9D8B030D-6E8A-4147-A177-3AD203B41FA5}">
                      <a16:colId xmlns:a16="http://schemas.microsoft.com/office/drawing/2014/main" val="3105394629"/>
                    </a:ext>
                  </a:extLst>
                </a:gridCol>
                <a:gridCol w="4495370">
                  <a:extLst>
                    <a:ext uri="{9D8B030D-6E8A-4147-A177-3AD203B41FA5}">
                      <a16:colId xmlns:a16="http://schemas.microsoft.com/office/drawing/2014/main" val="2875292871"/>
                    </a:ext>
                  </a:extLst>
                </a:gridCol>
              </a:tblGrid>
              <a:tr h="370840">
                <a:tc>
                  <a:txBody>
                    <a:bodyPr/>
                    <a:lstStyle/>
                    <a:p>
                      <a:pPr algn="ctr"/>
                      <a:r>
                        <a:rPr kumimoji="1" lang="ja-JP" altLang="en-US" sz="2000" dirty="0"/>
                        <a:t>項目</a:t>
                      </a:r>
                    </a:p>
                  </a:txBody>
                  <a:tcPr/>
                </a:tc>
                <a:tc>
                  <a:txBody>
                    <a:bodyPr/>
                    <a:lstStyle/>
                    <a:p>
                      <a:pPr algn="ctr"/>
                      <a:r>
                        <a:rPr kumimoji="1" lang="ja-JP" altLang="en-US" sz="2000" dirty="0"/>
                        <a:t>レガシー</a:t>
                      </a:r>
                      <a:r>
                        <a:rPr kumimoji="1" lang="en-US" altLang="ja-JP" sz="2000" dirty="0"/>
                        <a:t>OCX</a:t>
                      </a:r>
                      <a:r>
                        <a:rPr kumimoji="1" lang="ja-JP" altLang="en-US" sz="2000" dirty="0"/>
                        <a:t>動作環境</a:t>
                      </a:r>
                    </a:p>
                  </a:txBody>
                  <a:tcPr/>
                </a:tc>
                <a:tc>
                  <a:txBody>
                    <a:bodyPr/>
                    <a:lstStyle/>
                    <a:p>
                      <a:pPr algn="ctr"/>
                      <a:r>
                        <a:rPr kumimoji="1" lang="ja-JP" altLang="en-US" sz="2000" dirty="0"/>
                        <a:t>タブレット</a:t>
                      </a:r>
                      <a:r>
                        <a:rPr kumimoji="1" lang="en-US" altLang="ja-JP" sz="2000" dirty="0"/>
                        <a:t>POS</a:t>
                      </a:r>
                      <a:r>
                        <a:rPr kumimoji="1" lang="ja-JP" altLang="en-US" sz="2000" dirty="0"/>
                        <a:t>実行環境</a:t>
                      </a:r>
                    </a:p>
                  </a:txBody>
                  <a:tcPr/>
                </a:tc>
                <a:extLst>
                  <a:ext uri="{0D108BD9-81ED-4DB2-BD59-A6C34878D82A}">
                    <a16:rowId xmlns:a16="http://schemas.microsoft.com/office/drawing/2014/main" val="1503650181"/>
                  </a:ext>
                </a:extLst>
              </a:tr>
              <a:tr h="370840">
                <a:tc>
                  <a:txBody>
                    <a:bodyPr/>
                    <a:lstStyle/>
                    <a:p>
                      <a:r>
                        <a:rPr kumimoji="1" lang="ja-JP" altLang="en-US" sz="2000" dirty="0"/>
                        <a:t>アーキテクチャ</a:t>
                      </a:r>
                    </a:p>
                  </a:txBody>
                  <a:tcPr/>
                </a:tc>
                <a:tc>
                  <a:txBody>
                    <a:bodyPr/>
                    <a:lstStyle/>
                    <a:p>
                      <a:r>
                        <a:rPr kumimoji="1" lang="en-US" altLang="ja-JP" sz="2000" dirty="0"/>
                        <a:t>x84</a:t>
                      </a:r>
                      <a:r>
                        <a:rPr kumimoji="1" lang="ja-JP" altLang="en-US" sz="2000" dirty="0"/>
                        <a:t>（</a:t>
                      </a:r>
                      <a:r>
                        <a:rPr kumimoji="1" lang="en-US" altLang="ja-JP" sz="2000" dirty="0"/>
                        <a:t>32bit</a:t>
                      </a:r>
                      <a:r>
                        <a:rPr kumimoji="1" lang="ja-JP" altLang="en-US" sz="2000" dirty="0"/>
                        <a:t>）</a:t>
                      </a:r>
                    </a:p>
                  </a:txBody>
                  <a:tcPr/>
                </a:tc>
                <a:tc>
                  <a:txBody>
                    <a:bodyPr/>
                    <a:lstStyle/>
                    <a:p>
                      <a:r>
                        <a:rPr kumimoji="1" lang="en-US" altLang="ja-JP" sz="2000" dirty="0"/>
                        <a:t>x64</a:t>
                      </a:r>
                      <a:r>
                        <a:rPr kumimoji="1" lang="ja-JP" altLang="en-US" sz="2000" dirty="0"/>
                        <a:t>（</a:t>
                      </a:r>
                      <a:r>
                        <a:rPr kumimoji="1" lang="en-US" altLang="ja-JP" sz="2000" dirty="0"/>
                        <a:t>64bit</a:t>
                      </a:r>
                      <a:r>
                        <a:rPr kumimoji="1" lang="ja-JP" altLang="en-US" sz="2000" dirty="0"/>
                        <a:t>）</a:t>
                      </a:r>
                    </a:p>
                  </a:txBody>
                  <a:tcPr/>
                </a:tc>
                <a:extLst>
                  <a:ext uri="{0D108BD9-81ED-4DB2-BD59-A6C34878D82A}">
                    <a16:rowId xmlns:a16="http://schemas.microsoft.com/office/drawing/2014/main" val="1408993299"/>
                  </a:ext>
                </a:extLst>
              </a:tr>
              <a:tr h="370840">
                <a:tc>
                  <a:txBody>
                    <a:bodyPr/>
                    <a:lstStyle/>
                    <a:p>
                      <a:r>
                        <a:rPr kumimoji="1" lang="ja-JP" altLang="en-US" sz="2000" dirty="0"/>
                        <a:t>ランタイム</a:t>
                      </a:r>
                    </a:p>
                  </a:txBody>
                  <a:tcPr/>
                </a:tc>
                <a:tc>
                  <a:txBody>
                    <a:bodyPr/>
                    <a:lstStyle/>
                    <a:p>
                      <a:r>
                        <a:rPr kumimoji="1" lang="en-US" altLang="ja-JP" sz="2000" dirty="0"/>
                        <a:t>.NET Framework 4.8</a:t>
                      </a:r>
                      <a:endParaRPr kumimoji="1" lang="ja-JP" altLang="en-US" sz="2000" dirty="0"/>
                    </a:p>
                  </a:txBody>
                  <a:tcPr/>
                </a:tc>
                <a:tc>
                  <a:txBody>
                    <a:bodyPr/>
                    <a:lstStyle/>
                    <a:p>
                      <a:r>
                        <a:rPr kumimoji="1" lang="en-US" altLang="ja-JP" sz="2000" dirty="0"/>
                        <a:t>.NET 10</a:t>
                      </a:r>
                      <a:endParaRPr kumimoji="1" lang="ja-JP" altLang="en-US" sz="2000" dirty="0"/>
                    </a:p>
                  </a:txBody>
                  <a:tcPr/>
                </a:tc>
                <a:extLst>
                  <a:ext uri="{0D108BD9-81ED-4DB2-BD59-A6C34878D82A}">
                    <a16:rowId xmlns:a16="http://schemas.microsoft.com/office/drawing/2014/main" val="3800382014"/>
                  </a:ext>
                </a:extLst>
              </a:tr>
            </a:tbl>
          </a:graphicData>
        </a:graphic>
      </p:graphicFrame>
    </p:spTree>
    <p:extLst>
      <p:ext uri="{BB962C8B-B14F-4D97-AF65-F5344CB8AC3E}">
        <p14:creationId xmlns:p14="http://schemas.microsoft.com/office/powerpoint/2010/main" val="1357647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６－３．マイクロサービスアーキテクチャ</a:t>
            </a:r>
            <a:r>
              <a:rPr lang="ja-JP" altLang="en-US"/>
              <a:t>（１）</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35</a:t>
            </a:fld>
            <a:endParaRPr lang="ja-JP" altLang="en-US"/>
          </a:p>
        </p:txBody>
      </p:sp>
      <p:sp>
        <p:nvSpPr>
          <p:cNvPr id="6" name="テキスト ボックス 5">
            <a:extLst>
              <a:ext uri="{FF2B5EF4-FFF2-40B4-BE49-F238E27FC236}">
                <a16:creationId xmlns:a16="http://schemas.microsoft.com/office/drawing/2014/main" id="{BD7DA058-2B0B-7737-32F4-9100752B9090}"/>
              </a:ext>
            </a:extLst>
          </p:cNvPr>
          <p:cNvSpPr txBox="1"/>
          <p:nvPr/>
        </p:nvSpPr>
        <p:spPr>
          <a:xfrm>
            <a:off x="544207" y="1206861"/>
            <a:ext cx="17199585" cy="2715321"/>
          </a:xfrm>
          <a:prstGeom prst="rect">
            <a:avLst/>
          </a:prstGeom>
          <a:noFill/>
        </p:spPr>
        <p:txBody>
          <a:bodyPr wrap="square" lIns="0" tIns="0" rIns="0" bIns="0" rtlCol="0">
            <a:noAutofit/>
          </a:bodyPr>
          <a:lstStyle/>
          <a:p>
            <a:pPr marL="342900" indent="-3429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処理機能をタブレット</a:t>
            </a:r>
            <a:r>
              <a:rPr lang="en-US" altLang="ja-JP" sz="2800">
                <a:latin typeface="メイリオ" panose="020B0604030504040204" pitchFamily="50" charset="-128"/>
                <a:ea typeface="メイリオ" panose="020B0604030504040204" pitchFamily="50" charset="-128"/>
              </a:rPr>
              <a:t>POS</a:t>
            </a:r>
            <a:r>
              <a:rPr lang="ja-JP" altLang="en-US" sz="2800">
                <a:latin typeface="メイリオ" panose="020B0604030504040204" pitchFamily="50" charset="-128"/>
                <a:ea typeface="メイリオ" panose="020B0604030504040204" pitchFamily="50" charset="-128"/>
              </a:rPr>
              <a:t>アプリ上には持たず、クラウド上の</a:t>
            </a:r>
            <a:r>
              <a:rPr lang="en-US" altLang="ja-JP" sz="2800">
                <a:latin typeface="メイリオ" panose="020B0604030504040204" pitchFamily="50" charset="-128"/>
                <a:ea typeface="メイリオ" panose="020B0604030504040204" pitchFamily="50" charset="-128"/>
              </a:rPr>
              <a:t>API</a:t>
            </a:r>
            <a:r>
              <a:rPr lang="ja-JP" altLang="en-US" sz="2800">
                <a:latin typeface="メイリオ" panose="020B0604030504040204" pitchFamily="50" charset="-128"/>
                <a:ea typeface="メイリオ" panose="020B0604030504040204" pitchFamily="50" charset="-128"/>
              </a:rPr>
              <a:t>にサービスとして実装します。</a:t>
            </a:r>
            <a:endParaRPr lang="en-US" altLang="ja-JP" sz="2800">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サービスの単位は「売上」などの業務を単位としたマイクロサービスを想定しており、「売上サービス」としてタブレット</a:t>
            </a:r>
            <a:r>
              <a:rPr lang="en-US" altLang="ja-JP" sz="2800">
                <a:latin typeface="メイリオ" panose="020B0604030504040204" pitchFamily="50" charset="-128"/>
                <a:ea typeface="メイリオ" panose="020B0604030504040204" pitchFamily="50" charset="-128"/>
              </a:rPr>
              <a:t>POS</a:t>
            </a:r>
            <a:r>
              <a:rPr lang="ja-JP" altLang="en-US" sz="2800">
                <a:latin typeface="メイリオ" panose="020B0604030504040204" pitchFamily="50" charset="-128"/>
                <a:ea typeface="メイリオ" panose="020B0604030504040204" pitchFamily="50" charset="-128"/>
              </a:rPr>
              <a:t>から利用します。</a:t>
            </a:r>
            <a:endParaRPr lang="en-US" altLang="ja-JP" sz="2800">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将来的に他システムに公開する場合、更新系サービスは公開先を限定する想定です。</a:t>
            </a:r>
          </a:p>
        </p:txBody>
      </p:sp>
      <p:sp>
        <p:nvSpPr>
          <p:cNvPr id="9" name="正方形/長方形 8">
            <a:extLst>
              <a:ext uri="{FF2B5EF4-FFF2-40B4-BE49-F238E27FC236}">
                <a16:creationId xmlns:a16="http://schemas.microsoft.com/office/drawing/2014/main" id="{651EEDCD-238E-C968-5E7A-D73986D2C0FA}"/>
              </a:ext>
            </a:extLst>
          </p:cNvPr>
          <p:cNvSpPr/>
          <p:nvPr/>
        </p:nvSpPr>
        <p:spPr>
          <a:xfrm>
            <a:off x="10605242" y="5067558"/>
            <a:ext cx="2384612" cy="986118"/>
          </a:xfrm>
          <a:prstGeom prst="rect">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rgbClr val="59574C"/>
                </a:solidFill>
                <a:latin typeface="Source Sans Pro" panose="020B0503030403020204" pitchFamily="34" charset="0"/>
                <a:ea typeface="源ノ角ゴシック JP Regular" panose="020B0500000000000000" pitchFamily="34" charset="-128"/>
              </a:rPr>
              <a:t>POS</a:t>
            </a: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10" name="正方形/長方形 9">
            <a:extLst>
              <a:ext uri="{FF2B5EF4-FFF2-40B4-BE49-F238E27FC236}">
                <a16:creationId xmlns:a16="http://schemas.microsoft.com/office/drawing/2014/main" id="{08AB7C73-3AA9-4397-FBAE-57DA851BE93D}"/>
              </a:ext>
            </a:extLst>
          </p:cNvPr>
          <p:cNvSpPr/>
          <p:nvPr/>
        </p:nvSpPr>
        <p:spPr>
          <a:xfrm>
            <a:off x="10605241" y="6726074"/>
            <a:ext cx="2904565" cy="986118"/>
          </a:xfrm>
          <a:prstGeom prst="rect">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rgbClr val="59574C"/>
                </a:solidFill>
                <a:latin typeface="Source Sans Pro" panose="020B0503030403020204" pitchFamily="34" charset="0"/>
                <a:ea typeface="源ノ角ゴシック JP Regular" panose="020B0500000000000000" pitchFamily="34" charset="-128"/>
              </a:rPr>
              <a:t>タブレット</a:t>
            </a:r>
            <a:r>
              <a:rPr kumimoji="1" lang="en-US" altLang="ja-JP">
                <a:solidFill>
                  <a:srgbClr val="59574C"/>
                </a:solidFill>
                <a:latin typeface="Source Sans Pro" panose="020B0503030403020204" pitchFamily="34" charset="0"/>
                <a:ea typeface="源ノ角ゴシック JP Regular" panose="020B0500000000000000" pitchFamily="34" charset="-128"/>
              </a:rPr>
              <a:t>POS</a:t>
            </a:r>
            <a:endParaRPr kumimoji="1" lang="ja-JP" altLang="en-US">
              <a:solidFill>
                <a:srgbClr val="59574C"/>
              </a:solidFill>
              <a:latin typeface="Source Sans Pro" panose="020B0503030403020204" pitchFamily="34" charset="0"/>
              <a:ea typeface="源ノ角ゴシック JP Regular" panose="020B0500000000000000" pitchFamily="34" charset="-128"/>
            </a:endParaRPr>
          </a:p>
        </p:txBody>
      </p:sp>
      <p:sp>
        <p:nvSpPr>
          <p:cNvPr id="11" name="正方形/長方形 10">
            <a:extLst>
              <a:ext uri="{FF2B5EF4-FFF2-40B4-BE49-F238E27FC236}">
                <a16:creationId xmlns:a16="http://schemas.microsoft.com/office/drawing/2014/main" id="{F4D69EE6-F3E5-FC6D-4379-9671E7E8A45D}"/>
              </a:ext>
            </a:extLst>
          </p:cNvPr>
          <p:cNvSpPr/>
          <p:nvPr/>
        </p:nvSpPr>
        <p:spPr>
          <a:xfrm>
            <a:off x="10605240" y="8413073"/>
            <a:ext cx="2904565" cy="986118"/>
          </a:xfrm>
          <a:prstGeom prst="rect">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rgbClr val="59574C"/>
                </a:solidFill>
                <a:latin typeface="Source Sans Pro" panose="020B0503030403020204" pitchFamily="34" charset="0"/>
                <a:ea typeface="源ノ角ゴシック JP Regular" panose="020B0500000000000000" pitchFamily="34" charset="-128"/>
              </a:rPr>
              <a:t>PC</a:t>
            </a:r>
            <a:r>
              <a:rPr kumimoji="1" lang="ja-JP" altLang="en-US">
                <a:solidFill>
                  <a:srgbClr val="59574C"/>
                </a:solidFill>
                <a:latin typeface="Source Sans Pro" panose="020B0503030403020204" pitchFamily="34" charset="0"/>
                <a:ea typeface="源ノ角ゴシック JP Regular" panose="020B0500000000000000" pitchFamily="34" charset="-128"/>
              </a:rPr>
              <a:t>など</a:t>
            </a:r>
          </a:p>
        </p:txBody>
      </p:sp>
      <p:cxnSp>
        <p:nvCxnSpPr>
          <p:cNvPr id="13" name="直線矢印コネクタ 12">
            <a:extLst>
              <a:ext uri="{FF2B5EF4-FFF2-40B4-BE49-F238E27FC236}">
                <a16:creationId xmlns:a16="http://schemas.microsoft.com/office/drawing/2014/main" id="{7C65CBEE-AB32-9040-3B07-A889B6ACF7CF}"/>
              </a:ext>
            </a:extLst>
          </p:cNvPr>
          <p:cNvCxnSpPr>
            <a:cxnSpLocks/>
            <a:stCxn id="9" idx="1"/>
          </p:cNvCxnSpPr>
          <p:nvPr/>
        </p:nvCxnSpPr>
        <p:spPr>
          <a:xfrm flipH="1">
            <a:off x="6242594" y="5560617"/>
            <a:ext cx="4362648" cy="33481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0392A16-C67D-5DBD-01BC-75858DE50F01}"/>
              </a:ext>
            </a:extLst>
          </p:cNvPr>
          <p:cNvCxnSpPr>
            <a:cxnSpLocks/>
            <a:stCxn id="10" idx="1"/>
          </p:cNvCxnSpPr>
          <p:nvPr/>
        </p:nvCxnSpPr>
        <p:spPr>
          <a:xfrm flipH="1">
            <a:off x="6242594" y="7219133"/>
            <a:ext cx="4362647" cy="168967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EA86D013-9B37-6570-F3F7-EF427512FEBA}"/>
              </a:ext>
            </a:extLst>
          </p:cNvPr>
          <p:cNvCxnSpPr>
            <a:cxnSpLocks/>
            <a:stCxn id="11" idx="1"/>
          </p:cNvCxnSpPr>
          <p:nvPr/>
        </p:nvCxnSpPr>
        <p:spPr>
          <a:xfrm flipH="1">
            <a:off x="6242594" y="8906132"/>
            <a:ext cx="4362646" cy="267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04889BA8-FD08-A1A5-50C0-02DAFA29435A}"/>
              </a:ext>
            </a:extLst>
          </p:cNvPr>
          <p:cNvCxnSpPr>
            <a:cxnSpLocks/>
            <a:stCxn id="9" idx="1"/>
          </p:cNvCxnSpPr>
          <p:nvPr/>
        </p:nvCxnSpPr>
        <p:spPr>
          <a:xfrm flipH="1" flipV="1">
            <a:off x="6242594" y="5527693"/>
            <a:ext cx="4362648" cy="3292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A47A5A49-E6CC-BED7-A1C5-799E71DDD798}"/>
              </a:ext>
            </a:extLst>
          </p:cNvPr>
          <p:cNvCxnSpPr>
            <a:cxnSpLocks/>
            <a:stCxn id="10" idx="1"/>
          </p:cNvCxnSpPr>
          <p:nvPr/>
        </p:nvCxnSpPr>
        <p:spPr>
          <a:xfrm flipH="1" flipV="1">
            <a:off x="6242594" y="5527693"/>
            <a:ext cx="4362647" cy="169144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EACD1B4C-5219-7CCC-280A-8B1728499A7F}"/>
              </a:ext>
            </a:extLst>
          </p:cNvPr>
          <p:cNvSpPr/>
          <p:nvPr/>
        </p:nvSpPr>
        <p:spPr>
          <a:xfrm>
            <a:off x="3070766" y="4323036"/>
            <a:ext cx="5149862" cy="5526564"/>
          </a:xfrm>
          <a:prstGeom prst="rect">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a:solidFill>
                  <a:srgbClr val="59574C"/>
                </a:solidFill>
                <a:latin typeface="Source Sans Pro" panose="020B0503030403020204" pitchFamily="34" charset="0"/>
                <a:ea typeface="源ノ角ゴシック JP Regular" panose="020B0500000000000000" pitchFamily="34" charset="-128"/>
              </a:rPr>
              <a:t>マイクロサービス</a:t>
            </a:r>
            <a:r>
              <a:rPr kumimoji="1" lang="en-US" altLang="ja-JP">
                <a:solidFill>
                  <a:srgbClr val="59574C"/>
                </a:solidFill>
                <a:latin typeface="Source Sans Pro" panose="020B0503030403020204" pitchFamily="34" charset="0"/>
                <a:ea typeface="源ノ角ゴシック JP Regular" panose="020B0500000000000000" pitchFamily="34" charset="-128"/>
              </a:rPr>
              <a:t>API</a:t>
            </a:r>
            <a:r>
              <a:rPr kumimoji="1" lang="ja-JP" altLang="en-US">
                <a:solidFill>
                  <a:srgbClr val="59574C"/>
                </a:solidFill>
                <a:latin typeface="Source Sans Pro" panose="020B0503030403020204" pitchFamily="34" charset="0"/>
                <a:ea typeface="源ノ角ゴシック JP Regular" panose="020B0500000000000000" pitchFamily="34" charset="-128"/>
              </a:rPr>
              <a:t>群</a:t>
            </a:r>
          </a:p>
        </p:txBody>
      </p:sp>
      <p:cxnSp>
        <p:nvCxnSpPr>
          <p:cNvPr id="95" name="直線矢印コネクタ 94">
            <a:extLst>
              <a:ext uri="{FF2B5EF4-FFF2-40B4-BE49-F238E27FC236}">
                <a16:creationId xmlns:a16="http://schemas.microsoft.com/office/drawing/2014/main" id="{319E89CB-8D0C-97DE-FDD9-63B6F0C3578C}"/>
              </a:ext>
            </a:extLst>
          </p:cNvPr>
          <p:cNvCxnSpPr>
            <a:cxnSpLocks/>
          </p:cNvCxnSpPr>
          <p:nvPr/>
        </p:nvCxnSpPr>
        <p:spPr>
          <a:xfrm flipH="1">
            <a:off x="15296964" y="5350716"/>
            <a:ext cx="1477097"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0DA42096-3B6A-7C39-B7F7-1D982C5D4CB1}"/>
              </a:ext>
            </a:extLst>
          </p:cNvPr>
          <p:cNvCxnSpPr>
            <a:cxnSpLocks/>
          </p:cNvCxnSpPr>
          <p:nvPr/>
        </p:nvCxnSpPr>
        <p:spPr>
          <a:xfrm flipH="1">
            <a:off x="15296964" y="6248699"/>
            <a:ext cx="147709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3943FF0B-DDDC-C481-E506-1251C0B5A550}"/>
              </a:ext>
            </a:extLst>
          </p:cNvPr>
          <p:cNvSpPr txBox="1"/>
          <p:nvPr/>
        </p:nvSpPr>
        <p:spPr>
          <a:xfrm>
            <a:off x="15258320" y="5501609"/>
            <a:ext cx="1107996" cy="461665"/>
          </a:xfrm>
          <a:prstGeom prst="rect">
            <a:avLst/>
          </a:prstGeom>
          <a:noFill/>
        </p:spPr>
        <p:txBody>
          <a:bodyPr wrap="none" rtlCol="0">
            <a:spAutoFit/>
          </a:bodyPr>
          <a:lstStyle/>
          <a:p>
            <a:pPr algn="l"/>
            <a:r>
              <a:rPr kumimoji="1" lang="ja-JP" altLang="en-US" sz="2400">
                <a:solidFill>
                  <a:schemeClr val="bg1">
                    <a:lumMod val="10000"/>
                  </a:schemeClr>
                </a:solidFill>
                <a:latin typeface="Meiryo UI" panose="020B0604030504040204" pitchFamily="50" charset="-128"/>
                <a:ea typeface="Meiryo UI" panose="020B0604030504040204" pitchFamily="50" charset="-128"/>
              </a:rPr>
              <a:t>更新系</a:t>
            </a:r>
          </a:p>
        </p:txBody>
      </p:sp>
      <p:sp>
        <p:nvSpPr>
          <p:cNvPr id="101" name="テキスト ボックス 100">
            <a:extLst>
              <a:ext uri="{FF2B5EF4-FFF2-40B4-BE49-F238E27FC236}">
                <a16:creationId xmlns:a16="http://schemas.microsoft.com/office/drawing/2014/main" id="{31ED5743-7E00-0383-0436-6C8844EA9435}"/>
              </a:ext>
            </a:extLst>
          </p:cNvPr>
          <p:cNvSpPr txBox="1"/>
          <p:nvPr/>
        </p:nvSpPr>
        <p:spPr>
          <a:xfrm>
            <a:off x="15258320" y="6372667"/>
            <a:ext cx="1107996" cy="461665"/>
          </a:xfrm>
          <a:prstGeom prst="rect">
            <a:avLst/>
          </a:prstGeom>
          <a:noFill/>
        </p:spPr>
        <p:txBody>
          <a:bodyPr wrap="none" rtlCol="0">
            <a:spAutoFit/>
          </a:bodyPr>
          <a:lstStyle/>
          <a:p>
            <a:pPr algn="l"/>
            <a:r>
              <a:rPr kumimoji="1" lang="ja-JP" altLang="en-US" sz="2400">
                <a:solidFill>
                  <a:schemeClr val="bg1">
                    <a:lumMod val="10000"/>
                  </a:schemeClr>
                </a:solidFill>
                <a:latin typeface="Meiryo UI" panose="020B0604030504040204" pitchFamily="50" charset="-128"/>
                <a:ea typeface="Meiryo UI" panose="020B0604030504040204" pitchFamily="50" charset="-128"/>
              </a:rPr>
              <a:t>参照系</a:t>
            </a:r>
          </a:p>
        </p:txBody>
      </p:sp>
      <p:sp>
        <p:nvSpPr>
          <p:cNvPr id="4" name="フッター プレースホルダー 3">
            <a:extLst>
              <a:ext uri="{FF2B5EF4-FFF2-40B4-BE49-F238E27FC236}">
                <a16:creationId xmlns:a16="http://schemas.microsoft.com/office/drawing/2014/main" id="{42D7A52E-BF9B-4EED-15AF-A0E6BE0F5C9E}"/>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C92580C2-6030-424C-6895-62F9BDD99E1A}"/>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8" name="四角形: 角を丸くする 7">
            <a:extLst>
              <a:ext uri="{FF2B5EF4-FFF2-40B4-BE49-F238E27FC236}">
                <a16:creationId xmlns:a16="http://schemas.microsoft.com/office/drawing/2014/main" id="{A91F5C28-AFAD-75C9-DC58-E429F011510A}"/>
              </a:ext>
            </a:extLst>
          </p:cNvPr>
          <p:cNvSpPr/>
          <p:nvPr/>
        </p:nvSpPr>
        <p:spPr>
          <a:xfrm>
            <a:off x="3714586" y="5201702"/>
            <a:ext cx="2528007" cy="786445"/>
          </a:xfrm>
          <a:prstGeom prst="roundRect">
            <a:avLst>
              <a:gd name="adj" fmla="val 50000"/>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rgbClr val="59574C"/>
                </a:solidFill>
                <a:latin typeface="Source Sans Pro" panose="020B0503030403020204" pitchFamily="34" charset="0"/>
                <a:ea typeface="源ノ角ゴシック JP Regular" panose="020B0500000000000000" pitchFamily="34" charset="-128"/>
              </a:rPr>
              <a:t>売上</a:t>
            </a:r>
          </a:p>
        </p:txBody>
      </p:sp>
      <p:sp>
        <p:nvSpPr>
          <p:cNvPr id="14" name="四角形: 角を丸くする 13">
            <a:extLst>
              <a:ext uri="{FF2B5EF4-FFF2-40B4-BE49-F238E27FC236}">
                <a16:creationId xmlns:a16="http://schemas.microsoft.com/office/drawing/2014/main" id="{C7A4A672-8EDE-0D7B-E148-2F82F7B15151}"/>
              </a:ext>
            </a:extLst>
          </p:cNvPr>
          <p:cNvSpPr/>
          <p:nvPr/>
        </p:nvSpPr>
        <p:spPr>
          <a:xfrm>
            <a:off x="3728161" y="8484426"/>
            <a:ext cx="2528007" cy="786445"/>
          </a:xfrm>
          <a:prstGeom prst="roundRect">
            <a:avLst>
              <a:gd name="adj" fmla="val 50000"/>
            </a:avLst>
          </a:prstGeom>
          <a:no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rgbClr val="59574C"/>
                </a:solidFill>
                <a:latin typeface="Source Sans Pro" panose="020B0503030403020204" pitchFamily="34" charset="0"/>
                <a:ea typeface="源ノ角ゴシック JP Regular" panose="020B0500000000000000" pitchFamily="34" charset="-128"/>
              </a:rPr>
              <a:t>在庫照会</a:t>
            </a:r>
          </a:p>
        </p:txBody>
      </p:sp>
    </p:spTree>
    <p:extLst>
      <p:ext uri="{BB962C8B-B14F-4D97-AF65-F5344CB8AC3E}">
        <p14:creationId xmlns:p14="http://schemas.microsoft.com/office/powerpoint/2010/main" val="485667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FE8F-7BD3-D088-9A34-121A2B4E0BCC}"/>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3D92894F-FCDF-8C43-BA47-4A8581323174}"/>
              </a:ext>
            </a:extLst>
          </p:cNvPr>
          <p:cNvSpPr/>
          <p:nvPr/>
        </p:nvSpPr>
        <p:spPr>
          <a:xfrm>
            <a:off x="10797039" y="4951748"/>
            <a:ext cx="7082361" cy="4604091"/>
          </a:xfrm>
          <a:prstGeom prst="rect">
            <a:avLst/>
          </a:prstGeom>
          <a:solidFill>
            <a:schemeClr val="accent4">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dirty="0">
                <a:solidFill>
                  <a:srgbClr val="59574C"/>
                </a:solidFill>
                <a:latin typeface="Source Sans Pro" panose="020B0503030403020204" pitchFamily="34" charset="0"/>
                <a:ea typeface="源ノ角ゴシック JP Regular" panose="020B0500000000000000" pitchFamily="34" charset="-128"/>
              </a:rPr>
              <a:t>売上取消サービス</a:t>
            </a:r>
          </a:p>
        </p:txBody>
      </p:sp>
      <p:sp>
        <p:nvSpPr>
          <p:cNvPr id="2" name="タイトル 1">
            <a:extLst>
              <a:ext uri="{FF2B5EF4-FFF2-40B4-BE49-F238E27FC236}">
                <a16:creationId xmlns:a16="http://schemas.microsoft.com/office/drawing/2014/main" id="{4F813A5B-F1C3-5C08-8E80-89873D717F5B}"/>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６－３．マイクロサービスアーキテクチャ</a:t>
            </a:r>
            <a:r>
              <a:rPr lang="ja-JP" altLang="en-US" dirty="0"/>
              <a:t>（２） ＜</a:t>
            </a:r>
            <a:r>
              <a:rPr lang="en-US" altLang="ja-JP" dirty="0"/>
              <a:t>Ks</a:t>
            </a:r>
            <a:r>
              <a:rPr lang="ja-JP" altLang="en-US" dirty="0"/>
              <a:t>様確認中＞</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6BD22371-E935-1ACC-A2B2-AEF8D8EC1FF3}"/>
              </a:ext>
            </a:extLst>
          </p:cNvPr>
          <p:cNvSpPr>
            <a:spLocks noGrp="1"/>
          </p:cNvSpPr>
          <p:nvPr>
            <p:ph type="sldNum" sz="quarter" idx="12"/>
          </p:nvPr>
        </p:nvSpPr>
        <p:spPr/>
        <p:txBody>
          <a:bodyPr/>
          <a:lstStyle/>
          <a:p>
            <a:fld id="{2A9E37A5-A917-4235-ABF6-8CD72E894915}" type="slidenum">
              <a:rPr lang="en-US" altLang="ja-JP" smtClean="0"/>
              <a:pPr/>
              <a:t>36</a:t>
            </a:fld>
            <a:endParaRPr lang="ja-JP" altLang="en-US"/>
          </a:p>
        </p:txBody>
      </p:sp>
      <p:sp>
        <p:nvSpPr>
          <p:cNvPr id="4" name="フッター プレースホルダー 3">
            <a:extLst>
              <a:ext uri="{FF2B5EF4-FFF2-40B4-BE49-F238E27FC236}">
                <a16:creationId xmlns:a16="http://schemas.microsoft.com/office/drawing/2014/main" id="{F82D9A8C-3AA8-22E4-AD89-AC1794C45C9E}"/>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98" name="テキスト プレースホルダー 11">
            <a:extLst>
              <a:ext uri="{FF2B5EF4-FFF2-40B4-BE49-F238E27FC236}">
                <a16:creationId xmlns:a16="http://schemas.microsoft.com/office/drawing/2014/main" id="{77ECFD5B-A341-4F25-8069-8CAA0B684DBB}"/>
              </a:ext>
            </a:extLst>
          </p:cNvPr>
          <p:cNvSpPr txBox="1">
            <a:spLocks/>
          </p:cNvSpPr>
          <p:nvPr/>
        </p:nvSpPr>
        <p:spPr>
          <a:xfrm>
            <a:off x="5592801" y="9898415"/>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5" name="正方形/長方形 4">
            <a:extLst>
              <a:ext uri="{FF2B5EF4-FFF2-40B4-BE49-F238E27FC236}">
                <a16:creationId xmlns:a16="http://schemas.microsoft.com/office/drawing/2014/main" id="{A6153F99-B6CB-453A-26CE-6A256EF07713}"/>
              </a:ext>
            </a:extLst>
          </p:cNvPr>
          <p:cNvSpPr/>
          <p:nvPr/>
        </p:nvSpPr>
        <p:spPr>
          <a:xfrm>
            <a:off x="10785138" y="2089719"/>
            <a:ext cx="7082361" cy="2563774"/>
          </a:xfrm>
          <a:prstGeom prst="rect">
            <a:avLst/>
          </a:prstGeom>
          <a:solidFill>
            <a:schemeClr val="accent4">
              <a:lumMod val="20000"/>
              <a:lumOff val="80000"/>
            </a:schemeClr>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dirty="0">
                <a:solidFill>
                  <a:srgbClr val="59574C"/>
                </a:solidFill>
                <a:latin typeface="Source Sans Pro" panose="020B0503030403020204" pitchFamily="34" charset="0"/>
                <a:ea typeface="源ノ角ゴシック JP Regular" panose="020B0500000000000000" pitchFamily="34" charset="-128"/>
              </a:rPr>
              <a:t>排他</a:t>
            </a:r>
            <a:r>
              <a:rPr kumimoji="1" lang="ja-JP" altLang="en-US" sz="2000" dirty="0">
                <a:solidFill>
                  <a:srgbClr val="59574C"/>
                </a:solidFill>
                <a:latin typeface="Source Sans Pro" panose="020B0503030403020204" pitchFamily="34" charset="0"/>
                <a:ea typeface="源ノ角ゴシック JP Regular" panose="020B0500000000000000" pitchFamily="34" charset="-128"/>
              </a:rPr>
              <a:t>サービス</a:t>
            </a:r>
          </a:p>
        </p:txBody>
      </p:sp>
      <p:sp>
        <p:nvSpPr>
          <p:cNvPr id="9" name="テキスト ボックス 8">
            <a:extLst>
              <a:ext uri="{FF2B5EF4-FFF2-40B4-BE49-F238E27FC236}">
                <a16:creationId xmlns:a16="http://schemas.microsoft.com/office/drawing/2014/main" id="{D9476C58-C06F-4ECE-FE96-4644B9A15635}"/>
              </a:ext>
            </a:extLst>
          </p:cNvPr>
          <p:cNvSpPr txBox="1"/>
          <p:nvPr/>
        </p:nvSpPr>
        <p:spPr>
          <a:xfrm>
            <a:off x="383401" y="1396819"/>
            <a:ext cx="6805876" cy="8452781"/>
          </a:xfrm>
          <a:prstGeom prst="rect">
            <a:avLst/>
          </a:prstGeom>
          <a:noFill/>
        </p:spPr>
        <p:txBody>
          <a:bodyPr wrap="square" lIns="0" tIns="0" rIns="0" bIns="0" rtlCol="0">
            <a:noAutofit/>
          </a:bodyPr>
          <a:lstStyle/>
          <a:p>
            <a:pPr>
              <a:lnSpc>
                <a:spcPct val="150000"/>
              </a:lnSpc>
            </a:pPr>
            <a:r>
              <a:rPr lang="ja-JP" altLang="en-US" sz="2800" dirty="0">
                <a:latin typeface="メイリオ" panose="020B0604030504040204" pitchFamily="50" charset="-128"/>
                <a:ea typeface="メイリオ" panose="020B0604030504040204" pitchFamily="50" charset="-128"/>
              </a:rPr>
              <a:t>更新系のサービスは複数の</a:t>
            </a:r>
            <a:r>
              <a:rPr lang="en-US" altLang="ja-JP" sz="2800" dirty="0">
                <a:latin typeface="メイリオ" panose="020B0604030504040204" pitchFamily="50" charset="-128"/>
                <a:ea typeface="メイリオ" panose="020B0604030504040204" pitchFamily="50" charset="-128"/>
              </a:rPr>
              <a:t>API</a:t>
            </a:r>
            <a:r>
              <a:rPr lang="ja-JP" altLang="en-US" sz="2800" dirty="0">
                <a:latin typeface="メイリオ" panose="020B0604030504040204" pitchFamily="50" charset="-128"/>
                <a:ea typeface="メイリオ" panose="020B0604030504040204" pitchFamily="50" charset="-128"/>
              </a:rPr>
              <a:t>を順に</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呼び出すことで実現します。</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サービス境界はユーザーによる</a:t>
            </a:r>
            <a:r>
              <a:rPr lang="en-US" altLang="ja-JP" sz="2800" dirty="0">
                <a:latin typeface="メイリオ" panose="020B0604030504040204" pitchFamily="50" charset="-128"/>
                <a:ea typeface="メイリオ" panose="020B0604030504040204" pitchFamily="50" charset="-128"/>
              </a:rPr>
              <a:t>POS</a:t>
            </a:r>
            <a:r>
              <a:rPr lang="ja-JP" altLang="en-US" sz="2800" dirty="0">
                <a:latin typeface="メイリオ" panose="020B0604030504040204" pitchFamily="50" charset="-128"/>
                <a:ea typeface="メイリオ" panose="020B0604030504040204" pitchFamily="50" charset="-128"/>
              </a:rPr>
              <a:t>操作が発生する範囲を基本とします。</a:t>
            </a:r>
            <a:endParaRPr lang="en-US" altLang="ja-JP" sz="2800" dirty="0">
              <a:latin typeface="メイリオ" panose="020B0604030504040204" pitchFamily="50" charset="-128"/>
              <a:ea typeface="メイリオ" panose="020B0604030504040204" pitchFamily="50" charset="-128"/>
            </a:endParaRPr>
          </a:p>
          <a:p>
            <a:pPr>
              <a:lnSpc>
                <a:spcPct val="150000"/>
              </a:lnSpc>
            </a:pP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売上取消は排他サービスと売上取消サービスで成立します。</a:t>
            </a:r>
            <a:endParaRPr lang="en-US" altLang="ja-JP" sz="2800" dirty="0">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09559910-7D28-3ECA-A0AE-67D3AA5F992F}"/>
              </a:ext>
            </a:extLst>
          </p:cNvPr>
          <p:cNvSpPr/>
          <p:nvPr/>
        </p:nvSpPr>
        <p:spPr>
          <a:xfrm>
            <a:off x="7191218" y="2089719"/>
            <a:ext cx="2528007" cy="786445"/>
          </a:xfrm>
          <a:prstGeom prst="roundRect">
            <a:avLst>
              <a:gd name="adj" fmla="val 50000"/>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rgbClr val="59574C"/>
                </a:solidFill>
                <a:latin typeface="Source Sans Pro" panose="020B0503030403020204" pitchFamily="34" charset="0"/>
                <a:ea typeface="源ノ角ゴシック JP Regular" panose="020B0500000000000000" pitchFamily="34" charset="-128"/>
              </a:rPr>
              <a:t>POS</a:t>
            </a:r>
            <a:r>
              <a:rPr lang="ja-JP" altLang="en-US" sz="2000" dirty="0">
                <a:solidFill>
                  <a:srgbClr val="59574C"/>
                </a:solidFill>
                <a:latin typeface="Source Sans Pro" panose="020B0503030403020204" pitchFamily="34" charset="0"/>
                <a:ea typeface="源ノ角ゴシック JP Regular" panose="020B0500000000000000" pitchFamily="34" charset="-128"/>
              </a:rPr>
              <a:t>操作</a:t>
            </a:r>
            <a:endParaRPr lang="en-US" altLang="ja-JP" sz="2000" dirty="0">
              <a:solidFill>
                <a:srgbClr val="59574C"/>
              </a:solidFill>
              <a:latin typeface="Source Sans Pro" panose="020B0503030403020204" pitchFamily="34" charset="0"/>
              <a:ea typeface="源ノ角ゴシック JP Regular" panose="020B0500000000000000" pitchFamily="34" charset="-128"/>
            </a:endParaRPr>
          </a:p>
          <a:p>
            <a:pPr algn="ctr"/>
            <a:r>
              <a:rPr lang="ja-JP" altLang="en-US" sz="2000" dirty="0">
                <a:solidFill>
                  <a:srgbClr val="59574C"/>
                </a:solidFill>
                <a:latin typeface="Source Sans Pro" panose="020B0503030403020204" pitchFamily="34" charset="0"/>
                <a:ea typeface="源ノ角ゴシック JP Regular" panose="020B0500000000000000" pitchFamily="34" charset="-128"/>
              </a:rPr>
              <a:t>（伝票入力）</a:t>
            </a:r>
            <a:endParaRPr kumimoji="1" lang="ja-JP" altLang="en-US" sz="2000" dirty="0">
              <a:solidFill>
                <a:srgbClr val="59574C"/>
              </a:solidFill>
              <a:latin typeface="Source Sans Pro" panose="020B0503030403020204" pitchFamily="34" charset="0"/>
              <a:ea typeface="源ノ角ゴシック JP Regular" panose="020B0500000000000000" pitchFamily="34" charset="-128"/>
            </a:endParaRPr>
          </a:p>
        </p:txBody>
      </p:sp>
      <p:cxnSp>
        <p:nvCxnSpPr>
          <p:cNvPr id="11" name="直線矢印コネクタ 10">
            <a:extLst>
              <a:ext uri="{FF2B5EF4-FFF2-40B4-BE49-F238E27FC236}">
                <a16:creationId xmlns:a16="http://schemas.microsoft.com/office/drawing/2014/main" id="{D934079E-04C0-4002-8476-3339141F724E}"/>
              </a:ext>
            </a:extLst>
          </p:cNvPr>
          <p:cNvCxnSpPr>
            <a:cxnSpLocks/>
            <a:stCxn id="10" idx="2"/>
          </p:cNvCxnSpPr>
          <p:nvPr/>
        </p:nvCxnSpPr>
        <p:spPr>
          <a:xfrm flipH="1">
            <a:off x="8455221" y="2876164"/>
            <a:ext cx="1" cy="6679679"/>
          </a:xfrm>
          <a:prstGeom prst="straightConnector1">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2" name="四角形: 角を丸くする 11">
            <a:extLst>
              <a:ext uri="{FF2B5EF4-FFF2-40B4-BE49-F238E27FC236}">
                <a16:creationId xmlns:a16="http://schemas.microsoft.com/office/drawing/2014/main" id="{9CF3E147-546E-26FC-7AB8-B4A83A35DDDB}"/>
              </a:ext>
            </a:extLst>
          </p:cNvPr>
          <p:cNvSpPr/>
          <p:nvPr/>
        </p:nvSpPr>
        <p:spPr>
          <a:xfrm>
            <a:off x="10884563" y="2572604"/>
            <a:ext cx="3013725" cy="786445"/>
          </a:xfrm>
          <a:prstGeom prst="roundRect">
            <a:avLst>
              <a:gd name="adj" fmla="val 50000"/>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a:solidFill>
                  <a:srgbClr val="59574C"/>
                </a:solidFill>
                <a:latin typeface="Source Sans Pro" panose="020B0503030403020204" pitchFamily="34" charset="0"/>
                <a:ea typeface="源ノ角ゴシック JP Regular" panose="020B0500000000000000" pitchFamily="34" charset="-128"/>
              </a:rPr>
              <a:t>排他制御</a:t>
            </a:r>
            <a:r>
              <a:rPr lang="en-US" altLang="ja-JP" sz="2000">
                <a:solidFill>
                  <a:srgbClr val="59574C"/>
                </a:solidFill>
                <a:latin typeface="Source Sans Pro" panose="020B0503030403020204" pitchFamily="34" charset="0"/>
                <a:ea typeface="源ノ角ゴシック JP Regular" panose="020B0500000000000000" pitchFamily="34" charset="-128"/>
              </a:rPr>
              <a:t>API</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cxnSp>
        <p:nvCxnSpPr>
          <p:cNvPr id="13" name="直線矢印コネクタ 12">
            <a:extLst>
              <a:ext uri="{FF2B5EF4-FFF2-40B4-BE49-F238E27FC236}">
                <a16:creationId xmlns:a16="http://schemas.microsoft.com/office/drawing/2014/main" id="{3BB2558E-C133-1CD0-D39E-C9AFFFDC3C41}"/>
              </a:ext>
            </a:extLst>
          </p:cNvPr>
          <p:cNvCxnSpPr>
            <a:cxnSpLocks/>
            <a:stCxn id="12" idx="2"/>
          </p:cNvCxnSpPr>
          <p:nvPr/>
        </p:nvCxnSpPr>
        <p:spPr>
          <a:xfrm flipH="1">
            <a:off x="12359266" y="3359049"/>
            <a:ext cx="32160" cy="1164825"/>
          </a:xfrm>
          <a:prstGeom prst="straightConnector1">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4" name="四角形: 角を丸くする 13">
            <a:extLst>
              <a:ext uri="{FF2B5EF4-FFF2-40B4-BE49-F238E27FC236}">
                <a16:creationId xmlns:a16="http://schemas.microsoft.com/office/drawing/2014/main" id="{8E0010CB-7C24-0F61-EE6D-4A31926434AB}"/>
              </a:ext>
            </a:extLst>
          </p:cNvPr>
          <p:cNvSpPr/>
          <p:nvPr/>
        </p:nvSpPr>
        <p:spPr>
          <a:xfrm>
            <a:off x="12878542" y="5084511"/>
            <a:ext cx="3013725" cy="786445"/>
          </a:xfrm>
          <a:prstGeom prst="roundRect">
            <a:avLst>
              <a:gd name="adj" fmla="val 50000"/>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a:solidFill>
                  <a:srgbClr val="59574C"/>
                </a:solidFill>
                <a:latin typeface="Source Sans Pro" panose="020B0503030403020204" pitchFamily="34" charset="0"/>
                <a:ea typeface="源ノ角ゴシック JP Regular" panose="020B0500000000000000" pitchFamily="34" charset="-128"/>
              </a:rPr>
              <a:t>売上取消</a:t>
            </a:r>
            <a:r>
              <a:rPr lang="en-US" altLang="ja-JP" sz="2000">
                <a:solidFill>
                  <a:srgbClr val="59574C"/>
                </a:solidFill>
                <a:latin typeface="Source Sans Pro" panose="020B0503030403020204" pitchFamily="34" charset="0"/>
                <a:ea typeface="源ノ角ゴシック JP Regular" panose="020B0500000000000000" pitchFamily="34" charset="-128"/>
              </a:rPr>
              <a:t>json</a:t>
            </a:r>
            <a:r>
              <a:rPr lang="ja-JP" altLang="en-US" sz="2000">
                <a:solidFill>
                  <a:srgbClr val="59574C"/>
                </a:solidFill>
                <a:latin typeface="Source Sans Pro" panose="020B0503030403020204" pitchFamily="34" charset="0"/>
                <a:ea typeface="源ノ角ゴシック JP Regular" panose="020B0500000000000000" pitchFamily="34" charset="-128"/>
              </a:rPr>
              <a:t>登録</a:t>
            </a:r>
            <a:r>
              <a:rPr lang="en-US" altLang="ja-JP" sz="2000">
                <a:solidFill>
                  <a:srgbClr val="59574C"/>
                </a:solidFill>
                <a:latin typeface="Source Sans Pro" panose="020B0503030403020204" pitchFamily="34" charset="0"/>
                <a:ea typeface="源ノ角ゴシック JP Regular" panose="020B0500000000000000" pitchFamily="34" charset="-128"/>
              </a:rPr>
              <a:t>API</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cxnSp>
        <p:nvCxnSpPr>
          <p:cNvPr id="15" name="直線矢印コネクタ 14">
            <a:extLst>
              <a:ext uri="{FF2B5EF4-FFF2-40B4-BE49-F238E27FC236}">
                <a16:creationId xmlns:a16="http://schemas.microsoft.com/office/drawing/2014/main" id="{0A68165D-205E-B480-ED19-75400106985B}"/>
              </a:ext>
            </a:extLst>
          </p:cNvPr>
          <p:cNvCxnSpPr>
            <a:cxnSpLocks/>
            <a:stCxn id="14" idx="2"/>
          </p:cNvCxnSpPr>
          <p:nvPr/>
        </p:nvCxnSpPr>
        <p:spPr>
          <a:xfrm flipH="1">
            <a:off x="14385403" y="5870956"/>
            <a:ext cx="2" cy="2720777"/>
          </a:xfrm>
          <a:prstGeom prst="straightConnector1">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366CFEE2-D37C-CA87-9BE8-28BA096E073E}"/>
              </a:ext>
            </a:extLst>
          </p:cNvPr>
          <p:cNvCxnSpPr>
            <a:cxnSpLocks/>
          </p:cNvCxnSpPr>
          <p:nvPr/>
        </p:nvCxnSpPr>
        <p:spPr>
          <a:xfrm>
            <a:off x="8455222" y="3967843"/>
            <a:ext cx="393620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50DC21AA-89FA-B3C9-3402-61662E74BD21}"/>
              </a:ext>
            </a:extLst>
          </p:cNvPr>
          <p:cNvCxnSpPr>
            <a:cxnSpLocks/>
          </p:cNvCxnSpPr>
          <p:nvPr/>
        </p:nvCxnSpPr>
        <p:spPr>
          <a:xfrm>
            <a:off x="8455222" y="4076179"/>
            <a:ext cx="3936203" cy="0"/>
          </a:xfrm>
          <a:prstGeom prst="straightConnector1">
            <a:avLst/>
          </a:prstGeom>
          <a:ln w="57150">
            <a:headEnd type="triangle"/>
            <a:tailEnd type="non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51E388CE-4002-A728-818B-4ED80DE31781}"/>
              </a:ext>
            </a:extLst>
          </p:cNvPr>
          <p:cNvSpPr txBox="1"/>
          <p:nvPr/>
        </p:nvSpPr>
        <p:spPr>
          <a:xfrm>
            <a:off x="8743255" y="4030893"/>
            <a:ext cx="2031325" cy="338554"/>
          </a:xfrm>
          <a:prstGeom prst="rect">
            <a:avLst/>
          </a:prstGeom>
          <a:noFill/>
        </p:spPr>
        <p:txBody>
          <a:bodyPr wrap="non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売上情報＋排他成否</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21" name="直線矢印コネクタ 20">
            <a:extLst>
              <a:ext uri="{FF2B5EF4-FFF2-40B4-BE49-F238E27FC236}">
                <a16:creationId xmlns:a16="http://schemas.microsoft.com/office/drawing/2014/main" id="{F77C2F48-E200-B0E8-016E-273F97F71FB9}"/>
              </a:ext>
            </a:extLst>
          </p:cNvPr>
          <p:cNvCxnSpPr>
            <a:cxnSpLocks/>
          </p:cNvCxnSpPr>
          <p:nvPr/>
        </p:nvCxnSpPr>
        <p:spPr>
          <a:xfrm>
            <a:off x="8455222" y="6620614"/>
            <a:ext cx="593018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93FE26FD-232B-B20F-B1A6-C5862EE94E95}"/>
              </a:ext>
            </a:extLst>
          </p:cNvPr>
          <p:cNvSpPr txBox="1"/>
          <p:nvPr/>
        </p:nvSpPr>
        <p:spPr>
          <a:xfrm>
            <a:off x="8743254" y="6243715"/>
            <a:ext cx="1415772" cy="338554"/>
          </a:xfrm>
          <a:prstGeom prst="rect">
            <a:avLst/>
          </a:prstGeom>
          <a:noFill/>
        </p:spPr>
        <p:txBody>
          <a:bodyPr wrap="non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売上伝票番号</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24" name="直線矢印コネクタ 23">
            <a:extLst>
              <a:ext uri="{FF2B5EF4-FFF2-40B4-BE49-F238E27FC236}">
                <a16:creationId xmlns:a16="http://schemas.microsoft.com/office/drawing/2014/main" id="{8991ACDC-4C2A-D2A0-60A0-411AB1EB180A}"/>
              </a:ext>
            </a:extLst>
          </p:cNvPr>
          <p:cNvCxnSpPr>
            <a:cxnSpLocks/>
          </p:cNvCxnSpPr>
          <p:nvPr/>
        </p:nvCxnSpPr>
        <p:spPr>
          <a:xfrm>
            <a:off x="8455221" y="7960739"/>
            <a:ext cx="7905410" cy="9197"/>
          </a:xfrm>
          <a:prstGeom prst="straightConnector1">
            <a:avLst/>
          </a:prstGeom>
          <a:ln w="57150">
            <a:headEnd type="triangle"/>
            <a:tailEnd type="non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24AC50D8-E288-DEE5-14AC-0BB4EF5D4700}"/>
              </a:ext>
            </a:extLst>
          </p:cNvPr>
          <p:cNvSpPr txBox="1"/>
          <p:nvPr/>
        </p:nvSpPr>
        <p:spPr>
          <a:xfrm>
            <a:off x="8760989" y="7929636"/>
            <a:ext cx="3598277" cy="338554"/>
          </a:xfrm>
          <a:prstGeom prst="rect">
            <a:avLst/>
          </a:prstGeom>
          <a:noFill/>
        </p:spPr>
        <p:txBody>
          <a:bodyPr wrap="square" rtlCol="0">
            <a:spAutoFit/>
          </a:bodyPr>
          <a:lstStyle/>
          <a:p>
            <a:pPr algn="l"/>
            <a:r>
              <a:rPr lang="ja-JP" altLang="en-US" sz="1600">
                <a:solidFill>
                  <a:schemeClr val="bg1">
                    <a:lumMod val="10000"/>
                  </a:schemeClr>
                </a:solidFill>
                <a:latin typeface="Meiryo UI" panose="020B0604030504040204" pitchFamily="50" charset="-128"/>
                <a:ea typeface="Meiryo UI" panose="020B0604030504040204" pitchFamily="50" charset="-128"/>
              </a:rPr>
              <a:t>売上取消・排他解除成否</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26" name="直線矢印コネクタ 25">
            <a:extLst>
              <a:ext uri="{FF2B5EF4-FFF2-40B4-BE49-F238E27FC236}">
                <a16:creationId xmlns:a16="http://schemas.microsoft.com/office/drawing/2014/main" id="{A638B1C4-7BB9-414D-7DCA-64A4301030E6}"/>
              </a:ext>
            </a:extLst>
          </p:cNvPr>
          <p:cNvCxnSpPr>
            <a:cxnSpLocks/>
          </p:cNvCxnSpPr>
          <p:nvPr/>
        </p:nvCxnSpPr>
        <p:spPr>
          <a:xfrm>
            <a:off x="8455222" y="7841952"/>
            <a:ext cx="7905409" cy="25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ACC2D10-7FA3-1D1C-5F68-139E4F86C722}"/>
              </a:ext>
            </a:extLst>
          </p:cNvPr>
          <p:cNvSpPr txBox="1"/>
          <p:nvPr/>
        </p:nvSpPr>
        <p:spPr>
          <a:xfrm>
            <a:off x="8743255" y="7528553"/>
            <a:ext cx="1858240" cy="338554"/>
          </a:xfrm>
          <a:prstGeom prst="rect">
            <a:avLst/>
          </a:prstGeom>
          <a:noFill/>
        </p:spPr>
        <p:txBody>
          <a:bodyPr wrap="square" rtlCol="0">
            <a:spAutoFit/>
          </a:bodyPr>
          <a:lstStyle/>
          <a:p>
            <a:pPr algn="l"/>
            <a:r>
              <a:rPr kumimoji="1" lang="en-US" altLang="ja-JP" sz="1600">
                <a:solidFill>
                  <a:schemeClr val="bg1">
                    <a:lumMod val="10000"/>
                  </a:schemeClr>
                </a:solidFill>
                <a:latin typeface="Meiryo UI" panose="020B0604030504040204" pitchFamily="50" charset="-128"/>
                <a:ea typeface="Meiryo UI" panose="020B0604030504040204" pitchFamily="50" charset="-128"/>
              </a:rPr>
              <a:t>json</a:t>
            </a:r>
            <a:r>
              <a:rPr kumimoji="1" lang="ja-JP" altLang="en-US" sz="1600">
                <a:solidFill>
                  <a:schemeClr val="bg1">
                    <a:lumMod val="10000"/>
                  </a:schemeClr>
                </a:solidFill>
                <a:latin typeface="Meiryo UI" panose="020B0604030504040204" pitchFamily="50" charset="-128"/>
                <a:ea typeface="Meiryo UI" panose="020B0604030504040204" pitchFamily="50" charset="-128"/>
              </a:rPr>
              <a:t>データ</a:t>
            </a:r>
            <a:r>
              <a:rPr kumimoji="1" lang="en-US" altLang="ja-JP" sz="1600">
                <a:solidFill>
                  <a:schemeClr val="bg1">
                    <a:lumMod val="10000"/>
                  </a:schemeClr>
                </a:solidFill>
                <a:latin typeface="Meiryo UI" panose="020B0604030504040204" pitchFamily="50" charset="-128"/>
                <a:ea typeface="Meiryo UI" panose="020B0604030504040204" pitchFamily="50" charset="-128"/>
              </a:rPr>
              <a:t>ID</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sp>
        <p:nvSpPr>
          <p:cNvPr id="40" name="テキスト ボックス 39">
            <a:extLst>
              <a:ext uri="{FF2B5EF4-FFF2-40B4-BE49-F238E27FC236}">
                <a16:creationId xmlns:a16="http://schemas.microsoft.com/office/drawing/2014/main" id="{191E59C3-0C00-992C-4170-12C01C6AFBBA}"/>
              </a:ext>
            </a:extLst>
          </p:cNvPr>
          <p:cNvSpPr txBox="1"/>
          <p:nvPr/>
        </p:nvSpPr>
        <p:spPr>
          <a:xfrm>
            <a:off x="8756117" y="3599651"/>
            <a:ext cx="1845377" cy="338554"/>
          </a:xfrm>
          <a:prstGeom prst="rect">
            <a:avLst/>
          </a:prstGeom>
          <a:noFill/>
        </p:spPr>
        <p:txBody>
          <a:bodyPr wrap="square" rtlCol="0">
            <a:spAutoFit/>
          </a:bodyPr>
          <a:lstStyle/>
          <a:p>
            <a:pPr algn="l"/>
            <a:r>
              <a:rPr kumimoji="1" lang="ja-JP" altLang="en-US" sz="1600">
                <a:solidFill>
                  <a:schemeClr val="bg1">
                    <a:lumMod val="10000"/>
                  </a:schemeClr>
                </a:solidFill>
                <a:latin typeface="Meiryo UI" panose="020B0604030504040204" pitchFamily="50" charset="-128"/>
                <a:ea typeface="Meiryo UI" panose="020B0604030504040204" pitchFamily="50" charset="-128"/>
              </a:rPr>
              <a:t>売上伝票番号</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cxnSp>
        <p:nvCxnSpPr>
          <p:cNvPr id="41" name="直線矢印コネクタ 40">
            <a:extLst>
              <a:ext uri="{FF2B5EF4-FFF2-40B4-BE49-F238E27FC236}">
                <a16:creationId xmlns:a16="http://schemas.microsoft.com/office/drawing/2014/main" id="{08F62C58-1029-0CC6-91E7-F8D0BDB21AAA}"/>
              </a:ext>
            </a:extLst>
          </p:cNvPr>
          <p:cNvCxnSpPr>
            <a:cxnSpLocks/>
          </p:cNvCxnSpPr>
          <p:nvPr/>
        </p:nvCxnSpPr>
        <p:spPr>
          <a:xfrm>
            <a:off x="8468083" y="6713522"/>
            <a:ext cx="5917320" cy="0"/>
          </a:xfrm>
          <a:prstGeom prst="straightConnector1">
            <a:avLst/>
          </a:prstGeom>
          <a:ln w="57150">
            <a:headEnd type="triangle"/>
            <a:tailEnd type="non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F91FFF0C-4D3D-19AD-FA9D-C6A74FA6820B}"/>
              </a:ext>
            </a:extLst>
          </p:cNvPr>
          <p:cNvSpPr txBox="1"/>
          <p:nvPr/>
        </p:nvSpPr>
        <p:spPr>
          <a:xfrm>
            <a:off x="8768903" y="6681578"/>
            <a:ext cx="2345514" cy="338554"/>
          </a:xfrm>
          <a:prstGeom prst="rect">
            <a:avLst/>
          </a:prstGeom>
          <a:noFill/>
        </p:spPr>
        <p:txBody>
          <a:bodyPr wrap="none" rtlCol="0">
            <a:spAutoFit/>
          </a:bodyPr>
          <a:lstStyle/>
          <a:p>
            <a:pPr algn="l"/>
            <a:r>
              <a:rPr kumimoji="1" lang="en-US" altLang="ja-JP" sz="1600">
                <a:solidFill>
                  <a:schemeClr val="bg1">
                    <a:lumMod val="10000"/>
                  </a:schemeClr>
                </a:solidFill>
                <a:latin typeface="Meiryo UI" panose="020B0604030504040204" pitchFamily="50" charset="-128"/>
                <a:ea typeface="Meiryo UI" panose="020B0604030504040204" pitchFamily="50" charset="-128"/>
              </a:rPr>
              <a:t>json</a:t>
            </a:r>
            <a:r>
              <a:rPr kumimoji="1" lang="ja-JP" altLang="en-US" sz="1600">
                <a:solidFill>
                  <a:schemeClr val="bg1">
                    <a:lumMod val="10000"/>
                  </a:schemeClr>
                </a:solidFill>
                <a:latin typeface="Meiryo UI" panose="020B0604030504040204" pitchFamily="50" charset="-128"/>
                <a:ea typeface="Meiryo UI" panose="020B0604030504040204" pitchFamily="50" charset="-128"/>
              </a:rPr>
              <a:t>データ</a:t>
            </a:r>
            <a:r>
              <a:rPr kumimoji="1" lang="en-US" altLang="ja-JP" sz="1600">
                <a:solidFill>
                  <a:schemeClr val="bg1">
                    <a:lumMod val="10000"/>
                  </a:schemeClr>
                </a:solidFill>
                <a:latin typeface="Meiryo UI" panose="020B0604030504040204" pitchFamily="50" charset="-128"/>
                <a:ea typeface="Meiryo UI" panose="020B0604030504040204" pitchFamily="50" charset="-128"/>
              </a:rPr>
              <a:t>ID</a:t>
            </a:r>
            <a:r>
              <a:rPr lang="ja-JP" altLang="en-US" sz="1600">
                <a:solidFill>
                  <a:schemeClr val="bg1">
                    <a:lumMod val="10000"/>
                  </a:schemeClr>
                </a:solidFill>
                <a:latin typeface="Meiryo UI" panose="020B0604030504040204" pitchFamily="50" charset="-128"/>
                <a:ea typeface="Meiryo UI" panose="020B0604030504040204" pitchFamily="50" charset="-128"/>
              </a:rPr>
              <a:t>＋</a:t>
            </a:r>
            <a:r>
              <a:rPr kumimoji="1" lang="ja-JP" altLang="en-US" sz="1600">
                <a:solidFill>
                  <a:schemeClr val="bg1">
                    <a:lumMod val="10000"/>
                  </a:schemeClr>
                </a:solidFill>
                <a:latin typeface="Meiryo UI" panose="020B0604030504040204" pitchFamily="50" charset="-128"/>
                <a:ea typeface="Meiryo UI" panose="020B0604030504040204" pitchFamily="50" charset="-128"/>
              </a:rPr>
              <a:t>登録成否</a:t>
            </a:r>
            <a:endParaRPr kumimoji="1" lang="ja-JP" altLang="en-US" sz="1600" dirty="0">
              <a:solidFill>
                <a:schemeClr val="bg1">
                  <a:lumMod val="10000"/>
                </a:schemeClr>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4F0FA101-8DE7-8AFA-A3E1-578537A340EE}"/>
              </a:ext>
            </a:extLst>
          </p:cNvPr>
          <p:cNvSpPr/>
          <p:nvPr/>
        </p:nvSpPr>
        <p:spPr>
          <a:xfrm>
            <a:off x="14853774" y="6025568"/>
            <a:ext cx="3013725" cy="786445"/>
          </a:xfrm>
          <a:prstGeom prst="roundRect">
            <a:avLst>
              <a:gd name="adj" fmla="val 50000"/>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a:solidFill>
                  <a:srgbClr val="59574C"/>
                </a:solidFill>
                <a:latin typeface="Source Sans Pro" panose="020B0503030403020204" pitchFamily="34" charset="0"/>
                <a:ea typeface="源ノ角ゴシック JP Regular" panose="020B0500000000000000" pitchFamily="34" charset="-128"/>
              </a:rPr>
              <a:t>売上取消成否確認</a:t>
            </a:r>
            <a:r>
              <a:rPr lang="en-US" altLang="ja-JP" sz="2000">
                <a:solidFill>
                  <a:srgbClr val="59574C"/>
                </a:solidFill>
                <a:latin typeface="Source Sans Pro" panose="020B0503030403020204" pitchFamily="34" charset="0"/>
                <a:ea typeface="源ノ角ゴシック JP Regular" panose="020B0500000000000000" pitchFamily="34" charset="-128"/>
              </a:rPr>
              <a:t>API</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cxnSp>
        <p:nvCxnSpPr>
          <p:cNvPr id="39" name="直線矢印コネクタ 38">
            <a:extLst>
              <a:ext uri="{FF2B5EF4-FFF2-40B4-BE49-F238E27FC236}">
                <a16:creationId xmlns:a16="http://schemas.microsoft.com/office/drawing/2014/main" id="{56BE5758-A138-3D33-6018-7BDCEACF75E8}"/>
              </a:ext>
            </a:extLst>
          </p:cNvPr>
          <p:cNvCxnSpPr>
            <a:cxnSpLocks/>
            <a:stCxn id="34" idx="2"/>
          </p:cNvCxnSpPr>
          <p:nvPr/>
        </p:nvCxnSpPr>
        <p:spPr>
          <a:xfrm flipH="1">
            <a:off x="16360631" y="6812013"/>
            <a:ext cx="6" cy="1779720"/>
          </a:xfrm>
          <a:prstGeom prst="straightConnector1">
            <a:avLst/>
          </a:prstGeom>
          <a:ln w="571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1" name="四角形: 角を丸くする 50">
            <a:extLst>
              <a:ext uri="{FF2B5EF4-FFF2-40B4-BE49-F238E27FC236}">
                <a16:creationId xmlns:a16="http://schemas.microsoft.com/office/drawing/2014/main" id="{3CE479B6-7BC4-9C5A-CA8B-85B56B191FE2}"/>
              </a:ext>
            </a:extLst>
          </p:cNvPr>
          <p:cNvSpPr/>
          <p:nvPr/>
        </p:nvSpPr>
        <p:spPr>
          <a:xfrm>
            <a:off x="7204077" y="4994925"/>
            <a:ext cx="2528007" cy="786445"/>
          </a:xfrm>
          <a:prstGeom prst="roundRect">
            <a:avLst>
              <a:gd name="adj" fmla="val 50000"/>
            </a:avLst>
          </a:prstGeom>
          <a:solidFill>
            <a:schemeClr val="bg1"/>
          </a:solidFill>
          <a:ln>
            <a:solidFill>
              <a:srgbClr val="595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a:solidFill>
                  <a:srgbClr val="59574C"/>
                </a:solidFill>
                <a:latin typeface="Source Sans Pro" panose="020B0503030403020204" pitchFamily="34" charset="0"/>
                <a:ea typeface="源ノ角ゴシック JP Regular" panose="020B0500000000000000" pitchFamily="34" charset="-128"/>
              </a:rPr>
              <a:t>POS</a:t>
            </a:r>
            <a:r>
              <a:rPr lang="ja-JP" altLang="en-US" sz="2000">
                <a:solidFill>
                  <a:srgbClr val="59574C"/>
                </a:solidFill>
                <a:latin typeface="Source Sans Pro" panose="020B0503030403020204" pitchFamily="34" charset="0"/>
                <a:ea typeface="源ノ角ゴシック JP Regular" panose="020B0500000000000000" pitchFamily="34" charset="-128"/>
              </a:rPr>
              <a:t>操作</a:t>
            </a:r>
            <a:endParaRPr lang="en-US" altLang="ja-JP" sz="2000">
              <a:solidFill>
                <a:srgbClr val="59574C"/>
              </a:solidFill>
              <a:latin typeface="Source Sans Pro" panose="020B0503030403020204" pitchFamily="34" charset="0"/>
              <a:ea typeface="源ノ角ゴシック JP Regular" panose="020B0500000000000000" pitchFamily="34" charset="-128"/>
            </a:endParaRPr>
          </a:p>
          <a:p>
            <a:pPr algn="ctr"/>
            <a:r>
              <a:rPr lang="ja-JP" altLang="en-US" sz="2000">
                <a:solidFill>
                  <a:srgbClr val="59574C"/>
                </a:solidFill>
                <a:latin typeface="Source Sans Pro" panose="020B0503030403020204" pitchFamily="34" charset="0"/>
                <a:ea typeface="源ノ角ゴシック JP Regular" panose="020B0500000000000000" pitchFamily="34" charset="-128"/>
              </a:rPr>
              <a:t>（現計キー）</a:t>
            </a:r>
            <a:endParaRPr kumimoji="1" lang="ja-JP" altLang="en-US" sz="2000">
              <a:solidFill>
                <a:srgbClr val="59574C"/>
              </a:solidFill>
              <a:latin typeface="Source Sans Pro" panose="020B0503030403020204" pitchFamily="34" charset="0"/>
              <a:ea typeface="源ノ角ゴシック JP Regular" panose="020B0500000000000000" pitchFamily="34" charset="-128"/>
            </a:endParaRPr>
          </a:p>
        </p:txBody>
      </p:sp>
    </p:spTree>
    <p:extLst>
      <p:ext uri="{BB962C8B-B14F-4D97-AF65-F5344CB8AC3E}">
        <p14:creationId xmlns:p14="http://schemas.microsoft.com/office/powerpoint/2010/main" val="398598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BA2E6-ABA0-501F-BCE9-6D6FE60300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2173EA-9380-CD4F-0D91-C8A46DA44E00}"/>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６－４．開発環境（採用データベース）</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540E96C7-D8DB-6974-DD45-33188D4BD95A}"/>
              </a:ext>
            </a:extLst>
          </p:cNvPr>
          <p:cNvSpPr>
            <a:spLocks noGrp="1"/>
          </p:cNvSpPr>
          <p:nvPr>
            <p:ph type="sldNum" sz="quarter" idx="12"/>
          </p:nvPr>
        </p:nvSpPr>
        <p:spPr/>
        <p:txBody>
          <a:bodyPr/>
          <a:lstStyle/>
          <a:p>
            <a:fld id="{2A9E37A5-A917-4235-ABF6-8CD72E894915}" type="slidenum">
              <a:rPr lang="en-US" altLang="ja-JP" smtClean="0"/>
              <a:pPr/>
              <a:t>37</a:t>
            </a:fld>
            <a:endParaRPr lang="ja-JP" altLang="en-US"/>
          </a:p>
        </p:txBody>
      </p:sp>
      <p:sp>
        <p:nvSpPr>
          <p:cNvPr id="4" name="フッター プレースホルダー 3">
            <a:extLst>
              <a:ext uri="{FF2B5EF4-FFF2-40B4-BE49-F238E27FC236}">
                <a16:creationId xmlns:a16="http://schemas.microsoft.com/office/drawing/2014/main" id="{C3D01CD5-58E9-63D4-5B9A-522851D93402}"/>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9BBF80E8-8A88-03DB-E95D-4A27904A1AF0}"/>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テキスト ボックス 5">
            <a:extLst>
              <a:ext uri="{FF2B5EF4-FFF2-40B4-BE49-F238E27FC236}">
                <a16:creationId xmlns:a16="http://schemas.microsoft.com/office/drawing/2014/main" id="{B6660AAB-DCB0-9BA6-7755-0AD752E88A86}"/>
              </a:ext>
            </a:extLst>
          </p:cNvPr>
          <p:cNvSpPr txBox="1"/>
          <p:nvPr/>
        </p:nvSpPr>
        <p:spPr>
          <a:xfrm>
            <a:off x="405609" y="1079510"/>
            <a:ext cx="17473791" cy="642569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a:t>
            </a:r>
            <a:r>
              <a:rPr lang="en-US" altLang="ja-JP" sz="2000">
                <a:solidFill>
                  <a:schemeClr val="tx1"/>
                </a:solidFill>
                <a:latin typeface="メイリオ" panose="020B0604030504040204" pitchFamily="50" charset="-128"/>
                <a:ea typeface="メイリオ" panose="020B0604030504040204" pitchFamily="50" charset="-128"/>
              </a:rPr>
              <a:t>API</a:t>
            </a:r>
            <a:r>
              <a:rPr lang="ja-JP" altLang="en-US" sz="2000">
                <a:solidFill>
                  <a:schemeClr val="tx1"/>
                </a:solidFill>
                <a:latin typeface="メイリオ" panose="020B0604030504040204" pitchFamily="50" charset="-128"/>
                <a:ea typeface="メイリオ" panose="020B0604030504040204" pitchFamily="50" charset="-128"/>
              </a:rPr>
              <a:t>データ連携</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a:t>
            </a:r>
            <a:r>
              <a:rPr lang="en-US" altLang="ja-JP" sz="2000">
                <a:solidFill>
                  <a:schemeClr val="tx1"/>
                </a:solidFill>
                <a:latin typeface="メイリオ" panose="020B0604030504040204" pitchFamily="50" charset="-128"/>
                <a:ea typeface="メイリオ" panose="020B0604030504040204" pitchFamily="50" charset="-128"/>
              </a:rPr>
              <a:t>【</a:t>
            </a:r>
            <a:r>
              <a:rPr lang="ja-JP" altLang="en-US" sz="2000">
                <a:solidFill>
                  <a:schemeClr val="tx1"/>
                </a:solidFill>
                <a:latin typeface="メイリオ" panose="020B0604030504040204" pitchFamily="50" charset="-128"/>
                <a:ea typeface="メイリオ" panose="020B0604030504040204" pitchFamily="50" charset="-128"/>
              </a:rPr>
              <a:t>方針</a:t>
            </a:r>
            <a:r>
              <a:rPr lang="en-US" altLang="ja-JP" sz="2000">
                <a:solidFill>
                  <a:schemeClr val="tx1"/>
                </a:solidFill>
                <a:latin typeface="メイリオ" panose="020B0604030504040204" pitchFamily="50" charset="-128"/>
                <a:ea typeface="メイリオ" panose="020B0604030504040204" pitchFamily="50" charset="-128"/>
              </a:rPr>
              <a:t>】</a:t>
            </a: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・タブレット</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の入力情報登録と実績データ作成を非同期とします。</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⇒データ登録</a:t>
            </a:r>
            <a:r>
              <a:rPr lang="en-US" altLang="ja-JP" sz="2000">
                <a:solidFill>
                  <a:schemeClr val="tx1"/>
                </a:solidFill>
                <a:latin typeface="メイリオ" panose="020B0604030504040204" pitchFamily="50" charset="-128"/>
                <a:ea typeface="メイリオ" panose="020B0604030504040204" pitchFamily="50" charset="-128"/>
              </a:rPr>
              <a:t>API</a:t>
            </a:r>
            <a:r>
              <a:rPr lang="ja-JP" altLang="en-US" sz="2000">
                <a:solidFill>
                  <a:schemeClr val="tx1"/>
                </a:solidFill>
                <a:latin typeface="メイリオ" panose="020B0604030504040204" pitchFamily="50" charset="-128"/>
                <a:ea typeface="メイリオ" panose="020B0604030504040204" pitchFamily="50" charset="-128"/>
              </a:rPr>
              <a:t>は</a:t>
            </a:r>
            <a:r>
              <a:rPr lang="en-US" altLang="ja-JP" sz="2000">
                <a:solidFill>
                  <a:schemeClr val="tx1"/>
                </a:solidFill>
                <a:latin typeface="メイリオ" panose="020B0604030504040204" pitchFamily="50" charset="-128"/>
                <a:ea typeface="メイリオ" panose="020B0604030504040204" pitchFamily="50" charset="-128"/>
              </a:rPr>
              <a:t>JSON</a:t>
            </a:r>
            <a:r>
              <a:rPr lang="ja-JP" altLang="en-US" sz="2000">
                <a:solidFill>
                  <a:schemeClr val="tx1"/>
                </a:solidFill>
                <a:latin typeface="メイリオ" panose="020B0604030504040204" pitchFamily="50" charset="-128"/>
                <a:ea typeface="メイリオ" panose="020B0604030504040204" pitchFamily="50" charset="-128"/>
              </a:rPr>
              <a:t>形式の入力情報をテーブルに登録し、タブレット</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にレシート</a:t>
            </a:r>
            <a:r>
              <a:rPr lang="en-US" altLang="ja-JP" sz="2000">
                <a:solidFill>
                  <a:schemeClr val="tx1"/>
                </a:solidFill>
                <a:latin typeface="メイリオ" panose="020B0604030504040204" pitchFamily="50" charset="-128"/>
                <a:ea typeface="メイリオ" panose="020B0604030504040204" pitchFamily="50" charset="-128"/>
              </a:rPr>
              <a:t>/A4</a:t>
            </a:r>
            <a:r>
              <a:rPr lang="ja-JP" altLang="en-US" sz="2000">
                <a:solidFill>
                  <a:schemeClr val="tx1"/>
                </a:solidFill>
                <a:latin typeface="メイリオ" panose="020B0604030504040204" pitchFamily="50" charset="-128"/>
                <a:ea typeface="メイリオ" panose="020B0604030504040204" pitchFamily="50" charset="-128"/>
              </a:rPr>
              <a:t>帳票印刷データを返します。</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テーブルに登録された</a:t>
            </a:r>
            <a:r>
              <a:rPr lang="en-US" altLang="ja-JP" sz="2000">
                <a:solidFill>
                  <a:schemeClr val="tx1"/>
                </a:solidFill>
                <a:latin typeface="メイリオ" panose="020B0604030504040204" pitchFamily="50" charset="-128"/>
                <a:ea typeface="メイリオ" panose="020B0604030504040204" pitchFamily="50" charset="-128"/>
              </a:rPr>
              <a:t>JSON</a:t>
            </a:r>
            <a:r>
              <a:rPr lang="ja-JP" altLang="en-US" sz="2000">
                <a:solidFill>
                  <a:schemeClr val="tx1"/>
                </a:solidFill>
                <a:latin typeface="メイリオ" panose="020B0604030504040204" pitchFamily="50" charset="-128"/>
                <a:ea typeface="メイリオ" panose="020B0604030504040204" pitchFamily="50" charset="-128"/>
              </a:rPr>
              <a:t>データを元にタブレット</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で参照する実績データを作成します。</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a:t>
            </a:r>
            <a:r>
              <a:rPr lang="en-US" altLang="ja-JP" sz="2000">
                <a:solidFill>
                  <a:schemeClr val="tx1"/>
                </a:solidFill>
                <a:latin typeface="メイリオ" panose="020B0604030504040204" pitchFamily="50" charset="-128"/>
                <a:ea typeface="メイリオ" panose="020B0604030504040204" pitchFamily="50" charset="-128"/>
              </a:rPr>
              <a:t>※JSON</a:t>
            </a:r>
            <a:r>
              <a:rPr lang="ja-JP" altLang="en-US" sz="2000">
                <a:solidFill>
                  <a:schemeClr val="tx1"/>
                </a:solidFill>
                <a:latin typeface="メイリオ" panose="020B0604030504040204" pitchFamily="50" charset="-128"/>
                <a:ea typeface="メイリオ" panose="020B0604030504040204" pitchFamily="50" charset="-128"/>
              </a:rPr>
              <a:t>の項目は実績データの項目と同じとします。</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a:t>
            </a:r>
            <a:r>
              <a:rPr lang="en-US" altLang="ja-JP" sz="2000">
                <a:solidFill>
                  <a:schemeClr val="tx1"/>
                </a:solidFill>
                <a:latin typeface="メイリオ" panose="020B0604030504040204" pitchFamily="50" charset="-128"/>
                <a:ea typeface="メイリオ" panose="020B0604030504040204" pitchFamily="50" charset="-128"/>
              </a:rPr>
              <a:t>OCI</a:t>
            </a:r>
            <a:r>
              <a:rPr lang="ja-JP" altLang="en-US" sz="2000">
                <a:solidFill>
                  <a:schemeClr val="tx1"/>
                </a:solidFill>
                <a:latin typeface="メイリオ" panose="020B0604030504040204" pitchFamily="50" charset="-128"/>
                <a:ea typeface="メイリオ" panose="020B0604030504040204" pitchFamily="50" charset="-128"/>
              </a:rPr>
              <a:t>に構築する次世代</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用</a:t>
            </a:r>
            <a:r>
              <a:rPr lang="en-US" altLang="ja-JP" sz="2000">
                <a:solidFill>
                  <a:schemeClr val="tx1"/>
                </a:solidFill>
                <a:latin typeface="メイリオ" panose="020B0604030504040204" pitchFamily="50" charset="-128"/>
                <a:ea typeface="メイリオ" panose="020B0604030504040204" pitchFamily="50" charset="-128"/>
              </a:rPr>
              <a:t>DB</a:t>
            </a:r>
            <a:r>
              <a:rPr lang="ja-JP" altLang="en-US" sz="2000">
                <a:solidFill>
                  <a:schemeClr val="tx1"/>
                </a:solidFill>
                <a:latin typeface="メイリオ" panose="020B0604030504040204" pitchFamily="50" charset="-128"/>
                <a:ea typeface="メイリオ" panose="020B0604030504040204" pitchFamily="50" charset="-128"/>
              </a:rPr>
              <a:t>は「セントラル</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 </a:t>
            </a:r>
            <a:r>
              <a:rPr lang="en-US" altLang="ja-JP" sz="2000">
                <a:solidFill>
                  <a:schemeClr val="tx1"/>
                </a:solidFill>
                <a:latin typeface="メイリオ" panose="020B0604030504040204" pitchFamily="50" charset="-128"/>
                <a:ea typeface="メイリオ" panose="020B0604030504040204" pitchFamily="50" charset="-128"/>
              </a:rPr>
              <a:t>DB</a:t>
            </a:r>
            <a:r>
              <a:rPr lang="ja-JP" altLang="en-US" sz="2000">
                <a:solidFill>
                  <a:schemeClr val="tx1"/>
                </a:solidFill>
                <a:latin typeface="メイリオ" panose="020B0604030504040204" pitchFamily="50" charset="-128"/>
                <a:ea typeface="メイリオ" panose="020B0604030504040204" pitchFamily="50" charset="-128"/>
              </a:rPr>
              <a:t>」とします（略称：</a:t>
            </a:r>
            <a:r>
              <a:rPr lang="en-US" altLang="ja-JP" sz="2000">
                <a:solidFill>
                  <a:schemeClr val="tx1"/>
                </a:solidFill>
                <a:latin typeface="メイリオ" panose="020B0604030504040204" pitchFamily="50" charset="-128"/>
                <a:ea typeface="メイリオ" panose="020B0604030504040204" pitchFamily="50" charset="-128"/>
              </a:rPr>
              <a:t>CPOS</a:t>
            </a:r>
            <a:r>
              <a:rPr lang="ja-JP" altLang="en-US" sz="2000">
                <a:solidFill>
                  <a:schemeClr val="tx1"/>
                </a:solidFill>
                <a:latin typeface="メイリオ" panose="020B0604030504040204" pitchFamily="50" charset="-128"/>
                <a:ea typeface="メイリオ" panose="020B0604030504040204" pitchFamily="50" charset="-128"/>
              </a:rPr>
              <a:t>）。</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＜セントラル</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 </a:t>
            </a:r>
            <a:r>
              <a:rPr lang="en-US" altLang="ja-JP" sz="2000">
                <a:solidFill>
                  <a:schemeClr val="tx1"/>
                </a:solidFill>
                <a:latin typeface="メイリオ" panose="020B0604030504040204" pitchFamily="50" charset="-128"/>
                <a:ea typeface="メイリオ" panose="020B0604030504040204" pitchFamily="50" charset="-128"/>
              </a:rPr>
              <a:t>DB</a:t>
            </a:r>
            <a:r>
              <a:rPr lang="ja-JP" altLang="en-US" sz="2000">
                <a:solidFill>
                  <a:schemeClr val="tx1"/>
                </a:solidFill>
                <a:latin typeface="メイリオ" panose="020B0604030504040204" pitchFamily="50" charset="-128"/>
                <a:ea typeface="メイリオ" panose="020B0604030504040204" pitchFamily="50" charset="-128"/>
              </a:rPr>
              <a:t>環境＞</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・タブレット</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用</a:t>
            </a:r>
            <a:r>
              <a:rPr lang="en-US" altLang="ja-JP" sz="2000">
                <a:solidFill>
                  <a:schemeClr val="tx1"/>
                </a:solidFill>
                <a:latin typeface="メイリオ" panose="020B0604030504040204" pitchFamily="50" charset="-128"/>
                <a:ea typeface="メイリオ" panose="020B0604030504040204" pitchFamily="50" charset="-128"/>
              </a:rPr>
              <a:t>DB</a:t>
            </a:r>
            <a:r>
              <a:rPr lang="ja-JP" altLang="en-US" sz="2000">
                <a:solidFill>
                  <a:schemeClr val="tx1"/>
                </a:solidFill>
                <a:latin typeface="メイリオ" panose="020B0604030504040204" pitchFamily="50" charset="-128"/>
                <a:ea typeface="メイリオ" panose="020B0604030504040204" pitchFamily="50" charset="-128"/>
              </a:rPr>
              <a:t>⇔現行システムデータのデータ連携を</a:t>
            </a:r>
            <a:r>
              <a:rPr lang="en-US" altLang="ja-JP" sz="2000">
                <a:solidFill>
                  <a:schemeClr val="tx1"/>
                </a:solidFill>
                <a:latin typeface="メイリオ" panose="020B0604030504040204" pitchFamily="50" charset="-128"/>
                <a:ea typeface="メイリオ" panose="020B0604030504040204" pitchFamily="50" charset="-128"/>
              </a:rPr>
              <a:t>DataSpider</a:t>
            </a:r>
            <a:r>
              <a:rPr lang="ja-JP" altLang="en-US" sz="2000">
                <a:solidFill>
                  <a:schemeClr val="tx1"/>
                </a:solidFill>
                <a:latin typeface="メイリオ" panose="020B0604030504040204" pitchFamily="50" charset="-128"/>
                <a:ea typeface="メイリオ" panose="020B0604030504040204" pitchFamily="50" charset="-128"/>
              </a:rPr>
              <a:t>を使用します。</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・タブレット</a:t>
            </a:r>
            <a:r>
              <a:rPr lang="en-US" altLang="ja-JP" sz="2000">
                <a:solidFill>
                  <a:schemeClr val="tx1"/>
                </a:solidFill>
                <a:latin typeface="メイリオ" panose="020B0604030504040204" pitchFamily="50" charset="-128"/>
                <a:ea typeface="メイリオ" panose="020B0604030504040204" pitchFamily="50" charset="-128"/>
              </a:rPr>
              <a:t>POS</a:t>
            </a:r>
            <a:r>
              <a:rPr lang="ja-JP" altLang="en-US" sz="2000">
                <a:solidFill>
                  <a:schemeClr val="tx1"/>
                </a:solidFill>
                <a:latin typeface="メイリオ" panose="020B0604030504040204" pitchFamily="50" charset="-128"/>
                <a:ea typeface="メイリオ" panose="020B0604030504040204" pitchFamily="50" charset="-128"/>
              </a:rPr>
              <a:t>用実績データ作成は</a:t>
            </a:r>
            <a:r>
              <a:rPr lang="en-US" altLang="ja-JP" sz="2000">
                <a:solidFill>
                  <a:schemeClr val="tx1"/>
                </a:solidFill>
                <a:latin typeface="メイリオ" panose="020B0604030504040204" pitchFamily="50" charset="-128"/>
                <a:ea typeface="メイリオ" panose="020B0604030504040204" pitchFamily="50" charset="-128"/>
              </a:rPr>
              <a:t>SMJ</a:t>
            </a:r>
            <a:r>
              <a:rPr lang="ja-JP" altLang="en-US" sz="2000">
                <a:solidFill>
                  <a:schemeClr val="tx1"/>
                </a:solidFill>
                <a:latin typeface="メイリオ" panose="020B0604030504040204" pitchFamily="50" charset="-128"/>
                <a:ea typeface="メイリオ" panose="020B0604030504040204" pitchFamily="50" charset="-128"/>
              </a:rPr>
              <a:t>、トランジャーナルデータ（現行システムトラン）作成はカストマ様担当とします。</a:t>
            </a:r>
            <a:endParaRPr lang="en-US" altLang="ja-JP" sz="2000">
              <a:solidFill>
                <a:schemeClr val="tx1"/>
              </a:solidFill>
              <a:latin typeface="メイリオ" panose="020B0604030504040204" pitchFamily="50" charset="-128"/>
              <a:ea typeface="メイリオ" panose="020B0604030504040204" pitchFamily="50" charset="-128"/>
            </a:endParaRPr>
          </a:p>
          <a:p>
            <a:pPr lvl="0">
              <a:lnSpc>
                <a:spcPct val="150000"/>
              </a:lnSpc>
            </a:pPr>
            <a:r>
              <a:rPr lang="ja-JP" altLang="en-US" sz="2000">
                <a:solidFill>
                  <a:schemeClr val="tx1"/>
                </a:solidFill>
                <a:latin typeface="メイリオ" panose="020B0604030504040204" pitchFamily="50" charset="-128"/>
                <a:ea typeface="メイリオ" panose="020B0604030504040204" pitchFamily="50" charset="-128"/>
              </a:rPr>
              <a:t>　　　データ登録</a:t>
            </a:r>
            <a:r>
              <a:rPr lang="en-US" altLang="ja-JP" sz="2000">
                <a:solidFill>
                  <a:schemeClr val="tx1"/>
                </a:solidFill>
                <a:latin typeface="メイリオ" panose="020B0604030504040204" pitchFamily="50" charset="-128"/>
                <a:ea typeface="メイリオ" panose="020B0604030504040204" pitchFamily="50" charset="-128"/>
              </a:rPr>
              <a:t>API</a:t>
            </a:r>
            <a:r>
              <a:rPr lang="ja-JP" altLang="en-US" sz="2000">
                <a:solidFill>
                  <a:schemeClr val="tx1"/>
                </a:solidFill>
                <a:latin typeface="メイリオ" panose="020B0604030504040204" pitchFamily="50" charset="-128"/>
                <a:ea typeface="メイリオ" panose="020B0604030504040204" pitchFamily="50" charset="-128"/>
              </a:rPr>
              <a:t>は</a:t>
            </a:r>
            <a:r>
              <a:rPr lang="en-US" altLang="ja-JP" sz="2000">
                <a:solidFill>
                  <a:schemeClr val="tx1"/>
                </a:solidFill>
                <a:latin typeface="メイリオ" panose="020B0604030504040204" pitchFamily="50" charset="-128"/>
                <a:ea typeface="メイリオ" panose="020B0604030504040204" pitchFamily="50" charset="-128"/>
              </a:rPr>
              <a:t>SMJ</a:t>
            </a:r>
            <a:r>
              <a:rPr lang="ja-JP" altLang="en-US" sz="2000">
                <a:solidFill>
                  <a:schemeClr val="tx1"/>
                </a:solidFill>
                <a:latin typeface="メイリオ" panose="020B0604030504040204" pitchFamily="50" charset="-128"/>
                <a:ea typeface="メイリオ" panose="020B0604030504040204" pitchFamily="50" charset="-128"/>
              </a:rPr>
              <a:t>、</a:t>
            </a:r>
            <a:r>
              <a:rPr lang="en-US" altLang="ja-JP" sz="2000">
                <a:solidFill>
                  <a:schemeClr val="tx1"/>
                </a:solidFill>
                <a:latin typeface="メイリオ" panose="020B0604030504040204" pitchFamily="50" charset="-128"/>
                <a:ea typeface="メイリオ" panose="020B0604030504040204" pitchFamily="50" charset="-128"/>
              </a:rPr>
              <a:t>NSW</a:t>
            </a:r>
            <a:r>
              <a:rPr lang="ja-JP" altLang="en-US" sz="2000">
                <a:solidFill>
                  <a:schemeClr val="tx1"/>
                </a:solidFill>
                <a:latin typeface="メイリオ" panose="020B0604030504040204" pitchFamily="50" charset="-128"/>
                <a:ea typeface="メイリオ" panose="020B0604030504040204" pitchFamily="50" charset="-128"/>
              </a:rPr>
              <a:t>様で担当機能分を作成します。</a:t>
            </a:r>
            <a:endParaRPr lang="en-US" altLang="ja-JP" sz="2000" dirty="0">
              <a:solidFill>
                <a:schemeClr val="tx1"/>
              </a:solidFill>
              <a:latin typeface="メイリオ" panose="020B0604030504040204" pitchFamily="50" charset="-128"/>
              <a:ea typeface="メイリオ" panose="020B0604030504040204" pitchFamily="50" charset="-128"/>
            </a:endParaRPr>
          </a:p>
        </p:txBody>
      </p:sp>
      <p:graphicFrame>
        <p:nvGraphicFramePr>
          <p:cNvPr id="7" name="表 6">
            <a:extLst>
              <a:ext uri="{FF2B5EF4-FFF2-40B4-BE49-F238E27FC236}">
                <a16:creationId xmlns:a16="http://schemas.microsoft.com/office/drawing/2014/main" id="{0E7E7CB2-FF25-43C5-5633-F98A4ECA8E98}"/>
              </a:ext>
            </a:extLst>
          </p:cNvPr>
          <p:cNvGraphicFramePr>
            <a:graphicFrameLocks noGrp="1"/>
          </p:cNvGraphicFramePr>
          <p:nvPr>
            <p:extLst>
              <p:ext uri="{D42A27DB-BD31-4B8C-83A1-F6EECF244321}">
                <p14:modId xmlns:p14="http://schemas.microsoft.com/office/powerpoint/2010/main" val="3835587720"/>
              </p:ext>
            </p:extLst>
          </p:nvPr>
        </p:nvGraphicFramePr>
        <p:xfrm>
          <a:off x="1468582" y="4747260"/>
          <a:ext cx="12192000" cy="7924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31793685"/>
                    </a:ext>
                  </a:extLst>
                </a:gridCol>
                <a:gridCol w="4064000">
                  <a:extLst>
                    <a:ext uri="{9D8B030D-6E8A-4147-A177-3AD203B41FA5}">
                      <a16:colId xmlns:a16="http://schemas.microsoft.com/office/drawing/2014/main" val="816459983"/>
                    </a:ext>
                  </a:extLst>
                </a:gridCol>
                <a:gridCol w="4064000">
                  <a:extLst>
                    <a:ext uri="{9D8B030D-6E8A-4147-A177-3AD203B41FA5}">
                      <a16:colId xmlns:a16="http://schemas.microsoft.com/office/drawing/2014/main" val="708591584"/>
                    </a:ext>
                  </a:extLst>
                </a:gridCol>
              </a:tblGrid>
              <a:tr h="370840">
                <a:tc>
                  <a:txBody>
                    <a:bodyPr/>
                    <a:lstStyle/>
                    <a:p>
                      <a:r>
                        <a:rPr kumimoji="1" lang="en-US" altLang="ja-JP" sz="2000" dirty="0">
                          <a:latin typeface="メイリオ" panose="020B0604030504040204" pitchFamily="50" charset="-128"/>
                          <a:ea typeface="メイリオ" panose="020B0604030504040204" pitchFamily="50" charset="-128"/>
                        </a:rPr>
                        <a:t>DB</a:t>
                      </a:r>
                      <a:r>
                        <a:rPr kumimoji="1" lang="ja-JP" altLang="en-US" sz="2000" dirty="0">
                          <a:latin typeface="メイリオ" panose="020B0604030504040204" pitchFamily="50" charset="-128"/>
                          <a:ea typeface="メイリオ" panose="020B0604030504040204" pitchFamily="50" charset="-128"/>
                        </a:rPr>
                        <a:t>種類</a:t>
                      </a:r>
                    </a:p>
                  </a:txBody>
                  <a:tcPr/>
                </a:tc>
                <a:tc>
                  <a:txBody>
                    <a:bodyPr/>
                    <a:lstStyle/>
                    <a:p>
                      <a:r>
                        <a:rPr kumimoji="1" lang="en-US" altLang="ja-JP" sz="2000" dirty="0">
                          <a:latin typeface="メイリオ" panose="020B0604030504040204" pitchFamily="50" charset="-128"/>
                          <a:ea typeface="メイリオ" panose="020B0604030504040204" pitchFamily="50" charset="-128"/>
                        </a:rPr>
                        <a:t>DB</a:t>
                      </a:r>
                      <a:r>
                        <a:rPr kumimoji="1" lang="ja-JP" altLang="en-US" sz="2000" dirty="0">
                          <a:latin typeface="メイリオ" panose="020B0604030504040204" pitchFamily="50" charset="-128"/>
                          <a:ea typeface="メイリオ" panose="020B0604030504040204" pitchFamily="50" charset="-128"/>
                        </a:rPr>
                        <a:t>バージョン</a:t>
                      </a:r>
                    </a:p>
                  </a:txBody>
                  <a:tcPr/>
                </a:tc>
                <a:tc>
                  <a:txBody>
                    <a:bodyPr/>
                    <a:lstStyle/>
                    <a:p>
                      <a:r>
                        <a:rPr kumimoji="1" lang="ja-JP" altLang="en-US" sz="2000" dirty="0">
                          <a:latin typeface="メイリオ" panose="020B0604030504040204" pitchFamily="50" charset="-128"/>
                          <a:ea typeface="メイリオ" panose="020B0604030504040204" pitchFamily="50" charset="-128"/>
                        </a:rPr>
                        <a:t>文字コード</a:t>
                      </a:r>
                    </a:p>
                  </a:txBody>
                  <a:tcPr/>
                </a:tc>
                <a:extLst>
                  <a:ext uri="{0D108BD9-81ED-4DB2-BD59-A6C34878D82A}">
                    <a16:rowId xmlns:a16="http://schemas.microsoft.com/office/drawing/2014/main" val="2382435864"/>
                  </a:ext>
                </a:extLst>
              </a:tr>
              <a:tr h="370840">
                <a:tc>
                  <a:txBody>
                    <a:bodyPr/>
                    <a:lstStyle/>
                    <a:p>
                      <a:r>
                        <a:rPr kumimoji="1" lang="en-US" altLang="ja-JP" sz="2000" dirty="0" err="1">
                          <a:latin typeface="メイリオ" panose="020B0604030504040204" pitchFamily="50" charset="-128"/>
                          <a:ea typeface="メイリオ" panose="020B0604030504040204" pitchFamily="50" charset="-128"/>
                        </a:rPr>
                        <a:t>AutonomousDB</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26ai</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AL32UTF8</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03180124"/>
                  </a:ext>
                </a:extLst>
              </a:tr>
            </a:tbl>
          </a:graphicData>
        </a:graphic>
      </p:graphicFrame>
    </p:spTree>
    <p:extLst>
      <p:ext uri="{BB962C8B-B14F-4D97-AF65-F5344CB8AC3E}">
        <p14:creationId xmlns:p14="http://schemas.microsoft.com/office/powerpoint/2010/main" val="21226701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9996D-6C91-B481-D0FE-8EA44CA3EB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0D9C896-6DF3-FD22-B90C-56C83D2D193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６－４．開発環境（使用言語等）</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BF977712-D451-32DA-E229-2FEC24E68E33}"/>
              </a:ext>
            </a:extLst>
          </p:cNvPr>
          <p:cNvSpPr>
            <a:spLocks noGrp="1"/>
          </p:cNvSpPr>
          <p:nvPr>
            <p:ph type="sldNum" sz="quarter" idx="12"/>
          </p:nvPr>
        </p:nvSpPr>
        <p:spPr/>
        <p:txBody>
          <a:bodyPr/>
          <a:lstStyle/>
          <a:p>
            <a:fld id="{2A9E37A5-A917-4235-ABF6-8CD72E894915}" type="slidenum">
              <a:rPr lang="en-US" altLang="ja-JP" smtClean="0"/>
              <a:pPr/>
              <a:t>38</a:t>
            </a:fld>
            <a:endParaRPr lang="ja-JP" altLang="en-US"/>
          </a:p>
        </p:txBody>
      </p:sp>
      <p:sp>
        <p:nvSpPr>
          <p:cNvPr id="4" name="フッター プレースホルダー 3">
            <a:extLst>
              <a:ext uri="{FF2B5EF4-FFF2-40B4-BE49-F238E27FC236}">
                <a16:creationId xmlns:a16="http://schemas.microsoft.com/office/drawing/2014/main" id="{202F221B-C22C-A664-5C64-31A4C394F91A}"/>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0A6152A6-4089-7111-FADC-B2D4835CD207}"/>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テキスト ボックス 5">
            <a:extLst>
              <a:ext uri="{FF2B5EF4-FFF2-40B4-BE49-F238E27FC236}">
                <a16:creationId xmlns:a16="http://schemas.microsoft.com/office/drawing/2014/main" id="{3A803043-E2A4-31F1-585A-5186DD188C20}"/>
              </a:ext>
            </a:extLst>
          </p:cNvPr>
          <p:cNvSpPr txBox="1"/>
          <p:nvPr/>
        </p:nvSpPr>
        <p:spPr>
          <a:xfrm>
            <a:off x="405609" y="1079510"/>
            <a:ext cx="17473791" cy="642569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50000"/>
              </a:lnSpc>
            </a:pPr>
            <a:endParaRPr lang="en-US" altLang="ja-JP" sz="2000">
              <a:solidFill>
                <a:schemeClr val="tx1"/>
              </a:solidFill>
              <a:latin typeface="メイリオ" panose="020B0604030504040204" pitchFamily="50" charset="-128"/>
              <a:ea typeface="メイリオ" panose="020B0604030504040204" pitchFamily="50" charset="-128"/>
            </a:endParaRPr>
          </a:p>
        </p:txBody>
      </p:sp>
      <p:graphicFrame>
        <p:nvGraphicFramePr>
          <p:cNvPr id="7" name="表 6">
            <a:extLst>
              <a:ext uri="{FF2B5EF4-FFF2-40B4-BE49-F238E27FC236}">
                <a16:creationId xmlns:a16="http://schemas.microsoft.com/office/drawing/2014/main" id="{334AD19D-73AD-1B62-4F5D-D93DFB19B5A9}"/>
              </a:ext>
            </a:extLst>
          </p:cNvPr>
          <p:cNvGraphicFramePr>
            <a:graphicFrameLocks noGrp="1"/>
          </p:cNvGraphicFramePr>
          <p:nvPr>
            <p:extLst>
              <p:ext uri="{D42A27DB-BD31-4B8C-83A1-F6EECF244321}">
                <p14:modId xmlns:p14="http://schemas.microsoft.com/office/powerpoint/2010/main" val="552332143"/>
              </p:ext>
            </p:extLst>
          </p:nvPr>
        </p:nvGraphicFramePr>
        <p:xfrm>
          <a:off x="889092" y="1413510"/>
          <a:ext cx="16506824" cy="4389120"/>
        </p:xfrm>
        <a:graphic>
          <a:graphicData uri="http://schemas.openxmlformats.org/drawingml/2006/table">
            <a:tbl>
              <a:tblPr firstRow="1" bandRow="1">
                <a:tableStyleId>{5C22544A-7EE6-4342-B048-85BDC9FD1C3A}</a:tableStyleId>
              </a:tblPr>
              <a:tblGrid>
                <a:gridCol w="2422956">
                  <a:extLst>
                    <a:ext uri="{9D8B030D-6E8A-4147-A177-3AD203B41FA5}">
                      <a16:colId xmlns:a16="http://schemas.microsoft.com/office/drawing/2014/main" val="1431793685"/>
                    </a:ext>
                  </a:extLst>
                </a:gridCol>
                <a:gridCol w="5231877">
                  <a:extLst>
                    <a:ext uri="{9D8B030D-6E8A-4147-A177-3AD203B41FA5}">
                      <a16:colId xmlns:a16="http://schemas.microsoft.com/office/drawing/2014/main" val="816459983"/>
                    </a:ext>
                  </a:extLst>
                </a:gridCol>
                <a:gridCol w="2705601">
                  <a:extLst>
                    <a:ext uri="{9D8B030D-6E8A-4147-A177-3AD203B41FA5}">
                      <a16:colId xmlns:a16="http://schemas.microsoft.com/office/drawing/2014/main" val="4195993003"/>
                    </a:ext>
                  </a:extLst>
                </a:gridCol>
                <a:gridCol w="6146390">
                  <a:extLst>
                    <a:ext uri="{9D8B030D-6E8A-4147-A177-3AD203B41FA5}">
                      <a16:colId xmlns:a16="http://schemas.microsoft.com/office/drawing/2014/main" val="708591584"/>
                    </a:ext>
                  </a:extLst>
                </a:gridCol>
              </a:tblGrid>
              <a:tr h="370840">
                <a:tc>
                  <a:txBody>
                    <a:bodyPr/>
                    <a:lstStyle/>
                    <a:p>
                      <a:r>
                        <a:rPr kumimoji="1" lang="ja-JP" altLang="en-US" sz="2000" dirty="0">
                          <a:latin typeface="メイリオ" panose="020B0604030504040204" pitchFamily="50" charset="-128"/>
                          <a:ea typeface="メイリオ" panose="020B0604030504040204" pitchFamily="50" charset="-128"/>
                        </a:rPr>
                        <a:t>レイヤー</a:t>
                      </a:r>
                    </a:p>
                  </a:txBody>
                  <a:tcPr/>
                </a:tc>
                <a:tc>
                  <a:txBody>
                    <a:bodyPr/>
                    <a:lstStyle/>
                    <a:p>
                      <a:r>
                        <a:rPr kumimoji="1" lang="ja-JP" altLang="en-US" sz="2000">
                          <a:latin typeface="メイリオ" panose="020B0604030504040204" pitchFamily="50" charset="-128"/>
                          <a:ea typeface="メイリオ" panose="020B0604030504040204" pitchFamily="50" charset="-128"/>
                        </a:rPr>
                        <a:t>使用する言語・環境・ツール</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dirty="0">
                          <a:latin typeface="メイリオ" panose="020B0604030504040204" pitchFamily="50" charset="-128"/>
                          <a:ea typeface="メイリオ" panose="020B0604030504040204" pitchFamily="50" charset="-128"/>
                        </a:rPr>
                        <a:t>バージョン</a:t>
                      </a:r>
                    </a:p>
                  </a:txBody>
                  <a:tcPr/>
                </a:tc>
                <a:tc>
                  <a:txBody>
                    <a:bodyPr/>
                    <a:lstStyle/>
                    <a:p>
                      <a:r>
                        <a:rPr kumimoji="1" lang="ja-JP" altLang="en-US" sz="200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2382435864"/>
                  </a:ext>
                </a:extLst>
              </a:tr>
              <a:tr h="370840">
                <a:tc rowSpan="4">
                  <a:txBody>
                    <a:bodyPr/>
                    <a:lstStyle/>
                    <a:p>
                      <a:r>
                        <a:rPr kumimoji="1" lang="ja-JP" altLang="en-US" sz="2000" dirty="0">
                          <a:latin typeface="メイリオ" panose="020B0604030504040204" pitchFamily="50" charset="-128"/>
                          <a:ea typeface="メイリオ" panose="020B0604030504040204" pitchFamily="50" charset="-128"/>
                        </a:rPr>
                        <a:t>端末</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a:latin typeface="メイリオ" panose="020B0604030504040204" pitchFamily="50" charset="-128"/>
                          <a:ea typeface="メイリオ" panose="020B0604030504040204" pitchFamily="50" charset="-128"/>
                        </a:rPr>
                        <a:t>.NET MAUI</a:t>
                      </a:r>
                      <a:r>
                        <a:rPr kumimoji="1" lang="ja-JP" altLang="en-US" sz="2000" dirty="0">
                          <a:latin typeface="メイリオ" panose="020B0604030504040204" pitchFamily="50" charset="-128"/>
                          <a:ea typeface="メイリオ" panose="020B0604030504040204" pitchFamily="50" charset="-128"/>
                        </a:rPr>
                        <a:t>（</a:t>
                      </a:r>
                      <a:r>
                        <a:rPr kumimoji="1" lang="en-US" altLang="ja-JP" sz="2000" dirty="0">
                          <a:latin typeface="メイリオ" panose="020B0604030504040204" pitchFamily="50" charset="-128"/>
                          <a:ea typeface="メイリオ" panose="020B0604030504040204" pitchFamily="50" charset="-128"/>
                        </a:rPr>
                        <a:t>C#</a:t>
                      </a:r>
                      <a:r>
                        <a:rPr kumimoji="1" lang="ja-JP" altLang="en-US" sz="2000" dirty="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a:latin typeface="メイリオ" panose="020B0604030504040204" pitchFamily="50" charset="-128"/>
                          <a:ea typeface="メイリオ" panose="020B0604030504040204" pitchFamily="50" charset="-128"/>
                        </a:rPr>
                        <a:t>.NET 10</a:t>
                      </a:r>
                    </a:p>
                  </a:txBody>
                  <a:tcPr/>
                </a:tc>
                <a:tc>
                  <a:txBody>
                    <a:bodyPr/>
                    <a:lstStyle/>
                    <a:p>
                      <a:r>
                        <a:rPr kumimoji="1" lang="en-US" altLang="ja-JP" sz="2000" dirty="0">
                          <a:latin typeface="メイリオ" panose="020B0604030504040204" pitchFamily="50" charset="-128"/>
                          <a:ea typeface="メイリオ" panose="020B0604030504040204" pitchFamily="50" charset="-128"/>
                        </a:rPr>
                        <a:t>EOL</a:t>
                      </a:r>
                      <a:r>
                        <a:rPr kumimoji="1" lang="ja-JP" altLang="en-US" sz="2000" dirty="0">
                          <a:latin typeface="メイリオ" panose="020B0604030504040204" pitchFamily="50" charset="-128"/>
                          <a:ea typeface="メイリオ" panose="020B0604030504040204" pitchFamily="50" charset="-128"/>
                        </a:rPr>
                        <a:t>目安：</a:t>
                      </a:r>
                      <a:r>
                        <a:rPr kumimoji="1" lang="en-US" altLang="ja-JP" sz="2000" dirty="0">
                          <a:latin typeface="メイリオ" panose="020B0604030504040204" pitchFamily="50" charset="-128"/>
                          <a:ea typeface="メイリオ" panose="020B0604030504040204" pitchFamily="50" charset="-128"/>
                        </a:rPr>
                        <a:t>2028</a:t>
                      </a:r>
                      <a:r>
                        <a:rPr kumimoji="1" lang="ja-JP" altLang="en-US" sz="2000" dirty="0">
                          <a:latin typeface="メイリオ" panose="020B0604030504040204" pitchFamily="50" charset="-128"/>
                          <a:ea typeface="メイリオ" panose="020B0604030504040204" pitchFamily="50" charset="-128"/>
                        </a:rPr>
                        <a:t>年</a:t>
                      </a:r>
                      <a:r>
                        <a:rPr kumimoji="1" lang="en-US" altLang="ja-JP" sz="2000" dirty="0">
                          <a:latin typeface="メイリオ" panose="020B0604030504040204" pitchFamily="50" charset="-128"/>
                          <a:ea typeface="メイリオ" panose="020B0604030504040204" pitchFamily="50" charset="-128"/>
                        </a:rPr>
                        <a:t>11</a:t>
                      </a:r>
                      <a:r>
                        <a:rPr kumimoji="1" lang="ja-JP" altLang="en-US" sz="2000" dirty="0">
                          <a:latin typeface="メイリオ" panose="020B0604030504040204" pitchFamily="50" charset="-128"/>
                          <a:ea typeface="メイリオ" panose="020B0604030504040204" pitchFamily="50" charset="-128"/>
                        </a:rPr>
                        <a:t>月</a:t>
                      </a:r>
                    </a:p>
                  </a:txBody>
                  <a:tcPr/>
                </a:tc>
                <a:extLst>
                  <a:ext uri="{0D108BD9-81ED-4DB2-BD59-A6C34878D82A}">
                    <a16:rowId xmlns:a16="http://schemas.microsoft.com/office/drawing/2014/main" val="903180124"/>
                  </a:ext>
                </a:extLst>
              </a:tr>
              <a:tr h="370840">
                <a:tc vMerge="1">
                  <a:txBody>
                    <a:bodyPr/>
                    <a:lstStyle/>
                    <a:p>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a:latin typeface="メイリオ" panose="020B0604030504040204" pitchFamily="50" charset="-128"/>
                          <a:ea typeface="メイリオ" panose="020B0604030504040204" pitchFamily="50" charset="-128"/>
                        </a:rPr>
                        <a:t>Sentry SDK</a:t>
                      </a:r>
                      <a:r>
                        <a:rPr kumimoji="1" lang="ja-JP" altLang="en-US" sz="2000" dirty="0">
                          <a:latin typeface="メイリオ" panose="020B0604030504040204" pitchFamily="50" charset="-128"/>
                          <a:ea typeface="メイリオ" panose="020B0604030504040204" pitchFamily="50" charset="-128"/>
                        </a:rPr>
                        <a:t>（ログ収集ライブラリ）</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6.5.x</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サーバーはオンプレで</a:t>
                      </a:r>
                      <a:r>
                        <a:rPr kumimoji="1" lang="en-US" altLang="ja-JP" sz="2000">
                          <a:latin typeface="メイリオ" panose="020B0604030504040204" pitchFamily="50" charset="-128"/>
                          <a:ea typeface="メイリオ" panose="020B0604030504040204" pitchFamily="50" charset="-128"/>
                        </a:rPr>
                        <a:t>Ks</a:t>
                      </a:r>
                      <a:r>
                        <a:rPr kumimoji="1" lang="ja-JP" altLang="en-US" sz="2000">
                          <a:latin typeface="メイリオ" panose="020B0604030504040204" pitchFamily="50" charset="-128"/>
                          <a:ea typeface="メイリオ" panose="020B0604030504040204" pitchFamily="50" charset="-128"/>
                        </a:rPr>
                        <a:t>様が構築予定</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85047618"/>
                  </a:ext>
                </a:extLst>
              </a:tr>
              <a:tr h="370840">
                <a:tc vMerge="1">
                  <a:txBody>
                    <a:bodyPr/>
                    <a:lstStyle/>
                    <a:p>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a:latin typeface="メイリオ" panose="020B0604030504040204" pitchFamily="50" charset="-128"/>
                          <a:ea typeface="メイリオ" panose="020B0604030504040204" pitchFamily="50" charset="-128"/>
                        </a:rPr>
                        <a:t>Visual</a:t>
                      </a:r>
                      <a:r>
                        <a:rPr kumimoji="1" lang="ja-JP" altLang="en-US" sz="2000" dirty="0">
                          <a:latin typeface="メイリオ" panose="020B0604030504040204" pitchFamily="50" charset="-128"/>
                          <a:ea typeface="メイリオ" panose="020B0604030504040204" pitchFamily="50" charset="-128"/>
                        </a:rPr>
                        <a:t> </a:t>
                      </a:r>
                      <a:r>
                        <a:rPr kumimoji="1" lang="en-US" altLang="ja-JP" sz="2000" dirty="0">
                          <a:latin typeface="メイリオ" panose="020B0604030504040204" pitchFamily="50" charset="-128"/>
                          <a:ea typeface="メイリオ" panose="020B0604030504040204" pitchFamily="50" charset="-128"/>
                        </a:rPr>
                        <a:t>Studio</a:t>
                      </a:r>
                      <a:r>
                        <a:rPr kumimoji="1" lang="ja-JP" altLang="en-US" sz="2000" dirty="0">
                          <a:latin typeface="メイリオ" panose="020B0604030504040204" pitchFamily="50" charset="-128"/>
                          <a:ea typeface="メイリオ" panose="020B0604030504040204" pitchFamily="50" charset="-128"/>
                        </a:rPr>
                        <a:t> </a:t>
                      </a:r>
                      <a:r>
                        <a:rPr kumimoji="1" lang="en-US" altLang="ja-JP" sz="2000" dirty="0">
                          <a:latin typeface="メイリオ" panose="020B0604030504040204" pitchFamily="50" charset="-128"/>
                          <a:ea typeface="メイリオ" panose="020B0604030504040204" pitchFamily="50" charset="-128"/>
                        </a:rPr>
                        <a:t>2026(Windows)</a:t>
                      </a:r>
                    </a:p>
                  </a:txBody>
                  <a:tcPr/>
                </a:tc>
                <a:tc>
                  <a:txBody>
                    <a:bodyPr/>
                    <a:lstStyle/>
                    <a:p>
                      <a:r>
                        <a:rPr kumimoji="1"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731948426"/>
                  </a:ext>
                </a:extLst>
              </a:tr>
              <a:tr h="370840">
                <a:tc vMerge="1">
                  <a:txBody>
                    <a:bodyPr/>
                    <a:lstStyle/>
                    <a:p>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err="1">
                          <a:latin typeface="メイリオ" panose="020B0604030504040204" pitchFamily="50" charset="-128"/>
                          <a:ea typeface="メイリオ" panose="020B0604030504040204" pitchFamily="50" charset="-128"/>
                        </a:rPr>
                        <a:t>Jetbrains</a:t>
                      </a:r>
                      <a:r>
                        <a:rPr kumimoji="1" lang="en-US" altLang="ja-JP" sz="2000" dirty="0">
                          <a:latin typeface="メイリオ" panose="020B0604030504040204" pitchFamily="50" charset="-128"/>
                          <a:ea typeface="メイリオ" panose="020B0604030504040204" pitchFamily="50" charset="-128"/>
                        </a:rPr>
                        <a:t> Rider(Mac)</a:t>
                      </a:r>
                      <a:r>
                        <a:rPr kumimoji="1" lang="ja-JP" altLang="en-US" sz="2000" dirty="0">
                          <a:latin typeface="メイリオ" panose="020B0604030504040204" pitchFamily="50" charset="-128"/>
                          <a:ea typeface="メイリオ" panose="020B0604030504040204" pitchFamily="50" charset="-128"/>
                        </a:rPr>
                        <a:t>　バージョン固定版</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.NET MAUI</a:t>
                      </a:r>
                      <a:r>
                        <a:rPr kumimoji="1" lang="ja-JP" altLang="en-US" sz="2000" dirty="0">
                          <a:latin typeface="メイリオ" panose="020B0604030504040204" pitchFamily="50" charset="-128"/>
                          <a:ea typeface="メイリオ" panose="020B0604030504040204" pitchFamily="50" charset="-128"/>
                        </a:rPr>
                        <a:t>の</a:t>
                      </a:r>
                      <a:r>
                        <a:rPr kumimoji="1" lang="en-US" altLang="ja-JP" sz="2000" dirty="0">
                          <a:latin typeface="メイリオ" panose="020B0604030504040204" pitchFamily="50" charset="-128"/>
                          <a:ea typeface="メイリオ" panose="020B0604030504040204" pitchFamily="50" charset="-128"/>
                        </a:rPr>
                        <a:t>iPad</a:t>
                      </a:r>
                      <a:r>
                        <a:rPr kumimoji="1" lang="ja-JP" altLang="en-US" sz="2000" dirty="0">
                          <a:latin typeface="メイリオ" panose="020B0604030504040204" pitchFamily="50" charset="-128"/>
                          <a:ea typeface="メイリオ" panose="020B0604030504040204" pitchFamily="50" charset="-128"/>
                        </a:rPr>
                        <a:t>向けビルドには、</a:t>
                      </a:r>
                      <a:r>
                        <a:rPr kumimoji="1" lang="en-US" altLang="ja-JP" sz="2000" dirty="0">
                          <a:latin typeface="メイリオ" panose="020B0604030504040204" pitchFamily="50" charset="-128"/>
                          <a:ea typeface="メイリオ" panose="020B0604030504040204" pitchFamily="50" charset="-128"/>
                        </a:rPr>
                        <a:t>Xcode(Mac OS)</a:t>
                      </a:r>
                      <a:r>
                        <a:rPr kumimoji="1" lang="ja-JP" altLang="en-US" sz="2000" dirty="0">
                          <a:latin typeface="メイリオ" panose="020B0604030504040204" pitchFamily="50" charset="-128"/>
                          <a:ea typeface="メイリオ" panose="020B0604030504040204" pitchFamily="50" charset="-128"/>
                        </a:rPr>
                        <a:t>が必要となる。</a:t>
                      </a:r>
                      <a:r>
                        <a:rPr kumimoji="1" lang="en-US" altLang="ja-JP" sz="2000" dirty="0">
                          <a:latin typeface="メイリオ" panose="020B0604030504040204" pitchFamily="50" charset="-128"/>
                          <a:ea typeface="メイリオ" panose="020B0604030504040204" pitchFamily="50" charset="-128"/>
                        </a:rPr>
                        <a:t>Visual Studio</a:t>
                      </a:r>
                      <a:r>
                        <a:rPr kumimoji="1" lang="ja-JP" altLang="en-US" sz="2000" dirty="0">
                          <a:latin typeface="メイリオ" panose="020B0604030504040204" pitchFamily="50" charset="-128"/>
                          <a:ea typeface="メイリオ" panose="020B0604030504040204" pitchFamily="50" charset="-128"/>
                        </a:rPr>
                        <a:t>は、</a:t>
                      </a:r>
                      <a:r>
                        <a:rPr kumimoji="1" lang="en-US" altLang="ja-JP" sz="2000" dirty="0">
                          <a:latin typeface="メイリオ" panose="020B0604030504040204" pitchFamily="50" charset="-128"/>
                          <a:ea typeface="メイリオ" panose="020B0604030504040204" pitchFamily="50" charset="-128"/>
                        </a:rPr>
                        <a:t>MacOS</a:t>
                      </a:r>
                      <a:r>
                        <a:rPr kumimoji="1" lang="ja-JP" altLang="en-US" sz="2000" dirty="0">
                          <a:latin typeface="メイリオ" panose="020B0604030504040204" pitchFamily="50" charset="-128"/>
                          <a:ea typeface="メイリオ" panose="020B0604030504040204" pitchFamily="50" charset="-128"/>
                        </a:rPr>
                        <a:t>非対応であるため、互換性のある</a:t>
                      </a:r>
                      <a:r>
                        <a:rPr kumimoji="1" lang="en-US" altLang="ja-JP" sz="2000" dirty="0" err="1">
                          <a:latin typeface="メイリオ" panose="020B0604030504040204" pitchFamily="50" charset="-128"/>
                          <a:ea typeface="メイリオ" panose="020B0604030504040204" pitchFamily="50" charset="-128"/>
                        </a:rPr>
                        <a:t>Jetbrains</a:t>
                      </a:r>
                      <a:r>
                        <a:rPr kumimoji="1" lang="en-US" altLang="ja-JP" sz="2000" dirty="0">
                          <a:latin typeface="メイリオ" panose="020B0604030504040204" pitchFamily="50" charset="-128"/>
                          <a:ea typeface="メイリオ" panose="020B0604030504040204" pitchFamily="50" charset="-128"/>
                        </a:rPr>
                        <a:t> Rider</a:t>
                      </a:r>
                      <a:r>
                        <a:rPr kumimoji="1" lang="ja-JP" altLang="en-US" sz="2000" dirty="0">
                          <a:latin typeface="メイリオ" panose="020B0604030504040204" pitchFamily="50" charset="-128"/>
                          <a:ea typeface="メイリオ" panose="020B0604030504040204" pitchFamily="50" charset="-128"/>
                        </a:rPr>
                        <a:t>を使用してビルドする。</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88800943"/>
                  </a:ext>
                </a:extLst>
              </a:tr>
              <a:tr h="370840">
                <a:tc>
                  <a:txBody>
                    <a:bodyPr/>
                    <a:lstStyle/>
                    <a:p>
                      <a:r>
                        <a:rPr kumimoji="1" lang="ja-JP" altLang="en-US" sz="2000">
                          <a:latin typeface="メイリオ" panose="020B0604030504040204" pitchFamily="50" charset="-128"/>
                          <a:ea typeface="メイリオ" panose="020B0604030504040204" pitchFamily="50" charset="-128"/>
                        </a:rPr>
                        <a:t>端末（現行デバイス制御基盤）</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a:latin typeface="メイリオ" panose="020B0604030504040204" pitchFamily="50" charset="-128"/>
                          <a:ea typeface="メイリオ" panose="020B0604030504040204" pitchFamily="50" charset="-128"/>
                        </a:rPr>
                        <a:t>C#</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a:latin typeface="メイリオ" panose="020B0604030504040204" pitchFamily="50" charset="-128"/>
                          <a:ea typeface="メイリオ" panose="020B0604030504040204" pitchFamily="50" charset="-128"/>
                        </a:rPr>
                        <a:t>.Net Framework 4.8</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デバイス接続サーバー（レガシー</a:t>
                      </a:r>
                      <a:r>
                        <a:rPr kumimoji="1" lang="en-US" altLang="ja-JP" sz="2000">
                          <a:latin typeface="メイリオ" panose="020B0604030504040204" pitchFamily="50" charset="-128"/>
                          <a:ea typeface="メイリオ" panose="020B0604030504040204" pitchFamily="50" charset="-128"/>
                        </a:rPr>
                        <a:t>OCX</a:t>
                      </a:r>
                      <a:r>
                        <a:rPr kumimoji="1" lang="ja-JP" altLang="en-US" sz="2000">
                          <a:latin typeface="メイリオ" panose="020B0604030504040204" pitchFamily="50" charset="-128"/>
                          <a:ea typeface="メイリオ" panose="020B0604030504040204" pitchFamily="50" charset="-128"/>
                        </a:rPr>
                        <a:t>を使用して現行機材を制御する基盤部品）の開発に使用。</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123793305"/>
                  </a:ext>
                </a:extLst>
              </a:tr>
              <a:tr h="370840">
                <a:tc rowSpan="2">
                  <a:txBody>
                    <a:bodyPr/>
                    <a:lstStyle/>
                    <a:p>
                      <a:r>
                        <a:rPr kumimoji="1" lang="en-US" altLang="ja-JP" sz="2000" dirty="0">
                          <a:latin typeface="メイリオ" panose="020B0604030504040204" pitchFamily="50" charset="-128"/>
                          <a:ea typeface="メイリオ" panose="020B0604030504040204" pitchFamily="50" charset="-128"/>
                        </a:rPr>
                        <a:t>OCI</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a:latin typeface="メイリオ" panose="020B0604030504040204" pitchFamily="50" charset="-128"/>
                          <a:ea typeface="メイリオ" panose="020B0604030504040204" pitchFamily="50" charset="-128"/>
                        </a:rPr>
                        <a:t>Functions</a:t>
                      </a:r>
                      <a:r>
                        <a:rPr kumimoji="1" lang="ja-JP" altLang="en-US" sz="2000">
                          <a:latin typeface="メイリオ" panose="020B0604030504040204" pitchFamily="50" charset="-128"/>
                          <a:ea typeface="メイリオ" panose="020B0604030504040204" pitchFamily="50" charset="-128"/>
                        </a:rPr>
                        <a:t>（</a:t>
                      </a:r>
                      <a:r>
                        <a:rPr kumimoji="1" lang="en-US" altLang="ja-JP" sz="2000">
                          <a:latin typeface="メイリオ" panose="020B0604030504040204" pitchFamily="50" charset="-128"/>
                          <a:ea typeface="メイリオ" panose="020B0604030504040204" pitchFamily="50" charset="-128"/>
                        </a:rPr>
                        <a:t>node.js</a:t>
                      </a:r>
                      <a:r>
                        <a:rPr kumimoji="1" lang="ja-JP" altLang="en-US" sz="200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a:latin typeface="メイリオ" panose="020B0604030504040204" pitchFamily="50" charset="-128"/>
                          <a:ea typeface="メイリオ" panose="020B0604030504040204" pitchFamily="50" charset="-128"/>
                        </a:rPr>
                        <a:t>24.x</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EOL</a:t>
                      </a:r>
                      <a:r>
                        <a:rPr kumimoji="1" lang="ja-JP" altLang="en-US" sz="2000">
                          <a:latin typeface="メイリオ" panose="020B0604030504040204" pitchFamily="50" charset="-128"/>
                          <a:ea typeface="メイリオ" panose="020B0604030504040204" pitchFamily="50" charset="-128"/>
                        </a:rPr>
                        <a:t>目安：</a:t>
                      </a:r>
                      <a:r>
                        <a:rPr kumimoji="1" lang="en-US" altLang="ja-JP" sz="2000">
                          <a:latin typeface="メイリオ" panose="020B0604030504040204" pitchFamily="50" charset="-128"/>
                          <a:ea typeface="メイリオ" panose="020B0604030504040204" pitchFamily="50" charset="-128"/>
                        </a:rPr>
                        <a:t>2028</a:t>
                      </a:r>
                      <a:r>
                        <a:rPr kumimoji="1" lang="ja-JP" altLang="en-US" sz="2000">
                          <a:latin typeface="メイリオ" panose="020B0604030504040204" pitchFamily="50" charset="-128"/>
                          <a:ea typeface="メイリオ" panose="020B0604030504040204" pitchFamily="50" charset="-128"/>
                        </a:rPr>
                        <a:t>年</a:t>
                      </a:r>
                      <a:r>
                        <a:rPr kumimoji="1" lang="en-US" altLang="ja-JP" sz="2000">
                          <a:latin typeface="メイリオ" panose="020B0604030504040204" pitchFamily="50" charset="-128"/>
                          <a:ea typeface="メイリオ" panose="020B0604030504040204" pitchFamily="50" charset="-128"/>
                        </a:rPr>
                        <a:t>4</a:t>
                      </a:r>
                      <a:r>
                        <a:rPr kumimoji="1" lang="ja-JP" altLang="en-US" sz="2000">
                          <a:latin typeface="メイリオ" panose="020B0604030504040204" pitchFamily="50" charset="-128"/>
                          <a:ea typeface="メイリオ" panose="020B0604030504040204" pitchFamily="50" charset="-128"/>
                        </a:rPr>
                        <a:t>月</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046398"/>
                  </a:ext>
                </a:extLst>
              </a:tr>
              <a:tr h="370840">
                <a:tc vMerge="1">
                  <a:txBody>
                    <a:bodyPr/>
                    <a:lstStyle/>
                    <a:p>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a:latin typeface="メイリオ" panose="020B0604030504040204" pitchFamily="50" charset="-128"/>
                          <a:ea typeface="メイリオ" panose="020B0604030504040204" pitchFamily="50" charset="-128"/>
                        </a:rPr>
                        <a:t>VS Code</a:t>
                      </a:r>
                    </a:p>
                  </a:txBody>
                  <a:tcPr/>
                </a:tc>
                <a:tc>
                  <a:txBody>
                    <a:bodyPr/>
                    <a:lstStyle/>
                    <a:p>
                      <a:r>
                        <a:rPr kumimoji="1"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en-US" altLang="ja-JP" sz="2000" dirty="0">
                          <a:latin typeface="メイリオ" panose="020B0604030504040204" pitchFamily="50" charset="-128"/>
                          <a:ea typeface="メイリオ" panose="020B0604030504040204" pitchFamily="50" charset="-128"/>
                        </a:rPr>
                        <a:t>VS Code</a:t>
                      </a:r>
                      <a:r>
                        <a:rPr kumimoji="1" lang="ja-JP" altLang="en-US" sz="2000" dirty="0">
                          <a:latin typeface="メイリオ" panose="020B0604030504040204" pitchFamily="50" charset="-128"/>
                          <a:ea typeface="メイリオ" panose="020B0604030504040204" pitchFamily="50" charset="-128"/>
                        </a:rPr>
                        <a:t>の</a:t>
                      </a:r>
                      <a:r>
                        <a:rPr kumimoji="1" lang="en-US" altLang="ja-JP" sz="2000" dirty="0">
                          <a:latin typeface="メイリオ" panose="020B0604030504040204" pitchFamily="50" charset="-128"/>
                          <a:ea typeface="メイリオ" panose="020B0604030504040204" pitchFamily="50" charset="-128"/>
                        </a:rPr>
                        <a:t>Linux</a:t>
                      </a:r>
                      <a:r>
                        <a:rPr kumimoji="1" lang="ja-JP" altLang="en-US" sz="2000" dirty="0">
                          <a:latin typeface="メイリオ" panose="020B0604030504040204" pitchFamily="50" charset="-128"/>
                          <a:ea typeface="メイリオ" panose="020B0604030504040204" pitchFamily="50" charset="-128"/>
                        </a:rPr>
                        <a:t>コンテナ上で開発する。</a:t>
                      </a:r>
                    </a:p>
                  </a:txBody>
                  <a:tcPr/>
                </a:tc>
                <a:extLst>
                  <a:ext uri="{0D108BD9-81ED-4DB2-BD59-A6C34878D82A}">
                    <a16:rowId xmlns:a16="http://schemas.microsoft.com/office/drawing/2014/main" val="3171372871"/>
                  </a:ext>
                </a:extLst>
              </a:tr>
            </a:tbl>
          </a:graphicData>
        </a:graphic>
      </p:graphicFrame>
    </p:spTree>
    <p:extLst>
      <p:ext uri="{BB962C8B-B14F-4D97-AF65-F5344CB8AC3E}">
        <p14:creationId xmlns:p14="http://schemas.microsoft.com/office/powerpoint/2010/main" val="3896979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６－５</a:t>
            </a:r>
            <a:r>
              <a:rPr lang="ja-JP" altLang="en-US"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UI</a:t>
            </a:r>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 UX </a:t>
            </a:r>
            <a:r>
              <a:rPr lang="ja-JP" altLang="en-US" dirty="0">
                <a:latin typeface="Meiryo UI" panose="020B0604030504040204" pitchFamily="50" charset="-128"/>
                <a:ea typeface="Meiryo UI" panose="020B0604030504040204" pitchFamily="50" charset="-128"/>
              </a:rPr>
              <a:t>設計方針</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39</a:t>
            </a:fld>
            <a:endParaRPr lang="ja-JP" altLang="en-US"/>
          </a:p>
        </p:txBody>
      </p:sp>
      <p:sp>
        <p:nvSpPr>
          <p:cNvPr id="6" name="テキスト ボックス 5">
            <a:extLst>
              <a:ext uri="{FF2B5EF4-FFF2-40B4-BE49-F238E27FC236}">
                <a16:creationId xmlns:a16="http://schemas.microsoft.com/office/drawing/2014/main" id="{321440BC-C71B-B60C-39C9-DFD40A75BC0B}"/>
              </a:ext>
            </a:extLst>
          </p:cNvPr>
          <p:cNvSpPr txBox="1"/>
          <p:nvPr/>
        </p:nvSpPr>
        <p:spPr>
          <a:xfrm>
            <a:off x="544206" y="1512395"/>
            <a:ext cx="17199585" cy="2531462"/>
          </a:xfrm>
          <a:prstGeom prst="rect">
            <a:avLst/>
          </a:prstGeom>
          <a:noFill/>
        </p:spPr>
        <p:txBody>
          <a:bodyPr wrap="square" lIns="0" tIns="0" rIns="0" bIns="0" rtlCol="0">
            <a:spAutoFit/>
          </a:bodyPr>
          <a:lstStyle/>
          <a:p>
            <a:pPr>
              <a:lnSpc>
                <a:spcPct val="150000"/>
              </a:lnSpc>
            </a:pPr>
            <a:r>
              <a:rPr lang="en-US" altLang="ja-JP" sz="2800">
                <a:latin typeface="メイリオ" panose="020B0604030504040204" pitchFamily="50" charset="-128"/>
                <a:ea typeface="メイリオ" panose="020B0604030504040204" pitchFamily="50" charset="-128"/>
              </a:rPr>
              <a:t>UI</a:t>
            </a:r>
            <a:r>
              <a:rPr lang="ja-JP" altLang="en-US" sz="2800">
                <a:latin typeface="メイリオ" panose="020B0604030504040204" pitchFamily="50" charset="-128"/>
                <a:ea typeface="メイリオ" panose="020B0604030504040204" pitchFamily="50" charset="-128"/>
              </a:rPr>
              <a:t>／</a:t>
            </a:r>
            <a:r>
              <a:rPr lang="en-US" altLang="ja-JP" sz="2800">
                <a:latin typeface="メイリオ" panose="020B0604030504040204" pitchFamily="50" charset="-128"/>
                <a:ea typeface="メイリオ" panose="020B0604030504040204" pitchFamily="50" charset="-128"/>
              </a:rPr>
              <a:t>UX</a:t>
            </a:r>
            <a:r>
              <a:rPr lang="ja-JP" altLang="en-US" sz="2800">
                <a:latin typeface="メイリオ" panose="020B0604030504040204" pitchFamily="50" charset="-128"/>
                <a:ea typeface="メイリオ" panose="020B0604030504040204" pitchFamily="50" charset="-128"/>
              </a:rPr>
              <a:t>設計方針を全画面で一貫して実現するために以下の対応を行います。</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en-US" altLang="ja-JP" sz="2800">
                <a:latin typeface="メイリオ" panose="020B0604030504040204" pitchFamily="50" charset="-128"/>
                <a:ea typeface="メイリオ" panose="020B0604030504040204" pitchFamily="50" charset="-128"/>
              </a:rPr>
              <a:t>UI</a:t>
            </a:r>
            <a:r>
              <a:rPr lang="ja-JP" altLang="en-US" sz="2800">
                <a:latin typeface="メイリオ" panose="020B0604030504040204" pitchFamily="50" charset="-128"/>
                <a:ea typeface="メイリオ" panose="020B0604030504040204" pitchFamily="50" charset="-128"/>
              </a:rPr>
              <a:t>要素を共通部品として定義</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類似画面のパターン化</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ばらつきを防ぐために</a:t>
            </a:r>
            <a:r>
              <a:rPr lang="en-US" altLang="ja-JP" sz="2800">
                <a:latin typeface="メイリオ" panose="020B0604030504040204" pitchFamily="50" charset="-128"/>
                <a:ea typeface="メイリオ" panose="020B0604030504040204" pitchFamily="50" charset="-128"/>
              </a:rPr>
              <a:t>UI</a:t>
            </a:r>
            <a:r>
              <a:rPr lang="ja-JP" altLang="en-US" sz="2800">
                <a:latin typeface="メイリオ" panose="020B0604030504040204" pitchFamily="50" charset="-128"/>
                <a:ea typeface="メイリオ" panose="020B0604030504040204" pitchFamily="50" charset="-128"/>
              </a:rPr>
              <a:t>ガイドラインを整備</a:t>
            </a:r>
          </a:p>
        </p:txBody>
      </p:sp>
      <p:sp>
        <p:nvSpPr>
          <p:cNvPr id="4" name="フッター プレースホルダー 3">
            <a:extLst>
              <a:ext uri="{FF2B5EF4-FFF2-40B4-BE49-F238E27FC236}">
                <a16:creationId xmlns:a16="http://schemas.microsoft.com/office/drawing/2014/main" id="{2889AC60-C4FC-2F18-B97B-9867104DC5E7}"/>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55778494-AFB5-7684-0334-B2747DDAC705}"/>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graphicFrame>
        <p:nvGraphicFramePr>
          <p:cNvPr id="8" name="表 7">
            <a:extLst>
              <a:ext uri="{FF2B5EF4-FFF2-40B4-BE49-F238E27FC236}">
                <a16:creationId xmlns:a16="http://schemas.microsoft.com/office/drawing/2014/main" id="{05BE99FF-BB16-A74A-96C3-C55172B524EB}"/>
              </a:ext>
            </a:extLst>
          </p:cNvPr>
          <p:cNvGraphicFramePr>
            <a:graphicFrameLocks noGrp="1"/>
          </p:cNvGraphicFramePr>
          <p:nvPr>
            <p:extLst>
              <p:ext uri="{D42A27DB-BD31-4B8C-83A1-F6EECF244321}">
                <p14:modId xmlns:p14="http://schemas.microsoft.com/office/powerpoint/2010/main" val="610695316"/>
              </p:ext>
            </p:extLst>
          </p:nvPr>
        </p:nvGraphicFramePr>
        <p:xfrm>
          <a:off x="575922" y="4528823"/>
          <a:ext cx="17136155" cy="5136896"/>
        </p:xfrm>
        <a:graphic>
          <a:graphicData uri="http://schemas.openxmlformats.org/drawingml/2006/table">
            <a:tbl>
              <a:tblPr firstRow="1" bandRow="1">
                <a:tableStyleId>{5C22544A-7EE6-4342-B048-85BDC9FD1C3A}</a:tableStyleId>
              </a:tblPr>
              <a:tblGrid>
                <a:gridCol w="4248468">
                  <a:extLst>
                    <a:ext uri="{9D8B030D-6E8A-4147-A177-3AD203B41FA5}">
                      <a16:colId xmlns:a16="http://schemas.microsoft.com/office/drawing/2014/main" val="977521141"/>
                    </a:ext>
                  </a:extLst>
                </a:gridCol>
                <a:gridCol w="12887687">
                  <a:extLst>
                    <a:ext uri="{9D8B030D-6E8A-4147-A177-3AD203B41FA5}">
                      <a16:colId xmlns:a16="http://schemas.microsoft.com/office/drawing/2014/main" val="3215675897"/>
                    </a:ext>
                  </a:extLst>
                </a:gridCol>
              </a:tblGrid>
              <a:tr h="564896">
                <a:tc>
                  <a:txBody>
                    <a:bodyPr/>
                    <a:lstStyle/>
                    <a:p>
                      <a:r>
                        <a:rPr kumimoji="1" lang="ja-JP" altLang="en-US" sz="2400">
                          <a:latin typeface="メイリオ" panose="020B0604030504040204" pitchFamily="50" charset="-128"/>
                          <a:ea typeface="メイリオ" panose="020B0604030504040204" pitchFamily="50" charset="-128"/>
                        </a:rPr>
                        <a:t>要件</a:t>
                      </a:r>
                    </a:p>
                  </a:txBody>
                  <a:tcPr/>
                </a:tc>
                <a:tc>
                  <a:txBody>
                    <a:bodyPr/>
                    <a:lstStyle/>
                    <a:p>
                      <a:r>
                        <a:rPr kumimoji="1" lang="ja-JP" altLang="en-US" sz="2400">
                          <a:latin typeface="メイリオ" panose="020B0604030504040204" pitchFamily="50" charset="-128"/>
                          <a:ea typeface="メイリオ" panose="020B0604030504040204" pitchFamily="50" charset="-128"/>
                        </a:rPr>
                        <a:t>方針</a:t>
                      </a:r>
                    </a:p>
                  </a:txBody>
                  <a:tcPr/>
                </a:tc>
                <a:extLst>
                  <a:ext uri="{0D108BD9-81ED-4DB2-BD59-A6C34878D82A}">
                    <a16:rowId xmlns:a16="http://schemas.microsoft.com/office/drawing/2014/main" val="2218016898"/>
                  </a:ext>
                </a:extLst>
              </a:tr>
              <a:tr h="360000">
                <a:tc>
                  <a:txBody>
                    <a:bodyPr/>
                    <a:lstStyle/>
                    <a:p>
                      <a:r>
                        <a:rPr kumimoji="1" lang="ja-JP" altLang="en-US" sz="2400">
                          <a:latin typeface="メイリオ" panose="020B0604030504040204" pitchFamily="50" charset="-128"/>
                          <a:ea typeface="メイリオ" panose="020B0604030504040204" pitchFamily="50" charset="-128"/>
                        </a:rPr>
                        <a:t>直感的で分かりやすい操作</a:t>
                      </a:r>
                    </a:p>
                  </a:txBody>
                  <a:tcPr/>
                </a:tc>
                <a:tc>
                  <a:txBody>
                    <a:bodyPr/>
                    <a:lstStyle/>
                    <a:p>
                      <a:r>
                        <a:rPr kumimoji="1" lang="ja-JP" altLang="en-US" sz="2400">
                          <a:latin typeface="メイリオ" panose="020B0604030504040204" pitchFamily="50" charset="-128"/>
                          <a:ea typeface="メイリオ" panose="020B0604030504040204" pitchFamily="50" charset="-128"/>
                        </a:rPr>
                        <a:t>操作フローをシンプルかつ一貫性を持たせ、初めてでも迷わず操作できる画面設計にする</a:t>
                      </a:r>
                    </a:p>
                  </a:txBody>
                  <a:tcPr/>
                </a:tc>
                <a:extLst>
                  <a:ext uri="{0D108BD9-81ED-4DB2-BD59-A6C34878D82A}">
                    <a16:rowId xmlns:a16="http://schemas.microsoft.com/office/drawing/2014/main" val="3866337793"/>
                  </a:ext>
                </a:extLst>
              </a:tr>
              <a:tr h="360000">
                <a:tc>
                  <a:txBody>
                    <a:bodyPr/>
                    <a:lstStyle/>
                    <a:p>
                      <a:r>
                        <a:rPr kumimoji="1" lang="ja-JP" altLang="en-US" sz="2400">
                          <a:latin typeface="メイリオ" panose="020B0604030504040204" pitchFamily="50" charset="-128"/>
                          <a:ea typeface="メイリオ" panose="020B0604030504040204" pitchFamily="50" charset="-128"/>
                        </a:rPr>
                        <a:t>視認性の高い</a:t>
                      </a:r>
                      <a:r>
                        <a:rPr kumimoji="1" lang="en-US" altLang="ja-JP" sz="2400">
                          <a:latin typeface="メイリオ" panose="020B0604030504040204" pitchFamily="50" charset="-128"/>
                          <a:ea typeface="メイリオ" panose="020B0604030504040204" pitchFamily="50" charset="-128"/>
                        </a:rPr>
                        <a:t>UI</a:t>
                      </a:r>
                      <a:endParaRPr kumimoji="1" lang="ja-JP" altLang="en-US" sz="2400">
                        <a:latin typeface="メイリオ" panose="020B0604030504040204" pitchFamily="50" charset="-128"/>
                        <a:ea typeface="メイリオ" panose="020B0604030504040204" pitchFamily="50" charset="-128"/>
                      </a:endParaRPr>
                    </a:p>
                  </a:txBody>
                  <a:tcPr/>
                </a:tc>
                <a:tc>
                  <a:txBody>
                    <a:bodyPr/>
                    <a:lstStyle/>
                    <a:p>
                      <a:r>
                        <a:rPr kumimoji="1" lang="ja-JP" altLang="en-US" sz="2400">
                          <a:latin typeface="メイリオ" panose="020B0604030504040204" pitchFamily="50" charset="-128"/>
                          <a:ea typeface="メイリオ" panose="020B0604030504040204" pitchFamily="50" charset="-128"/>
                        </a:rPr>
                        <a:t>ボタン・文字サイズを大きく、余白とコントラストを確保して誤操作を防ぐようにする</a:t>
                      </a:r>
                    </a:p>
                  </a:txBody>
                  <a:tcPr/>
                </a:tc>
                <a:extLst>
                  <a:ext uri="{0D108BD9-81ED-4DB2-BD59-A6C34878D82A}">
                    <a16:rowId xmlns:a16="http://schemas.microsoft.com/office/drawing/2014/main" val="3421976944"/>
                  </a:ext>
                </a:extLst>
              </a:tr>
              <a:tr h="360000">
                <a:tc>
                  <a:txBody>
                    <a:bodyPr/>
                    <a:lstStyle/>
                    <a:p>
                      <a:r>
                        <a:rPr kumimoji="1" lang="ja-JP" altLang="en-US" sz="2400">
                          <a:latin typeface="メイリオ" panose="020B0604030504040204" pitchFamily="50" charset="-128"/>
                          <a:ea typeface="メイリオ" panose="020B0604030504040204" pitchFamily="50" charset="-128"/>
                        </a:rPr>
                        <a:t>簡潔な選択肢</a:t>
                      </a:r>
                    </a:p>
                  </a:txBody>
                  <a:tcPr/>
                </a:tc>
                <a:tc>
                  <a:txBody>
                    <a:bodyPr/>
                    <a:lstStyle/>
                    <a:p>
                      <a:r>
                        <a:rPr kumimoji="1" lang="ja-JP" altLang="en-US" sz="2400">
                          <a:latin typeface="メイリオ" panose="020B0604030504040204" pitchFamily="50" charset="-128"/>
                          <a:ea typeface="メイリオ" panose="020B0604030504040204" pitchFamily="50" charset="-128"/>
                        </a:rPr>
                        <a:t>操作は</a:t>
                      </a:r>
                      <a:r>
                        <a:rPr kumimoji="1" lang="en-US" altLang="ja-JP" sz="2400">
                          <a:latin typeface="メイリオ" panose="020B0604030504040204" pitchFamily="50" charset="-128"/>
                          <a:ea typeface="メイリオ" panose="020B0604030504040204" pitchFamily="50" charset="-128"/>
                        </a:rPr>
                        <a:t>2</a:t>
                      </a:r>
                      <a:r>
                        <a:rPr kumimoji="1" lang="ja-JP" altLang="en-US" sz="2400">
                          <a:latin typeface="メイリオ" panose="020B0604030504040204" pitchFamily="50" charset="-128"/>
                          <a:ea typeface="メイリオ" panose="020B0604030504040204" pitchFamily="50" charset="-128"/>
                        </a:rPr>
                        <a:t>択を基本とし、画面の選択肢を最小限に絞る</a:t>
                      </a:r>
                    </a:p>
                  </a:txBody>
                  <a:tcPr/>
                </a:tc>
                <a:extLst>
                  <a:ext uri="{0D108BD9-81ED-4DB2-BD59-A6C34878D82A}">
                    <a16:rowId xmlns:a16="http://schemas.microsoft.com/office/drawing/2014/main" val="1866658943"/>
                  </a:ext>
                </a:extLst>
              </a:tr>
              <a:tr h="453259">
                <a:tc>
                  <a:txBody>
                    <a:bodyPr/>
                    <a:lstStyle/>
                    <a:p>
                      <a:r>
                        <a:rPr kumimoji="1" lang="ja-JP" altLang="en-US" sz="2400">
                          <a:latin typeface="メイリオ" panose="020B0604030504040204" pitchFamily="50" charset="-128"/>
                          <a:ea typeface="メイリオ" panose="020B0604030504040204" pitchFamily="50" charset="-128"/>
                        </a:rPr>
                        <a:t>親切な文言とフィードバック</a:t>
                      </a:r>
                    </a:p>
                  </a:txBody>
                  <a:tcPr/>
                </a:tc>
                <a:tc>
                  <a:txBody>
                    <a:bodyPr/>
                    <a:lstStyle/>
                    <a:p>
                      <a:r>
                        <a:rPr kumimoji="1" lang="ja-JP" altLang="en-US" sz="2400">
                          <a:latin typeface="メイリオ" panose="020B0604030504040204" pitchFamily="50" charset="-128"/>
                          <a:ea typeface="メイリオ" panose="020B0604030504040204" pitchFamily="50" charset="-128"/>
                        </a:rPr>
                        <a:t>専門用語を避け、操作結果は明確なメッセージを表示する</a:t>
                      </a:r>
                      <a:endParaRPr kumimoji="1" lang="en-US" altLang="ja-JP" sz="24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11094196"/>
                  </a:ext>
                </a:extLst>
              </a:tr>
              <a:tr h="360000">
                <a:tc>
                  <a:txBody>
                    <a:bodyPr/>
                    <a:lstStyle/>
                    <a:p>
                      <a:r>
                        <a:rPr kumimoji="1" lang="ja-JP" altLang="en-US" sz="2400">
                          <a:latin typeface="メイリオ" panose="020B0604030504040204" pitchFamily="50" charset="-128"/>
                          <a:ea typeface="メイリオ" panose="020B0604030504040204" pitchFamily="50" charset="-128"/>
                        </a:rPr>
                        <a:t>ユニバーサルデザイン対応</a:t>
                      </a:r>
                    </a:p>
                  </a:txBody>
                  <a:tcPr/>
                </a:tc>
                <a:tc>
                  <a:txBody>
                    <a:bodyPr/>
                    <a:lstStyle/>
                    <a:p>
                      <a:r>
                        <a:rPr kumimoji="1" lang="ja-JP" altLang="en-US" sz="2400">
                          <a:latin typeface="メイリオ" panose="020B0604030504040204" pitchFamily="50" charset="-128"/>
                          <a:ea typeface="メイリオ" panose="020B0604030504040204" pitchFamily="50" charset="-128"/>
                        </a:rPr>
                        <a:t>色やアイコン・テキストを組み合わせ、多様な利用者でも操作情報が理解できるようにする</a:t>
                      </a:r>
                    </a:p>
                  </a:txBody>
                  <a:tcPr/>
                </a:tc>
                <a:extLst>
                  <a:ext uri="{0D108BD9-81ED-4DB2-BD59-A6C34878D82A}">
                    <a16:rowId xmlns:a16="http://schemas.microsoft.com/office/drawing/2014/main" val="2994987116"/>
                  </a:ext>
                </a:extLst>
              </a:tr>
              <a:tr h="360000">
                <a:tc>
                  <a:txBody>
                    <a:bodyPr/>
                    <a:lstStyle/>
                    <a:p>
                      <a:r>
                        <a:rPr kumimoji="1" lang="ja-JP" altLang="en-US" sz="2400">
                          <a:latin typeface="メイリオ" panose="020B0604030504040204" pitchFamily="50" charset="-128"/>
                          <a:ea typeface="メイリオ" panose="020B0604030504040204" pitchFamily="50" charset="-128"/>
                        </a:rPr>
                        <a:t>日本語対応</a:t>
                      </a:r>
                    </a:p>
                  </a:txBody>
                  <a:tcPr/>
                </a:tc>
                <a:tc>
                  <a:txBody>
                    <a:bodyPr/>
                    <a:lstStyle/>
                    <a:p>
                      <a:r>
                        <a:rPr kumimoji="1" lang="ja-JP" altLang="en-US" sz="2400">
                          <a:latin typeface="メイリオ" panose="020B0604030504040204" pitchFamily="50" charset="-128"/>
                          <a:ea typeface="メイリオ" panose="020B0604030504040204" pitchFamily="50" charset="-128"/>
                        </a:rPr>
                        <a:t>対応言語は日本語のみにする</a:t>
                      </a:r>
                    </a:p>
                  </a:txBody>
                  <a:tcPr/>
                </a:tc>
                <a:extLst>
                  <a:ext uri="{0D108BD9-81ED-4DB2-BD59-A6C34878D82A}">
                    <a16:rowId xmlns:a16="http://schemas.microsoft.com/office/drawing/2014/main" val="1404340636"/>
                  </a:ext>
                </a:extLst>
              </a:tr>
              <a:tr h="360000">
                <a:tc>
                  <a:txBody>
                    <a:bodyPr/>
                    <a:lstStyle/>
                    <a:p>
                      <a:r>
                        <a:rPr kumimoji="1" lang="ja-JP" altLang="en-US" sz="2400">
                          <a:latin typeface="メイリオ" panose="020B0604030504040204" pitchFamily="50" charset="-128"/>
                          <a:ea typeface="メイリオ" panose="020B0604030504040204" pitchFamily="50" charset="-128"/>
                        </a:rPr>
                        <a:t>手書き・音声入力</a:t>
                      </a:r>
                    </a:p>
                  </a:txBody>
                  <a:tcPr/>
                </a:tc>
                <a:tc>
                  <a:txBody>
                    <a:bodyPr/>
                    <a:lstStyle/>
                    <a:p>
                      <a:r>
                        <a:rPr kumimoji="1" lang="ja-JP" altLang="en-US" sz="2400">
                          <a:latin typeface="メイリオ" panose="020B0604030504040204" pitchFamily="50" charset="-128"/>
                          <a:ea typeface="メイリオ" panose="020B0604030504040204" pitchFamily="50" charset="-128"/>
                        </a:rPr>
                        <a:t>まずは手書き・音声入力の必要有無を確定し、必要な場合は最適な方法を検証する</a:t>
                      </a:r>
                    </a:p>
                  </a:txBody>
                  <a:tcPr/>
                </a:tc>
                <a:extLst>
                  <a:ext uri="{0D108BD9-81ED-4DB2-BD59-A6C34878D82A}">
                    <a16:rowId xmlns:a16="http://schemas.microsoft.com/office/drawing/2014/main" val="3757816546"/>
                  </a:ext>
                </a:extLst>
              </a:tr>
              <a:tr h="360000">
                <a:tc>
                  <a:txBody>
                    <a:bodyPr/>
                    <a:lstStyle/>
                    <a:p>
                      <a:r>
                        <a:rPr kumimoji="1" lang="ja-JP" altLang="en-US" sz="2400">
                          <a:solidFill>
                            <a:schemeClr val="tx1"/>
                          </a:solidFill>
                          <a:latin typeface="メイリオ" panose="020B0604030504040204" pitchFamily="50" charset="-128"/>
                          <a:ea typeface="メイリオ" panose="020B0604030504040204" pitchFamily="50" charset="-128"/>
                        </a:rPr>
                        <a:t>二重入力の抑制</a:t>
                      </a:r>
                    </a:p>
                  </a:txBody>
                  <a:tcPr/>
                </a:tc>
                <a:tc>
                  <a:txBody>
                    <a:bodyPr/>
                    <a:lstStyle/>
                    <a:p>
                      <a:r>
                        <a:rPr kumimoji="1" lang="ja-JP" altLang="en-US" sz="2400">
                          <a:solidFill>
                            <a:schemeClr val="tx1"/>
                          </a:solidFill>
                          <a:latin typeface="メイリオ" panose="020B0604030504040204" pitchFamily="50" charset="-128"/>
                          <a:ea typeface="メイリオ" panose="020B0604030504040204" pitchFamily="50" charset="-128"/>
                        </a:rPr>
                        <a:t>極力同じ情報の二重入力は行わない</a:t>
                      </a:r>
                    </a:p>
                  </a:txBody>
                  <a:tcPr/>
                </a:tc>
                <a:extLst>
                  <a:ext uri="{0D108BD9-81ED-4DB2-BD59-A6C34878D82A}">
                    <a16:rowId xmlns:a16="http://schemas.microsoft.com/office/drawing/2014/main" val="2813208119"/>
                  </a:ext>
                </a:extLst>
              </a:tr>
              <a:tr h="360000">
                <a:tc>
                  <a:txBody>
                    <a:bodyPr/>
                    <a:lstStyle/>
                    <a:p>
                      <a:r>
                        <a:rPr kumimoji="1" lang="ja-JP" altLang="en-US" sz="2400">
                          <a:solidFill>
                            <a:schemeClr val="tx1"/>
                          </a:solidFill>
                          <a:latin typeface="メイリオ" panose="020B0604030504040204" pitchFamily="50" charset="-128"/>
                          <a:ea typeface="メイリオ" panose="020B0604030504040204" pitchFamily="50" charset="-128"/>
                        </a:rPr>
                        <a:t>同一機能の重複実装廃止</a:t>
                      </a:r>
                    </a:p>
                  </a:txBody>
                  <a:tcPr/>
                </a:tc>
                <a:tc>
                  <a:txBody>
                    <a:bodyPr/>
                    <a:lstStyle/>
                    <a:p>
                      <a:r>
                        <a:rPr kumimoji="1" lang="ja-JP" altLang="en-US" sz="2400">
                          <a:solidFill>
                            <a:schemeClr val="tx1"/>
                          </a:solidFill>
                          <a:latin typeface="メイリオ" panose="020B0604030504040204" pitchFamily="50" charset="-128"/>
                          <a:ea typeface="メイリオ" panose="020B0604030504040204" pitchFamily="50" charset="-128"/>
                        </a:rPr>
                        <a:t>同一機能は複数個所での重複実装は行わない</a:t>
                      </a:r>
                    </a:p>
                  </a:txBody>
                  <a:tcPr/>
                </a:tc>
                <a:extLst>
                  <a:ext uri="{0D108BD9-81ED-4DB2-BD59-A6C34878D82A}">
                    <a16:rowId xmlns:a16="http://schemas.microsoft.com/office/drawing/2014/main" val="3977524391"/>
                  </a:ext>
                </a:extLst>
              </a:tr>
              <a:tr h="360000">
                <a:tc>
                  <a:txBody>
                    <a:bodyPr/>
                    <a:lstStyle/>
                    <a:p>
                      <a:r>
                        <a:rPr kumimoji="1" lang="ja-JP" altLang="en-US" sz="2400">
                          <a:solidFill>
                            <a:schemeClr val="tx1"/>
                          </a:solidFill>
                          <a:latin typeface="メイリオ" panose="020B0604030504040204" pitchFamily="50" charset="-128"/>
                          <a:ea typeface="メイリオ" panose="020B0604030504040204" pitchFamily="50" charset="-128"/>
                        </a:rPr>
                        <a:t>入力内容変更時の再入力無し</a:t>
                      </a:r>
                    </a:p>
                  </a:txBody>
                  <a:tcPr/>
                </a:tc>
                <a:tc>
                  <a:txBody>
                    <a:bodyPr/>
                    <a:lstStyle/>
                    <a:p>
                      <a:r>
                        <a:rPr kumimoji="1" lang="ja-JP" altLang="en-US" sz="2400">
                          <a:solidFill>
                            <a:schemeClr val="tx1"/>
                          </a:solidFill>
                          <a:latin typeface="メイリオ" panose="020B0604030504040204" pitchFamily="50" charset="-128"/>
                          <a:ea typeface="メイリオ" panose="020B0604030504040204" pitchFamily="50" charset="-128"/>
                        </a:rPr>
                        <a:t>入力途中で入力済情報を修正する際に、不要な再入力しない仕組みにする</a:t>
                      </a:r>
                    </a:p>
                  </a:txBody>
                  <a:tcPr/>
                </a:tc>
                <a:extLst>
                  <a:ext uri="{0D108BD9-81ED-4DB2-BD59-A6C34878D82A}">
                    <a16:rowId xmlns:a16="http://schemas.microsoft.com/office/drawing/2014/main" val="856048816"/>
                  </a:ext>
                </a:extLst>
              </a:tr>
            </a:tbl>
          </a:graphicData>
        </a:graphic>
      </p:graphicFrame>
    </p:spTree>
    <p:extLst>
      <p:ext uri="{BB962C8B-B14F-4D97-AF65-F5344CB8AC3E}">
        <p14:creationId xmlns:p14="http://schemas.microsoft.com/office/powerpoint/2010/main" val="1485220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6A8F-937B-2B72-B44C-5696631CFD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673CE0-DB4A-D72B-D585-AE7DAAF8E7B5}"/>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a:t>
            </a:r>
            <a:r>
              <a:rPr lang="en-US" altLang="ja-JP" dirty="0"/>
              <a:t>6</a:t>
            </a:r>
            <a:r>
              <a:rPr lang="ja-JP" altLang="en-US" dirty="0">
                <a:latin typeface="Meiryo UI" panose="020B0604030504040204" pitchFamily="50" charset="-128"/>
                <a:ea typeface="Meiryo UI" panose="020B0604030504040204" pitchFamily="50" charset="-128"/>
              </a:rPr>
              <a:t>．共通部品の開発方針</a:t>
            </a:r>
            <a:r>
              <a:rPr lang="ja-JP" altLang="en-US" dirty="0"/>
              <a:t>（コントロール）</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27A1A442-A037-A12E-E98C-196869E77612}"/>
              </a:ext>
            </a:extLst>
          </p:cNvPr>
          <p:cNvSpPr>
            <a:spLocks noGrp="1"/>
          </p:cNvSpPr>
          <p:nvPr>
            <p:ph type="sldNum" sz="quarter" idx="12"/>
          </p:nvPr>
        </p:nvSpPr>
        <p:spPr/>
        <p:txBody>
          <a:bodyPr/>
          <a:lstStyle/>
          <a:p>
            <a:fld id="{2A9E37A5-A917-4235-ABF6-8CD72E894915}" type="slidenum">
              <a:rPr lang="en-US" altLang="ja-JP" smtClean="0"/>
              <a:pPr/>
              <a:t>40</a:t>
            </a:fld>
            <a:endParaRPr lang="ja-JP" altLang="en-US"/>
          </a:p>
        </p:txBody>
      </p:sp>
      <p:sp>
        <p:nvSpPr>
          <p:cNvPr id="6" name="テキスト ボックス 5">
            <a:extLst>
              <a:ext uri="{FF2B5EF4-FFF2-40B4-BE49-F238E27FC236}">
                <a16:creationId xmlns:a16="http://schemas.microsoft.com/office/drawing/2014/main" id="{CA8AE0A4-BDAA-9182-D8C4-2348B685B5E0}"/>
              </a:ext>
            </a:extLst>
          </p:cNvPr>
          <p:cNvSpPr txBox="1"/>
          <p:nvPr/>
        </p:nvSpPr>
        <p:spPr>
          <a:xfrm>
            <a:off x="544206" y="1512395"/>
            <a:ext cx="17199585" cy="3824124"/>
          </a:xfrm>
          <a:prstGeom prst="rect">
            <a:avLst/>
          </a:prstGeom>
          <a:noFill/>
        </p:spPr>
        <p:txBody>
          <a:bodyPr wrap="square" lIns="0" tIns="0" rIns="0" bIns="0"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共通コントロール（ラベル、テキストボックス、ドロップダウン等）は、以下を境界として設計・開発を行います。</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・全業務または複数の業務で共通で使用されるコントロール</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　⇒基盤・共通部品（端末）チームが提供</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・特定の業務内（ガスボンベ、修理、リサイクル等）のみの共通コントロール</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　⇒各業務のグループ内で設計・開発（共通コントロールを継承したクラスを作成する）</a:t>
            </a:r>
            <a:endParaRPr lang="en-US" altLang="ja-JP" sz="2800" dirty="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198CD1B5-F6E7-E04C-61D8-687C5E1FA5FE}"/>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84351816-CF0E-390A-418D-7494E8C12054}"/>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3507860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A2D1-0F17-20ED-8A47-56C81DEF0E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BDDE02-ED25-4521-58B8-4A2311608CB5}"/>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a:t>
            </a:r>
            <a:r>
              <a:rPr lang="en-US" altLang="ja-JP" dirty="0"/>
              <a:t>6</a:t>
            </a:r>
            <a:r>
              <a:rPr lang="ja-JP" altLang="en-US" dirty="0">
                <a:latin typeface="Meiryo UI" panose="020B0604030504040204" pitchFamily="50" charset="-128"/>
                <a:ea typeface="Meiryo UI" panose="020B0604030504040204" pitchFamily="50" charset="-128"/>
              </a:rPr>
              <a:t>．共通部品の開発方針</a:t>
            </a:r>
            <a:r>
              <a:rPr lang="ja-JP" altLang="en-US" dirty="0"/>
              <a:t>（</a:t>
            </a:r>
            <a:r>
              <a:rPr lang="en-US" altLang="ja-JP" dirty="0"/>
              <a:t>API</a:t>
            </a:r>
            <a:r>
              <a:rPr lang="ja-JP" altLang="en-US" dirty="0"/>
              <a:t>）＜暫定＞</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FF09B65-77E0-2B73-6DC8-10ED082BB26C}"/>
              </a:ext>
            </a:extLst>
          </p:cNvPr>
          <p:cNvSpPr>
            <a:spLocks noGrp="1"/>
          </p:cNvSpPr>
          <p:nvPr>
            <p:ph type="sldNum" sz="quarter" idx="12"/>
          </p:nvPr>
        </p:nvSpPr>
        <p:spPr/>
        <p:txBody>
          <a:bodyPr/>
          <a:lstStyle/>
          <a:p>
            <a:fld id="{2A9E37A5-A917-4235-ABF6-8CD72E894915}" type="slidenum">
              <a:rPr lang="en-US" altLang="ja-JP" smtClean="0"/>
              <a:pPr/>
              <a:t>41</a:t>
            </a:fld>
            <a:endParaRPr lang="ja-JP" altLang="en-US"/>
          </a:p>
        </p:txBody>
      </p:sp>
      <p:sp>
        <p:nvSpPr>
          <p:cNvPr id="6" name="テキスト ボックス 5">
            <a:extLst>
              <a:ext uri="{FF2B5EF4-FFF2-40B4-BE49-F238E27FC236}">
                <a16:creationId xmlns:a16="http://schemas.microsoft.com/office/drawing/2014/main" id="{D62CB2B2-33FC-1F8E-2906-7904C8EB2437}"/>
              </a:ext>
            </a:extLst>
          </p:cNvPr>
          <p:cNvSpPr txBox="1"/>
          <p:nvPr/>
        </p:nvSpPr>
        <p:spPr>
          <a:xfrm>
            <a:off x="544206" y="1512395"/>
            <a:ext cx="17199585" cy="4470455"/>
          </a:xfrm>
          <a:prstGeom prst="rect">
            <a:avLst/>
          </a:prstGeom>
          <a:noFill/>
        </p:spPr>
        <p:txBody>
          <a:bodyPr wrap="square" lIns="0" tIns="0" rIns="0" bIns="0"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共通</a:t>
            </a:r>
            <a:r>
              <a:rPr lang="en-US" altLang="ja-JP" sz="2800" dirty="0">
                <a:latin typeface="メイリオ" panose="020B0604030504040204" pitchFamily="50" charset="-128"/>
                <a:ea typeface="メイリオ" panose="020B0604030504040204" pitchFamily="50" charset="-128"/>
              </a:rPr>
              <a:t>API</a:t>
            </a:r>
            <a:r>
              <a:rPr lang="ja-JP" altLang="en-US" sz="2800" dirty="0">
                <a:latin typeface="メイリオ" panose="020B0604030504040204" pitchFamily="50" charset="-128"/>
                <a:ea typeface="メイリオ" panose="020B0604030504040204" pitchFamily="50" charset="-128"/>
              </a:rPr>
              <a:t>は、以下を境界として設計・開発を行います。</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・全業務または複数の業務で共通で使用される</a:t>
            </a:r>
            <a:r>
              <a:rPr lang="en-US" altLang="ja-JP" sz="2800" dirty="0">
                <a:latin typeface="メイリオ" panose="020B0604030504040204" pitchFamily="50" charset="-128"/>
                <a:ea typeface="メイリオ" panose="020B0604030504040204" pitchFamily="50" charset="-128"/>
              </a:rPr>
              <a:t>API</a:t>
            </a:r>
          </a:p>
          <a:p>
            <a:pPr>
              <a:lnSpc>
                <a:spcPct val="150000"/>
              </a:lnSpc>
            </a:pPr>
            <a:r>
              <a:rPr lang="ja-JP" altLang="en-US" sz="2800" dirty="0">
                <a:latin typeface="メイリオ" panose="020B0604030504040204" pitchFamily="50" charset="-128"/>
                <a:ea typeface="メイリオ" panose="020B0604030504040204" pitchFamily="50" charset="-128"/>
              </a:rPr>
              <a:t>　⇒基盤・共通部品（端末）チームが提供</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・特定の業務内（ガスボンベ、修理、リサイクル等）のみの共通</a:t>
            </a:r>
            <a:r>
              <a:rPr lang="en-US" altLang="ja-JP" sz="2800" dirty="0">
                <a:latin typeface="メイリオ" panose="020B0604030504040204" pitchFamily="50" charset="-128"/>
                <a:ea typeface="メイリオ" panose="020B0604030504040204" pitchFamily="50" charset="-128"/>
              </a:rPr>
              <a:t>API</a:t>
            </a:r>
            <a:r>
              <a:rPr lang="ja-JP" altLang="en-US" sz="2800" dirty="0">
                <a:latin typeface="メイリオ" panose="020B0604030504040204" pitchFamily="50" charset="-128"/>
                <a:ea typeface="メイリオ" panose="020B0604030504040204" pitchFamily="50" charset="-128"/>
              </a:rPr>
              <a:t>（変更頻度の低いもの）</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　⇒基盤・共通部品（端末）チームが提供</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・特定の業務内で基盤・共通部品（端末）チームが提供した共通</a:t>
            </a:r>
            <a:r>
              <a:rPr lang="en-US" altLang="ja-JP" sz="2800" dirty="0">
                <a:latin typeface="メイリオ" panose="020B0604030504040204" pitchFamily="50" charset="-128"/>
                <a:ea typeface="メイリオ" panose="020B0604030504040204" pitchFamily="50" charset="-128"/>
              </a:rPr>
              <a:t>API</a:t>
            </a:r>
            <a:r>
              <a:rPr lang="ja-JP" altLang="en-US" sz="2800" dirty="0">
                <a:latin typeface="メイリオ" panose="020B0604030504040204" pitchFamily="50" charset="-128"/>
                <a:ea typeface="メイリオ" panose="020B0604030504040204" pitchFamily="50" charset="-128"/>
              </a:rPr>
              <a:t>をカスタマイズする</a:t>
            </a:r>
            <a:r>
              <a:rPr lang="en-US" altLang="ja-JP" sz="2800" dirty="0">
                <a:latin typeface="メイリオ" panose="020B0604030504040204" pitchFamily="50" charset="-128"/>
                <a:ea typeface="メイリオ" panose="020B0604030504040204" pitchFamily="50" charset="-128"/>
              </a:rPr>
              <a:t>API</a:t>
            </a:r>
          </a:p>
          <a:p>
            <a:pPr>
              <a:lnSpc>
                <a:spcPct val="150000"/>
              </a:lnSpc>
            </a:pPr>
            <a:r>
              <a:rPr lang="ja-JP" altLang="en-US" sz="2800" dirty="0">
                <a:latin typeface="メイリオ" panose="020B0604030504040204" pitchFamily="50" charset="-128"/>
                <a:ea typeface="メイリオ" panose="020B0604030504040204" pitchFamily="50" charset="-128"/>
              </a:rPr>
              <a:t>　⇒各業務のグループ内で設計・開発</a:t>
            </a:r>
            <a:endParaRPr lang="en-US" altLang="ja-JP" sz="2800" dirty="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F2B1CE23-0BA7-4DE9-4ECE-72CA1844DEEC}"/>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8FB9346A-C4FE-0CC6-EF4F-481951B26E39}"/>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3269214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06844-43B2-4959-22AA-B8AA943A22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F89252-1471-4382-DBDB-0FDC2043FD90}"/>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a:t>
            </a:r>
            <a:r>
              <a:rPr lang="en-US" altLang="ja-JP" dirty="0"/>
              <a:t>6</a:t>
            </a:r>
            <a:r>
              <a:rPr lang="ja-JP" altLang="en-US" dirty="0">
                <a:latin typeface="Meiryo UI" panose="020B0604030504040204" pitchFamily="50" charset="-128"/>
                <a:ea typeface="Meiryo UI" panose="020B0604030504040204" pitchFamily="50" charset="-128"/>
              </a:rPr>
              <a:t>．共通部品の開発方針</a:t>
            </a:r>
            <a:r>
              <a:rPr lang="ja-JP" altLang="en-US" dirty="0"/>
              <a:t>（部品の保守）＜暫定＞</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B29AFD50-F9D5-BD12-DFE0-8530F26C6EFC}"/>
              </a:ext>
            </a:extLst>
          </p:cNvPr>
          <p:cNvSpPr>
            <a:spLocks noGrp="1"/>
          </p:cNvSpPr>
          <p:nvPr>
            <p:ph type="sldNum" sz="quarter" idx="12"/>
          </p:nvPr>
        </p:nvSpPr>
        <p:spPr/>
        <p:txBody>
          <a:bodyPr/>
          <a:lstStyle/>
          <a:p>
            <a:fld id="{2A9E37A5-A917-4235-ABF6-8CD72E894915}" type="slidenum">
              <a:rPr lang="en-US" altLang="ja-JP" smtClean="0"/>
              <a:pPr/>
              <a:t>42</a:t>
            </a:fld>
            <a:endParaRPr lang="ja-JP" altLang="en-US"/>
          </a:p>
        </p:txBody>
      </p:sp>
      <p:sp>
        <p:nvSpPr>
          <p:cNvPr id="6" name="テキスト ボックス 5">
            <a:extLst>
              <a:ext uri="{FF2B5EF4-FFF2-40B4-BE49-F238E27FC236}">
                <a16:creationId xmlns:a16="http://schemas.microsoft.com/office/drawing/2014/main" id="{F84FFE5C-A1A9-820F-9C15-E40AD880CA0E}"/>
              </a:ext>
            </a:extLst>
          </p:cNvPr>
          <p:cNvSpPr txBox="1"/>
          <p:nvPr/>
        </p:nvSpPr>
        <p:spPr>
          <a:xfrm>
            <a:off x="544206" y="1512395"/>
            <a:ext cx="17199585" cy="3177793"/>
          </a:xfrm>
          <a:prstGeom prst="rect">
            <a:avLst/>
          </a:prstGeom>
          <a:noFill/>
        </p:spPr>
        <p:txBody>
          <a:bodyPr wrap="square" lIns="0" tIns="0" rIns="0" bIns="0"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共通コントロール・</a:t>
            </a:r>
            <a:r>
              <a:rPr lang="en-US" altLang="ja-JP" sz="2800" dirty="0">
                <a:latin typeface="メイリオ" panose="020B0604030504040204" pitchFamily="50" charset="-128"/>
                <a:ea typeface="メイリオ" panose="020B0604030504040204" pitchFamily="50" charset="-128"/>
              </a:rPr>
              <a:t>API</a:t>
            </a:r>
            <a:r>
              <a:rPr lang="ja-JP" altLang="en-US" sz="2800" dirty="0">
                <a:latin typeface="メイリオ" panose="020B0604030504040204" pitchFamily="50" charset="-128"/>
                <a:ea typeface="メイリオ" panose="020B0604030504040204" pitchFamily="50" charset="-128"/>
              </a:rPr>
              <a:t>の保守方針は、以下とします。</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・オーナーを定める</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・変更は申請性とし、影響範囲を確認した上でオーナー承認の上で進める</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・互換性のないような変更は新規に追加する</a:t>
            </a:r>
            <a:endParaRPr lang="en-US" altLang="ja-JP" sz="2800" dirty="0">
              <a:latin typeface="メイリオ" panose="020B0604030504040204" pitchFamily="50" charset="-128"/>
              <a:ea typeface="メイリオ" panose="020B0604030504040204" pitchFamily="50" charset="-128"/>
            </a:endParaRPr>
          </a:p>
          <a:p>
            <a:pPr>
              <a:lnSpc>
                <a:spcPct val="150000"/>
              </a:lnSpc>
            </a:pPr>
            <a:r>
              <a:rPr lang="ja-JP" altLang="en-US" sz="2800" dirty="0">
                <a:latin typeface="メイリオ" panose="020B0604030504040204" pitchFamily="50" charset="-128"/>
                <a:ea typeface="メイリオ" panose="020B0604030504040204" pitchFamily="50" charset="-128"/>
              </a:rPr>
              <a:t>・業務間で共通に昇格させたい</a:t>
            </a:r>
            <a:r>
              <a:rPr lang="en-US" altLang="ja-JP" sz="2800" dirty="0">
                <a:latin typeface="メイリオ" panose="020B0604030504040204" pitchFamily="50" charset="-128"/>
                <a:ea typeface="メイリオ" panose="020B0604030504040204" pitchFamily="50" charset="-128"/>
              </a:rPr>
              <a:t>API</a:t>
            </a:r>
            <a:r>
              <a:rPr lang="ja-JP" altLang="en-US" sz="2800" dirty="0">
                <a:latin typeface="メイリオ" panose="020B0604030504040204" pitchFamily="50" charset="-128"/>
                <a:ea typeface="メイリオ" panose="020B0604030504040204" pitchFamily="50" charset="-128"/>
              </a:rPr>
              <a:t>はオーナーが判断の上で共通部品に加える</a:t>
            </a:r>
            <a:endParaRPr lang="en-US" altLang="ja-JP" sz="2800" dirty="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FD3B9C06-94A9-84BA-8720-8FD15FAFA608}"/>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CA662500-9DE6-6A5D-8BA4-30151BDA1B72}"/>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4234852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a:t>
            </a:r>
            <a:r>
              <a:rPr lang="en-US" altLang="ja-JP" dirty="0">
                <a:latin typeface="Meiryo UI" panose="020B0604030504040204" pitchFamily="50" charset="-128"/>
                <a:ea typeface="Meiryo UI" panose="020B0604030504040204" pitchFamily="50" charset="-128"/>
              </a:rPr>
              <a:t>7</a:t>
            </a:r>
            <a:r>
              <a:rPr lang="ja-JP" altLang="en-US" dirty="0">
                <a:latin typeface="Meiryo UI" panose="020B0604030504040204" pitchFamily="50" charset="-128"/>
                <a:ea typeface="Meiryo UI" panose="020B0604030504040204" pitchFamily="50" charset="-128"/>
              </a:rPr>
              <a:t>．</a:t>
            </a:r>
            <a:r>
              <a:rPr lang="ja-JP" altLang="en-US" dirty="0"/>
              <a:t>非機能要件</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43</a:t>
            </a:fld>
            <a:endParaRPr lang="ja-JP" altLang="en-US"/>
          </a:p>
        </p:txBody>
      </p:sp>
      <p:sp>
        <p:nvSpPr>
          <p:cNvPr id="6" name="テキスト ボックス 5">
            <a:extLst>
              <a:ext uri="{FF2B5EF4-FFF2-40B4-BE49-F238E27FC236}">
                <a16:creationId xmlns:a16="http://schemas.microsoft.com/office/drawing/2014/main" id="{321440BC-C71B-B60C-39C9-DFD40A75BC0B}"/>
              </a:ext>
            </a:extLst>
          </p:cNvPr>
          <p:cNvSpPr txBox="1"/>
          <p:nvPr/>
        </p:nvSpPr>
        <p:spPr>
          <a:xfrm>
            <a:off x="544207" y="1273473"/>
            <a:ext cx="17199585" cy="592470"/>
          </a:xfrm>
          <a:prstGeom prst="rect">
            <a:avLst/>
          </a:prstGeom>
          <a:noFill/>
        </p:spPr>
        <p:txBody>
          <a:bodyPr wrap="square" lIns="0" tIns="0" rIns="0" bIns="0" rtlCol="0">
            <a:spAutoFit/>
          </a:bodyPr>
          <a:lstStyle/>
          <a:p>
            <a:pPr>
              <a:lnSpc>
                <a:spcPct val="150000"/>
              </a:lnSpc>
            </a:pPr>
            <a:r>
              <a:rPr lang="ja-JP" altLang="en-US" sz="2800">
                <a:latin typeface="メイリオ" panose="020B0604030504040204" pitchFamily="50" charset="-128"/>
                <a:ea typeface="メイリオ" panose="020B0604030504040204" pitchFamily="50" charset="-128"/>
              </a:rPr>
              <a:t>以下の非機能要件について定義します。</a:t>
            </a:r>
            <a:endParaRPr lang="en-US" altLang="ja-JP" sz="2800">
              <a:latin typeface="メイリオ" panose="020B0604030504040204" pitchFamily="50" charset="-128"/>
              <a:ea typeface="メイリオ" panose="020B0604030504040204" pitchFamily="50" charset="-128"/>
            </a:endParaRPr>
          </a:p>
        </p:txBody>
      </p:sp>
      <p:graphicFrame>
        <p:nvGraphicFramePr>
          <p:cNvPr id="7" name="表 6">
            <a:extLst>
              <a:ext uri="{FF2B5EF4-FFF2-40B4-BE49-F238E27FC236}">
                <a16:creationId xmlns:a16="http://schemas.microsoft.com/office/drawing/2014/main" id="{79ED541E-6E11-A09D-32B5-30AE0737B2EE}"/>
              </a:ext>
            </a:extLst>
          </p:cNvPr>
          <p:cNvGraphicFramePr>
            <a:graphicFrameLocks noGrp="1"/>
          </p:cNvGraphicFramePr>
          <p:nvPr/>
        </p:nvGraphicFramePr>
        <p:xfrm>
          <a:off x="544207" y="2733074"/>
          <a:ext cx="17199585" cy="6949440"/>
        </p:xfrm>
        <a:graphic>
          <a:graphicData uri="http://schemas.openxmlformats.org/drawingml/2006/table">
            <a:tbl>
              <a:tblPr firstRow="1" bandRow="1">
                <a:tableStyleId>{5C22544A-7EE6-4342-B048-85BDC9FD1C3A}</a:tableStyleId>
              </a:tblPr>
              <a:tblGrid>
                <a:gridCol w="4290993">
                  <a:extLst>
                    <a:ext uri="{9D8B030D-6E8A-4147-A177-3AD203B41FA5}">
                      <a16:colId xmlns:a16="http://schemas.microsoft.com/office/drawing/2014/main" val="1498613378"/>
                    </a:ext>
                  </a:extLst>
                </a:gridCol>
                <a:gridCol w="12908592">
                  <a:extLst>
                    <a:ext uri="{9D8B030D-6E8A-4147-A177-3AD203B41FA5}">
                      <a16:colId xmlns:a16="http://schemas.microsoft.com/office/drawing/2014/main" val="3273807637"/>
                    </a:ext>
                  </a:extLst>
                </a:gridCol>
              </a:tblGrid>
              <a:tr h="370840">
                <a:tc>
                  <a:txBody>
                    <a:bodyPr/>
                    <a:lstStyle/>
                    <a:p>
                      <a:r>
                        <a:rPr kumimoji="1" lang="ja-JP" altLang="en-US" sz="2700">
                          <a:latin typeface="メイリオ" panose="020B0604030504040204" pitchFamily="50" charset="-128"/>
                          <a:ea typeface="メイリオ" panose="020B0604030504040204" pitchFamily="50" charset="-128"/>
                        </a:rPr>
                        <a:t>要件</a:t>
                      </a:r>
                    </a:p>
                  </a:txBody>
                  <a:tcPr/>
                </a:tc>
                <a:tc>
                  <a:txBody>
                    <a:bodyPr/>
                    <a:lstStyle/>
                    <a:p>
                      <a:r>
                        <a:rPr kumimoji="1" lang="ja-JP" altLang="en-US" sz="2700">
                          <a:latin typeface="メイリオ" panose="020B0604030504040204" pitchFamily="50" charset="-128"/>
                          <a:ea typeface="メイリオ" panose="020B0604030504040204" pitchFamily="50" charset="-128"/>
                        </a:rPr>
                        <a:t>内容</a:t>
                      </a:r>
                    </a:p>
                  </a:txBody>
                  <a:tcPr/>
                </a:tc>
                <a:extLst>
                  <a:ext uri="{0D108BD9-81ED-4DB2-BD59-A6C34878D82A}">
                    <a16:rowId xmlns:a16="http://schemas.microsoft.com/office/drawing/2014/main" val="3163321163"/>
                  </a:ext>
                </a:extLst>
              </a:tr>
              <a:tr h="370840">
                <a:tc>
                  <a:txBody>
                    <a:bodyPr/>
                    <a:lstStyle/>
                    <a:p>
                      <a:r>
                        <a:rPr kumimoji="1" lang="ja-JP" altLang="en-US" sz="2700">
                          <a:latin typeface="メイリオ" panose="020B0604030504040204" pitchFamily="50" charset="-128"/>
                          <a:ea typeface="メイリオ" panose="020B0604030504040204" pitchFamily="50" charset="-128"/>
                        </a:rPr>
                        <a:t>同時アクセス数</a:t>
                      </a:r>
                    </a:p>
                  </a:txBody>
                  <a:tcPr/>
                </a:tc>
                <a:tc>
                  <a:txBody>
                    <a:bodyPr/>
                    <a:lstStyle/>
                    <a:p>
                      <a:r>
                        <a:rPr kumimoji="1" lang="ja-JP" altLang="en-US" sz="2700">
                          <a:latin typeface="メイリオ" panose="020B0604030504040204" pitchFamily="50" charset="-128"/>
                          <a:ea typeface="メイリオ" panose="020B0604030504040204" pitchFamily="50" charset="-128"/>
                        </a:rPr>
                        <a:t>同時アクセス可能なユーザー数または端末数を定義</a:t>
                      </a:r>
                    </a:p>
                  </a:txBody>
                  <a:tcPr/>
                </a:tc>
                <a:extLst>
                  <a:ext uri="{0D108BD9-81ED-4DB2-BD59-A6C34878D82A}">
                    <a16:rowId xmlns:a16="http://schemas.microsoft.com/office/drawing/2014/main" val="2272349074"/>
                  </a:ext>
                </a:extLst>
              </a:tr>
              <a:tr h="370840">
                <a:tc>
                  <a:txBody>
                    <a:bodyPr/>
                    <a:lstStyle/>
                    <a:p>
                      <a:r>
                        <a:rPr kumimoji="1" lang="ja-JP" altLang="en-US" sz="2700">
                          <a:latin typeface="メイリオ" panose="020B0604030504040204" pitchFamily="50" charset="-128"/>
                          <a:ea typeface="メイリオ" panose="020B0604030504040204" pitchFamily="50" charset="-128"/>
                        </a:rPr>
                        <a:t>処理時間</a:t>
                      </a:r>
                    </a:p>
                  </a:txBody>
                  <a:tcPr/>
                </a:tc>
                <a:tc>
                  <a:txBody>
                    <a:bodyPr/>
                    <a:lstStyle/>
                    <a:p>
                      <a:r>
                        <a:rPr kumimoji="1" lang="ja-JP" altLang="en-US" sz="2700">
                          <a:latin typeface="メイリオ" panose="020B0604030504040204" pitchFamily="50" charset="-128"/>
                          <a:ea typeface="メイリオ" panose="020B0604030504040204" pitchFamily="50" charset="-128"/>
                        </a:rPr>
                        <a:t>想定されるトランザクション量に対する処理時間を定義</a:t>
                      </a:r>
                    </a:p>
                  </a:txBody>
                  <a:tcPr/>
                </a:tc>
                <a:extLst>
                  <a:ext uri="{0D108BD9-81ED-4DB2-BD59-A6C34878D82A}">
                    <a16:rowId xmlns:a16="http://schemas.microsoft.com/office/drawing/2014/main" val="2300780390"/>
                  </a:ext>
                </a:extLst>
              </a:tr>
              <a:tr h="370840">
                <a:tc>
                  <a:txBody>
                    <a:bodyPr/>
                    <a:lstStyle/>
                    <a:p>
                      <a:r>
                        <a:rPr kumimoji="1" lang="ja-JP" altLang="en-US" sz="2700">
                          <a:latin typeface="メイリオ" panose="020B0604030504040204" pitchFamily="50" charset="-128"/>
                          <a:ea typeface="メイリオ" panose="020B0604030504040204" pitchFamily="50" charset="-128"/>
                        </a:rPr>
                        <a:t>応答時間</a:t>
                      </a:r>
                    </a:p>
                  </a:txBody>
                  <a:tcPr/>
                </a:tc>
                <a:tc>
                  <a:txBody>
                    <a:bodyPr/>
                    <a:lstStyle/>
                    <a:p>
                      <a:r>
                        <a:rPr kumimoji="1" lang="ja-JP" altLang="en-US" sz="2700">
                          <a:latin typeface="メイリオ" panose="020B0604030504040204" pitchFamily="50" charset="-128"/>
                          <a:ea typeface="メイリオ" panose="020B0604030504040204" pitchFamily="50" charset="-128"/>
                        </a:rPr>
                        <a:t>特定機能ごとの最大応答時間を定義</a:t>
                      </a:r>
                    </a:p>
                  </a:txBody>
                  <a:tcPr/>
                </a:tc>
                <a:extLst>
                  <a:ext uri="{0D108BD9-81ED-4DB2-BD59-A6C34878D82A}">
                    <a16:rowId xmlns:a16="http://schemas.microsoft.com/office/drawing/2014/main" val="2001662957"/>
                  </a:ext>
                </a:extLst>
              </a:tr>
              <a:tr h="370840">
                <a:tc>
                  <a:txBody>
                    <a:bodyPr/>
                    <a:lstStyle/>
                    <a:p>
                      <a:r>
                        <a:rPr kumimoji="1" lang="ja-JP" altLang="en-US" sz="2700">
                          <a:latin typeface="メイリオ" panose="020B0604030504040204" pitchFamily="50" charset="-128"/>
                          <a:ea typeface="メイリオ" panose="020B0604030504040204" pitchFamily="50" charset="-128"/>
                        </a:rPr>
                        <a:t>トランザクション処理量</a:t>
                      </a:r>
                    </a:p>
                  </a:txBody>
                  <a:tcPr/>
                </a:tc>
                <a:tc>
                  <a:txBody>
                    <a:bodyPr/>
                    <a:lstStyle/>
                    <a:p>
                      <a:r>
                        <a:rPr kumimoji="1" lang="ja-JP" altLang="en-US" sz="2700">
                          <a:latin typeface="メイリオ" panose="020B0604030504040204" pitchFamily="50" charset="-128"/>
                          <a:ea typeface="メイリオ" panose="020B0604030504040204" pitchFamily="50" charset="-128"/>
                        </a:rPr>
                        <a:t>処理可能なトランザクション量を定義</a:t>
                      </a:r>
                    </a:p>
                  </a:txBody>
                  <a:tcPr/>
                </a:tc>
                <a:extLst>
                  <a:ext uri="{0D108BD9-81ED-4DB2-BD59-A6C34878D82A}">
                    <a16:rowId xmlns:a16="http://schemas.microsoft.com/office/drawing/2014/main" val="2353049988"/>
                  </a:ext>
                </a:extLst>
              </a:tr>
              <a:tr h="370840">
                <a:tc>
                  <a:txBody>
                    <a:bodyPr/>
                    <a:lstStyle/>
                    <a:p>
                      <a:r>
                        <a:rPr kumimoji="1" lang="ja-JP" altLang="en-US" sz="2700">
                          <a:latin typeface="メイリオ" panose="020B0604030504040204" pitchFamily="50" charset="-128"/>
                          <a:ea typeface="メイリオ" panose="020B0604030504040204" pitchFamily="50" charset="-128"/>
                        </a:rPr>
                        <a:t>正確性</a:t>
                      </a:r>
                    </a:p>
                  </a:txBody>
                  <a:tcPr/>
                </a:tc>
                <a:tc>
                  <a:txBody>
                    <a:bodyPr/>
                    <a:lstStyle/>
                    <a:p>
                      <a:r>
                        <a:rPr kumimoji="1" lang="ja-JP" altLang="en-US" sz="2700">
                          <a:latin typeface="メイリオ" panose="020B0604030504040204" pitchFamily="50" charset="-128"/>
                          <a:ea typeface="メイリオ" panose="020B0604030504040204" pitchFamily="50" charset="-128"/>
                        </a:rPr>
                        <a:t>アウトプットに求められる精度を定義</a:t>
                      </a:r>
                    </a:p>
                  </a:txBody>
                  <a:tcPr/>
                </a:tc>
                <a:extLst>
                  <a:ext uri="{0D108BD9-81ED-4DB2-BD59-A6C34878D82A}">
                    <a16:rowId xmlns:a16="http://schemas.microsoft.com/office/drawing/2014/main" val="3464955293"/>
                  </a:ext>
                </a:extLst>
              </a:tr>
              <a:tr h="370840">
                <a:tc>
                  <a:txBody>
                    <a:bodyPr/>
                    <a:lstStyle/>
                    <a:p>
                      <a:r>
                        <a:rPr kumimoji="1" lang="ja-JP" altLang="en-US" sz="2700">
                          <a:latin typeface="メイリオ" panose="020B0604030504040204" pitchFamily="50" charset="-128"/>
                          <a:ea typeface="メイリオ" panose="020B0604030504040204" pitchFamily="50" charset="-128"/>
                        </a:rPr>
                        <a:t>信頼性</a:t>
                      </a:r>
                    </a:p>
                  </a:txBody>
                  <a:tcPr/>
                </a:tc>
                <a:tc>
                  <a:txBody>
                    <a:bodyPr/>
                    <a:lstStyle/>
                    <a:p>
                      <a:r>
                        <a:rPr kumimoji="1" lang="ja-JP" altLang="en-US" sz="2700">
                          <a:latin typeface="メイリオ" panose="020B0604030504040204" pitchFamily="50" charset="-128"/>
                          <a:ea typeface="メイリオ" panose="020B0604030504040204" pitchFamily="50" charset="-128"/>
                        </a:rPr>
                        <a:t>システム停止の許容限界（障害発生回数</a:t>
                      </a:r>
                      <a:r>
                        <a:rPr kumimoji="1" lang="en-US" altLang="ja-JP" sz="2700">
                          <a:latin typeface="メイリオ" panose="020B0604030504040204" pitchFamily="50" charset="-128"/>
                          <a:ea typeface="メイリオ" panose="020B0604030504040204" pitchFamily="50" charset="-128"/>
                        </a:rPr>
                        <a:t>/</a:t>
                      </a:r>
                      <a:r>
                        <a:rPr kumimoji="1" lang="ja-JP" altLang="en-US" sz="2700">
                          <a:latin typeface="メイリオ" panose="020B0604030504040204" pitchFamily="50" charset="-128"/>
                          <a:ea typeface="メイリオ" panose="020B0604030504040204" pitchFamily="50" charset="-128"/>
                        </a:rPr>
                        <a:t>期間）を定義</a:t>
                      </a:r>
                    </a:p>
                  </a:txBody>
                  <a:tcPr/>
                </a:tc>
                <a:extLst>
                  <a:ext uri="{0D108BD9-81ED-4DB2-BD59-A6C34878D82A}">
                    <a16:rowId xmlns:a16="http://schemas.microsoft.com/office/drawing/2014/main" val="4191966097"/>
                  </a:ext>
                </a:extLst>
              </a:tr>
              <a:tr h="370840">
                <a:tc>
                  <a:txBody>
                    <a:bodyPr/>
                    <a:lstStyle/>
                    <a:p>
                      <a:r>
                        <a:rPr kumimoji="1" lang="ja-JP" altLang="en-US" sz="2700">
                          <a:latin typeface="メイリオ" panose="020B0604030504040204" pitchFamily="50" charset="-128"/>
                          <a:ea typeface="メイリオ" panose="020B0604030504040204" pitchFamily="50" charset="-128"/>
                        </a:rPr>
                        <a:t>可用性</a:t>
                      </a:r>
                    </a:p>
                  </a:txBody>
                  <a:tcPr/>
                </a:tc>
                <a:tc>
                  <a:txBody>
                    <a:bodyPr/>
                    <a:lstStyle/>
                    <a:p>
                      <a:r>
                        <a:rPr kumimoji="1" lang="ja-JP" altLang="en-US" sz="2700">
                          <a:latin typeface="メイリオ" panose="020B0604030504040204" pitchFamily="50" charset="-128"/>
                          <a:ea typeface="メイリオ" panose="020B0604030504040204" pitchFamily="50" charset="-128"/>
                        </a:rPr>
                        <a:t>期間内の使用可能時間（時間</a:t>
                      </a:r>
                      <a:r>
                        <a:rPr kumimoji="1" lang="en-US" altLang="ja-JP" sz="2700">
                          <a:latin typeface="メイリオ" panose="020B0604030504040204" pitchFamily="50" charset="-128"/>
                          <a:ea typeface="メイリオ" panose="020B0604030504040204" pitchFamily="50" charset="-128"/>
                        </a:rPr>
                        <a:t>/</a:t>
                      </a:r>
                      <a:r>
                        <a:rPr kumimoji="1" lang="ja-JP" altLang="en-US" sz="2700">
                          <a:latin typeface="メイリオ" panose="020B0604030504040204" pitchFamily="50" charset="-128"/>
                          <a:ea typeface="メイリオ" panose="020B0604030504040204" pitchFamily="50" charset="-128"/>
                        </a:rPr>
                        <a:t>日）、稼働率を定義</a:t>
                      </a:r>
                    </a:p>
                  </a:txBody>
                  <a:tcPr/>
                </a:tc>
                <a:extLst>
                  <a:ext uri="{0D108BD9-81ED-4DB2-BD59-A6C34878D82A}">
                    <a16:rowId xmlns:a16="http://schemas.microsoft.com/office/drawing/2014/main" val="3702512911"/>
                  </a:ext>
                </a:extLst>
              </a:tr>
              <a:tr h="370840">
                <a:tc>
                  <a:txBody>
                    <a:bodyPr/>
                    <a:lstStyle/>
                    <a:p>
                      <a:r>
                        <a:rPr kumimoji="1" lang="ja-JP" altLang="en-US" sz="2700">
                          <a:latin typeface="メイリオ" panose="020B0604030504040204" pitchFamily="50" charset="-128"/>
                          <a:ea typeface="メイリオ" panose="020B0604030504040204" pitchFamily="50" charset="-128"/>
                        </a:rPr>
                        <a:t>機密性</a:t>
                      </a:r>
                    </a:p>
                  </a:txBody>
                  <a:tcPr/>
                </a:tc>
                <a:tc>
                  <a:txBody>
                    <a:bodyPr/>
                    <a:lstStyle/>
                    <a:p>
                      <a:r>
                        <a:rPr kumimoji="1" lang="ja-JP" altLang="en-US" sz="2700">
                          <a:latin typeface="メイリオ" panose="020B0604030504040204" pitchFamily="50" charset="-128"/>
                          <a:ea typeface="メイリオ" panose="020B0604030504040204" pitchFamily="50" charset="-128"/>
                        </a:rPr>
                        <a:t>利用者や端末の制限、通信経路や保存データの扱いを定義</a:t>
                      </a:r>
                    </a:p>
                  </a:txBody>
                  <a:tcPr/>
                </a:tc>
                <a:extLst>
                  <a:ext uri="{0D108BD9-81ED-4DB2-BD59-A6C34878D82A}">
                    <a16:rowId xmlns:a16="http://schemas.microsoft.com/office/drawing/2014/main" val="3174738382"/>
                  </a:ext>
                </a:extLst>
              </a:tr>
              <a:tr h="370840">
                <a:tc>
                  <a:txBody>
                    <a:bodyPr/>
                    <a:lstStyle/>
                    <a:p>
                      <a:r>
                        <a:rPr kumimoji="1" lang="ja-JP" altLang="en-US" sz="2700">
                          <a:latin typeface="メイリオ" panose="020B0604030504040204" pitchFamily="50" charset="-128"/>
                          <a:ea typeface="メイリオ" panose="020B0604030504040204" pitchFamily="50" charset="-128"/>
                        </a:rPr>
                        <a:t>回復性</a:t>
                      </a:r>
                    </a:p>
                  </a:txBody>
                  <a:tcPr/>
                </a:tc>
                <a:tc>
                  <a:txBody>
                    <a:bodyPr/>
                    <a:lstStyle/>
                    <a:p>
                      <a:r>
                        <a:rPr kumimoji="1" lang="ja-JP" altLang="en-US" sz="2700">
                          <a:latin typeface="メイリオ" panose="020B0604030504040204" pitchFamily="50" charset="-128"/>
                          <a:ea typeface="メイリオ" panose="020B0604030504040204" pitchFamily="50" charset="-128"/>
                        </a:rPr>
                        <a:t>障害発生時の復旧時間や復旧時点、バックアップの頻度・方式を定義</a:t>
                      </a:r>
                    </a:p>
                  </a:txBody>
                  <a:tcPr/>
                </a:tc>
                <a:extLst>
                  <a:ext uri="{0D108BD9-81ED-4DB2-BD59-A6C34878D82A}">
                    <a16:rowId xmlns:a16="http://schemas.microsoft.com/office/drawing/2014/main" val="858652408"/>
                  </a:ext>
                </a:extLst>
              </a:tr>
              <a:tr h="370840">
                <a:tc>
                  <a:txBody>
                    <a:bodyPr/>
                    <a:lstStyle/>
                    <a:p>
                      <a:r>
                        <a:rPr kumimoji="1" lang="ja-JP" altLang="en-US" sz="2700">
                          <a:latin typeface="メイリオ" panose="020B0604030504040204" pitchFamily="50" charset="-128"/>
                          <a:ea typeface="メイリオ" panose="020B0604030504040204" pitchFamily="50" charset="-128"/>
                        </a:rPr>
                        <a:t>保守性</a:t>
                      </a:r>
                    </a:p>
                  </a:txBody>
                  <a:tcPr/>
                </a:tc>
                <a:tc>
                  <a:txBody>
                    <a:bodyPr/>
                    <a:lstStyle/>
                    <a:p>
                      <a:r>
                        <a:rPr kumimoji="1" lang="ja-JP" altLang="en-US" sz="2700">
                          <a:latin typeface="メイリオ" panose="020B0604030504040204" pitchFamily="50" charset="-128"/>
                          <a:ea typeface="メイリオ" panose="020B0604030504040204" pitchFamily="50" charset="-128"/>
                        </a:rPr>
                        <a:t>不具合の解析～修正～配信までの方式を定義</a:t>
                      </a:r>
                    </a:p>
                  </a:txBody>
                  <a:tcPr/>
                </a:tc>
                <a:extLst>
                  <a:ext uri="{0D108BD9-81ED-4DB2-BD59-A6C34878D82A}">
                    <a16:rowId xmlns:a16="http://schemas.microsoft.com/office/drawing/2014/main" val="3550955158"/>
                  </a:ext>
                </a:extLst>
              </a:tr>
              <a:tr h="370840">
                <a:tc>
                  <a:txBody>
                    <a:bodyPr/>
                    <a:lstStyle/>
                    <a:p>
                      <a:r>
                        <a:rPr kumimoji="1" lang="ja-JP" altLang="en-US" sz="2700">
                          <a:latin typeface="メイリオ" panose="020B0604030504040204" pitchFamily="50" charset="-128"/>
                          <a:ea typeface="メイリオ" panose="020B0604030504040204" pitchFamily="50" charset="-128"/>
                        </a:rPr>
                        <a:t>拡張性</a:t>
                      </a:r>
                    </a:p>
                  </a:txBody>
                  <a:tcPr/>
                </a:tc>
                <a:tc>
                  <a:txBody>
                    <a:bodyPr/>
                    <a:lstStyle/>
                    <a:p>
                      <a:r>
                        <a:rPr kumimoji="1" lang="ja-JP" altLang="en-US" sz="2700">
                          <a:latin typeface="メイリオ" panose="020B0604030504040204" pitchFamily="50" charset="-128"/>
                          <a:ea typeface="メイリオ" panose="020B0604030504040204" pitchFamily="50" charset="-128"/>
                        </a:rPr>
                        <a:t>アプリ、データ、周辺機器、リソース、ネットワークを</a:t>
                      </a:r>
                      <a:endParaRPr kumimoji="1" lang="en-US" altLang="ja-JP" sz="2700">
                        <a:latin typeface="メイリオ" panose="020B0604030504040204" pitchFamily="50" charset="-128"/>
                        <a:ea typeface="メイリオ" panose="020B0604030504040204" pitchFamily="50" charset="-128"/>
                      </a:endParaRPr>
                    </a:p>
                    <a:p>
                      <a:r>
                        <a:rPr kumimoji="1" lang="ja-JP" altLang="en-US" sz="2700">
                          <a:latin typeface="メイリオ" panose="020B0604030504040204" pitchFamily="50" charset="-128"/>
                          <a:ea typeface="メイリオ" panose="020B0604030504040204" pitchFamily="50" charset="-128"/>
                        </a:rPr>
                        <a:t>柔軟に拡張できる仕組みを定義</a:t>
                      </a:r>
                    </a:p>
                  </a:txBody>
                  <a:tcPr/>
                </a:tc>
                <a:extLst>
                  <a:ext uri="{0D108BD9-81ED-4DB2-BD59-A6C34878D82A}">
                    <a16:rowId xmlns:a16="http://schemas.microsoft.com/office/drawing/2014/main" val="4145277576"/>
                  </a:ext>
                </a:extLst>
              </a:tr>
              <a:tr h="370840">
                <a:tc>
                  <a:txBody>
                    <a:bodyPr/>
                    <a:lstStyle/>
                    <a:p>
                      <a:r>
                        <a:rPr kumimoji="1" lang="ja-JP" altLang="en-US" sz="2700">
                          <a:latin typeface="メイリオ" panose="020B0604030504040204" pitchFamily="50" charset="-128"/>
                          <a:ea typeface="メイリオ" panose="020B0604030504040204" pitchFamily="50" charset="-128"/>
                        </a:rPr>
                        <a:t>移植性</a:t>
                      </a:r>
                    </a:p>
                  </a:txBody>
                  <a:tcPr/>
                </a:tc>
                <a:tc>
                  <a:txBody>
                    <a:bodyPr/>
                    <a:lstStyle/>
                    <a:p>
                      <a:r>
                        <a:rPr kumimoji="1" lang="ja-JP" altLang="en-US" sz="2700">
                          <a:latin typeface="メイリオ" panose="020B0604030504040204" pitchFamily="50" charset="-128"/>
                          <a:ea typeface="メイリオ" panose="020B0604030504040204" pitchFamily="50" charset="-128"/>
                        </a:rPr>
                        <a:t>特定の</a:t>
                      </a:r>
                      <a:r>
                        <a:rPr kumimoji="1" lang="en-US" altLang="ja-JP" sz="2700">
                          <a:latin typeface="メイリオ" panose="020B0604030504040204" pitchFamily="50" charset="-128"/>
                          <a:ea typeface="メイリオ" panose="020B0604030504040204" pitchFamily="50" charset="-128"/>
                        </a:rPr>
                        <a:t>OS</a:t>
                      </a:r>
                      <a:r>
                        <a:rPr kumimoji="1" lang="ja-JP" altLang="en-US" sz="2700">
                          <a:latin typeface="メイリオ" panose="020B0604030504040204" pitchFamily="50" charset="-128"/>
                          <a:ea typeface="メイリオ" panose="020B0604030504040204" pitchFamily="50" charset="-128"/>
                        </a:rPr>
                        <a:t>やデバイス、環境に依存しない方式を定義</a:t>
                      </a:r>
                    </a:p>
                  </a:txBody>
                  <a:tcPr/>
                </a:tc>
                <a:extLst>
                  <a:ext uri="{0D108BD9-81ED-4DB2-BD59-A6C34878D82A}">
                    <a16:rowId xmlns:a16="http://schemas.microsoft.com/office/drawing/2014/main" val="476101060"/>
                  </a:ext>
                </a:extLst>
              </a:tr>
            </a:tbl>
          </a:graphicData>
        </a:graphic>
      </p:graphicFrame>
      <p:sp>
        <p:nvSpPr>
          <p:cNvPr id="4" name="フッター プレースホルダー 3">
            <a:extLst>
              <a:ext uri="{FF2B5EF4-FFF2-40B4-BE49-F238E27FC236}">
                <a16:creationId xmlns:a16="http://schemas.microsoft.com/office/drawing/2014/main" id="{2889AC60-C4FC-2F18-B97B-9867104DC5E7}"/>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55778494-AFB5-7684-0334-B2747DDAC705}"/>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1383154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a:t>
            </a:r>
            <a:r>
              <a:rPr lang="en-US" altLang="ja-JP" dirty="0">
                <a:latin typeface="Meiryo UI" panose="020B0604030504040204" pitchFamily="50" charset="-128"/>
                <a:ea typeface="Meiryo UI" panose="020B0604030504040204" pitchFamily="50" charset="-128"/>
              </a:rPr>
              <a:t>8</a:t>
            </a:r>
            <a:r>
              <a:rPr lang="ja-JP" altLang="en-US" dirty="0">
                <a:latin typeface="Meiryo UI" panose="020B0604030504040204" pitchFamily="50" charset="-128"/>
                <a:ea typeface="Meiryo UI" panose="020B0604030504040204" pitchFamily="50" charset="-128"/>
              </a:rPr>
              <a:t>．運用監視（１）</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44</a:t>
            </a:fld>
            <a:endParaRPr lang="ja-JP" altLang="en-US"/>
          </a:p>
        </p:txBody>
      </p:sp>
      <p:sp>
        <p:nvSpPr>
          <p:cNvPr id="6" name="テキスト ボックス 5">
            <a:extLst>
              <a:ext uri="{FF2B5EF4-FFF2-40B4-BE49-F238E27FC236}">
                <a16:creationId xmlns:a16="http://schemas.microsoft.com/office/drawing/2014/main" id="{DB2A4EDE-B797-450A-6251-875E704B9DC8}"/>
              </a:ext>
            </a:extLst>
          </p:cNvPr>
          <p:cNvSpPr txBox="1"/>
          <p:nvPr/>
        </p:nvSpPr>
        <p:spPr>
          <a:xfrm>
            <a:off x="463733" y="1497739"/>
            <a:ext cx="17415668" cy="3270126"/>
          </a:xfrm>
          <a:prstGeom prst="rect">
            <a:avLst/>
          </a:prstGeom>
          <a:noFill/>
        </p:spPr>
        <p:txBody>
          <a:bodyPr wrap="square" rtlCol="0">
            <a:spAutoFit/>
          </a:bodyPr>
          <a:lstStyle/>
          <a:p>
            <a:pPr>
              <a:lnSpc>
                <a:spcPct val="150000"/>
              </a:lnSpc>
            </a:pPr>
            <a:r>
              <a:rPr lang="ja-JP" altLang="en-US" sz="2800">
                <a:latin typeface="メイリオ" panose="020B0604030504040204" pitchFamily="50" charset="-128"/>
                <a:ea typeface="メイリオ" panose="020B0604030504040204" pitchFamily="50" charset="-128"/>
              </a:rPr>
              <a:t>１．目的・方針</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システム全体の稼働状況を把握と障害発生時の早期検知／迅速な復旧を目的として設計します。</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既存の監視システムの仕組みを活用しつつ、</a:t>
            </a:r>
            <a:br>
              <a:rPr lang="en-US" altLang="ja-JP" sz="2800">
                <a:latin typeface="メイリオ" panose="020B0604030504040204" pitchFamily="50" charset="-128"/>
                <a:ea typeface="メイリオ" panose="020B0604030504040204" pitchFamily="50" charset="-128"/>
              </a:rPr>
            </a:br>
            <a:r>
              <a:rPr lang="en-US" altLang="ja-JP" sz="2800">
                <a:latin typeface="メイリオ" panose="020B0604030504040204" pitchFamily="50" charset="-128"/>
                <a:ea typeface="メイリオ" panose="020B0604030504040204" pitchFamily="50" charset="-128"/>
              </a:rPr>
              <a:t>OCI</a:t>
            </a:r>
            <a:r>
              <a:rPr lang="ja-JP" altLang="en-US" sz="2800">
                <a:latin typeface="メイリオ" panose="020B0604030504040204" pitchFamily="50" charset="-128"/>
                <a:ea typeface="メイリオ" panose="020B0604030504040204" pitchFamily="50" charset="-128"/>
              </a:rPr>
              <a:t>監視などの新規領域については、今後の運用設計段階で詳細を検討します。</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監視対象や指標は段階的に拡張可能とします。</a:t>
            </a:r>
            <a:endParaRPr lang="en-US" altLang="ja-JP" sz="280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62407623-99AC-8408-73E5-9710F4C903E8}"/>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17BE5F9B-1706-C973-7C49-A2FA2C8CFC17}"/>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1344903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６－</a:t>
            </a:r>
            <a:r>
              <a:rPr lang="en-US" altLang="ja-JP" dirty="0"/>
              <a:t>8</a:t>
            </a:r>
            <a:r>
              <a:rPr lang="ja-JP" altLang="en-US" dirty="0">
                <a:latin typeface="Meiryo UI" panose="020B0604030504040204" pitchFamily="50" charset="-128"/>
                <a:ea typeface="Meiryo UI" panose="020B0604030504040204" pitchFamily="50" charset="-128"/>
              </a:rPr>
              <a:t>．運用監視（２）</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45</a:t>
            </a:fld>
            <a:endParaRPr lang="ja-JP" altLang="en-US"/>
          </a:p>
        </p:txBody>
      </p:sp>
      <p:sp>
        <p:nvSpPr>
          <p:cNvPr id="6" name="テキスト ボックス 5">
            <a:extLst>
              <a:ext uri="{FF2B5EF4-FFF2-40B4-BE49-F238E27FC236}">
                <a16:creationId xmlns:a16="http://schemas.microsoft.com/office/drawing/2014/main" id="{DB2A4EDE-B797-450A-6251-875E704B9DC8}"/>
              </a:ext>
            </a:extLst>
          </p:cNvPr>
          <p:cNvSpPr txBox="1"/>
          <p:nvPr/>
        </p:nvSpPr>
        <p:spPr>
          <a:xfrm>
            <a:off x="463733" y="1497739"/>
            <a:ext cx="17415668" cy="1331134"/>
          </a:xfrm>
          <a:prstGeom prst="rect">
            <a:avLst/>
          </a:prstGeom>
          <a:noFill/>
        </p:spPr>
        <p:txBody>
          <a:bodyPr wrap="square" rtlCol="0">
            <a:spAutoFit/>
          </a:bodyPr>
          <a:lstStyle/>
          <a:p>
            <a:pPr>
              <a:lnSpc>
                <a:spcPct val="150000"/>
              </a:lnSpc>
            </a:pPr>
            <a:r>
              <a:rPr lang="ja-JP" altLang="en-US" sz="2800">
                <a:latin typeface="メイリオ" panose="020B0604030504040204" pitchFamily="50" charset="-128"/>
                <a:ea typeface="メイリオ" panose="020B0604030504040204" pitchFamily="50" charset="-128"/>
              </a:rPr>
              <a:t>２．監視対象</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監視対象は以下を想定しています。</a:t>
            </a:r>
            <a:endParaRPr lang="en-US" altLang="ja-JP" sz="280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62407623-99AC-8408-73E5-9710F4C903E8}"/>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17BE5F9B-1706-C973-7C49-A2FA2C8CFC17}"/>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graphicFrame>
        <p:nvGraphicFramePr>
          <p:cNvPr id="8" name="表 7">
            <a:extLst>
              <a:ext uri="{FF2B5EF4-FFF2-40B4-BE49-F238E27FC236}">
                <a16:creationId xmlns:a16="http://schemas.microsoft.com/office/drawing/2014/main" id="{28DA5E5E-946A-4242-82D2-52EB4480B307}"/>
              </a:ext>
            </a:extLst>
          </p:cNvPr>
          <p:cNvGraphicFramePr>
            <a:graphicFrameLocks noGrp="1"/>
          </p:cNvGraphicFramePr>
          <p:nvPr/>
        </p:nvGraphicFramePr>
        <p:xfrm>
          <a:off x="531827" y="2828873"/>
          <a:ext cx="17348399" cy="7045960"/>
        </p:xfrm>
        <a:graphic>
          <a:graphicData uri="http://schemas.openxmlformats.org/drawingml/2006/table">
            <a:tbl>
              <a:tblPr firstRow="1" bandRow="1">
                <a:tableStyleId>{5C22544A-7EE6-4342-B048-85BDC9FD1C3A}</a:tableStyleId>
              </a:tblPr>
              <a:tblGrid>
                <a:gridCol w="5030351">
                  <a:extLst>
                    <a:ext uri="{9D8B030D-6E8A-4147-A177-3AD203B41FA5}">
                      <a16:colId xmlns:a16="http://schemas.microsoft.com/office/drawing/2014/main" val="1736663384"/>
                    </a:ext>
                  </a:extLst>
                </a:gridCol>
                <a:gridCol w="4674145">
                  <a:extLst>
                    <a:ext uri="{9D8B030D-6E8A-4147-A177-3AD203B41FA5}">
                      <a16:colId xmlns:a16="http://schemas.microsoft.com/office/drawing/2014/main" val="1917415647"/>
                    </a:ext>
                  </a:extLst>
                </a:gridCol>
                <a:gridCol w="7643903">
                  <a:extLst>
                    <a:ext uri="{9D8B030D-6E8A-4147-A177-3AD203B41FA5}">
                      <a16:colId xmlns:a16="http://schemas.microsoft.com/office/drawing/2014/main" val="2387784604"/>
                    </a:ext>
                  </a:extLst>
                </a:gridCol>
              </a:tblGrid>
              <a:tr h="370840">
                <a:tc>
                  <a:txBody>
                    <a:bodyPr/>
                    <a:lstStyle/>
                    <a:p>
                      <a:pPr algn="ctr"/>
                      <a:r>
                        <a:rPr kumimoji="1" lang="ja-JP" altLang="en-US" sz="1700">
                          <a:latin typeface="メイリオ" panose="020B0604030504040204" pitchFamily="50" charset="-128"/>
                          <a:ea typeface="メイリオ" panose="020B0604030504040204" pitchFamily="50" charset="-128"/>
                        </a:rPr>
                        <a:t>区分</a:t>
                      </a:r>
                    </a:p>
                  </a:txBody>
                  <a:tcPr anchor="ctr"/>
                </a:tc>
                <a:tc>
                  <a:txBody>
                    <a:bodyPr/>
                    <a:lstStyle/>
                    <a:p>
                      <a:pPr algn="ctr"/>
                      <a:r>
                        <a:rPr kumimoji="1" lang="ja-JP" altLang="en-US" sz="1700">
                          <a:latin typeface="メイリオ" panose="020B0604030504040204" pitchFamily="50" charset="-128"/>
                          <a:ea typeface="メイリオ" panose="020B0604030504040204" pitchFamily="50" charset="-128"/>
                        </a:rPr>
                        <a:t>項目</a:t>
                      </a:r>
                    </a:p>
                  </a:txBody>
                  <a:tcPr anchor="ctr"/>
                </a:tc>
                <a:tc>
                  <a:txBody>
                    <a:bodyPr/>
                    <a:lstStyle/>
                    <a:p>
                      <a:pPr algn="ctr"/>
                      <a:r>
                        <a:rPr kumimoji="1" lang="ja-JP" altLang="en-US" sz="1700">
                          <a:latin typeface="メイリオ" panose="020B0604030504040204" pitchFamily="50" charset="-128"/>
                          <a:ea typeface="メイリオ" panose="020B0604030504040204" pitchFamily="50" charset="-128"/>
                        </a:rPr>
                        <a:t>目的・用途</a:t>
                      </a:r>
                    </a:p>
                  </a:txBody>
                  <a:tcPr anchor="ctr"/>
                </a:tc>
                <a:extLst>
                  <a:ext uri="{0D108BD9-81ED-4DB2-BD59-A6C34878D82A}">
                    <a16:rowId xmlns:a16="http://schemas.microsoft.com/office/drawing/2014/main" val="236526664"/>
                  </a:ext>
                </a:extLst>
              </a:tr>
              <a:tr h="370840">
                <a:tc rowSpan="7">
                  <a:txBody>
                    <a:bodyPr/>
                    <a:lstStyle/>
                    <a:p>
                      <a:r>
                        <a:rPr kumimoji="1" lang="ja-JP" altLang="en-US" sz="1700" kern="1200">
                          <a:solidFill>
                            <a:schemeClr val="dk1"/>
                          </a:solidFill>
                          <a:latin typeface="メイリオ" panose="020B0604030504040204" pitchFamily="50" charset="-128"/>
                          <a:ea typeface="メイリオ" panose="020B0604030504040204" pitchFamily="50" charset="-128"/>
                        </a:rPr>
                        <a:t>インフラ</a:t>
                      </a:r>
                      <a:endParaRPr kumimoji="1" lang="ja-JP" altLang="en-US" sz="1700" kern="1200">
                        <a:solidFill>
                          <a:schemeClr val="dk1"/>
                        </a:solidFill>
                        <a:latin typeface="メイリオ" panose="020B0604030504040204" pitchFamily="50" charset="-128"/>
                        <a:ea typeface="メイリオ" panose="020B0604030504040204" pitchFamily="50" charset="-128"/>
                        <a:cs typeface="+mn-cs"/>
                      </a:endParaRPr>
                    </a:p>
                  </a:txBody>
                  <a:tcPr/>
                </a:tc>
                <a:tc>
                  <a:txBody>
                    <a:bodyPr/>
                    <a:lstStyle/>
                    <a:p>
                      <a:r>
                        <a:rPr kumimoji="1" lang="ja-JP" altLang="en-US" sz="1700">
                          <a:latin typeface="メイリオ" panose="020B0604030504040204" pitchFamily="50" charset="-128"/>
                          <a:ea typeface="メイリオ" panose="020B0604030504040204" pitchFamily="50" charset="-128"/>
                        </a:rPr>
                        <a:t>死活監視</a:t>
                      </a:r>
                      <a:endParaRPr kumimoji="1" lang="en-US" altLang="ja-JP" sz="1700">
                        <a:latin typeface="メイリオ" panose="020B0604030504040204" pitchFamily="50" charset="-128"/>
                        <a:ea typeface="メイリオ" panose="020B0604030504040204" pitchFamily="50" charset="-128"/>
                      </a:endParaRPr>
                    </a:p>
                  </a:txBody>
                  <a:tcPr/>
                </a:tc>
                <a:tc rowSpan="7">
                  <a:txBody>
                    <a:bodyPr/>
                    <a:lstStyle/>
                    <a:p>
                      <a:r>
                        <a:rPr kumimoji="1" lang="ja-JP" altLang="en-US" sz="1700">
                          <a:latin typeface="メイリオ" panose="020B0604030504040204" pitchFamily="50" charset="-128"/>
                          <a:ea typeface="メイリオ" panose="020B0604030504040204" pitchFamily="50" charset="-128"/>
                        </a:rPr>
                        <a:t>稼働状況の把握 および 性能劣化や停止などを早期検知し、</a:t>
                      </a:r>
                      <a:endParaRPr kumimoji="1" lang="en-US" altLang="ja-JP" sz="1700">
                        <a:latin typeface="メイリオ" panose="020B0604030504040204" pitchFamily="50" charset="-128"/>
                        <a:ea typeface="メイリオ" panose="020B0604030504040204" pitchFamily="50" charset="-128"/>
                      </a:endParaRPr>
                    </a:p>
                    <a:p>
                      <a:r>
                        <a:rPr kumimoji="1" lang="ja-JP" altLang="en-US" sz="1700">
                          <a:latin typeface="メイリオ" panose="020B0604030504040204" pitchFamily="50" charset="-128"/>
                          <a:ea typeface="メイリオ" panose="020B0604030504040204" pitchFamily="50" charset="-128"/>
                        </a:rPr>
                        <a:t>異常検知時の迅速な対応と、リソース最適化の判断に活用</a:t>
                      </a:r>
                    </a:p>
                  </a:txBody>
                  <a:tcPr/>
                </a:tc>
                <a:extLst>
                  <a:ext uri="{0D108BD9-81ED-4DB2-BD59-A6C34878D82A}">
                    <a16:rowId xmlns:a16="http://schemas.microsoft.com/office/drawing/2014/main" val="1762256436"/>
                  </a:ext>
                </a:extLst>
              </a:tr>
              <a:tr h="370840">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tc>
                  <a:txBody>
                    <a:bodyPr/>
                    <a:lstStyle/>
                    <a:p>
                      <a:r>
                        <a:rPr kumimoji="1" lang="en-US" altLang="ja-JP" sz="1700">
                          <a:latin typeface="メイリオ" panose="020B0604030504040204" pitchFamily="50" charset="-128"/>
                          <a:ea typeface="メイリオ" panose="020B0604030504040204" pitchFamily="50" charset="-128"/>
                        </a:rPr>
                        <a:t>OCI</a:t>
                      </a:r>
                      <a:r>
                        <a:rPr kumimoji="1" lang="ja-JP" altLang="en-US" sz="1700">
                          <a:latin typeface="メイリオ" panose="020B0604030504040204" pitchFamily="50" charset="-128"/>
                          <a:ea typeface="メイリオ" panose="020B0604030504040204" pitchFamily="50" charset="-128"/>
                        </a:rPr>
                        <a:t>上の</a:t>
                      </a:r>
                      <a:r>
                        <a:rPr kumimoji="1" lang="en-US" altLang="ja-JP" sz="1700">
                          <a:latin typeface="メイリオ" panose="020B0604030504040204" pitchFamily="50" charset="-128"/>
                          <a:ea typeface="メイリオ" panose="020B0604030504040204" pitchFamily="50" charset="-128"/>
                        </a:rPr>
                        <a:t>API</a:t>
                      </a:r>
                      <a:r>
                        <a:rPr kumimoji="1" lang="ja-JP" altLang="en-US" sz="1700">
                          <a:latin typeface="メイリオ" panose="020B0604030504040204" pitchFamily="50" charset="-128"/>
                          <a:ea typeface="メイリオ" panose="020B0604030504040204" pitchFamily="50" charset="-128"/>
                        </a:rPr>
                        <a:t>メトリクス</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681864196"/>
                  </a:ext>
                </a:extLst>
              </a:tr>
              <a:tr h="370840">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tc>
                  <a:txBody>
                    <a:bodyPr/>
                    <a:lstStyle/>
                    <a:p>
                      <a:r>
                        <a:rPr kumimoji="1" lang="en-US" altLang="ja-JP" sz="1700">
                          <a:latin typeface="メイリオ" panose="020B0604030504040204" pitchFamily="50" charset="-128"/>
                          <a:ea typeface="メイリオ" panose="020B0604030504040204" pitchFamily="50" charset="-128"/>
                        </a:rPr>
                        <a:t>CPU</a:t>
                      </a:r>
                      <a:r>
                        <a:rPr kumimoji="1" lang="ja-JP" altLang="en-US" sz="1700">
                          <a:latin typeface="メイリオ" panose="020B0604030504040204" pitchFamily="50" charset="-128"/>
                          <a:ea typeface="メイリオ" panose="020B0604030504040204" pitchFamily="50" charset="-128"/>
                        </a:rPr>
                        <a:t>使用率</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931497883"/>
                  </a:ext>
                </a:extLst>
              </a:tr>
              <a:tr h="370840">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メモリ使用率</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41134925"/>
                  </a:ext>
                </a:extLst>
              </a:tr>
              <a:tr h="370840">
                <a:tc vMerge="1">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レスポンスタイム</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670667907"/>
                  </a:ext>
                </a:extLst>
              </a:tr>
              <a:tr h="370840">
                <a:tc vMerge="1">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稼働台数</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938743777"/>
                  </a:ext>
                </a:extLst>
              </a:tr>
              <a:tr h="370840">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データ容量</a:t>
                      </a:r>
                      <a:endParaRPr kumimoji="1" lang="en-US" altLang="ja-JP" sz="1700">
                        <a:latin typeface="メイリオ" panose="020B0604030504040204" pitchFamily="50" charset="-128"/>
                        <a:ea typeface="メイリオ" panose="020B0604030504040204" pitchFamily="50" charset="-128"/>
                      </a:endParaRPr>
                    </a:p>
                  </a:txBody>
                  <a:tcPr/>
                </a:tc>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534048811"/>
                  </a:ext>
                </a:extLst>
              </a:tr>
              <a:tr h="370840">
                <a:tc rowSpan="4">
                  <a:txBody>
                    <a:bodyPr/>
                    <a:lstStyle/>
                    <a:p>
                      <a:r>
                        <a:rPr kumimoji="1" lang="ja-JP" altLang="en-US" sz="1700">
                          <a:latin typeface="メイリオ" panose="020B0604030504040204" pitchFamily="50" charset="-128"/>
                          <a:ea typeface="メイリオ" panose="020B0604030504040204" pitchFamily="50" charset="-128"/>
                        </a:rPr>
                        <a:t>アプリケーション</a:t>
                      </a:r>
                    </a:p>
                  </a:txBody>
                  <a:tcPr/>
                </a:tc>
                <a:tc>
                  <a:txBody>
                    <a:bodyPr/>
                    <a:lstStyle/>
                    <a:p>
                      <a:r>
                        <a:rPr kumimoji="1" lang="ja-JP" altLang="en-US" sz="1700">
                          <a:latin typeface="メイリオ" panose="020B0604030504040204" pitchFamily="50" charset="-128"/>
                          <a:ea typeface="メイリオ" panose="020B0604030504040204" pitchFamily="50" charset="-128"/>
                        </a:rPr>
                        <a:t>アプリケーションエラー</a:t>
                      </a:r>
                    </a:p>
                  </a:txBody>
                  <a:tcPr/>
                </a:tc>
                <a:tc rowSpan="4">
                  <a:txBody>
                    <a:bodyPr/>
                    <a:lstStyle/>
                    <a:p>
                      <a:r>
                        <a:rPr kumimoji="1" lang="ja-JP" altLang="en-US" sz="1700">
                          <a:latin typeface="メイリオ" panose="020B0604030504040204" pitchFamily="50" charset="-128"/>
                          <a:ea typeface="メイリオ" panose="020B0604030504040204" pitchFamily="50" charset="-128"/>
                        </a:rPr>
                        <a:t>処理異常や連携エラーなどを検知し、</a:t>
                      </a:r>
                      <a:endParaRPr kumimoji="1" lang="en-US" altLang="ja-JP" sz="1700">
                        <a:latin typeface="メイリオ" panose="020B0604030504040204" pitchFamily="50" charset="-128"/>
                        <a:ea typeface="メイリオ" panose="020B0604030504040204" pitchFamily="50" charset="-128"/>
                      </a:endParaRPr>
                    </a:p>
                    <a:p>
                      <a:r>
                        <a:rPr kumimoji="1" lang="ja-JP" altLang="en-US" sz="1700">
                          <a:latin typeface="メイリオ" panose="020B0604030504040204" pitchFamily="50" charset="-128"/>
                          <a:ea typeface="メイリオ" panose="020B0604030504040204" pitchFamily="50" charset="-128"/>
                        </a:rPr>
                        <a:t>エラー発生時の通知と対応 および 改善分析に活用</a:t>
                      </a:r>
                    </a:p>
                  </a:txBody>
                  <a:tcPr/>
                </a:tc>
                <a:extLst>
                  <a:ext uri="{0D108BD9-81ED-4DB2-BD59-A6C34878D82A}">
                    <a16:rowId xmlns:a16="http://schemas.microsoft.com/office/drawing/2014/main" val="113108076"/>
                  </a:ext>
                </a:extLst>
              </a:tr>
              <a:tr h="370840">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バッチ処理</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250814848"/>
                  </a:ext>
                </a:extLst>
              </a:tr>
              <a:tr h="370840">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外部</a:t>
                      </a:r>
                      <a:r>
                        <a:rPr kumimoji="1" lang="en-US" altLang="ja-JP" sz="1700">
                          <a:latin typeface="メイリオ" panose="020B0604030504040204" pitchFamily="50" charset="-128"/>
                          <a:ea typeface="メイリオ" panose="020B0604030504040204" pitchFamily="50" charset="-128"/>
                        </a:rPr>
                        <a:t>API</a:t>
                      </a:r>
                      <a:r>
                        <a:rPr kumimoji="1" lang="ja-JP" altLang="en-US" sz="1700">
                          <a:latin typeface="メイリオ" panose="020B0604030504040204" pitchFamily="50" charset="-128"/>
                          <a:ea typeface="メイリオ" panose="020B0604030504040204" pitchFamily="50" charset="-128"/>
                        </a:rPr>
                        <a:t>連携の処理状況</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55115607"/>
                  </a:ext>
                </a:extLst>
              </a:tr>
              <a:tr h="370840">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サービス死活監視</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89445772"/>
                  </a:ext>
                </a:extLst>
              </a:tr>
              <a:tr h="370840">
                <a:tc rowSpan="4">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1700">
                          <a:latin typeface="メイリオ" panose="020B0604030504040204" pitchFamily="50" charset="-128"/>
                          <a:ea typeface="メイリオ" panose="020B0604030504040204" pitchFamily="50" charset="-128"/>
                        </a:rPr>
                        <a:t>データベース</a:t>
                      </a:r>
                      <a:endParaRPr kumimoji="1" lang="en-US" altLang="ja-JP" sz="17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テーブルデータの整合性チェック</a:t>
                      </a:r>
                    </a:p>
                  </a:txBody>
                  <a:tcPr/>
                </a:tc>
                <a:tc rowSpan="4">
                  <a:txBody>
                    <a:bodyPr/>
                    <a:lstStyle/>
                    <a:p>
                      <a:r>
                        <a:rPr kumimoji="1" lang="ja-JP" altLang="en-US" sz="1700">
                          <a:latin typeface="メイリオ" panose="020B0604030504040204" pitchFamily="50" charset="-128"/>
                          <a:ea typeface="メイリオ" panose="020B0604030504040204" pitchFamily="50" charset="-128"/>
                        </a:rPr>
                        <a:t>データの整合性や異常データの有無、採番エラーなどを検知し、</a:t>
                      </a:r>
                      <a:endParaRPr kumimoji="1" lang="en-US" altLang="ja-JP" sz="1700">
                        <a:latin typeface="メイリオ" panose="020B0604030504040204" pitchFamily="50" charset="-128"/>
                        <a:ea typeface="メイリオ" panose="020B0604030504040204" pitchFamily="50" charset="-128"/>
                      </a:endParaRPr>
                    </a:p>
                    <a:p>
                      <a:r>
                        <a:rPr kumimoji="1" lang="ja-JP" altLang="en-US" sz="1700">
                          <a:latin typeface="メイリオ" panose="020B0604030504040204" pitchFamily="50" charset="-128"/>
                          <a:ea typeface="メイリオ" panose="020B0604030504040204" pitchFamily="50" charset="-128"/>
                        </a:rPr>
                        <a:t>異常検知時の修正対応と、改善分析に活用</a:t>
                      </a:r>
                    </a:p>
                  </a:txBody>
                  <a:tcPr/>
                </a:tc>
                <a:extLst>
                  <a:ext uri="{0D108BD9-81ED-4DB2-BD59-A6C34878D82A}">
                    <a16:rowId xmlns:a16="http://schemas.microsoft.com/office/drawing/2014/main" val="3075654345"/>
                  </a:ext>
                </a:extLst>
              </a:tr>
              <a:tr h="370840">
                <a:tc vMerge="1">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件数</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4434165"/>
                  </a:ext>
                </a:extLst>
              </a:tr>
              <a:tr h="370840">
                <a:tc vMerge="1">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異常データの発生有無</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72097685"/>
                  </a:ext>
                </a:extLst>
              </a:tr>
              <a:tr h="370840">
                <a:tc vMerge="1">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シーケンス監視</a:t>
                      </a:r>
                    </a:p>
                  </a:txBody>
                  <a:tcPr/>
                </a:tc>
                <a:tc vMerge="1">
                  <a:txBody>
                    <a:bodyPr/>
                    <a:lstStyle/>
                    <a:p>
                      <a:endParaRPr kumimoji="1" lang="ja-JP" altLang="en-US"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843525352"/>
                  </a:ext>
                </a:extLst>
              </a:tr>
              <a:tr h="370840">
                <a:tc rowSpan="3">
                  <a:txBody>
                    <a:bodyPr/>
                    <a:lstStyle/>
                    <a:p>
                      <a:r>
                        <a:rPr kumimoji="1" lang="ja-JP" altLang="en-US" sz="1700">
                          <a:latin typeface="メイリオ" panose="020B0604030504040204" pitchFamily="50" charset="-128"/>
                          <a:ea typeface="メイリオ" panose="020B0604030504040204" pitchFamily="50" charset="-128"/>
                        </a:rPr>
                        <a:t>ネットワーク</a:t>
                      </a:r>
                      <a:endParaRPr kumimoji="1" lang="en-US" altLang="ja-JP" sz="17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通信状態</a:t>
                      </a:r>
                    </a:p>
                  </a:txBody>
                  <a:tcPr/>
                </a:tc>
                <a:tc rowSpan="3">
                  <a:txBody>
                    <a:bodyPr/>
                    <a:lstStyle/>
                    <a:p>
                      <a:r>
                        <a:rPr kumimoji="1" lang="ja-JP" altLang="en-US" sz="1700">
                          <a:latin typeface="メイリオ" panose="020B0604030504040204" pitchFamily="50" charset="-128"/>
                          <a:ea typeface="メイリオ" panose="020B0604030504040204" pitchFamily="50" charset="-128"/>
                        </a:rPr>
                        <a:t>遅延の検知 および 接続障害を把握し、</a:t>
                      </a:r>
                      <a:endParaRPr kumimoji="1" lang="en-US" altLang="ja-JP" sz="1700">
                        <a:latin typeface="メイリオ" panose="020B0604030504040204" pitchFamily="50" charset="-128"/>
                        <a:ea typeface="メイリオ" panose="020B0604030504040204" pitchFamily="50" charset="-128"/>
                      </a:endParaRPr>
                    </a:p>
                    <a:p>
                      <a:r>
                        <a:rPr kumimoji="1" lang="ja-JP" altLang="en-US" sz="1700">
                          <a:latin typeface="メイリオ" panose="020B0604030504040204" pitchFamily="50" charset="-128"/>
                          <a:ea typeface="メイリオ" panose="020B0604030504040204" pitchFamily="50" charset="-128"/>
                        </a:rPr>
                        <a:t>原因特定および改善分析に活用</a:t>
                      </a:r>
                      <a:endParaRPr kumimoji="1" lang="en-US" altLang="ja-JP" sz="17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826339763"/>
                  </a:ext>
                </a:extLst>
              </a:tr>
              <a:tr h="370840">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en-US" altLang="ja-JP" sz="1700">
                          <a:latin typeface="メイリオ" panose="020B0604030504040204" pitchFamily="50" charset="-128"/>
                          <a:ea typeface="メイリオ" panose="020B0604030504040204" pitchFamily="50" charset="-128"/>
                        </a:rPr>
                        <a:t>API</a:t>
                      </a:r>
                      <a:r>
                        <a:rPr kumimoji="1" lang="ja-JP" altLang="en-US" sz="1700">
                          <a:latin typeface="メイリオ" panose="020B0604030504040204" pitchFamily="50" charset="-128"/>
                          <a:ea typeface="メイリオ" panose="020B0604030504040204" pitchFamily="50" charset="-128"/>
                        </a:rPr>
                        <a:t>疎通</a:t>
                      </a:r>
                    </a:p>
                  </a:txBody>
                  <a:tcPr/>
                </a:tc>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16219683"/>
                  </a:ext>
                </a:extLst>
              </a:tr>
              <a:tr h="370840">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tc>
                  <a:txBody>
                    <a:bodyPr/>
                    <a:lstStyle/>
                    <a:p>
                      <a:r>
                        <a:rPr kumimoji="1" lang="ja-JP" altLang="en-US" sz="1700">
                          <a:latin typeface="メイリオ" panose="020B0604030504040204" pitchFamily="50" charset="-128"/>
                          <a:ea typeface="メイリオ" panose="020B0604030504040204" pitchFamily="50" charset="-128"/>
                        </a:rPr>
                        <a:t>遅延の有無</a:t>
                      </a:r>
                    </a:p>
                  </a:txBody>
                  <a:tcPr/>
                </a:tc>
                <a:tc vMerge="1">
                  <a:txBody>
                    <a:bodyPr/>
                    <a:lstStyle/>
                    <a:p>
                      <a:endParaRPr kumimoji="1" lang="en-US" altLang="ja-JP" sz="20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359780604"/>
                  </a:ext>
                </a:extLst>
              </a:tr>
            </a:tbl>
          </a:graphicData>
        </a:graphic>
      </p:graphicFrame>
    </p:spTree>
    <p:extLst>
      <p:ext uri="{BB962C8B-B14F-4D97-AF65-F5344CB8AC3E}">
        <p14:creationId xmlns:p14="http://schemas.microsoft.com/office/powerpoint/2010/main" val="347369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a:t>
            </a:r>
            <a:r>
              <a:rPr lang="en-US" altLang="ja-JP" dirty="0"/>
              <a:t>8</a:t>
            </a:r>
            <a:r>
              <a:rPr lang="ja-JP" altLang="en-US" dirty="0"/>
              <a:t>．運用監視（３）</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46</a:t>
            </a:fld>
            <a:endParaRPr lang="ja-JP" altLang="en-US"/>
          </a:p>
        </p:txBody>
      </p:sp>
      <p:sp>
        <p:nvSpPr>
          <p:cNvPr id="6" name="テキスト ボックス 5">
            <a:extLst>
              <a:ext uri="{FF2B5EF4-FFF2-40B4-BE49-F238E27FC236}">
                <a16:creationId xmlns:a16="http://schemas.microsoft.com/office/drawing/2014/main" id="{DB2A4EDE-B797-450A-6251-875E704B9DC8}"/>
              </a:ext>
            </a:extLst>
          </p:cNvPr>
          <p:cNvSpPr txBox="1"/>
          <p:nvPr/>
        </p:nvSpPr>
        <p:spPr>
          <a:xfrm>
            <a:off x="463733" y="1497739"/>
            <a:ext cx="17415668" cy="4562788"/>
          </a:xfrm>
          <a:prstGeom prst="rect">
            <a:avLst/>
          </a:prstGeom>
          <a:noFill/>
        </p:spPr>
        <p:txBody>
          <a:bodyPr wrap="square" rtlCol="0">
            <a:spAutoFit/>
          </a:bodyPr>
          <a:lstStyle/>
          <a:p>
            <a:pPr>
              <a:lnSpc>
                <a:spcPct val="150000"/>
              </a:lnSpc>
            </a:pPr>
            <a:r>
              <a:rPr lang="ja-JP" altLang="en-US" sz="2800">
                <a:latin typeface="メイリオ" panose="020B0604030504040204" pitchFamily="50" charset="-128"/>
                <a:ea typeface="メイリオ" panose="020B0604030504040204" pitchFamily="50" charset="-128"/>
              </a:rPr>
              <a:t>３．監視の基本フロー</a:t>
            </a: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　①</a:t>
            </a:r>
            <a:r>
              <a:rPr lang="zh-TW" altLang="en-US" sz="2800">
                <a:latin typeface="メイリオ" panose="020B0604030504040204" pitchFamily="50" charset="-128"/>
                <a:ea typeface="メイリオ" panose="020B0604030504040204" pitchFamily="50" charset="-128"/>
              </a:rPr>
              <a:t>監視 → 異常検知</a:t>
            </a:r>
            <a:endParaRPr lang="en-US" altLang="zh-TW"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　　各種項目を監視し、各定義内容に沿って検知（定義内容は別途検討します。）</a:t>
            </a: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　②自動通知</a:t>
            </a: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　　異常検知時、関係者にメール等で自動通知</a:t>
            </a: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　③開発ベンダーの対応と報告</a:t>
            </a: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　　状況確認 および 対応を実施し、必要に応じて報告</a:t>
            </a:r>
            <a:endParaRPr lang="en-US" altLang="ja-JP" sz="280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62407623-99AC-8408-73E5-9710F4C903E8}"/>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17BE5F9B-1706-C973-7C49-A2FA2C8CFC17}"/>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1117378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7B448-476A-C1CE-A2F7-587CFB2AC2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1B50CC-C899-4B2C-4041-6801D97E5D5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a:t>
            </a:r>
            <a:r>
              <a:rPr lang="en-US" altLang="ja-JP" dirty="0"/>
              <a:t>9</a:t>
            </a:r>
            <a:r>
              <a:rPr lang="ja-JP" altLang="en-US" dirty="0"/>
              <a:t>．設計書ラインナップ</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E39CC8B-17B0-B561-6A4E-EC6737DEF63B}"/>
              </a:ext>
            </a:extLst>
          </p:cNvPr>
          <p:cNvSpPr>
            <a:spLocks noGrp="1"/>
          </p:cNvSpPr>
          <p:nvPr>
            <p:ph type="sldNum" sz="quarter" idx="12"/>
          </p:nvPr>
        </p:nvSpPr>
        <p:spPr/>
        <p:txBody>
          <a:bodyPr/>
          <a:lstStyle/>
          <a:p>
            <a:fld id="{2A9E37A5-A917-4235-ABF6-8CD72E894915}" type="slidenum">
              <a:rPr lang="en-US" altLang="ja-JP" smtClean="0"/>
              <a:pPr/>
              <a:t>47</a:t>
            </a:fld>
            <a:endParaRPr lang="ja-JP" altLang="en-US"/>
          </a:p>
        </p:txBody>
      </p:sp>
      <p:sp>
        <p:nvSpPr>
          <p:cNvPr id="6" name="テキスト ボックス 5">
            <a:extLst>
              <a:ext uri="{FF2B5EF4-FFF2-40B4-BE49-F238E27FC236}">
                <a16:creationId xmlns:a16="http://schemas.microsoft.com/office/drawing/2014/main" id="{BFB9675D-2B16-ED3B-6D93-3F2F8D95FA87}"/>
              </a:ext>
            </a:extLst>
          </p:cNvPr>
          <p:cNvSpPr txBox="1"/>
          <p:nvPr/>
        </p:nvSpPr>
        <p:spPr>
          <a:xfrm>
            <a:off x="463732" y="1268416"/>
            <a:ext cx="17415668" cy="684803"/>
          </a:xfrm>
          <a:prstGeom prst="rect">
            <a:avLst/>
          </a:prstGeom>
          <a:noFill/>
        </p:spPr>
        <p:txBody>
          <a:bodyPr wrap="square"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基本設計書の構成</a:t>
            </a:r>
            <a:endParaRPr lang="en-US" altLang="ja-JP" sz="2800" dirty="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9C409DE2-C199-D7D0-8794-F1B661F5EDBE}"/>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1E501F15-E34B-C3AA-5AFB-689ED78077DC}"/>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graphicFrame>
        <p:nvGraphicFramePr>
          <p:cNvPr id="8" name="表 7">
            <a:extLst>
              <a:ext uri="{FF2B5EF4-FFF2-40B4-BE49-F238E27FC236}">
                <a16:creationId xmlns:a16="http://schemas.microsoft.com/office/drawing/2014/main" id="{D93B7C12-EF47-AB92-5B60-25A01C9DE25D}"/>
              </a:ext>
            </a:extLst>
          </p:cNvPr>
          <p:cNvGraphicFramePr>
            <a:graphicFrameLocks noGrp="1"/>
          </p:cNvGraphicFramePr>
          <p:nvPr>
            <p:extLst>
              <p:ext uri="{D42A27DB-BD31-4B8C-83A1-F6EECF244321}">
                <p14:modId xmlns:p14="http://schemas.microsoft.com/office/powerpoint/2010/main" val="1907701731"/>
              </p:ext>
            </p:extLst>
          </p:nvPr>
        </p:nvGraphicFramePr>
        <p:xfrm>
          <a:off x="1158240" y="1920569"/>
          <a:ext cx="16532352" cy="3566160"/>
        </p:xfrm>
        <a:graphic>
          <a:graphicData uri="http://schemas.openxmlformats.org/drawingml/2006/table">
            <a:tbl>
              <a:tblPr firstRow="1" bandRow="1">
                <a:tableStyleId>{5C22544A-7EE6-4342-B048-85BDC9FD1C3A}</a:tableStyleId>
              </a:tblPr>
              <a:tblGrid>
                <a:gridCol w="3438144">
                  <a:extLst>
                    <a:ext uri="{9D8B030D-6E8A-4147-A177-3AD203B41FA5}">
                      <a16:colId xmlns:a16="http://schemas.microsoft.com/office/drawing/2014/main" val="854145237"/>
                    </a:ext>
                  </a:extLst>
                </a:gridCol>
                <a:gridCol w="13094208">
                  <a:extLst>
                    <a:ext uri="{9D8B030D-6E8A-4147-A177-3AD203B41FA5}">
                      <a16:colId xmlns:a16="http://schemas.microsoft.com/office/drawing/2014/main" val="3247824987"/>
                    </a:ext>
                  </a:extLst>
                </a:gridCol>
              </a:tblGrid>
              <a:tr h="0">
                <a:tc>
                  <a:txBody>
                    <a:bodyPr/>
                    <a:lstStyle/>
                    <a:p>
                      <a:r>
                        <a:rPr kumimoji="1" lang="ja-JP" altLang="en-US" dirty="0"/>
                        <a:t>全体で作成するドキュメント</a:t>
                      </a:r>
                    </a:p>
                  </a:txBody>
                  <a:tcPr/>
                </a:tc>
                <a:tc>
                  <a:txBody>
                    <a:bodyPr/>
                    <a:lstStyle/>
                    <a:p>
                      <a:endParaRPr kumimoji="1" lang="ja-JP" altLang="en-US" dirty="0"/>
                    </a:p>
                  </a:txBody>
                  <a:tcPr/>
                </a:tc>
                <a:extLst>
                  <a:ext uri="{0D108BD9-81ED-4DB2-BD59-A6C34878D82A}">
                    <a16:rowId xmlns:a16="http://schemas.microsoft.com/office/drawing/2014/main" val="3954268341"/>
                  </a:ext>
                </a:extLst>
              </a:tr>
              <a:tr h="370840">
                <a:tc>
                  <a:txBody>
                    <a:bodyPr/>
                    <a:lstStyle/>
                    <a:p>
                      <a:r>
                        <a:rPr kumimoji="1" lang="ja-JP" altLang="en-US" dirty="0"/>
                        <a:t>全体基本設計書</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システム化の目的、</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アーキテクチャー、</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システム全体構成図、</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業務一覧、</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業務フロー（開店から精算の大まかな流れだけ）、データライフサイクル、</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外部インターフェース概要、対応要件、</a:t>
                      </a:r>
                      <a:r>
                        <a:rPr kumimoji="1" lang="ja-JP" altLang="en-US" sz="2700" kern="1200" dirty="0">
                          <a:solidFill>
                            <a:schemeClr val="dk1"/>
                          </a:solidFill>
                          <a:effectLst/>
                          <a:latin typeface="+mn-lt"/>
                          <a:ea typeface="+mn-ea"/>
                          <a:cs typeface="+mn-cs"/>
                        </a:rPr>
                        <a:t>◎メニュー一覧（メニューごとの</a:t>
                      </a:r>
                      <a:r>
                        <a:rPr kumimoji="1" lang="ja-JP" altLang="ja-JP" sz="2700" kern="1200" dirty="0">
                          <a:solidFill>
                            <a:schemeClr val="dk1"/>
                          </a:solidFill>
                          <a:effectLst/>
                          <a:latin typeface="+mn-lt"/>
                          <a:ea typeface="+mn-ea"/>
                          <a:cs typeface="+mn-cs"/>
                        </a:rPr>
                        <a:t>機能概要</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a:t>
                      </a:r>
                      <a:br>
                        <a:rPr kumimoji="1" lang="en-US" altLang="ja-JP" sz="2700" kern="1200" dirty="0">
                          <a:solidFill>
                            <a:schemeClr val="dk1"/>
                          </a:solidFill>
                          <a:effectLst/>
                          <a:latin typeface="+mn-lt"/>
                          <a:ea typeface="+mn-ea"/>
                          <a:cs typeface="+mn-cs"/>
                        </a:rPr>
                      </a:b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データ想定件数一覧、</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非機能要件一覧、</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性能要件、</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セキュリティ方式、</a:t>
                      </a:r>
                      <a:endParaRPr kumimoji="1" lang="en-US" altLang="ja-JP" sz="2700" kern="1200" dirty="0">
                        <a:solidFill>
                          <a:schemeClr val="dk1"/>
                        </a:solidFill>
                        <a:effectLst/>
                        <a:latin typeface="+mn-lt"/>
                        <a:ea typeface="+mn-ea"/>
                        <a:cs typeface="+mn-cs"/>
                      </a:endParaRP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導入スケジュール、</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役割分担表</a:t>
                      </a:r>
                    </a:p>
                  </a:txBody>
                  <a:tcPr/>
                </a:tc>
                <a:extLst>
                  <a:ext uri="{0D108BD9-81ED-4DB2-BD59-A6C34878D82A}">
                    <a16:rowId xmlns:a16="http://schemas.microsoft.com/office/drawing/2014/main" val="3840579014"/>
                  </a:ext>
                </a:extLst>
              </a:tr>
              <a:tr h="370840">
                <a:tc>
                  <a:txBody>
                    <a:bodyPr/>
                    <a:lstStyle/>
                    <a:p>
                      <a:r>
                        <a:rPr kumimoji="1" lang="ja-JP" altLang="en-US" sz="2700" kern="1200" dirty="0">
                          <a:solidFill>
                            <a:schemeClr val="dk1"/>
                          </a:solidFill>
                          <a:effectLst/>
                          <a:latin typeface="+mn-lt"/>
                          <a:ea typeface="+mn-ea"/>
                          <a:cs typeface="+mn-cs"/>
                        </a:rPr>
                        <a:t>メッセージ一覧</a:t>
                      </a:r>
                      <a:endParaRPr kumimoji="1" lang="ja-JP" altLang="ja-JP" sz="2700" kern="1200" dirty="0">
                        <a:solidFill>
                          <a:schemeClr val="dk1"/>
                        </a:solidFill>
                        <a:effectLst/>
                        <a:latin typeface="+mn-lt"/>
                        <a:ea typeface="+mn-ea"/>
                        <a:cs typeface="+mn-cs"/>
                      </a:endParaRPr>
                    </a:p>
                  </a:txBody>
                  <a:tcPr/>
                </a:tc>
                <a:tc>
                  <a:txBody>
                    <a:bodyPr/>
                    <a:lstStyle/>
                    <a:p>
                      <a:r>
                        <a:rPr kumimoji="1" lang="ja-JP" altLang="en-US" sz="2700" kern="1200" dirty="0">
                          <a:solidFill>
                            <a:schemeClr val="dk1"/>
                          </a:solidFill>
                          <a:effectLst/>
                          <a:latin typeface="+mn-lt"/>
                          <a:ea typeface="+mn-ea"/>
                          <a:cs typeface="+mn-cs"/>
                        </a:rPr>
                        <a:t>ガイドメッセージ、エラーメッセージ、ラベルテキスト等</a:t>
                      </a:r>
                      <a:endParaRPr kumimoji="1" lang="ja-JP" altLang="ja-JP" sz="2700" kern="1200" dirty="0">
                        <a:solidFill>
                          <a:schemeClr val="dk1"/>
                        </a:solidFill>
                        <a:effectLst/>
                        <a:latin typeface="+mn-lt"/>
                        <a:ea typeface="+mn-ea"/>
                        <a:cs typeface="+mn-cs"/>
                      </a:endParaRPr>
                    </a:p>
                  </a:txBody>
                  <a:tcPr/>
                </a:tc>
                <a:extLst>
                  <a:ext uri="{0D108BD9-81ED-4DB2-BD59-A6C34878D82A}">
                    <a16:rowId xmlns:a16="http://schemas.microsoft.com/office/drawing/2014/main" val="1761326403"/>
                  </a:ext>
                </a:extLst>
              </a:tr>
            </a:tbl>
          </a:graphicData>
        </a:graphic>
      </p:graphicFrame>
      <p:graphicFrame>
        <p:nvGraphicFramePr>
          <p:cNvPr id="9" name="表 8">
            <a:extLst>
              <a:ext uri="{FF2B5EF4-FFF2-40B4-BE49-F238E27FC236}">
                <a16:creationId xmlns:a16="http://schemas.microsoft.com/office/drawing/2014/main" id="{DDB26C26-8637-862F-AC48-43EED8D83EAC}"/>
              </a:ext>
            </a:extLst>
          </p:cNvPr>
          <p:cNvGraphicFramePr>
            <a:graphicFrameLocks noGrp="1"/>
          </p:cNvGraphicFramePr>
          <p:nvPr>
            <p:extLst>
              <p:ext uri="{D42A27DB-BD31-4B8C-83A1-F6EECF244321}">
                <p14:modId xmlns:p14="http://schemas.microsoft.com/office/powerpoint/2010/main" val="2959124807"/>
              </p:ext>
            </p:extLst>
          </p:nvPr>
        </p:nvGraphicFramePr>
        <p:xfrm>
          <a:off x="1158240" y="5945374"/>
          <a:ext cx="16532352" cy="4069080"/>
        </p:xfrm>
        <a:graphic>
          <a:graphicData uri="http://schemas.openxmlformats.org/drawingml/2006/table">
            <a:tbl>
              <a:tblPr firstRow="1" bandRow="1">
                <a:tableStyleId>{5C22544A-7EE6-4342-B048-85BDC9FD1C3A}</a:tableStyleId>
              </a:tblPr>
              <a:tblGrid>
                <a:gridCol w="3438144">
                  <a:extLst>
                    <a:ext uri="{9D8B030D-6E8A-4147-A177-3AD203B41FA5}">
                      <a16:colId xmlns:a16="http://schemas.microsoft.com/office/drawing/2014/main" val="854145237"/>
                    </a:ext>
                  </a:extLst>
                </a:gridCol>
                <a:gridCol w="13094208">
                  <a:extLst>
                    <a:ext uri="{9D8B030D-6E8A-4147-A177-3AD203B41FA5}">
                      <a16:colId xmlns:a16="http://schemas.microsoft.com/office/drawing/2014/main" val="3247824987"/>
                    </a:ext>
                  </a:extLst>
                </a:gridCol>
              </a:tblGrid>
              <a:tr h="0">
                <a:tc>
                  <a:txBody>
                    <a:bodyPr/>
                    <a:lstStyle/>
                    <a:p>
                      <a:r>
                        <a:rPr kumimoji="1" lang="ja-JP" altLang="en-US" dirty="0"/>
                        <a:t>共通で作成するドキュメント</a:t>
                      </a:r>
                    </a:p>
                  </a:txBody>
                  <a:tcPr/>
                </a:tc>
                <a:tc>
                  <a:txBody>
                    <a:bodyPr/>
                    <a:lstStyle/>
                    <a:p>
                      <a:endParaRPr kumimoji="1" lang="ja-JP" altLang="en-US" dirty="0"/>
                    </a:p>
                  </a:txBody>
                  <a:tcPr/>
                </a:tc>
                <a:extLst>
                  <a:ext uri="{0D108BD9-81ED-4DB2-BD59-A6C34878D82A}">
                    <a16:rowId xmlns:a16="http://schemas.microsoft.com/office/drawing/2014/main" val="3954268341"/>
                  </a:ext>
                </a:extLst>
              </a:tr>
              <a:tr h="128274">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a:solidFill>
                            <a:schemeClr val="dk1"/>
                          </a:solidFill>
                          <a:effectLst/>
                          <a:latin typeface="+mn-lt"/>
                          <a:ea typeface="+mn-ea"/>
                          <a:cs typeface="+mn-cs"/>
                        </a:rPr>
                        <a:t>画面</a:t>
                      </a:r>
                      <a:r>
                        <a:rPr kumimoji="1" lang="ja-JP" altLang="ja-JP" sz="2700" kern="1200">
                          <a:solidFill>
                            <a:schemeClr val="dk1"/>
                          </a:solidFill>
                          <a:effectLst/>
                          <a:latin typeface="+mn-lt"/>
                          <a:ea typeface="+mn-ea"/>
                          <a:cs typeface="+mn-cs"/>
                        </a:rPr>
                        <a:t>設計書</a:t>
                      </a:r>
                      <a:r>
                        <a:rPr kumimoji="1" lang="en-US" altLang="ja-JP" sz="2700" kern="1200" dirty="0">
                          <a:solidFill>
                            <a:schemeClr val="dk1"/>
                          </a:solidFill>
                          <a:effectLst/>
                          <a:latin typeface="+mn-lt"/>
                          <a:ea typeface="+mn-ea"/>
                          <a:cs typeface="+mn-cs"/>
                        </a:rPr>
                        <a:t>_</a:t>
                      </a:r>
                      <a:r>
                        <a:rPr kumimoji="1" lang="ja-JP" altLang="ja-JP" sz="2700" kern="1200">
                          <a:solidFill>
                            <a:schemeClr val="dk1"/>
                          </a:solidFill>
                          <a:effectLst/>
                          <a:latin typeface="+mn-lt"/>
                          <a:ea typeface="+mn-ea"/>
                          <a:cs typeface="+mn-cs"/>
                        </a:rPr>
                        <a:t>画面</a:t>
                      </a:r>
                      <a:r>
                        <a:rPr kumimoji="1" lang="en-US" altLang="ja-JP" sz="2700" kern="1200">
                          <a:solidFill>
                            <a:schemeClr val="dk1"/>
                          </a:solidFill>
                          <a:effectLst/>
                          <a:latin typeface="+mn-lt"/>
                          <a:ea typeface="+mn-ea"/>
                          <a:cs typeface="+mn-cs"/>
                        </a:rPr>
                        <a:t>ID999999</a:t>
                      </a:r>
                      <a:endParaRPr kumimoji="1" lang="ja-JP" altLang="ja-JP" sz="2700" kern="1200" dirty="0">
                        <a:solidFill>
                          <a:schemeClr val="dk1"/>
                        </a:solidFill>
                        <a:effectLst/>
                        <a:latin typeface="+mn-lt"/>
                        <a:ea typeface="+mn-ea"/>
                        <a:cs typeface="+mn-cs"/>
                      </a:endParaRPr>
                    </a:p>
                    <a:p>
                      <a:endParaRPr kumimoji="1" lang="ja-JP" altLang="ja-JP" sz="2700" kern="1200" dirty="0">
                        <a:solidFill>
                          <a:schemeClr val="dk1"/>
                        </a:solidFill>
                        <a:effectLst/>
                        <a:latin typeface="+mn-lt"/>
                        <a:ea typeface="+mn-ea"/>
                        <a:cs typeface="+mn-cs"/>
                      </a:endParaRPr>
                    </a:p>
                  </a:txBody>
                  <a:tcPr/>
                </a:tc>
                <a:tc>
                  <a:txBody>
                    <a:bodyPr/>
                    <a:lstStyle/>
                    <a:p>
                      <a:r>
                        <a:rPr kumimoji="1" lang="ja-JP" altLang="ja-JP" sz="2700" kern="1200" dirty="0">
                          <a:solidFill>
                            <a:schemeClr val="dk1"/>
                          </a:solidFill>
                          <a:effectLst/>
                          <a:latin typeface="+mn-lt"/>
                          <a:ea typeface="+mn-ea"/>
                          <a:cs typeface="+mn-cs"/>
                        </a:rPr>
                        <a:t>画面設計書</a:t>
                      </a:r>
                      <a:r>
                        <a:rPr kumimoji="1" lang="ja-JP" altLang="en-US" sz="2700" kern="1200" dirty="0">
                          <a:solidFill>
                            <a:schemeClr val="dk1"/>
                          </a:solidFill>
                          <a:effectLst/>
                          <a:latin typeface="+mn-lt"/>
                          <a:ea typeface="+mn-ea"/>
                          <a:cs typeface="+mn-cs"/>
                        </a:rPr>
                        <a:t>、</a:t>
                      </a:r>
                      <a:r>
                        <a:rPr kumimoji="1" lang="ja-JP" altLang="ja-JP" sz="2700" kern="1200" dirty="0">
                          <a:solidFill>
                            <a:schemeClr val="dk1"/>
                          </a:solidFill>
                          <a:effectLst/>
                          <a:latin typeface="+mn-lt"/>
                          <a:ea typeface="+mn-ea"/>
                          <a:cs typeface="+mn-cs"/>
                        </a:rPr>
                        <a:t>画面項目定義（</a:t>
                      </a:r>
                      <a:r>
                        <a:rPr kumimoji="1" lang="en-US" altLang="ja-JP" sz="2700" kern="1200" dirty="0">
                          <a:solidFill>
                            <a:schemeClr val="dk1"/>
                          </a:solidFill>
                          <a:effectLst/>
                          <a:latin typeface="+mn-lt"/>
                          <a:ea typeface="+mn-ea"/>
                          <a:cs typeface="+mn-cs"/>
                        </a:rPr>
                        <a:t>API</a:t>
                      </a:r>
                      <a:r>
                        <a:rPr kumimoji="1" lang="ja-JP" altLang="ja-JP" sz="2700" kern="1200" dirty="0">
                          <a:solidFill>
                            <a:schemeClr val="dk1"/>
                          </a:solidFill>
                          <a:effectLst/>
                          <a:latin typeface="+mn-lt"/>
                          <a:ea typeface="+mn-ea"/>
                          <a:cs typeface="+mn-cs"/>
                        </a:rPr>
                        <a:t>側の項目</a:t>
                      </a:r>
                      <a:r>
                        <a:rPr kumimoji="1" lang="ja-JP" altLang="ja-JP" sz="2700" kern="1200">
                          <a:solidFill>
                            <a:schemeClr val="dk1"/>
                          </a:solidFill>
                          <a:effectLst/>
                          <a:latin typeface="+mn-lt"/>
                          <a:ea typeface="+mn-ea"/>
                          <a:cs typeface="+mn-cs"/>
                        </a:rPr>
                        <a:t>まで定義）</a:t>
                      </a:r>
                      <a:endParaRPr kumimoji="1" lang="en-US" altLang="ja-JP" sz="2700" kern="1200">
                        <a:solidFill>
                          <a:schemeClr val="dk1"/>
                        </a:solidFill>
                        <a:effectLst/>
                        <a:latin typeface="+mn-lt"/>
                        <a:ea typeface="+mn-ea"/>
                        <a:cs typeface="+mn-cs"/>
                      </a:endParaRPr>
                    </a:p>
                    <a:p>
                      <a:r>
                        <a:rPr kumimoji="1" lang="ja-JP" altLang="en-US" sz="2700" kern="1200">
                          <a:solidFill>
                            <a:schemeClr val="dk1"/>
                          </a:solidFill>
                          <a:effectLst/>
                          <a:latin typeface="+mn-lt"/>
                          <a:ea typeface="+mn-ea"/>
                          <a:cs typeface="+mn-cs"/>
                        </a:rPr>
                        <a:t>共通画面の画面</a:t>
                      </a:r>
                      <a:r>
                        <a:rPr kumimoji="1" lang="en-US" altLang="ja-JP" sz="2700" kern="1200">
                          <a:solidFill>
                            <a:schemeClr val="dk1"/>
                          </a:solidFill>
                          <a:effectLst/>
                          <a:latin typeface="+mn-lt"/>
                          <a:ea typeface="+mn-ea"/>
                          <a:cs typeface="+mn-cs"/>
                        </a:rPr>
                        <a:t>ID</a:t>
                      </a:r>
                      <a:r>
                        <a:rPr kumimoji="1" lang="ja-JP" altLang="en-US" sz="2700" kern="1200">
                          <a:solidFill>
                            <a:schemeClr val="dk1"/>
                          </a:solidFill>
                          <a:effectLst/>
                          <a:latin typeface="+mn-lt"/>
                          <a:ea typeface="+mn-ea"/>
                          <a:cs typeface="+mn-cs"/>
                        </a:rPr>
                        <a:t>は</a:t>
                      </a:r>
                      <a:r>
                        <a:rPr kumimoji="1" lang="en-US" altLang="ja-JP" sz="2700" kern="1200">
                          <a:solidFill>
                            <a:schemeClr val="dk1"/>
                          </a:solidFill>
                          <a:effectLst/>
                          <a:latin typeface="+mn-lt"/>
                          <a:ea typeface="+mn-ea"/>
                          <a:cs typeface="+mn-cs"/>
                        </a:rPr>
                        <a:t>Cxxxxxx</a:t>
                      </a:r>
                      <a:r>
                        <a:rPr kumimoji="1" lang="ja-JP" altLang="en-US" sz="2700" kern="1200">
                          <a:solidFill>
                            <a:schemeClr val="dk1"/>
                          </a:solidFill>
                          <a:effectLst/>
                          <a:latin typeface="+mn-lt"/>
                          <a:ea typeface="+mn-ea"/>
                          <a:cs typeface="+mn-cs"/>
                        </a:rPr>
                        <a:t>となるため、ファイル名に「共通」は含みません。</a:t>
                      </a:r>
                      <a:endParaRPr kumimoji="1" lang="en-US" altLang="ja-JP" sz="2700" kern="1200">
                        <a:solidFill>
                          <a:schemeClr val="dk1"/>
                        </a:solidFill>
                        <a:effectLst/>
                        <a:latin typeface="+mn-lt"/>
                        <a:ea typeface="+mn-ea"/>
                        <a:cs typeface="+mn-cs"/>
                      </a:endParaRPr>
                    </a:p>
                  </a:txBody>
                  <a:tcPr/>
                </a:tc>
                <a:extLst>
                  <a:ext uri="{0D108BD9-81ED-4DB2-BD59-A6C34878D82A}">
                    <a16:rowId xmlns:a16="http://schemas.microsoft.com/office/drawing/2014/main" val="3840579014"/>
                  </a:ext>
                </a:extLst>
              </a:tr>
              <a:tr h="370840">
                <a:tc>
                  <a:txBody>
                    <a:bodyPr/>
                    <a:lstStyle/>
                    <a:p>
                      <a:r>
                        <a:rPr kumimoji="1" lang="en-US" altLang="ja-JP" sz="2700" kern="1200" dirty="0">
                          <a:solidFill>
                            <a:schemeClr val="dk1"/>
                          </a:solidFill>
                          <a:effectLst/>
                          <a:latin typeface="+mn-lt"/>
                          <a:ea typeface="+mn-ea"/>
                          <a:cs typeface="+mn-cs"/>
                        </a:rPr>
                        <a:t>API</a:t>
                      </a:r>
                      <a:r>
                        <a:rPr kumimoji="1" lang="ja-JP" altLang="en-US" sz="2700" kern="1200" dirty="0">
                          <a:solidFill>
                            <a:schemeClr val="dk1"/>
                          </a:solidFill>
                          <a:effectLst/>
                          <a:latin typeface="+mn-lt"/>
                          <a:ea typeface="+mn-ea"/>
                          <a:cs typeface="+mn-cs"/>
                        </a:rPr>
                        <a:t>一覧</a:t>
                      </a:r>
                      <a:endParaRPr kumimoji="1" lang="en-US" altLang="ja-JP" sz="2700" kern="1200" dirty="0">
                        <a:solidFill>
                          <a:schemeClr val="dk1"/>
                        </a:solidFill>
                        <a:effectLst/>
                        <a:latin typeface="+mn-lt"/>
                        <a:ea typeface="+mn-ea"/>
                        <a:cs typeface="+mn-cs"/>
                      </a:endParaRPr>
                    </a:p>
                    <a:p>
                      <a:r>
                        <a:rPr kumimoji="1" lang="en-US" altLang="ja-JP" sz="2700" kern="1200" dirty="0">
                          <a:solidFill>
                            <a:schemeClr val="dk1"/>
                          </a:solidFill>
                          <a:effectLst/>
                          <a:latin typeface="+mn-lt"/>
                          <a:ea typeface="+mn-ea"/>
                          <a:cs typeface="+mn-cs"/>
                        </a:rPr>
                        <a:t>API</a:t>
                      </a:r>
                      <a:r>
                        <a:rPr kumimoji="1" lang="ja-JP" altLang="en-US" sz="2700" kern="1200" dirty="0">
                          <a:solidFill>
                            <a:schemeClr val="dk1"/>
                          </a:solidFill>
                          <a:effectLst/>
                          <a:latin typeface="+mn-lt"/>
                          <a:ea typeface="+mn-ea"/>
                          <a:cs typeface="+mn-cs"/>
                        </a:rPr>
                        <a:t>定義書</a:t>
                      </a:r>
                      <a:endParaRPr kumimoji="1" lang="ja-JP" altLang="ja-JP" sz="2700" kern="1200" dirty="0">
                        <a:solidFill>
                          <a:schemeClr val="dk1"/>
                        </a:solidFill>
                        <a:effectLst/>
                        <a:latin typeface="+mn-lt"/>
                        <a:ea typeface="+mn-ea"/>
                        <a:cs typeface="+mn-cs"/>
                      </a:endParaRPr>
                    </a:p>
                  </a:txBody>
                  <a:tcPr/>
                </a:tc>
                <a:tc>
                  <a:txBody>
                    <a:bodyPr/>
                    <a:lstStyle/>
                    <a:p>
                      <a:r>
                        <a:rPr kumimoji="1" lang="en-US" altLang="ja-JP" sz="2700" kern="1200" dirty="0">
                          <a:solidFill>
                            <a:schemeClr val="dk1"/>
                          </a:solidFill>
                          <a:effectLst/>
                          <a:latin typeface="+mn-lt"/>
                          <a:ea typeface="+mn-ea"/>
                          <a:cs typeface="+mn-cs"/>
                        </a:rPr>
                        <a:t>API</a:t>
                      </a:r>
                      <a:r>
                        <a:rPr kumimoji="1" lang="ja-JP" altLang="ja-JP" sz="2700" kern="1200" dirty="0">
                          <a:solidFill>
                            <a:schemeClr val="dk1"/>
                          </a:solidFill>
                          <a:effectLst/>
                          <a:latin typeface="+mn-lt"/>
                          <a:ea typeface="+mn-ea"/>
                          <a:cs typeface="+mn-cs"/>
                        </a:rPr>
                        <a:t>定義書（一覧＋項目）</a:t>
                      </a:r>
                    </a:p>
                  </a:txBody>
                  <a:tcPr/>
                </a:tc>
                <a:extLst>
                  <a:ext uri="{0D108BD9-81ED-4DB2-BD59-A6C34878D82A}">
                    <a16:rowId xmlns:a16="http://schemas.microsoft.com/office/drawing/2014/main" val="2608528751"/>
                  </a:ext>
                </a:extLst>
              </a:tr>
              <a:tr h="370840">
                <a:tc>
                  <a:txBody>
                    <a:bodyPr/>
                    <a:lstStyle/>
                    <a:p>
                      <a:r>
                        <a:rPr kumimoji="1" lang="en-US" altLang="ja-JP" sz="2700" kern="1200" dirty="0">
                          <a:solidFill>
                            <a:schemeClr val="dk1"/>
                          </a:solidFill>
                          <a:effectLst/>
                          <a:latin typeface="+mn-lt"/>
                          <a:ea typeface="+mn-ea"/>
                          <a:cs typeface="+mn-cs"/>
                        </a:rPr>
                        <a:t>DB</a:t>
                      </a:r>
                      <a:r>
                        <a:rPr kumimoji="1" lang="ja-JP" altLang="en-US" sz="2700" kern="1200" dirty="0">
                          <a:solidFill>
                            <a:schemeClr val="dk1"/>
                          </a:solidFill>
                          <a:effectLst/>
                          <a:latin typeface="+mn-lt"/>
                          <a:ea typeface="+mn-ea"/>
                          <a:cs typeface="+mn-cs"/>
                        </a:rPr>
                        <a:t>テーブル一覧</a:t>
                      </a:r>
                      <a:endParaRPr kumimoji="1" lang="en-US" altLang="ja-JP" sz="2700" kern="1200" dirty="0">
                        <a:solidFill>
                          <a:schemeClr val="dk1"/>
                        </a:solidFill>
                        <a:effectLst/>
                        <a:latin typeface="+mn-lt"/>
                        <a:ea typeface="+mn-ea"/>
                        <a:cs typeface="+mn-cs"/>
                      </a:endParaRPr>
                    </a:p>
                    <a:p>
                      <a:r>
                        <a:rPr kumimoji="1" lang="ja-JP" altLang="en-US" sz="2700" kern="1200" dirty="0">
                          <a:solidFill>
                            <a:schemeClr val="dk1"/>
                          </a:solidFill>
                          <a:effectLst/>
                          <a:latin typeface="+mn-lt"/>
                          <a:ea typeface="+mn-ea"/>
                          <a:cs typeface="+mn-cs"/>
                        </a:rPr>
                        <a:t>テーブル定義書</a:t>
                      </a:r>
                      <a:endParaRPr kumimoji="1" lang="ja-JP" altLang="ja-JP" sz="2700" kern="1200" dirty="0">
                        <a:solidFill>
                          <a:schemeClr val="dk1"/>
                        </a:solidFill>
                        <a:effectLst/>
                        <a:latin typeface="+mn-lt"/>
                        <a:ea typeface="+mn-ea"/>
                        <a:cs typeface="+mn-cs"/>
                      </a:endParaRPr>
                    </a:p>
                  </a:txBody>
                  <a:tcPr/>
                </a:tc>
                <a:tc>
                  <a:txBody>
                    <a:bodyPr/>
                    <a:lstStyle/>
                    <a:p>
                      <a:r>
                        <a:rPr kumimoji="1" lang="en-US" altLang="ja-JP" sz="2700" kern="1200" dirty="0">
                          <a:solidFill>
                            <a:schemeClr val="dk1"/>
                          </a:solidFill>
                          <a:effectLst/>
                          <a:latin typeface="+mn-lt"/>
                          <a:ea typeface="+mn-ea"/>
                          <a:cs typeface="+mn-cs"/>
                        </a:rPr>
                        <a:t>DB</a:t>
                      </a:r>
                      <a:r>
                        <a:rPr kumimoji="1" lang="ja-JP" altLang="en-US" sz="2700" kern="1200" dirty="0">
                          <a:solidFill>
                            <a:schemeClr val="dk1"/>
                          </a:solidFill>
                          <a:effectLst/>
                          <a:latin typeface="+mn-lt"/>
                          <a:ea typeface="+mn-ea"/>
                          <a:cs typeface="+mn-cs"/>
                        </a:rPr>
                        <a:t>定義書（テーブル／</a:t>
                      </a:r>
                      <a:r>
                        <a:rPr kumimoji="1" lang="en-US" altLang="ja-JP" sz="2700" kern="1200" dirty="0">
                          <a:solidFill>
                            <a:schemeClr val="dk1"/>
                          </a:solidFill>
                          <a:effectLst/>
                          <a:latin typeface="+mn-lt"/>
                          <a:ea typeface="+mn-ea"/>
                          <a:cs typeface="+mn-cs"/>
                        </a:rPr>
                        <a:t>View</a:t>
                      </a:r>
                      <a:r>
                        <a:rPr kumimoji="1" lang="ja-JP" altLang="en-US" sz="2700" kern="1200" dirty="0">
                          <a:solidFill>
                            <a:schemeClr val="dk1"/>
                          </a:solidFill>
                          <a:effectLst/>
                          <a:latin typeface="+mn-lt"/>
                          <a:ea typeface="+mn-ea"/>
                          <a:cs typeface="+mn-cs"/>
                        </a:rPr>
                        <a:t>名＋項目）</a:t>
                      </a:r>
                      <a:endParaRPr kumimoji="1" lang="ja-JP" altLang="ja-JP" sz="2700" kern="1200" dirty="0">
                        <a:solidFill>
                          <a:schemeClr val="dk1"/>
                        </a:solidFill>
                        <a:effectLst/>
                        <a:latin typeface="+mn-lt"/>
                        <a:ea typeface="+mn-ea"/>
                        <a:cs typeface="+mn-cs"/>
                      </a:endParaRPr>
                    </a:p>
                  </a:txBody>
                  <a:tcPr/>
                </a:tc>
                <a:extLst>
                  <a:ext uri="{0D108BD9-81ED-4DB2-BD59-A6C34878D82A}">
                    <a16:rowId xmlns:a16="http://schemas.microsoft.com/office/drawing/2014/main" val="74825682"/>
                  </a:ext>
                </a:extLst>
              </a:tr>
            </a:tbl>
          </a:graphicData>
        </a:graphic>
      </p:graphicFrame>
      <p:sp>
        <p:nvSpPr>
          <p:cNvPr id="7" name="テキスト ボックス 6">
            <a:extLst>
              <a:ext uri="{FF2B5EF4-FFF2-40B4-BE49-F238E27FC236}">
                <a16:creationId xmlns:a16="http://schemas.microsoft.com/office/drawing/2014/main" id="{62B60E05-193F-D310-3C68-5CF7EF484056}"/>
              </a:ext>
            </a:extLst>
          </p:cNvPr>
          <p:cNvSpPr txBox="1"/>
          <p:nvPr/>
        </p:nvSpPr>
        <p:spPr>
          <a:xfrm>
            <a:off x="13718030" y="1382940"/>
            <a:ext cx="3972562" cy="430887"/>
          </a:xfrm>
          <a:prstGeom prst="rect">
            <a:avLst/>
          </a:prstGeom>
          <a:noFill/>
        </p:spPr>
        <p:txBody>
          <a:bodyPr wrap="none" rtlCol="0">
            <a:spAutoFit/>
          </a:bodyPr>
          <a:lstStyle/>
          <a:p>
            <a:pPr algn="l"/>
            <a:r>
              <a:rPr kumimoji="1" lang="ja-JP" altLang="en-US" sz="2200" dirty="0">
                <a:latin typeface="Meiryo UI" panose="020B0604030504040204" pitchFamily="50" charset="-128"/>
                <a:ea typeface="Meiryo UI" panose="020B0604030504040204" pitchFamily="50" charset="-128"/>
              </a:rPr>
              <a:t>◎：要件定義書で定義する内容</a:t>
            </a:r>
          </a:p>
        </p:txBody>
      </p:sp>
    </p:spTree>
    <p:extLst>
      <p:ext uri="{BB962C8B-B14F-4D97-AF65-F5344CB8AC3E}">
        <p14:creationId xmlns:p14="http://schemas.microsoft.com/office/powerpoint/2010/main" val="3738332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2E1DE-95DE-A02B-EED5-51295F9296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76F927-0137-D917-F1E9-9344E17F323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t>６－</a:t>
            </a:r>
            <a:r>
              <a:rPr lang="en-US" altLang="ja-JP" dirty="0"/>
              <a:t>9</a:t>
            </a:r>
            <a:r>
              <a:rPr lang="ja-JP" altLang="en-US" dirty="0"/>
              <a:t>．設計書ラインナップ</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9EBD0DFF-EAA8-AF33-78BA-6ECAB4B9F58C}"/>
              </a:ext>
            </a:extLst>
          </p:cNvPr>
          <p:cNvSpPr>
            <a:spLocks noGrp="1"/>
          </p:cNvSpPr>
          <p:nvPr>
            <p:ph type="sldNum" sz="quarter" idx="12"/>
          </p:nvPr>
        </p:nvSpPr>
        <p:spPr/>
        <p:txBody>
          <a:bodyPr/>
          <a:lstStyle/>
          <a:p>
            <a:fld id="{2A9E37A5-A917-4235-ABF6-8CD72E894915}" type="slidenum">
              <a:rPr lang="en-US" altLang="ja-JP" smtClean="0"/>
              <a:pPr/>
              <a:t>48</a:t>
            </a:fld>
            <a:endParaRPr lang="ja-JP" altLang="en-US"/>
          </a:p>
        </p:txBody>
      </p:sp>
      <p:sp>
        <p:nvSpPr>
          <p:cNvPr id="6" name="テキスト ボックス 5">
            <a:extLst>
              <a:ext uri="{FF2B5EF4-FFF2-40B4-BE49-F238E27FC236}">
                <a16:creationId xmlns:a16="http://schemas.microsoft.com/office/drawing/2014/main" id="{7F7EE722-B8B6-1EA5-667F-4C599C8E509E}"/>
              </a:ext>
            </a:extLst>
          </p:cNvPr>
          <p:cNvSpPr txBox="1"/>
          <p:nvPr/>
        </p:nvSpPr>
        <p:spPr>
          <a:xfrm>
            <a:off x="463733" y="1497739"/>
            <a:ext cx="17415668" cy="684803"/>
          </a:xfrm>
          <a:prstGeom prst="rect">
            <a:avLst/>
          </a:prstGeom>
          <a:noFill/>
        </p:spPr>
        <p:txBody>
          <a:bodyPr wrap="square"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基本設計書の構成</a:t>
            </a:r>
            <a:endParaRPr lang="en-US" altLang="ja-JP" sz="2800" dirty="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B4772136-2025-63AC-651C-76EB288C5C67}"/>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B281DB00-E593-3C39-A793-4219AED9E09B}"/>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graphicFrame>
        <p:nvGraphicFramePr>
          <p:cNvPr id="8" name="表 7">
            <a:extLst>
              <a:ext uri="{FF2B5EF4-FFF2-40B4-BE49-F238E27FC236}">
                <a16:creationId xmlns:a16="http://schemas.microsoft.com/office/drawing/2014/main" id="{BED85575-57B7-CCF4-8203-4D669D6E0333}"/>
              </a:ext>
            </a:extLst>
          </p:cNvPr>
          <p:cNvGraphicFramePr>
            <a:graphicFrameLocks noGrp="1"/>
          </p:cNvGraphicFramePr>
          <p:nvPr>
            <p:extLst>
              <p:ext uri="{D42A27DB-BD31-4B8C-83A1-F6EECF244321}">
                <p14:modId xmlns:p14="http://schemas.microsoft.com/office/powerpoint/2010/main" val="3166247932"/>
              </p:ext>
            </p:extLst>
          </p:nvPr>
        </p:nvGraphicFramePr>
        <p:xfrm>
          <a:off x="1158240" y="2377769"/>
          <a:ext cx="16532352" cy="4892040"/>
        </p:xfrm>
        <a:graphic>
          <a:graphicData uri="http://schemas.openxmlformats.org/drawingml/2006/table">
            <a:tbl>
              <a:tblPr firstRow="1" bandRow="1">
                <a:tableStyleId>{5C22544A-7EE6-4342-B048-85BDC9FD1C3A}</a:tableStyleId>
              </a:tblPr>
              <a:tblGrid>
                <a:gridCol w="5501640">
                  <a:extLst>
                    <a:ext uri="{9D8B030D-6E8A-4147-A177-3AD203B41FA5}">
                      <a16:colId xmlns:a16="http://schemas.microsoft.com/office/drawing/2014/main" val="854145237"/>
                    </a:ext>
                  </a:extLst>
                </a:gridCol>
                <a:gridCol w="11030712">
                  <a:extLst>
                    <a:ext uri="{9D8B030D-6E8A-4147-A177-3AD203B41FA5}">
                      <a16:colId xmlns:a16="http://schemas.microsoft.com/office/drawing/2014/main" val="3247824987"/>
                    </a:ext>
                  </a:extLst>
                </a:gridCol>
              </a:tblGrid>
              <a:tr h="0">
                <a:tc>
                  <a:txBody>
                    <a:bodyPr/>
                    <a:lstStyle/>
                    <a:p>
                      <a:r>
                        <a:rPr kumimoji="1" lang="ja-JP" altLang="en-US" dirty="0"/>
                        <a:t>業務（メニュー）単位で作成するドキュメント</a:t>
                      </a:r>
                    </a:p>
                  </a:txBody>
                  <a:tcPr/>
                </a:tc>
                <a:tc>
                  <a:txBody>
                    <a:bodyPr/>
                    <a:lstStyle/>
                    <a:p>
                      <a:endParaRPr kumimoji="1" lang="ja-JP" altLang="en-US" dirty="0"/>
                    </a:p>
                  </a:txBody>
                  <a:tcPr/>
                </a:tc>
                <a:extLst>
                  <a:ext uri="{0D108BD9-81ED-4DB2-BD59-A6C34878D82A}">
                    <a16:rowId xmlns:a16="http://schemas.microsoft.com/office/drawing/2014/main" val="3954268341"/>
                  </a:ext>
                </a:extLst>
              </a:tr>
              <a:tr h="370840">
                <a:tc>
                  <a:txBody>
                    <a:bodyPr/>
                    <a:lstStyle/>
                    <a:p>
                      <a:r>
                        <a:rPr kumimoji="1" lang="ja-JP" altLang="en-US" dirty="0"/>
                        <a:t>基本設計書</a:t>
                      </a:r>
                      <a:r>
                        <a:rPr kumimoji="1" lang="en-US" altLang="ja-JP" dirty="0"/>
                        <a:t>_M999_</a:t>
                      </a:r>
                      <a:r>
                        <a:rPr kumimoji="1" lang="ja-JP" altLang="en-US" dirty="0"/>
                        <a:t>売上</a:t>
                      </a:r>
                      <a:endParaRPr kumimoji="1" lang="en-US" altLang="ja-JP"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a:solidFill>
                            <a:schemeClr val="dk1"/>
                          </a:solidFill>
                          <a:effectLst/>
                          <a:latin typeface="+mn-lt"/>
                          <a:ea typeface="+mn-ea"/>
                          <a:cs typeface="+mn-cs"/>
                        </a:rPr>
                        <a:t>◎業務の目的・概要（現行からの差分・統合方針）、◎業務フロー（この業務のフロー）、画面遷移図（◎スケルトン／実物イメージ）、◎対象機能・プログラム、◎画面一覧、◎帳票一覧</a:t>
                      </a: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a:solidFill>
                            <a:schemeClr val="dk1"/>
                          </a:solidFill>
                          <a:effectLst/>
                          <a:latin typeface="+mn-lt"/>
                          <a:ea typeface="+mn-ea"/>
                          <a:cs typeface="+mn-cs"/>
                        </a:rPr>
                        <a:t>◎</a:t>
                      </a:r>
                      <a:r>
                        <a:rPr kumimoji="1" lang="en-US" altLang="ja-JP" sz="2700" kern="1200">
                          <a:solidFill>
                            <a:schemeClr val="dk1"/>
                          </a:solidFill>
                          <a:effectLst/>
                          <a:latin typeface="+mn-lt"/>
                          <a:ea typeface="+mn-ea"/>
                          <a:cs typeface="+mn-cs"/>
                        </a:rPr>
                        <a:t>API</a:t>
                      </a:r>
                      <a:r>
                        <a:rPr kumimoji="1" lang="ja-JP" altLang="en-US" sz="2700" kern="1200">
                          <a:solidFill>
                            <a:schemeClr val="dk1"/>
                          </a:solidFill>
                          <a:effectLst/>
                          <a:latin typeface="+mn-lt"/>
                          <a:ea typeface="+mn-ea"/>
                          <a:cs typeface="+mn-cs"/>
                        </a:rPr>
                        <a:t>一覧、</a:t>
                      </a:r>
                      <a:r>
                        <a:rPr kumimoji="1" lang="en-US" altLang="ja-JP" sz="2700" kern="1200">
                          <a:solidFill>
                            <a:schemeClr val="dk1"/>
                          </a:solidFill>
                          <a:effectLst/>
                          <a:latin typeface="+mn-lt"/>
                          <a:ea typeface="+mn-ea"/>
                          <a:cs typeface="+mn-cs"/>
                        </a:rPr>
                        <a:t>API</a:t>
                      </a:r>
                      <a:r>
                        <a:rPr kumimoji="1" lang="ja-JP" altLang="en-US" sz="2700" kern="1200">
                          <a:solidFill>
                            <a:schemeClr val="dk1"/>
                          </a:solidFill>
                          <a:effectLst/>
                          <a:latin typeface="+mn-lt"/>
                          <a:ea typeface="+mn-ea"/>
                          <a:cs typeface="+mn-cs"/>
                        </a:rPr>
                        <a:t>項目定義（元データからの組み立て方まで定義）、</a:t>
                      </a:r>
                      <a:endParaRPr kumimoji="1" lang="en-US" altLang="ja-JP" sz="2700" kern="1200">
                        <a:solidFill>
                          <a:schemeClr val="dk1"/>
                        </a:solidFill>
                        <a:effectLst/>
                        <a:latin typeface="+mn-lt"/>
                        <a:ea typeface="+mn-ea"/>
                        <a:cs typeface="+mn-cs"/>
                      </a:endParaRP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a:solidFill>
                            <a:schemeClr val="dk1"/>
                          </a:solidFill>
                          <a:effectLst/>
                          <a:latin typeface="+mn-lt"/>
                          <a:ea typeface="+mn-ea"/>
                          <a:cs typeface="+mn-cs"/>
                        </a:rPr>
                        <a:t>画面</a:t>
                      </a:r>
                      <a:r>
                        <a:rPr kumimoji="1" lang="en-US" altLang="ja-JP" sz="2700" kern="1200">
                          <a:solidFill>
                            <a:schemeClr val="dk1"/>
                          </a:solidFill>
                          <a:effectLst/>
                          <a:latin typeface="+mn-lt"/>
                          <a:ea typeface="+mn-ea"/>
                          <a:cs typeface="+mn-cs"/>
                        </a:rPr>
                        <a:t>-API</a:t>
                      </a:r>
                      <a:r>
                        <a:rPr kumimoji="1" lang="ja-JP" altLang="en-US" sz="2700" kern="1200">
                          <a:solidFill>
                            <a:schemeClr val="dk1"/>
                          </a:solidFill>
                          <a:effectLst/>
                          <a:latin typeface="+mn-lt"/>
                          <a:ea typeface="+mn-ea"/>
                          <a:cs typeface="+mn-cs"/>
                        </a:rPr>
                        <a:t>紐づけ一覧、テーブル一覧、トラン一覧、データフロー</a:t>
                      </a:r>
                      <a:r>
                        <a:rPr kumimoji="1" lang="ja-JP" altLang="ja-JP" sz="2700" kern="1200">
                          <a:solidFill>
                            <a:schemeClr val="dk1"/>
                          </a:solidFill>
                          <a:effectLst/>
                          <a:latin typeface="+mn-lt"/>
                          <a:ea typeface="+mn-ea"/>
                          <a:cs typeface="+mn-cs"/>
                        </a:rPr>
                        <a:t>、納品成果物一覧</a:t>
                      </a:r>
                      <a:endParaRPr kumimoji="1" lang="ja-JP" altLang="en-US" sz="2700" kern="1200" dirty="0">
                        <a:solidFill>
                          <a:schemeClr val="dk1"/>
                        </a:solidFill>
                        <a:effectLst/>
                        <a:latin typeface="+mn-lt"/>
                        <a:ea typeface="+mn-ea"/>
                        <a:cs typeface="+mn-cs"/>
                      </a:endParaRPr>
                    </a:p>
                  </a:txBody>
                  <a:tcPr/>
                </a:tc>
                <a:extLst>
                  <a:ext uri="{0D108BD9-81ED-4DB2-BD59-A6C34878D82A}">
                    <a16:rowId xmlns:a16="http://schemas.microsoft.com/office/drawing/2014/main" val="3840579014"/>
                  </a:ext>
                </a:extLst>
              </a:tr>
              <a:tr h="370840">
                <a:tc>
                  <a:txBody>
                    <a:bodyPr/>
                    <a:lstStyle/>
                    <a:p>
                      <a:r>
                        <a:rPr kumimoji="1" lang="ja-JP" altLang="en-US" sz="2700" kern="1200">
                          <a:solidFill>
                            <a:schemeClr val="dk1"/>
                          </a:solidFill>
                          <a:effectLst/>
                          <a:latin typeface="+mn-lt"/>
                          <a:ea typeface="+mn-ea"/>
                          <a:cs typeface="+mn-cs"/>
                        </a:rPr>
                        <a:t>画面設計書</a:t>
                      </a:r>
                      <a:r>
                        <a:rPr kumimoji="1" lang="en-US" altLang="ja-JP" sz="2700" kern="1200">
                          <a:solidFill>
                            <a:schemeClr val="dk1"/>
                          </a:solidFill>
                          <a:effectLst/>
                          <a:latin typeface="+mn-lt"/>
                          <a:ea typeface="+mn-ea"/>
                          <a:cs typeface="+mn-cs"/>
                        </a:rPr>
                        <a:t>_ID999999_M999</a:t>
                      </a:r>
                      <a:r>
                        <a:rPr kumimoji="1" lang="ja-JP" altLang="en-US" sz="2700" kern="1200">
                          <a:solidFill>
                            <a:schemeClr val="dk1"/>
                          </a:solidFill>
                          <a:effectLst/>
                          <a:latin typeface="+mn-lt"/>
                          <a:ea typeface="+mn-ea"/>
                          <a:cs typeface="+mn-cs"/>
                        </a:rPr>
                        <a:t>売上　</a:t>
                      </a:r>
                      <a:endParaRPr kumimoji="1" lang="ja-JP" altLang="en-US"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a:solidFill>
                            <a:schemeClr val="dk1"/>
                          </a:solidFill>
                          <a:effectLst/>
                          <a:latin typeface="+mn-lt"/>
                          <a:ea typeface="+mn-ea"/>
                          <a:cs typeface="+mn-cs"/>
                        </a:rPr>
                        <a:t>画面</a:t>
                      </a:r>
                      <a:r>
                        <a:rPr kumimoji="1" lang="ja-JP" altLang="en-US" sz="2700" kern="1200" dirty="0">
                          <a:solidFill>
                            <a:schemeClr val="dk1"/>
                          </a:solidFill>
                          <a:effectLst/>
                          <a:latin typeface="+mn-lt"/>
                          <a:ea typeface="+mn-ea"/>
                          <a:cs typeface="+mn-cs"/>
                        </a:rPr>
                        <a:t>設計書</a:t>
                      </a:r>
                      <a:r>
                        <a:rPr kumimoji="1" lang="ja-JP" altLang="en-US" sz="2700" kern="1200">
                          <a:solidFill>
                            <a:schemeClr val="dk1"/>
                          </a:solidFill>
                          <a:effectLst/>
                          <a:latin typeface="+mn-lt"/>
                          <a:ea typeface="+mn-ea"/>
                          <a:cs typeface="+mn-cs"/>
                        </a:rPr>
                        <a:t>、画面項目定義（</a:t>
                      </a:r>
                      <a:r>
                        <a:rPr kumimoji="1" lang="en-US" altLang="ja-JP" sz="2700" kern="1200">
                          <a:solidFill>
                            <a:schemeClr val="dk1"/>
                          </a:solidFill>
                          <a:effectLst/>
                          <a:latin typeface="+mn-lt"/>
                          <a:ea typeface="+mn-ea"/>
                          <a:cs typeface="+mn-cs"/>
                        </a:rPr>
                        <a:t>API</a:t>
                      </a:r>
                      <a:r>
                        <a:rPr kumimoji="1" lang="ja-JP" altLang="en-US" sz="2700" kern="1200" dirty="0">
                          <a:solidFill>
                            <a:schemeClr val="dk1"/>
                          </a:solidFill>
                          <a:effectLst/>
                          <a:latin typeface="+mn-lt"/>
                          <a:ea typeface="+mn-ea"/>
                          <a:cs typeface="+mn-cs"/>
                        </a:rPr>
                        <a:t>側の項目まで</a:t>
                      </a:r>
                      <a:r>
                        <a:rPr kumimoji="1" lang="ja-JP" altLang="en-US" sz="2700" kern="1200">
                          <a:solidFill>
                            <a:schemeClr val="dk1"/>
                          </a:solidFill>
                          <a:effectLst/>
                          <a:latin typeface="+mn-lt"/>
                          <a:ea typeface="+mn-ea"/>
                          <a:cs typeface="+mn-cs"/>
                        </a:rPr>
                        <a:t>定義）、イベント定義、バリデーション定義</a:t>
                      </a:r>
                      <a:endParaRPr kumimoji="1" lang="ja-JP" altLang="en-US" sz="2700" kern="1200" dirty="0">
                        <a:solidFill>
                          <a:schemeClr val="dk1"/>
                        </a:solidFill>
                        <a:effectLst/>
                        <a:latin typeface="+mn-lt"/>
                        <a:ea typeface="+mn-ea"/>
                        <a:cs typeface="+mn-cs"/>
                      </a:endParaRPr>
                    </a:p>
                  </a:txBody>
                  <a:tcPr/>
                </a:tc>
                <a:extLst>
                  <a:ext uri="{0D108BD9-81ED-4DB2-BD59-A6C34878D82A}">
                    <a16:rowId xmlns:a16="http://schemas.microsoft.com/office/drawing/2014/main" val="208268448"/>
                  </a:ext>
                </a:extLst>
              </a:tr>
              <a:tr h="370840">
                <a:tc>
                  <a:txBody>
                    <a:bodyPr/>
                    <a:lstStyle/>
                    <a:p>
                      <a:r>
                        <a:rPr kumimoji="1" lang="ja-JP" altLang="en-US" sz="2700" kern="1200">
                          <a:solidFill>
                            <a:schemeClr val="dk1"/>
                          </a:solidFill>
                          <a:effectLst/>
                          <a:latin typeface="+mn-lt"/>
                          <a:ea typeface="+mn-ea"/>
                          <a:cs typeface="+mn-cs"/>
                        </a:rPr>
                        <a:t>帳票設計書</a:t>
                      </a:r>
                      <a:r>
                        <a:rPr kumimoji="1" lang="en-US" altLang="ja-JP" sz="2700" kern="1200">
                          <a:solidFill>
                            <a:schemeClr val="dk1"/>
                          </a:solidFill>
                          <a:effectLst/>
                          <a:latin typeface="+mn-lt"/>
                          <a:ea typeface="+mn-ea"/>
                          <a:cs typeface="+mn-cs"/>
                        </a:rPr>
                        <a:t>_ID999999_M999</a:t>
                      </a:r>
                      <a:r>
                        <a:rPr kumimoji="1" lang="ja-JP" altLang="en-US" sz="2700" kern="1200">
                          <a:solidFill>
                            <a:schemeClr val="dk1"/>
                          </a:solidFill>
                          <a:effectLst/>
                          <a:latin typeface="+mn-lt"/>
                          <a:ea typeface="+mn-ea"/>
                          <a:cs typeface="+mn-cs"/>
                        </a:rPr>
                        <a:t>売上</a:t>
                      </a:r>
                      <a:endParaRPr kumimoji="1" lang="ja-JP" altLang="en-US"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700" kern="1200">
                          <a:solidFill>
                            <a:schemeClr val="dk1"/>
                          </a:solidFill>
                          <a:effectLst/>
                          <a:latin typeface="+mn-lt"/>
                          <a:ea typeface="+mn-ea"/>
                          <a:cs typeface="+mn-cs"/>
                        </a:rPr>
                        <a:t>帳票</a:t>
                      </a:r>
                      <a:r>
                        <a:rPr kumimoji="1" lang="ja-JP" altLang="en-US" sz="2700" kern="1200" dirty="0">
                          <a:solidFill>
                            <a:schemeClr val="dk1"/>
                          </a:solidFill>
                          <a:effectLst/>
                          <a:latin typeface="+mn-lt"/>
                          <a:ea typeface="+mn-ea"/>
                          <a:cs typeface="+mn-cs"/>
                        </a:rPr>
                        <a:t>設計書（デザイン）</a:t>
                      </a:r>
                      <a:r>
                        <a:rPr kumimoji="1" lang="ja-JP" altLang="en-US" sz="2700" kern="1200">
                          <a:solidFill>
                            <a:schemeClr val="dk1"/>
                          </a:solidFill>
                          <a:effectLst/>
                          <a:latin typeface="+mn-lt"/>
                          <a:ea typeface="+mn-ea"/>
                          <a:cs typeface="+mn-cs"/>
                        </a:rPr>
                        <a:t>、帳票項目定義（</a:t>
                      </a:r>
                      <a:r>
                        <a:rPr kumimoji="1" lang="en-US" altLang="ja-JP" sz="2700" kern="1200">
                          <a:solidFill>
                            <a:schemeClr val="dk1"/>
                          </a:solidFill>
                          <a:effectLst/>
                          <a:latin typeface="+mn-lt"/>
                          <a:ea typeface="+mn-ea"/>
                          <a:cs typeface="+mn-cs"/>
                        </a:rPr>
                        <a:t>API</a:t>
                      </a:r>
                      <a:r>
                        <a:rPr kumimoji="1" lang="ja-JP" altLang="en-US" sz="2700" kern="1200" dirty="0">
                          <a:solidFill>
                            <a:schemeClr val="dk1"/>
                          </a:solidFill>
                          <a:effectLst/>
                          <a:latin typeface="+mn-lt"/>
                          <a:ea typeface="+mn-ea"/>
                          <a:cs typeface="+mn-cs"/>
                        </a:rPr>
                        <a:t>側の項目まで定義）</a:t>
                      </a:r>
                    </a:p>
                  </a:txBody>
                  <a:tcPr/>
                </a:tc>
                <a:extLst>
                  <a:ext uri="{0D108BD9-81ED-4DB2-BD59-A6C34878D82A}">
                    <a16:rowId xmlns:a16="http://schemas.microsoft.com/office/drawing/2014/main" val="3692507630"/>
                  </a:ext>
                </a:extLst>
              </a:tr>
            </a:tbl>
          </a:graphicData>
        </a:graphic>
      </p:graphicFrame>
      <p:sp>
        <p:nvSpPr>
          <p:cNvPr id="7" name="テキスト ボックス 6">
            <a:extLst>
              <a:ext uri="{FF2B5EF4-FFF2-40B4-BE49-F238E27FC236}">
                <a16:creationId xmlns:a16="http://schemas.microsoft.com/office/drawing/2014/main" id="{EF2B418D-1914-02CB-9772-194C014CBAE8}"/>
              </a:ext>
            </a:extLst>
          </p:cNvPr>
          <p:cNvSpPr txBox="1"/>
          <p:nvPr/>
        </p:nvSpPr>
        <p:spPr>
          <a:xfrm>
            <a:off x="13718030" y="1840140"/>
            <a:ext cx="3972562" cy="430887"/>
          </a:xfrm>
          <a:prstGeom prst="rect">
            <a:avLst/>
          </a:prstGeom>
          <a:noFill/>
        </p:spPr>
        <p:txBody>
          <a:bodyPr wrap="none" rtlCol="0">
            <a:spAutoFit/>
          </a:bodyPr>
          <a:lstStyle/>
          <a:p>
            <a:pPr algn="l"/>
            <a:r>
              <a:rPr kumimoji="1" lang="ja-JP" altLang="en-US" sz="2200" dirty="0">
                <a:latin typeface="Meiryo UI" panose="020B0604030504040204" pitchFamily="50" charset="-128"/>
                <a:ea typeface="Meiryo UI" panose="020B0604030504040204" pitchFamily="50" charset="-128"/>
              </a:rPr>
              <a:t>◎：要件定義書で定義する内容</a:t>
            </a:r>
          </a:p>
        </p:txBody>
      </p:sp>
    </p:spTree>
    <p:extLst>
      <p:ext uri="{BB962C8B-B14F-4D97-AF65-F5344CB8AC3E}">
        <p14:creationId xmlns:p14="http://schemas.microsoft.com/office/powerpoint/2010/main" val="4218680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AADB-CD43-30F2-DE59-97D80DCA298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F59B413-9EAC-41C2-E767-7854FC859651}"/>
              </a:ext>
            </a:extLst>
          </p:cNvPr>
          <p:cNvSpPr>
            <a:spLocks noGrp="1"/>
          </p:cNvSpPr>
          <p:nvPr>
            <p:ph type="ctrTitle"/>
          </p:nvPr>
        </p:nvSpPr>
        <p:spPr>
          <a:xfrm>
            <a:off x="0" y="3969000"/>
            <a:ext cx="18288000" cy="1512000"/>
          </a:xfrm>
        </p:spPr>
        <p:txBody>
          <a:bodyPr wrap="none" anchor="ctr">
            <a:normAutofit/>
          </a:bodyPr>
          <a:lstStyle/>
          <a:p>
            <a:r>
              <a:rPr kumimoji="1" lang="ja-JP" altLang="en-US"/>
              <a:t>７．プロジェクト推進</a:t>
            </a:r>
          </a:p>
        </p:txBody>
      </p:sp>
      <p:sp>
        <p:nvSpPr>
          <p:cNvPr id="6" name="フッター プレースホルダー 5">
            <a:extLst>
              <a:ext uri="{FF2B5EF4-FFF2-40B4-BE49-F238E27FC236}">
                <a16:creationId xmlns:a16="http://schemas.microsoft.com/office/drawing/2014/main" id="{DBE661C5-CDCF-4C00-ED2A-4A349760CB62}"/>
              </a:ext>
            </a:extLst>
          </p:cNvPr>
          <p:cNvSpPr>
            <a:spLocks noGrp="1"/>
          </p:cNvSpPr>
          <p:nvPr>
            <p:ph type="ftr" sz="quarter" idx="16"/>
          </p:nvPr>
        </p:nvSpPr>
        <p:spPr>
          <a:xfrm>
            <a:off x="14294731" y="9903315"/>
            <a:ext cx="2619755" cy="378000"/>
          </a:xfrm>
        </p:spPr>
        <p:txBody>
          <a:bodyPr anchor="ctr">
            <a:normAutofit/>
          </a:bodyPr>
          <a:lstStyle/>
          <a:p>
            <a:pPr>
              <a:spcAft>
                <a:spcPts val="600"/>
              </a:spcAft>
            </a:pPr>
            <a:r>
              <a:rPr kumimoji="1" lang="en-US" altLang="ja-JP"/>
              <a:t>Confidential </a:t>
            </a:r>
            <a:endParaRPr kumimoji="1" lang="ja-JP" altLang="en-US"/>
          </a:p>
        </p:txBody>
      </p:sp>
      <p:sp>
        <p:nvSpPr>
          <p:cNvPr id="3" name="スライド番号プレースホルダー 2" hidden="1">
            <a:extLst>
              <a:ext uri="{FF2B5EF4-FFF2-40B4-BE49-F238E27FC236}">
                <a16:creationId xmlns:a16="http://schemas.microsoft.com/office/drawing/2014/main" id="{AED75739-FFA3-0931-87E5-8BB862CBF066}"/>
              </a:ext>
            </a:extLst>
          </p:cNvPr>
          <p:cNvSpPr>
            <a:spLocks noGrp="1"/>
          </p:cNvSpPr>
          <p:nvPr>
            <p:ph type="sldNum" sz="quarter" idx="4294967295"/>
          </p:nvPr>
        </p:nvSpPr>
        <p:spPr>
          <a:xfrm>
            <a:off x="17069400" y="9936000"/>
            <a:ext cx="810000" cy="324000"/>
          </a:xfrm>
        </p:spPr>
        <p:txBody>
          <a:bodyPr/>
          <a:lstStyle/>
          <a:p>
            <a:pPr>
              <a:spcAft>
                <a:spcPts val="600"/>
              </a:spcAft>
            </a:pPr>
            <a:fld id="{2A9E37A5-A917-4235-ABF6-8CD72E894915}" type="slidenum">
              <a:rPr kumimoji="1" lang="ja-JP" altLang="en-US" smtClean="0"/>
              <a:pPr>
                <a:spcAft>
                  <a:spcPts val="600"/>
                </a:spcAft>
              </a:pPr>
              <a:t>49</a:t>
            </a:fld>
            <a:endParaRPr kumimoji="1" lang="ja-JP" altLang="en-US"/>
          </a:p>
        </p:txBody>
      </p:sp>
    </p:spTree>
    <p:extLst>
      <p:ext uri="{BB962C8B-B14F-4D97-AF65-F5344CB8AC3E}">
        <p14:creationId xmlns:p14="http://schemas.microsoft.com/office/powerpoint/2010/main" val="4224187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sz="2800">
                <a:latin typeface="Meiryo UI" panose="020B0604030504040204" pitchFamily="50" charset="-128"/>
                <a:ea typeface="Meiryo UI" panose="020B0604030504040204" pitchFamily="50" charset="-128"/>
              </a:rPr>
              <a:t>７ー１．</a:t>
            </a:r>
            <a:r>
              <a:rPr lang="en-US" altLang="ja-JP" sz="2800">
                <a:latin typeface="Meiryo UI" panose="020B0604030504040204" pitchFamily="50" charset="-128"/>
                <a:ea typeface="Meiryo UI" panose="020B0604030504040204" pitchFamily="50" charset="-128"/>
              </a:rPr>
              <a:t>DevOps</a:t>
            </a:r>
            <a:r>
              <a:rPr lang="ja-JP" altLang="en-US" sz="2800">
                <a:latin typeface="Meiryo UI" panose="020B0604030504040204" pitchFamily="50" charset="-128"/>
                <a:ea typeface="Meiryo UI" panose="020B0604030504040204" pitchFamily="50" charset="-128"/>
              </a:rPr>
              <a:t>モデルの導入による自動化推進</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50</a:t>
            </a:fld>
            <a:endParaRPr lang="ja-JP" altLang="en-US"/>
          </a:p>
        </p:txBody>
      </p:sp>
      <p:sp>
        <p:nvSpPr>
          <p:cNvPr id="5" name="テキスト ボックス 4">
            <a:extLst>
              <a:ext uri="{FF2B5EF4-FFF2-40B4-BE49-F238E27FC236}">
                <a16:creationId xmlns:a16="http://schemas.microsoft.com/office/drawing/2014/main" id="{999167DB-34F6-4515-8153-3F358A8B350A}"/>
              </a:ext>
            </a:extLst>
          </p:cNvPr>
          <p:cNvSpPr txBox="1"/>
          <p:nvPr/>
        </p:nvSpPr>
        <p:spPr>
          <a:xfrm>
            <a:off x="-346268" y="6194053"/>
            <a:ext cx="17415668" cy="2031325"/>
          </a:xfrm>
          <a:prstGeom prst="rect">
            <a:avLst/>
          </a:prstGeom>
          <a:noFill/>
        </p:spPr>
        <p:txBody>
          <a:bodyPr wrap="square" rtlCol="0">
            <a:spAutoFit/>
          </a:bodyPr>
          <a:lstStyle/>
          <a:p>
            <a:endParaRPr lang="en-US" altLang="ja-JP" sz="1800">
              <a:latin typeface="メイリオ" panose="020B0604030504040204" pitchFamily="50" charset="-128"/>
              <a:ea typeface="メイリオ" panose="020B0604030504040204" pitchFamily="50" charset="-128"/>
            </a:endParaRPr>
          </a:p>
          <a:p>
            <a:endParaRPr lang="en-US" altLang="ja-JP" sz="1800">
              <a:latin typeface="メイリオ" panose="020B0604030504040204" pitchFamily="50" charset="-128"/>
              <a:ea typeface="メイリオ" panose="020B0604030504040204" pitchFamily="50" charset="-128"/>
            </a:endParaRPr>
          </a:p>
          <a:p>
            <a:endParaRPr lang="en-US" altLang="ja-JP" sz="1800">
              <a:latin typeface="メイリオ" panose="020B0604030504040204" pitchFamily="50" charset="-128"/>
              <a:ea typeface="メイリオ" panose="020B0604030504040204" pitchFamily="50" charset="-128"/>
            </a:endParaRPr>
          </a:p>
          <a:p>
            <a:endParaRPr lang="en-US" altLang="ja-JP" sz="1800">
              <a:latin typeface="メイリオ" panose="020B0604030504040204" pitchFamily="50" charset="-128"/>
              <a:ea typeface="メイリオ" panose="020B0604030504040204" pitchFamily="50" charset="-128"/>
            </a:endParaRPr>
          </a:p>
          <a:p>
            <a:endParaRPr lang="en-US" altLang="ja-JP" sz="1800">
              <a:latin typeface="メイリオ" panose="020B0604030504040204" pitchFamily="50" charset="-128"/>
              <a:ea typeface="メイリオ" panose="020B0604030504040204" pitchFamily="50" charset="-128"/>
            </a:endParaRPr>
          </a:p>
          <a:p>
            <a:endParaRPr lang="en-US" altLang="ja-JP" sz="1800">
              <a:latin typeface="メイリオ" panose="020B0604030504040204" pitchFamily="50" charset="-128"/>
              <a:ea typeface="メイリオ" panose="020B0604030504040204" pitchFamily="50" charset="-128"/>
            </a:endParaRPr>
          </a:p>
          <a:p>
            <a:endParaRPr lang="en-US" altLang="ja-JP" sz="180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261FC42E-48AA-BC14-E6C5-229578EEF851}"/>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6ECFB7AE-64DF-B4A9-1FF3-070669EF0CCD}"/>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8" name="テキスト ボックス 7">
            <a:extLst>
              <a:ext uri="{FF2B5EF4-FFF2-40B4-BE49-F238E27FC236}">
                <a16:creationId xmlns:a16="http://schemas.microsoft.com/office/drawing/2014/main" id="{5FC608FD-9B44-AA96-B229-8608AE1F0480}"/>
              </a:ext>
            </a:extLst>
          </p:cNvPr>
          <p:cNvSpPr txBox="1"/>
          <p:nvPr/>
        </p:nvSpPr>
        <p:spPr>
          <a:xfrm>
            <a:off x="587058" y="1344540"/>
            <a:ext cx="13794606" cy="523220"/>
          </a:xfrm>
          <a:prstGeom prst="rect">
            <a:avLst/>
          </a:prstGeom>
          <a:noFill/>
        </p:spPr>
        <p:txBody>
          <a:bodyPr wrap="square" rtlCol="0">
            <a:spAutoFit/>
          </a:bodyPr>
          <a:lstStyle/>
          <a:p>
            <a:pPr algn="l"/>
            <a:r>
              <a:rPr lang="en-US" altLang="ja-JP" sz="2800">
                <a:solidFill>
                  <a:schemeClr val="bg1">
                    <a:lumMod val="10000"/>
                  </a:schemeClr>
                </a:solidFill>
                <a:latin typeface="メイリオ" panose="020B0604030504040204" pitchFamily="50" charset="-128"/>
                <a:ea typeface="メイリオ" panose="020B0604030504040204" pitchFamily="50" charset="-128"/>
              </a:rPr>
              <a:t>【</a:t>
            </a:r>
            <a:r>
              <a:rPr lang="ja-JP" altLang="en-US" sz="2800">
                <a:latin typeface="メイリオ" panose="020B0604030504040204" pitchFamily="50" charset="-128"/>
                <a:ea typeface="メイリオ" panose="020B0604030504040204" pitchFamily="50" charset="-128"/>
              </a:rPr>
              <a:t>目的</a:t>
            </a:r>
            <a:r>
              <a:rPr lang="en-US" altLang="ja-JP" sz="2800">
                <a:latin typeface="メイリオ" panose="020B0604030504040204" pitchFamily="50" charset="-128"/>
                <a:ea typeface="メイリオ" panose="020B0604030504040204" pitchFamily="50" charset="-128"/>
              </a:rPr>
              <a:t>】</a:t>
            </a:r>
            <a:r>
              <a:rPr lang="ja-JP" altLang="en-US" sz="2800">
                <a:latin typeface="メイリオ" panose="020B0604030504040204" pitchFamily="50" charset="-128"/>
                <a:ea typeface="メイリオ" panose="020B0604030504040204" pitchFamily="50" charset="-128"/>
              </a:rPr>
              <a:t> </a:t>
            </a:r>
            <a:endParaRPr kumimoji="1" lang="ja-JP" altLang="en-US" sz="2800">
              <a:solidFill>
                <a:schemeClr val="bg1">
                  <a:lumMod val="10000"/>
                </a:schemeClr>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906F5312-9924-7D49-8887-4622DF49AEB1}"/>
              </a:ext>
            </a:extLst>
          </p:cNvPr>
          <p:cNvSpPr txBox="1"/>
          <p:nvPr/>
        </p:nvSpPr>
        <p:spPr>
          <a:xfrm>
            <a:off x="722091" y="1796413"/>
            <a:ext cx="16192395" cy="2677656"/>
          </a:xfrm>
          <a:prstGeom prst="rect">
            <a:avLst/>
          </a:prstGeom>
          <a:noFill/>
        </p:spPr>
        <p:txBody>
          <a:bodyPr wrap="square" rtlCol="0">
            <a:spAutoFit/>
          </a:bodyPr>
          <a:lstStyle/>
          <a:p>
            <a:r>
              <a:rPr lang="ja-JP" altLang="en-US" sz="2800">
                <a:latin typeface="メイリオ" panose="020B0604030504040204" pitchFamily="50" charset="-128"/>
                <a:ea typeface="メイリオ" panose="020B0604030504040204" pitchFamily="50" charset="-128"/>
              </a:rPr>
              <a:t>・開発から運用、保守までの一連の作業を自動化・標準化し、継続的なサービス改善を可能にする基盤を目指します。</a:t>
            </a:r>
            <a:endParaRPr lang="en-US" altLang="ja-JP" sz="2800">
              <a:latin typeface="メイリオ" panose="020B0604030504040204" pitchFamily="50" charset="-128"/>
              <a:ea typeface="メイリオ" panose="020B0604030504040204" pitchFamily="50" charset="-128"/>
            </a:endParaRPr>
          </a:p>
          <a:p>
            <a:endParaRPr lang="en-US" altLang="ja-JP" sz="2800">
              <a:latin typeface="メイリオ" panose="020B0604030504040204" pitchFamily="50" charset="-128"/>
              <a:ea typeface="メイリオ" panose="020B0604030504040204" pitchFamily="50" charset="-128"/>
            </a:endParaRPr>
          </a:p>
          <a:p>
            <a:r>
              <a:rPr lang="ja-JP" altLang="en-US" sz="2800">
                <a:latin typeface="メイリオ" panose="020B0604030504040204" pitchFamily="50" charset="-128"/>
                <a:ea typeface="メイリオ" panose="020B0604030504040204" pitchFamily="50" charset="-128"/>
              </a:rPr>
              <a:t>・以下の現状課題を改善するため、開発から運用までを一体的に継続改善できる</a:t>
            </a:r>
            <a:r>
              <a:rPr lang="en-US" altLang="ja-JP" sz="2800">
                <a:latin typeface="メイリオ" panose="020B0604030504040204" pitchFamily="50" charset="-128"/>
                <a:ea typeface="メイリオ" panose="020B0604030504040204" pitchFamily="50" charset="-128"/>
              </a:rPr>
              <a:t>『DevOps</a:t>
            </a:r>
            <a:r>
              <a:rPr lang="ja-JP" altLang="en-US" sz="2800">
                <a:latin typeface="メイリオ" panose="020B0604030504040204" pitchFamily="50" charset="-128"/>
                <a:ea typeface="メイリオ" panose="020B0604030504040204" pitchFamily="50" charset="-128"/>
              </a:rPr>
              <a:t>モデル</a:t>
            </a:r>
            <a:r>
              <a:rPr lang="en-US" altLang="ja-JP" sz="2800">
                <a:latin typeface="メイリオ" panose="020B0604030504040204" pitchFamily="50" charset="-128"/>
                <a:ea typeface="メイリオ" panose="020B0604030504040204" pitchFamily="50" charset="-128"/>
              </a:rPr>
              <a:t>』</a:t>
            </a:r>
            <a:r>
              <a:rPr lang="ja-JP" altLang="en-US" sz="2800">
                <a:latin typeface="メイリオ" panose="020B0604030504040204" pitchFamily="50" charset="-128"/>
                <a:ea typeface="メイリオ" panose="020B0604030504040204" pitchFamily="50" charset="-128"/>
              </a:rPr>
              <a:t>の導入を検討します。</a:t>
            </a:r>
          </a:p>
          <a:p>
            <a:pPr algn="l"/>
            <a:endParaRPr kumimoji="1" lang="ja-JP" altLang="en-US" sz="2800">
              <a:solidFill>
                <a:schemeClr val="bg1">
                  <a:lumMod val="10000"/>
                </a:schemeClr>
              </a:solidFill>
              <a:latin typeface="Meiryo UI" panose="020B0604030504040204" pitchFamily="50" charset="-128"/>
              <a:ea typeface="Meiryo UI" panose="020B0604030504040204" pitchFamily="50" charset="-128"/>
            </a:endParaRPr>
          </a:p>
        </p:txBody>
      </p:sp>
      <p:graphicFrame>
        <p:nvGraphicFramePr>
          <p:cNvPr id="10" name="Table 2">
            <a:extLst>
              <a:ext uri="{FF2B5EF4-FFF2-40B4-BE49-F238E27FC236}">
                <a16:creationId xmlns:a16="http://schemas.microsoft.com/office/drawing/2014/main" id="{7FF72B6A-A21B-F23F-BF6F-BB027C1C6A61}"/>
              </a:ext>
            </a:extLst>
          </p:cNvPr>
          <p:cNvGraphicFramePr>
            <a:graphicFrameLocks noGrp="1"/>
          </p:cNvGraphicFramePr>
          <p:nvPr>
            <p:extLst>
              <p:ext uri="{D42A27DB-BD31-4B8C-83A1-F6EECF244321}">
                <p14:modId xmlns:p14="http://schemas.microsoft.com/office/powerpoint/2010/main" val="2676532332"/>
              </p:ext>
            </p:extLst>
          </p:nvPr>
        </p:nvGraphicFramePr>
        <p:xfrm>
          <a:off x="446598" y="4348563"/>
          <a:ext cx="17027802" cy="5135880"/>
        </p:xfrm>
        <a:graphic>
          <a:graphicData uri="http://schemas.openxmlformats.org/drawingml/2006/table">
            <a:tbl>
              <a:tblPr firstRow="1" bandRow="1">
                <a:tableStyleId>{5C22544A-7EE6-4342-B048-85BDC9FD1C3A}</a:tableStyleId>
              </a:tblPr>
              <a:tblGrid>
                <a:gridCol w="4522824">
                  <a:extLst>
                    <a:ext uri="{9D8B030D-6E8A-4147-A177-3AD203B41FA5}">
                      <a16:colId xmlns:a16="http://schemas.microsoft.com/office/drawing/2014/main" val="20000"/>
                    </a:ext>
                  </a:extLst>
                </a:gridCol>
                <a:gridCol w="6418730">
                  <a:extLst>
                    <a:ext uri="{9D8B030D-6E8A-4147-A177-3AD203B41FA5}">
                      <a16:colId xmlns:a16="http://schemas.microsoft.com/office/drawing/2014/main" val="20001"/>
                    </a:ext>
                  </a:extLst>
                </a:gridCol>
                <a:gridCol w="6086248">
                  <a:extLst>
                    <a:ext uri="{9D8B030D-6E8A-4147-A177-3AD203B41FA5}">
                      <a16:colId xmlns:a16="http://schemas.microsoft.com/office/drawing/2014/main" val="2455380522"/>
                    </a:ext>
                  </a:extLst>
                </a:gridCol>
              </a:tblGrid>
              <a:tr h="176061">
                <a:tc>
                  <a:txBody>
                    <a:bodyPr/>
                    <a:lstStyle/>
                    <a:p>
                      <a:pPr algn="ctr">
                        <a:defRPr b="1"/>
                      </a:pPr>
                      <a:r>
                        <a:rPr lang="ja-JP" altLang="en-US" sz="2500">
                          <a:latin typeface="メイリオ" panose="020B0604030504040204" pitchFamily="50" charset="-128"/>
                          <a:ea typeface="メイリオ" panose="020B0604030504040204" pitchFamily="50" charset="-128"/>
                        </a:rPr>
                        <a:t>現状</a:t>
                      </a:r>
                      <a:r>
                        <a:rPr sz="2500">
                          <a:latin typeface="メイリオ" panose="020B0604030504040204" pitchFamily="50" charset="-128"/>
                          <a:ea typeface="メイリオ" panose="020B0604030504040204" pitchFamily="50" charset="-128"/>
                        </a:rPr>
                        <a:t>の</a:t>
                      </a:r>
                      <a:r>
                        <a:rPr lang="ja-JP" altLang="en-US" sz="2500">
                          <a:latin typeface="メイリオ" panose="020B0604030504040204" pitchFamily="50" charset="-128"/>
                          <a:ea typeface="メイリオ" panose="020B0604030504040204" pitchFamily="50" charset="-128"/>
                        </a:rPr>
                        <a:t>課題</a:t>
                      </a:r>
                      <a:endParaRPr sz="2500">
                        <a:latin typeface="メイリオ" panose="020B0604030504040204" pitchFamily="50" charset="-128"/>
                        <a:ea typeface="メイリオ" panose="020B0604030504040204" pitchFamily="50" charset="-128"/>
                      </a:endParaRPr>
                    </a:p>
                  </a:txBody>
                  <a:tcPr anchor="ctr" anchorCtr="1"/>
                </a:tc>
                <a:tc>
                  <a:txBody>
                    <a:bodyPr/>
                    <a:lstStyle/>
                    <a:p>
                      <a:pPr algn="ctr">
                        <a:defRPr b="1"/>
                      </a:pPr>
                      <a:r>
                        <a:rPr lang="ja-JP" altLang="en-US" sz="2500">
                          <a:latin typeface="メイリオ" panose="020B0604030504040204" pitchFamily="50" charset="-128"/>
                          <a:ea typeface="メイリオ" panose="020B0604030504040204" pitchFamily="50" charset="-128"/>
                        </a:rPr>
                        <a:t>従来の対応</a:t>
                      </a:r>
                      <a:endParaRPr sz="2500">
                        <a:latin typeface="メイリオ" panose="020B0604030504040204" pitchFamily="50" charset="-128"/>
                        <a:ea typeface="メイリオ" panose="020B0604030504040204" pitchFamily="50" charset="-128"/>
                      </a:endParaRPr>
                    </a:p>
                  </a:txBody>
                  <a:tcPr anchor="ctr" anchorCtr="1"/>
                </a:tc>
                <a:tc>
                  <a:txBody>
                    <a:bodyPr/>
                    <a:lstStyle/>
                    <a:p>
                      <a:pPr algn="ctr">
                        <a:defRPr b="1"/>
                      </a:pPr>
                      <a:r>
                        <a:rPr lang="en-US" sz="2500">
                          <a:latin typeface="メイリオ" panose="020B0604030504040204" pitchFamily="50" charset="-128"/>
                          <a:ea typeface="メイリオ" panose="020B0604030504040204" pitchFamily="50" charset="-128"/>
                        </a:rPr>
                        <a:t>DevOps</a:t>
                      </a:r>
                      <a:r>
                        <a:rPr lang="ja-JP" altLang="en-US" sz="2500">
                          <a:latin typeface="メイリオ" panose="020B0604030504040204" pitchFamily="50" charset="-128"/>
                          <a:ea typeface="メイリオ" panose="020B0604030504040204" pitchFamily="50" charset="-128"/>
                        </a:rPr>
                        <a:t>モデルでの対応</a:t>
                      </a:r>
                      <a:endParaRPr sz="2500">
                        <a:latin typeface="メイリオ" panose="020B0604030504040204" pitchFamily="50" charset="-128"/>
                        <a:ea typeface="メイリオ" panose="020B0604030504040204" pitchFamily="50" charset="-128"/>
                      </a:endParaRPr>
                    </a:p>
                  </a:txBody>
                  <a:tcPr anchor="ctr" anchorCtr="1"/>
                </a:tc>
                <a:extLst>
                  <a:ext uri="{0D108BD9-81ED-4DB2-BD59-A6C34878D82A}">
                    <a16:rowId xmlns:a16="http://schemas.microsoft.com/office/drawing/2014/main" val="10000"/>
                  </a:ext>
                </a:extLst>
              </a:tr>
              <a:tr h="0">
                <a:tc>
                  <a:txBody>
                    <a:bodyPr/>
                    <a:lstStyle/>
                    <a:p>
                      <a:pPr algn="l"/>
                      <a:r>
                        <a:rPr kumimoji="1" lang="ja-JP" altLang="en-US" sz="2400" kern="1200">
                          <a:solidFill>
                            <a:schemeClr val="dk1"/>
                          </a:solidFill>
                          <a:effectLst/>
                          <a:latin typeface="メイリオ" panose="020B0604030504040204" pitchFamily="50" charset="-128"/>
                          <a:ea typeface="メイリオ" panose="020B0604030504040204" pitchFamily="50" charset="-128"/>
                          <a:cs typeface="+mn-cs"/>
                        </a:rPr>
                        <a:t>リリース作業による不具合の発生　　</a:t>
                      </a: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txBody>
                  <a:tcPr anchor="ctr"/>
                </a:tc>
                <a:tc>
                  <a:txBody>
                    <a:bodyPr/>
                    <a:lstStyle/>
                    <a:p>
                      <a:pPr marL="0" indent="0" algn="l">
                        <a:buFontTx/>
                        <a:buNone/>
                      </a:pPr>
                      <a:r>
                        <a:rPr kumimoji="1" lang="ja-JP" altLang="ja-JP" sz="2400" kern="1200">
                          <a:solidFill>
                            <a:schemeClr val="dk1"/>
                          </a:solidFill>
                          <a:effectLst/>
                          <a:latin typeface="メイリオ" panose="020B0604030504040204" pitchFamily="50" charset="-128"/>
                          <a:ea typeface="メイリオ" panose="020B0604030504040204" pitchFamily="50" charset="-128"/>
                          <a:cs typeface="+mn-cs"/>
                        </a:rPr>
                        <a:t>手動でのリリース作業 </a:t>
                      </a: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txBody>
                  <a:tcPr anchor="ctr"/>
                </a:tc>
                <a:tc>
                  <a:txBody>
                    <a:bodyPr/>
                    <a:lstStyle/>
                    <a:p>
                      <a:pPr algn="l"/>
                      <a:endParaRPr lang="en-US" altLang="ja-JP" sz="2400">
                        <a:latin typeface="メイリオ" panose="020B0604030504040204" pitchFamily="50" charset="-128"/>
                        <a:ea typeface="メイリオ" panose="020B0604030504040204" pitchFamily="50" charset="-128"/>
                      </a:endParaRPr>
                    </a:p>
                    <a:p>
                      <a:pPr algn="l"/>
                      <a:r>
                        <a:rPr lang="en-US" altLang="ja-JP" sz="2400">
                          <a:latin typeface="メイリオ" panose="020B0604030504040204" pitchFamily="50" charset="-128"/>
                          <a:ea typeface="メイリオ" panose="020B0604030504040204" pitchFamily="50" charset="-128"/>
                        </a:rPr>
                        <a:t>CI/CD</a:t>
                      </a:r>
                      <a:r>
                        <a:rPr lang="ja-JP" altLang="en-US" sz="2400">
                          <a:latin typeface="メイリオ" panose="020B0604030504040204" pitchFamily="50" charset="-128"/>
                          <a:ea typeface="メイリオ" panose="020B0604030504040204" pitchFamily="50" charset="-128"/>
                        </a:rPr>
                        <a:t>で自動化された安定したリリースにより、不具合発生の減少</a:t>
                      </a:r>
                      <a:endParaRPr lang="en-US" altLang="ja-JP" sz="2400">
                        <a:latin typeface="メイリオ" panose="020B0604030504040204" pitchFamily="50" charset="-128"/>
                        <a:ea typeface="メイリオ" panose="020B0604030504040204" pitchFamily="50" charset="-128"/>
                      </a:endParaRPr>
                    </a:p>
                    <a:p>
                      <a:pPr algn="l"/>
                      <a:endParaRPr lang="en-US" altLang="ja-JP" sz="240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1"/>
                  </a:ext>
                </a:extLst>
              </a:tr>
              <a:tr h="513347">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400" kern="1200">
                          <a:solidFill>
                            <a:schemeClr val="dk1"/>
                          </a:solidFill>
                          <a:effectLst/>
                          <a:latin typeface="メイリオ" panose="020B0604030504040204" pitchFamily="50" charset="-128"/>
                          <a:ea typeface="メイリオ" panose="020B0604030504040204" pitchFamily="50" charset="-128"/>
                          <a:cs typeface="+mn-cs"/>
                        </a:rPr>
                        <a:t>不具合発生時の原因特定に時間がかかる</a:t>
                      </a:r>
                      <a:endParaRPr lang="ja-JP" altLang="en-US" sz="2400">
                        <a:latin typeface="メイリオ" panose="020B0604030504040204" pitchFamily="50" charset="-128"/>
                        <a:ea typeface="メイリオ" panose="020B0604030504040204" pitchFamily="50" charset="-128"/>
                      </a:endParaRPr>
                    </a:p>
                    <a:p>
                      <a:pPr algn="l"/>
                      <a:endParaRPr lang="en-US" altLang="ja-JP" sz="2400">
                        <a:latin typeface="メイリオ" panose="020B0604030504040204" pitchFamily="50" charset="-128"/>
                        <a:ea typeface="メイリオ" panose="020B0604030504040204" pitchFamily="50" charset="-128"/>
                      </a:endParaRPr>
                    </a:p>
                  </a:txBody>
                  <a:tcPr anchor="ctr"/>
                </a:tc>
                <a:tc>
                  <a:txBody>
                    <a:bodyPr/>
                    <a:lstStyle/>
                    <a:p>
                      <a:pPr marL="0" indent="0" algn="l">
                        <a:buFontTx/>
                        <a:buNone/>
                      </a:pP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p>
                      <a:pPr marL="0" indent="0" algn="l">
                        <a:buFontTx/>
                        <a:buNone/>
                      </a:pPr>
                      <a:r>
                        <a:rPr kumimoji="1" lang="ja-JP" altLang="en-US" sz="2400" kern="1200">
                          <a:solidFill>
                            <a:schemeClr val="dk1"/>
                          </a:solidFill>
                          <a:effectLst/>
                          <a:latin typeface="メイリオ" panose="020B0604030504040204" pitchFamily="50" charset="-128"/>
                          <a:ea typeface="メイリオ" panose="020B0604030504040204" pitchFamily="50" charset="-128"/>
                          <a:cs typeface="+mn-cs"/>
                        </a:rPr>
                        <a:t>担当者がソースや仕様書を読み込んで調査</a:t>
                      </a: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p>
                      <a:pPr marL="0" indent="0" algn="l">
                        <a:buFontTx/>
                        <a:buNone/>
                      </a:pPr>
                      <a:endParaRPr lang="ja-JP" altLang="en-US" sz="2400">
                        <a:latin typeface="メイリオ" panose="020B0604030504040204" pitchFamily="50" charset="-128"/>
                        <a:ea typeface="メイリオ" panose="020B0604030504040204" pitchFamily="50" charset="-128"/>
                      </a:endParaRPr>
                    </a:p>
                  </a:txBody>
                  <a:tcPr anchor="ct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400" kern="1200">
                          <a:solidFill>
                            <a:schemeClr val="dk1"/>
                          </a:solidFill>
                          <a:effectLst/>
                          <a:latin typeface="メイリオ" panose="020B0604030504040204" pitchFamily="50" charset="-128"/>
                          <a:ea typeface="メイリオ" panose="020B0604030504040204" pitchFamily="50" charset="-128"/>
                          <a:cs typeface="+mn-cs"/>
                        </a:rPr>
                        <a:t>ログ解析の自動化やコードチェックの実施</a:t>
                      </a:r>
                      <a:endParaRPr lang="en-US" altLang="ja-JP" sz="2400">
                        <a:latin typeface="メイリオ" panose="020B0604030504040204" pitchFamily="50" charset="-128"/>
                        <a:ea typeface="メイリオ" panose="020B0604030504040204" pitchFamily="50" charset="-128"/>
                      </a:endParaRPr>
                    </a:p>
                    <a:p>
                      <a:pPr marL="0" marR="0" lvl="0" indent="0" algn="l" defTabSz="1371600" rtl="0" eaLnBrk="1" fontAlgn="auto" latinLnBrk="0" hangingPunct="1">
                        <a:lnSpc>
                          <a:spcPct val="100000"/>
                        </a:lnSpc>
                        <a:spcBef>
                          <a:spcPts val="0"/>
                        </a:spcBef>
                        <a:spcAft>
                          <a:spcPts val="0"/>
                        </a:spcAft>
                        <a:buClrTx/>
                        <a:buSzTx/>
                        <a:buFontTx/>
                        <a:buNone/>
                        <a:tabLst/>
                        <a:defRPr/>
                      </a:pPr>
                      <a:endParaRPr lang="ja-JP" altLang="en-US" sz="240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200874599"/>
                  </a:ext>
                </a:extLst>
              </a:tr>
              <a:tr h="513347">
                <a:tc>
                  <a:txBody>
                    <a:bodyPr/>
                    <a:lstStyle/>
                    <a:p>
                      <a:pPr algn="l"/>
                      <a:r>
                        <a:rPr lang="ja-JP" altLang="en-US" sz="2400">
                          <a:latin typeface="メイリオ" panose="020B0604030504040204" pitchFamily="50" charset="-128"/>
                          <a:ea typeface="メイリオ" panose="020B0604030504040204" pitchFamily="50" charset="-128"/>
                        </a:rPr>
                        <a:t>テストの工数が多い</a:t>
                      </a:r>
                      <a:endParaRPr lang="en-US" altLang="ja-JP" sz="2400">
                        <a:latin typeface="メイリオ" panose="020B0604030504040204" pitchFamily="50" charset="-128"/>
                        <a:ea typeface="メイリオ" panose="020B0604030504040204" pitchFamily="50" charset="-128"/>
                      </a:endParaRPr>
                    </a:p>
                  </a:txBody>
                  <a:tcPr anchor="ctr"/>
                </a:tc>
                <a:tc>
                  <a:txBody>
                    <a:bodyPr/>
                    <a:lstStyle/>
                    <a:p>
                      <a:pPr marL="0" indent="0" algn="l">
                        <a:buFontTx/>
                        <a:buNone/>
                      </a:pPr>
                      <a:endParaRPr lang="en-US" altLang="ja-JP" sz="2400">
                        <a:latin typeface="メイリオ" panose="020B0604030504040204" pitchFamily="50" charset="-128"/>
                        <a:ea typeface="メイリオ" panose="020B0604030504040204" pitchFamily="50" charset="-128"/>
                      </a:endParaRPr>
                    </a:p>
                    <a:p>
                      <a:pPr marL="0" indent="0" algn="l">
                        <a:buFontTx/>
                        <a:buNone/>
                      </a:pPr>
                      <a:r>
                        <a:rPr lang="ja-JP" altLang="en-US" sz="2400">
                          <a:latin typeface="メイリオ" panose="020B0604030504040204" pitchFamily="50" charset="-128"/>
                          <a:ea typeface="メイリオ" panose="020B0604030504040204" pitchFamily="50" charset="-128"/>
                        </a:rPr>
                        <a:t>テスト工程を手作業で実施</a:t>
                      </a:r>
                      <a:endParaRPr lang="en-US" altLang="ja-JP" sz="2400">
                        <a:latin typeface="メイリオ" panose="020B0604030504040204" pitchFamily="50" charset="-128"/>
                        <a:ea typeface="メイリオ" panose="020B0604030504040204" pitchFamily="50" charset="-128"/>
                      </a:endParaRPr>
                    </a:p>
                    <a:p>
                      <a:pPr marL="0" indent="0" algn="l">
                        <a:buFontTx/>
                        <a:buNone/>
                      </a:pPr>
                      <a:r>
                        <a:rPr lang="ja-JP" altLang="en-US" sz="2400">
                          <a:latin typeface="メイリオ" panose="020B0604030504040204" pitchFamily="50" charset="-128"/>
                          <a:ea typeface="メイリオ" panose="020B0604030504040204" pitchFamily="50" charset="-128"/>
                        </a:rPr>
                        <a:t>修正後の再テストに多くの工数が必要</a:t>
                      </a:r>
                      <a:endParaRPr lang="en-US" altLang="ja-JP" sz="2400">
                        <a:latin typeface="メイリオ" panose="020B0604030504040204" pitchFamily="50" charset="-128"/>
                        <a:ea typeface="メイリオ" panose="020B0604030504040204" pitchFamily="50" charset="-128"/>
                      </a:endParaRPr>
                    </a:p>
                    <a:p>
                      <a:pPr marL="0" indent="0" algn="l">
                        <a:buFontTx/>
                        <a:buNone/>
                      </a:pPr>
                      <a:endParaRPr lang="ja-JP" altLang="en-US" sz="2400">
                        <a:latin typeface="メイリオ" panose="020B0604030504040204" pitchFamily="50" charset="-128"/>
                        <a:ea typeface="メイリオ" panose="020B0604030504040204" pitchFamily="50" charset="-128"/>
                      </a:endParaRPr>
                    </a:p>
                  </a:txBody>
                  <a:tcPr anchor="ct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lang="en-US" altLang="ja-JP" sz="2400">
                        <a:latin typeface="メイリオ" panose="020B0604030504040204" pitchFamily="50" charset="-128"/>
                        <a:ea typeface="メイリオ" panose="020B0604030504040204" pitchFamily="50" charset="-128"/>
                      </a:endParaRPr>
                    </a:p>
                    <a:p>
                      <a:pPr marL="0" marR="0" lvl="0" indent="0" algn="l" defTabSz="1371600" rtl="0" eaLnBrk="1" fontAlgn="auto" latinLnBrk="0" hangingPunct="1">
                        <a:lnSpc>
                          <a:spcPct val="100000"/>
                        </a:lnSpc>
                        <a:spcBef>
                          <a:spcPts val="0"/>
                        </a:spcBef>
                        <a:spcAft>
                          <a:spcPts val="0"/>
                        </a:spcAft>
                        <a:buClrTx/>
                        <a:buSzTx/>
                        <a:buFontTx/>
                        <a:buNone/>
                        <a:tabLst/>
                        <a:defRPr/>
                      </a:pPr>
                      <a:r>
                        <a:rPr lang="ja-JP" altLang="en-US" sz="2400">
                          <a:latin typeface="メイリオ" panose="020B0604030504040204" pitchFamily="50" charset="-128"/>
                          <a:ea typeface="メイリオ" panose="020B0604030504040204" pitchFamily="50" charset="-128"/>
                        </a:rPr>
                        <a:t>自動テストによる労力の削減</a:t>
                      </a:r>
                      <a:endParaRPr lang="en-US" altLang="ja-JP" sz="2400">
                        <a:latin typeface="メイリオ" panose="020B0604030504040204" pitchFamily="50" charset="-128"/>
                        <a:ea typeface="メイリオ" panose="020B0604030504040204" pitchFamily="50" charset="-128"/>
                      </a:endParaRPr>
                    </a:p>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400" kern="1200">
                          <a:solidFill>
                            <a:schemeClr val="dk1"/>
                          </a:solidFill>
                          <a:effectLst/>
                          <a:latin typeface="メイリオ" panose="020B0604030504040204" pitchFamily="50" charset="-128"/>
                          <a:ea typeface="メイリオ" panose="020B0604030504040204" pitchFamily="50" charset="-128"/>
                          <a:cs typeface="+mn-cs"/>
                        </a:rPr>
                        <a:t>エラー箇所をチェック</a:t>
                      </a:r>
                      <a:endParaRPr kumimoji="1" lang="en-US" altLang="ja-JP" sz="2400" kern="1200">
                        <a:solidFill>
                          <a:schemeClr val="dk1"/>
                        </a:solidFill>
                        <a:effectLst/>
                        <a:latin typeface="メイリオ" panose="020B0604030504040204" pitchFamily="50" charset="-128"/>
                        <a:ea typeface="メイリオ" panose="020B0604030504040204" pitchFamily="50" charset="-128"/>
                        <a:cs typeface="+mn-cs"/>
                      </a:endParaRPr>
                    </a:p>
                    <a:p>
                      <a:pPr marL="0" marR="0" lvl="0" indent="0" algn="l" defTabSz="1371600" rtl="0" eaLnBrk="1" fontAlgn="auto" latinLnBrk="0" hangingPunct="1">
                        <a:lnSpc>
                          <a:spcPct val="100000"/>
                        </a:lnSpc>
                        <a:spcBef>
                          <a:spcPts val="0"/>
                        </a:spcBef>
                        <a:spcAft>
                          <a:spcPts val="0"/>
                        </a:spcAft>
                        <a:buClrTx/>
                        <a:buSzTx/>
                        <a:buFontTx/>
                        <a:buNone/>
                        <a:tabLst/>
                        <a:defRPr/>
                      </a:pPr>
                      <a:endParaRPr lang="ja-JP" altLang="en-US" sz="240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80917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７－２</a:t>
            </a:r>
            <a:r>
              <a:rPr lang="ja-JP" altLang="en-US">
                <a:latin typeface="Meiryo UI" panose="020B0604030504040204" pitchFamily="50" charset="-128"/>
                <a:ea typeface="Meiryo UI" panose="020B0604030504040204" pitchFamily="50" charset="-128"/>
              </a:rPr>
              <a:t>．移行・導入計画</a:t>
            </a: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51</a:t>
            </a:fld>
            <a:endParaRPr lang="ja-JP" altLang="en-US"/>
          </a:p>
        </p:txBody>
      </p:sp>
      <p:sp>
        <p:nvSpPr>
          <p:cNvPr id="6" name="テキスト ボックス 5">
            <a:extLst>
              <a:ext uri="{FF2B5EF4-FFF2-40B4-BE49-F238E27FC236}">
                <a16:creationId xmlns:a16="http://schemas.microsoft.com/office/drawing/2014/main" id="{DB2A4EDE-B797-450A-6251-875E704B9DC8}"/>
              </a:ext>
            </a:extLst>
          </p:cNvPr>
          <p:cNvSpPr txBox="1"/>
          <p:nvPr/>
        </p:nvSpPr>
        <p:spPr>
          <a:xfrm>
            <a:off x="463733" y="1497739"/>
            <a:ext cx="17415668" cy="7148111"/>
          </a:xfrm>
          <a:prstGeom prst="rect">
            <a:avLst/>
          </a:prstGeom>
          <a:noFill/>
        </p:spPr>
        <p:txBody>
          <a:bodyPr wrap="square" rtlCol="0">
            <a:spAutoFit/>
          </a:bodyPr>
          <a:lstStyle/>
          <a:p>
            <a:pPr>
              <a:lnSpc>
                <a:spcPct val="150000"/>
              </a:lnSpc>
            </a:pPr>
            <a:r>
              <a:rPr lang="ja-JP" altLang="en-US" sz="2800">
                <a:latin typeface="メイリオ" panose="020B0604030504040204" pitchFamily="50" charset="-128"/>
                <a:ea typeface="メイリオ" panose="020B0604030504040204" pitchFamily="50" charset="-128"/>
              </a:rPr>
              <a:t>１．方針</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本計画は、現行</a:t>
            </a:r>
            <a:r>
              <a:rPr lang="en-US" altLang="ja-JP" sz="2800">
                <a:latin typeface="メイリオ" panose="020B0604030504040204" pitchFamily="50" charset="-128"/>
                <a:ea typeface="メイリオ" panose="020B0604030504040204" pitchFamily="50" charset="-128"/>
              </a:rPr>
              <a:t>POS</a:t>
            </a:r>
            <a:r>
              <a:rPr lang="ja-JP" altLang="en-US" sz="2800">
                <a:latin typeface="メイリオ" panose="020B0604030504040204" pitchFamily="50" charset="-128"/>
                <a:ea typeface="メイリオ" panose="020B0604030504040204" pitchFamily="50" charset="-128"/>
              </a:rPr>
              <a:t>システムから新システムへの円滑かつ確実な移行を目的とします。</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移行／導入は、業務への影響を最小限に抑えつつ、安定稼働を最優先として段階的に実施します。</a:t>
            </a:r>
            <a:endParaRPr lang="en-US" altLang="ja-JP" sz="2800">
              <a:latin typeface="メイリオ" panose="020B0604030504040204" pitchFamily="50" charset="-128"/>
              <a:ea typeface="メイリオ" panose="020B0604030504040204" pitchFamily="50" charset="-128"/>
            </a:endParaRPr>
          </a:p>
          <a:p>
            <a:pPr>
              <a:lnSpc>
                <a:spcPct val="150000"/>
              </a:lnSpc>
            </a:pP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２．段階的移行・展開方式</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en-US" altLang="ja-JP" sz="2800">
                <a:latin typeface="メイリオ" panose="020B0604030504040204" pitchFamily="50" charset="-128"/>
                <a:ea typeface="メイリオ" panose="020B0604030504040204" pitchFamily="50" charset="-128"/>
              </a:rPr>
              <a:t>1〜2</a:t>
            </a:r>
            <a:r>
              <a:rPr lang="ja-JP" altLang="en-US" sz="2800">
                <a:latin typeface="メイリオ" panose="020B0604030504040204" pitchFamily="50" charset="-128"/>
                <a:ea typeface="メイリオ" panose="020B0604030504040204" pitchFamily="50" charset="-128"/>
              </a:rPr>
              <a:t>店舗から段階的に導入することを検討します。</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店舗内の機器は各機器単位で順次展開できるかについても現在調査中です。</a:t>
            </a:r>
            <a:br>
              <a:rPr lang="en-US" altLang="ja-JP" sz="2800">
                <a:latin typeface="メイリオ" panose="020B0604030504040204" pitchFamily="50" charset="-128"/>
                <a:ea typeface="メイリオ" panose="020B0604030504040204" pitchFamily="50" charset="-128"/>
              </a:rPr>
            </a:br>
            <a:endParaRPr lang="en-US" altLang="ja-JP" sz="2800">
              <a:latin typeface="メイリオ" panose="020B0604030504040204" pitchFamily="50" charset="-128"/>
              <a:ea typeface="メイリオ" panose="020B0604030504040204" pitchFamily="50" charset="-128"/>
            </a:endParaRPr>
          </a:p>
          <a:p>
            <a:pPr>
              <a:lnSpc>
                <a:spcPct val="150000"/>
              </a:lnSpc>
            </a:pPr>
            <a:r>
              <a:rPr lang="ja-JP" altLang="en-US" sz="2800">
                <a:latin typeface="メイリオ" panose="020B0604030504040204" pitchFamily="50" charset="-128"/>
                <a:ea typeface="メイリオ" panose="020B0604030504040204" pitchFamily="50" charset="-128"/>
              </a:rPr>
              <a:t>３．データ連携・引き継ぎ設計</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新旧システム間でのデータ連携を可能とし、途中で処理を移行しても業務が継続できる構造を検討します。</a:t>
            </a:r>
            <a:endParaRPr lang="en-US" altLang="ja-JP" sz="2800">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r>
              <a:rPr lang="ja-JP" altLang="en-US" sz="2800">
                <a:latin typeface="メイリオ" panose="020B0604030504040204" pitchFamily="50" charset="-128"/>
                <a:ea typeface="メイリオ" panose="020B0604030504040204" pitchFamily="50" charset="-128"/>
              </a:rPr>
              <a:t>データ統合設計は、各ベンダー様と協議しながら進めます。</a:t>
            </a:r>
            <a:endParaRPr lang="en-US" altLang="ja-JP" sz="280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DD85A700-202B-3A00-5313-4C92B577DB1F}"/>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7313D06A-2E67-5ADD-A4C8-BD328BD6094B}"/>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8430488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a:t>７－３</a:t>
            </a:r>
            <a:r>
              <a:rPr lang="ja-JP" altLang="en-US">
                <a:latin typeface="Meiryo UI" panose="020B0604030504040204" pitchFamily="50" charset="-128"/>
                <a:ea typeface="Meiryo UI" panose="020B0604030504040204" pitchFamily="50" charset="-128"/>
              </a:rPr>
              <a:t>．</a:t>
            </a:r>
            <a:r>
              <a:rPr lang="ja-JP" altLang="en-US"/>
              <a:t>教育計画</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52</a:t>
            </a:fld>
            <a:endParaRPr lang="ja-JP" altLang="en-US"/>
          </a:p>
        </p:txBody>
      </p:sp>
      <p:sp>
        <p:nvSpPr>
          <p:cNvPr id="6" name="テキスト ボックス 5">
            <a:extLst>
              <a:ext uri="{FF2B5EF4-FFF2-40B4-BE49-F238E27FC236}">
                <a16:creationId xmlns:a16="http://schemas.microsoft.com/office/drawing/2014/main" id="{DB2A4EDE-B797-450A-6251-875E704B9DC8}"/>
              </a:ext>
            </a:extLst>
          </p:cNvPr>
          <p:cNvSpPr txBox="1"/>
          <p:nvPr/>
        </p:nvSpPr>
        <p:spPr>
          <a:xfrm>
            <a:off x="463733" y="1497739"/>
            <a:ext cx="17415668" cy="68480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altLang="ja-JP" sz="2800">
                <a:latin typeface="メイリオ" panose="020B0604030504040204" pitchFamily="50" charset="-128"/>
                <a:ea typeface="メイリオ" panose="020B0604030504040204" pitchFamily="50" charset="-128"/>
              </a:rPr>
              <a:t>SMJ</a:t>
            </a:r>
            <a:r>
              <a:rPr lang="ja-JP" altLang="en-US" sz="2800">
                <a:latin typeface="メイリオ" panose="020B0604030504040204" pitchFamily="50" charset="-128"/>
                <a:ea typeface="メイリオ" panose="020B0604030504040204" pitchFamily="50" charset="-128"/>
              </a:rPr>
              <a:t>側で操作マニュアルを作成し、ケーズ様の方で教育を実施していただく想定です。</a:t>
            </a:r>
            <a:endParaRPr lang="en-US" altLang="ja-JP" sz="2800">
              <a:latin typeface="メイリオ" panose="020B0604030504040204" pitchFamily="50" charset="-128"/>
              <a:ea typeface="メイリオ" panose="020B0604030504040204" pitchFamily="50" charset="-128"/>
            </a:endParaRPr>
          </a:p>
        </p:txBody>
      </p:sp>
      <p:sp>
        <p:nvSpPr>
          <p:cNvPr id="4" name="フッター プレースホルダー 3">
            <a:extLst>
              <a:ext uri="{FF2B5EF4-FFF2-40B4-BE49-F238E27FC236}">
                <a16:creationId xmlns:a16="http://schemas.microsoft.com/office/drawing/2014/main" id="{DD85A700-202B-3A00-5313-4C92B577DB1F}"/>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5" name="テキスト プレースホルダー 11">
            <a:extLst>
              <a:ext uri="{FF2B5EF4-FFF2-40B4-BE49-F238E27FC236}">
                <a16:creationId xmlns:a16="http://schemas.microsoft.com/office/drawing/2014/main" id="{7313D06A-2E67-5ADD-A4C8-BD328BD6094B}"/>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Tree>
    <p:extLst>
      <p:ext uri="{BB962C8B-B14F-4D97-AF65-F5344CB8AC3E}">
        <p14:creationId xmlns:p14="http://schemas.microsoft.com/office/powerpoint/2010/main" val="13585681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8CF38-3DDC-1C5B-2681-566D258D4C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FF267A-0641-10A2-DA54-5646C860BDA2}"/>
              </a:ext>
            </a:extLst>
          </p:cNvPr>
          <p:cNvSpPr>
            <a:spLocks noGrp="1"/>
          </p:cNvSpPr>
          <p:nvPr>
            <p:ph type="title"/>
          </p:nvPr>
        </p:nvSpPr>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７－４．推進</a:t>
            </a:r>
            <a:r>
              <a:rPr lang="ja-JP" altLang="en-US">
                <a:latin typeface="Meiryo UI" panose="020B0604030504040204" pitchFamily="50" charset="-128"/>
                <a:ea typeface="Meiryo UI" panose="020B0604030504040204" pitchFamily="50" charset="-128"/>
              </a:rPr>
              <a:t>体制（</a:t>
            </a:r>
            <a:r>
              <a:rPr lang="en-US" altLang="ja-JP"/>
              <a:t>7</a:t>
            </a:r>
            <a:r>
              <a:rPr lang="ja-JP" altLang="en-US"/>
              <a:t>月組みなおし、</a:t>
            </a:r>
            <a:r>
              <a:rPr lang="en-US" altLang="ja-JP"/>
              <a:t>9</a:t>
            </a:r>
            <a:r>
              <a:rPr lang="ja-JP" altLang="en-US"/>
              <a:t>月</a:t>
            </a:r>
            <a:r>
              <a:rPr lang="ja-JP" altLang="en-US" dirty="0"/>
              <a:t>までの体制）</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FD0C4DA-7BD0-77C0-F92A-6AE2CA586719}"/>
              </a:ext>
            </a:extLst>
          </p:cNvPr>
          <p:cNvSpPr>
            <a:spLocks noGrp="1"/>
          </p:cNvSpPr>
          <p:nvPr>
            <p:ph type="sldNum" sz="quarter" idx="12"/>
          </p:nvPr>
        </p:nvSpPr>
        <p:spPr/>
        <p:txBody>
          <a:bodyPr/>
          <a:lstStyle/>
          <a:p>
            <a:fld id="{2A9E37A5-A917-4235-ABF6-8CD72E894915}" type="slidenum">
              <a:rPr lang="en-US" altLang="ja-JP" smtClean="0"/>
              <a:pPr/>
              <a:t>53</a:t>
            </a:fld>
            <a:endParaRPr lang="ja-JP" altLang="en-US"/>
          </a:p>
        </p:txBody>
      </p:sp>
      <p:sp>
        <p:nvSpPr>
          <p:cNvPr id="7" name="テキスト プレースホルダー 11">
            <a:extLst>
              <a:ext uri="{FF2B5EF4-FFF2-40B4-BE49-F238E27FC236}">
                <a16:creationId xmlns:a16="http://schemas.microsoft.com/office/drawing/2014/main" id="{C8496F54-F891-D1A9-74CB-85C75D23A1EA}"/>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graphicFrame>
        <p:nvGraphicFramePr>
          <p:cNvPr id="5" name="表 4">
            <a:extLst>
              <a:ext uri="{FF2B5EF4-FFF2-40B4-BE49-F238E27FC236}">
                <a16:creationId xmlns:a16="http://schemas.microsoft.com/office/drawing/2014/main" id="{8C0C0D8B-6F6E-BC8D-0BAA-804546F40D55}"/>
              </a:ext>
            </a:extLst>
          </p:cNvPr>
          <p:cNvGraphicFramePr>
            <a:graphicFrameLocks noGrp="1"/>
          </p:cNvGraphicFramePr>
          <p:nvPr>
            <p:extLst>
              <p:ext uri="{D42A27DB-BD31-4B8C-83A1-F6EECF244321}">
                <p14:modId xmlns:p14="http://schemas.microsoft.com/office/powerpoint/2010/main" val="3637767583"/>
              </p:ext>
            </p:extLst>
          </p:nvPr>
        </p:nvGraphicFramePr>
        <p:xfrm>
          <a:off x="834887" y="1264307"/>
          <a:ext cx="16618225" cy="7471991"/>
        </p:xfrm>
        <a:graphic>
          <a:graphicData uri="http://schemas.openxmlformats.org/drawingml/2006/table">
            <a:tbl>
              <a:tblPr firstRow="1" bandRow="1">
                <a:tableStyleId>{5C22544A-7EE6-4342-B048-85BDC9FD1C3A}</a:tableStyleId>
              </a:tblPr>
              <a:tblGrid>
                <a:gridCol w="5380176">
                  <a:extLst>
                    <a:ext uri="{9D8B030D-6E8A-4147-A177-3AD203B41FA5}">
                      <a16:colId xmlns:a16="http://schemas.microsoft.com/office/drawing/2014/main" val="1704257979"/>
                    </a:ext>
                  </a:extLst>
                </a:gridCol>
                <a:gridCol w="1874837">
                  <a:extLst>
                    <a:ext uri="{9D8B030D-6E8A-4147-A177-3AD203B41FA5}">
                      <a16:colId xmlns:a16="http://schemas.microsoft.com/office/drawing/2014/main" val="3142304262"/>
                    </a:ext>
                  </a:extLst>
                </a:gridCol>
                <a:gridCol w="9363212">
                  <a:extLst>
                    <a:ext uri="{9D8B030D-6E8A-4147-A177-3AD203B41FA5}">
                      <a16:colId xmlns:a16="http://schemas.microsoft.com/office/drawing/2014/main" val="638262143"/>
                    </a:ext>
                  </a:extLst>
                </a:gridCol>
              </a:tblGrid>
              <a:tr h="416979">
                <a:tc>
                  <a:txBody>
                    <a:bodyPr/>
                    <a:lstStyle/>
                    <a:p>
                      <a:r>
                        <a:rPr kumimoji="1" lang="ja-JP" altLang="en-US" sz="2000" dirty="0">
                          <a:latin typeface="メイリオ" panose="020B0604030504040204" pitchFamily="50" charset="-128"/>
                          <a:ea typeface="メイリオ" panose="020B0604030504040204" pitchFamily="50" charset="-128"/>
                        </a:rPr>
                        <a:t>チーム</a:t>
                      </a:r>
                    </a:p>
                  </a:txBody>
                  <a:tcPr/>
                </a:tc>
                <a:tc>
                  <a:txBody>
                    <a:bodyPr/>
                    <a:lstStyle/>
                    <a:p>
                      <a:r>
                        <a:rPr kumimoji="1" lang="ja-JP" altLang="en-US" sz="2000" dirty="0">
                          <a:latin typeface="メイリオ" panose="020B0604030504040204" pitchFamily="50" charset="-128"/>
                          <a:ea typeface="メイリオ" panose="020B0604030504040204" pitchFamily="50" charset="-128"/>
                        </a:rPr>
                        <a:t>リーダー</a:t>
                      </a:r>
                    </a:p>
                  </a:txBody>
                  <a:tcPr/>
                </a:tc>
                <a:tc>
                  <a:txBody>
                    <a:bodyPr/>
                    <a:lstStyle/>
                    <a:p>
                      <a:r>
                        <a:rPr kumimoji="1" lang="ja-JP" altLang="en-US" sz="2000" dirty="0">
                          <a:latin typeface="メイリオ" panose="020B0604030504040204" pitchFamily="50" charset="-128"/>
                          <a:ea typeface="メイリオ" panose="020B0604030504040204" pitchFamily="50" charset="-128"/>
                        </a:rPr>
                        <a:t>メンバー</a:t>
                      </a:r>
                    </a:p>
                  </a:txBody>
                  <a:tcPr/>
                </a:tc>
                <a:extLst>
                  <a:ext uri="{0D108BD9-81ED-4DB2-BD59-A6C34878D82A}">
                    <a16:rowId xmlns:a16="http://schemas.microsoft.com/office/drawing/2014/main" val="1186033778"/>
                  </a:ext>
                </a:extLst>
              </a:tr>
              <a:tr h="355038">
                <a:tc>
                  <a:txBody>
                    <a:bodyPr/>
                    <a:lstStyle/>
                    <a:p>
                      <a:r>
                        <a:rPr kumimoji="1" lang="ja-JP" altLang="en-US" sz="2000">
                          <a:latin typeface="メイリオ" panose="020B0604030504040204" pitchFamily="50" charset="-128"/>
                          <a:ea typeface="メイリオ" panose="020B0604030504040204" pitchFamily="50" charset="-128"/>
                        </a:rPr>
                        <a:t>全体</a:t>
                      </a:r>
                      <a:r>
                        <a:rPr kumimoji="1" lang="en-US" altLang="ja-JP" sz="2000">
                          <a:latin typeface="メイリオ" panose="020B0604030504040204" pitchFamily="50" charset="-128"/>
                          <a:ea typeface="メイリオ" panose="020B0604030504040204" pitchFamily="50" charset="-128"/>
                        </a:rPr>
                        <a:t>PM</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菅原</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菅原</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131794073"/>
                  </a:ext>
                </a:extLst>
              </a:tr>
              <a:tr h="355038">
                <a:tc>
                  <a:txBody>
                    <a:bodyPr/>
                    <a:lstStyle/>
                    <a:p>
                      <a:r>
                        <a:rPr kumimoji="1" lang="ja-JP" altLang="en-US" sz="2000">
                          <a:latin typeface="メイリオ" panose="020B0604030504040204" pitchFamily="50" charset="-128"/>
                          <a:ea typeface="メイリオ" panose="020B0604030504040204" pitchFamily="50" charset="-128"/>
                        </a:rPr>
                        <a:t>開発責任者</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鎌田</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小林</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32877451"/>
                  </a:ext>
                </a:extLst>
              </a:tr>
              <a:tr h="355038">
                <a:tc>
                  <a:txBody>
                    <a:bodyPr/>
                    <a:lstStyle/>
                    <a:p>
                      <a:r>
                        <a:rPr kumimoji="1" lang="en-US" altLang="ja-JP" sz="2000">
                          <a:latin typeface="メイリオ" panose="020B0604030504040204" pitchFamily="50" charset="-128"/>
                          <a:ea typeface="メイリオ" panose="020B0604030504040204" pitchFamily="50" charset="-128"/>
                        </a:rPr>
                        <a:t>PMO</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小林</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下永、津田、梅本、尹</a:t>
                      </a:r>
                      <a:r>
                        <a:rPr kumimoji="1" lang="en-US" altLang="ja-JP" sz="2000">
                          <a:latin typeface="メイリオ" panose="020B0604030504040204" pitchFamily="50" charset="-128"/>
                          <a:ea typeface="メイリオ" panose="020B0604030504040204" pitchFamily="50" charset="-128"/>
                        </a:rPr>
                        <a:t>PTW</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968428624"/>
                  </a:ext>
                </a:extLst>
              </a:tr>
              <a:tr h="462643">
                <a:tc>
                  <a:txBody>
                    <a:bodyPr/>
                    <a:lstStyle/>
                    <a:p>
                      <a:r>
                        <a:rPr kumimoji="1" lang="ja-JP" altLang="en-US" sz="2000" dirty="0">
                          <a:latin typeface="メイリオ" panose="020B0604030504040204" pitchFamily="50" charset="-128"/>
                          <a:ea typeface="メイリオ" panose="020B0604030504040204" pitchFamily="50" charset="-128"/>
                        </a:rPr>
                        <a:t>開発チーム１</a:t>
                      </a:r>
                      <a:r>
                        <a:rPr kumimoji="1" lang="en-US" altLang="ja-JP" sz="2000" dirty="0">
                          <a:latin typeface="メイリオ" panose="020B0604030504040204" pitchFamily="50" charset="-128"/>
                          <a:ea typeface="メイリオ" panose="020B0604030504040204" pitchFamily="50" charset="-128"/>
                        </a:rPr>
                        <a:t>A</a:t>
                      </a:r>
                      <a:r>
                        <a:rPr kumimoji="1" lang="ja-JP" altLang="en-US" sz="2000">
                          <a:latin typeface="メイリオ" panose="020B0604030504040204" pitchFamily="50" charset="-128"/>
                          <a:ea typeface="メイリオ" panose="020B0604030504040204" pitchFamily="50" charset="-128"/>
                        </a:rPr>
                        <a:t>（先行</a:t>
                      </a:r>
                      <a:r>
                        <a:rPr kumimoji="1" lang="en-US" altLang="ja-JP" sz="2000">
                          <a:latin typeface="メイリオ" panose="020B0604030504040204" pitchFamily="50" charset="-128"/>
                          <a:ea typeface="メイリオ" panose="020B0604030504040204" pitchFamily="50" charset="-128"/>
                        </a:rPr>
                        <a:t>Web</a:t>
                      </a:r>
                      <a:r>
                        <a:rPr kumimoji="1" lang="ja-JP" altLang="en-US" sz="2000" dirty="0">
                          <a:latin typeface="メイリオ" panose="020B0604030504040204" pitchFamily="50" charset="-128"/>
                          <a:ea typeface="メイリオ" panose="020B0604030504040204" pitchFamily="50" charset="-128"/>
                        </a:rPr>
                        <a:t>未処理・精算）</a:t>
                      </a:r>
                    </a:p>
                  </a:txBody>
                  <a:tcPr/>
                </a:tc>
                <a:tc>
                  <a:txBody>
                    <a:bodyPr/>
                    <a:lstStyle/>
                    <a:p>
                      <a:r>
                        <a:rPr kumimoji="1" lang="ja-JP" altLang="en-US" sz="2000" dirty="0">
                          <a:latin typeface="メイリオ" panose="020B0604030504040204" pitchFamily="50" charset="-128"/>
                          <a:ea typeface="メイリオ" panose="020B0604030504040204" pitchFamily="50" charset="-128"/>
                        </a:rPr>
                        <a:t>亀谷</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dirty="0">
                          <a:latin typeface="メイリオ" panose="020B0604030504040204" pitchFamily="50" charset="-128"/>
                          <a:ea typeface="メイリオ" panose="020B0604030504040204" pitchFamily="50" charset="-128"/>
                        </a:rPr>
                        <a:t>田中</a:t>
                      </a:r>
                      <a:r>
                        <a:rPr kumimoji="1" lang="en-US" altLang="ja-JP" sz="2000" dirty="0">
                          <a:latin typeface="メイリオ" panose="020B0604030504040204" pitchFamily="50" charset="-128"/>
                          <a:ea typeface="メイリオ" panose="020B0604030504040204" pitchFamily="50" charset="-128"/>
                        </a:rPr>
                        <a:t>JN</a:t>
                      </a:r>
                      <a:r>
                        <a:rPr kumimoji="1" lang="ja-JP" altLang="en-US" sz="2000" dirty="0">
                          <a:latin typeface="メイリオ" panose="020B0604030504040204" pitchFamily="50" charset="-128"/>
                          <a:ea typeface="メイリオ" panose="020B0604030504040204" pitchFamily="50" charset="-128"/>
                        </a:rPr>
                        <a:t>、山田</a:t>
                      </a:r>
                      <a:r>
                        <a:rPr kumimoji="1" lang="en-US" altLang="ja-JP" sz="2000">
                          <a:latin typeface="メイリオ" panose="020B0604030504040204" pitchFamily="50" charset="-128"/>
                          <a:ea typeface="メイリオ" panose="020B0604030504040204" pitchFamily="50" charset="-128"/>
                        </a:rPr>
                        <a:t>JN</a:t>
                      </a:r>
                      <a:r>
                        <a:rPr kumimoji="1" lang="ja-JP" altLang="en-US" sz="2000">
                          <a:latin typeface="メイリオ" panose="020B0604030504040204" pitchFamily="50" charset="-128"/>
                          <a:ea typeface="メイリオ" panose="020B0604030504040204" pitchFamily="50" charset="-128"/>
                        </a:rPr>
                        <a:t>、</a:t>
                      </a:r>
                      <a:r>
                        <a:rPr kumimoji="1" lang="en-US" altLang="ja-JP" sz="2000">
                          <a:latin typeface="メイリオ" panose="020B0604030504040204" pitchFamily="50" charset="-128"/>
                          <a:ea typeface="メイリオ" panose="020B0604030504040204" pitchFamily="50" charset="-128"/>
                        </a:rPr>
                        <a:t>[</a:t>
                      </a:r>
                      <a:r>
                        <a:rPr kumimoji="1" lang="en-US" altLang="ja-JP" sz="2000" dirty="0">
                          <a:latin typeface="メイリオ" panose="020B0604030504040204" pitchFamily="50" charset="-128"/>
                          <a:ea typeface="メイリオ" panose="020B0604030504040204" pitchFamily="50" charset="-128"/>
                        </a:rPr>
                        <a:t>JNET]</a:t>
                      </a:r>
                      <a:r>
                        <a:rPr kumimoji="1" lang="ja-JP" altLang="en-US" sz="2000" dirty="0">
                          <a:latin typeface="メイリオ" panose="020B0604030504040204" pitchFamily="50" charset="-128"/>
                          <a:ea typeface="メイリオ" panose="020B0604030504040204" pitchFamily="50" charset="-128"/>
                        </a:rPr>
                        <a:t>　</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015496232"/>
                  </a:ext>
                </a:extLst>
              </a:tr>
              <a:tr h="461434">
                <a:tc>
                  <a:txBody>
                    <a:bodyPr/>
                    <a:lstStyle/>
                    <a:p>
                      <a:r>
                        <a:rPr kumimoji="1" lang="ja-JP" altLang="en-US" sz="2000" dirty="0">
                          <a:latin typeface="メイリオ" panose="020B0604030504040204" pitchFamily="50" charset="-128"/>
                          <a:ea typeface="メイリオ" panose="020B0604030504040204" pitchFamily="50" charset="-128"/>
                        </a:rPr>
                        <a:t>開発チーム１</a:t>
                      </a:r>
                      <a:r>
                        <a:rPr kumimoji="1" lang="en-US" altLang="ja-JP" sz="2000" dirty="0">
                          <a:latin typeface="メイリオ" panose="020B0604030504040204" pitchFamily="50" charset="-128"/>
                          <a:ea typeface="メイリオ" panose="020B0604030504040204" pitchFamily="50" charset="-128"/>
                        </a:rPr>
                        <a:t>B</a:t>
                      </a:r>
                      <a:r>
                        <a:rPr kumimoji="1" lang="ja-JP" altLang="en-US" sz="2000" dirty="0">
                          <a:latin typeface="メイリオ" panose="020B0604030504040204" pitchFamily="50" charset="-128"/>
                          <a:ea typeface="メイリオ" panose="020B0604030504040204" pitchFamily="50" charset="-128"/>
                        </a:rPr>
                        <a:t>（先行</a:t>
                      </a:r>
                      <a:r>
                        <a:rPr kumimoji="1" lang="ja-JP" altLang="en-US" sz="2000">
                          <a:latin typeface="メイリオ" panose="020B0604030504040204" pitchFamily="50" charset="-128"/>
                          <a:ea typeface="メイリオ" panose="020B0604030504040204" pitchFamily="50" charset="-128"/>
                        </a:rPr>
                        <a:t>売上）サーバー</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牧田</a:t>
                      </a:r>
                      <a:r>
                        <a:rPr kumimoji="1" lang="en-US" altLang="ja-JP" sz="2000">
                          <a:latin typeface="メイリオ" panose="020B0604030504040204" pitchFamily="50" charset="-128"/>
                          <a:ea typeface="メイリオ" panose="020B0604030504040204" pitchFamily="50" charset="-128"/>
                        </a:rPr>
                        <a:t>NIC</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羽尾</a:t>
                      </a:r>
                      <a:r>
                        <a:rPr kumimoji="1" lang="en-US" altLang="ja-JP" sz="2000">
                          <a:latin typeface="メイリオ" panose="020B0604030504040204" pitchFamily="50" charset="-128"/>
                          <a:ea typeface="メイリオ" panose="020B0604030504040204" pitchFamily="50" charset="-128"/>
                        </a:rPr>
                        <a:t>NIC</a:t>
                      </a:r>
                      <a:r>
                        <a:rPr kumimoji="1" lang="ja-JP" altLang="en-US" sz="2000">
                          <a:latin typeface="メイリオ" panose="020B0604030504040204" pitchFamily="50" charset="-128"/>
                          <a:ea typeface="メイリオ" panose="020B0604030504040204" pitchFamily="50" charset="-128"/>
                        </a:rPr>
                        <a:t>、</a:t>
                      </a:r>
                      <a:r>
                        <a:rPr kumimoji="1" lang="en-US" altLang="ja-JP" sz="2000">
                          <a:highlight>
                            <a:srgbClr val="FFFF00"/>
                          </a:highlight>
                          <a:latin typeface="メイリオ" panose="020B0604030504040204" pitchFamily="50" charset="-128"/>
                          <a:ea typeface="メイリオ" panose="020B0604030504040204" pitchFamily="50" charset="-128"/>
                        </a:rPr>
                        <a:t>[CSE]</a:t>
                      </a:r>
                      <a:endParaRPr kumimoji="1" lang="en-US" altLang="ja-JP" sz="2000" dirty="0">
                        <a:highlight>
                          <a:srgbClr val="FFFF00"/>
                        </a:highlight>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01575211"/>
                  </a:ext>
                </a:extLst>
              </a:tr>
              <a:tr h="461434">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開発チーム１</a:t>
                      </a:r>
                      <a:r>
                        <a:rPr kumimoji="1" lang="en-US" altLang="ja-JP" sz="2000" dirty="0">
                          <a:latin typeface="メイリオ" panose="020B0604030504040204" pitchFamily="50" charset="-128"/>
                          <a:ea typeface="メイリオ" panose="020B0604030504040204" pitchFamily="50" charset="-128"/>
                        </a:rPr>
                        <a:t>B</a:t>
                      </a:r>
                      <a:r>
                        <a:rPr kumimoji="1" lang="ja-JP" altLang="en-US" sz="2000" dirty="0">
                          <a:latin typeface="メイリオ" panose="020B0604030504040204" pitchFamily="50" charset="-128"/>
                          <a:ea typeface="メイリオ" panose="020B0604030504040204" pitchFamily="50" charset="-128"/>
                        </a:rPr>
                        <a:t>（先行売上）端末</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牧田</a:t>
                      </a:r>
                      <a:r>
                        <a:rPr kumimoji="1" lang="en-US" altLang="ja-JP" sz="2000">
                          <a:latin typeface="メイリオ" panose="020B0604030504040204" pitchFamily="50" charset="-128"/>
                          <a:ea typeface="メイリオ" panose="020B0604030504040204" pitchFamily="50" charset="-128"/>
                        </a:rPr>
                        <a:t>NIC</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金沢</a:t>
                      </a:r>
                      <a:r>
                        <a:rPr kumimoji="1" lang="en-US" altLang="ja-JP" sz="2000">
                          <a:latin typeface="メイリオ" panose="020B0604030504040204" pitchFamily="50" charset="-128"/>
                          <a:ea typeface="メイリオ" panose="020B0604030504040204" pitchFamily="50" charset="-128"/>
                        </a:rPr>
                        <a:t>SYS</a:t>
                      </a:r>
                      <a:r>
                        <a:rPr kumimoji="1" lang="ja-JP" altLang="en-US" sz="2000">
                          <a:latin typeface="メイリオ" panose="020B0604030504040204" pitchFamily="50" charset="-128"/>
                          <a:ea typeface="メイリオ" panose="020B0604030504040204" pitchFamily="50" charset="-128"/>
                        </a:rPr>
                        <a:t>、</a:t>
                      </a:r>
                      <a:r>
                        <a:rPr kumimoji="1" lang="en-US" altLang="ja-JP" sz="2000">
                          <a:highlight>
                            <a:srgbClr val="FFFF00"/>
                          </a:highlight>
                          <a:latin typeface="メイリオ" panose="020B0604030504040204" pitchFamily="50" charset="-128"/>
                          <a:ea typeface="メイリオ" panose="020B0604030504040204" pitchFamily="50" charset="-128"/>
                        </a:rPr>
                        <a:t>[</a:t>
                      </a:r>
                      <a:r>
                        <a:rPr kumimoji="1" lang="ja-JP" altLang="en-US" sz="2000">
                          <a:highlight>
                            <a:srgbClr val="FFFF00"/>
                          </a:highlight>
                          <a:latin typeface="メイリオ" panose="020B0604030504040204" pitchFamily="50" charset="-128"/>
                          <a:ea typeface="メイリオ" panose="020B0604030504040204" pitchFamily="50" charset="-128"/>
                        </a:rPr>
                        <a:t>システナ</a:t>
                      </a:r>
                      <a:r>
                        <a:rPr kumimoji="1" lang="en-US" altLang="ja-JP" sz="2000">
                          <a:highlight>
                            <a:srgbClr val="FFFF00"/>
                          </a:highlight>
                          <a:latin typeface="メイリオ" panose="020B0604030504040204" pitchFamily="50" charset="-128"/>
                          <a:ea typeface="メイリオ" panose="020B0604030504040204" pitchFamily="50" charset="-128"/>
                        </a:rPr>
                        <a:t>]</a:t>
                      </a:r>
                      <a:endParaRPr kumimoji="1" lang="en-US" altLang="ja-JP" sz="2000" dirty="0">
                        <a:highlight>
                          <a:srgbClr val="FFFF00"/>
                        </a:highlight>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99790647"/>
                  </a:ext>
                </a:extLst>
              </a:tr>
              <a:tr h="461434">
                <a:tc>
                  <a:txBody>
                    <a:bodyPr/>
                    <a:lstStyle/>
                    <a:p>
                      <a:r>
                        <a:rPr kumimoji="1" lang="ja-JP" altLang="en-US" sz="2000" dirty="0">
                          <a:latin typeface="メイリオ" panose="020B0604030504040204" pitchFamily="50" charset="-128"/>
                          <a:ea typeface="メイリオ" panose="020B0604030504040204" pitchFamily="50" charset="-128"/>
                        </a:rPr>
                        <a:t>開発チーム１</a:t>
                      </a:r>
                      <a:r>
                        <a:rPr kumimoji="1" lang="en-US" altLang="ja-JP" sz="2000" dirty="0">
                          <a:latin typeface="メイリオ" panose="020B0604030504040204" pitchFamily="50" charset="-128"/>
                          <a:ea typeface="メイリオ" panose="020B0604030504040204" pitchFamily="50" charset="-128"/>
                        </a:rPr>
                        <a:t>C</a:t>
                      </a:r>
                      <a:r>
                        <a:rPr kumimoji="1" lang="ja-JP" altLang="en-US" sz="2000" dirty="0">
                          <a:latin typeface="メイリオ" panose="020B0604030504040204" pitchFamily="50" charset="-128"/>
                          <a:ea typeface="メイリオ" panose="020B0604030504040204" pitchFamily="50" charset="-128"/>
                        </a:rPr>
                        <a:t>（先行配送状況照会）</a:t>
                      </a:r>
                    </a:p>
                  </a:txBody>
                  <a:tcPr/>
                </a:tc>
                <a:tc>
                  <a:txBody>
                    <a:bodyPr/>
                    <a:lstStyle/>
                    <a:p>
                      <a:r>
                        <a:rPr kumimoji="1" lang="ja-JP" altLang="en-US" sz="2000">
                          <a:latin typeface="メイリオ" panose="020B0604030504040204" pitchFamily="50" charset="-128"/>
                          <a:ea typeface="メイリオ" panose="020B0604030504040204" pitchFamily="50" charset="-128"/>
                        </a:rPr>
                        <a:t>大田優</a:t>
                      </a:r>
                      <a:r>
                        <a:rPr kumimoji="1" lang="en-US" altLang="ja-JP" sz="2000">
                          <a:latin typeface="メイリオ" panose="020B0604030504040204" pitchFamily="50" charset="-128"/>
                          <a:ea typeface="メイリオ" panose="020B0604030504040204" pitchFamily="50" charset="-128"/>
                        </a:rPr>
                        <a:t>SYS</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highlight>
                            <a:srgbClr val="FFFF00"/>
                          </a:highlight>
                          <a:latin typeface="メイリオ" panose="020B0604030504040204" pitchFamily="50" charset="-128"/>
                          <a:ea typeface="メイリオ" panose="020B0604030504040204" pitchFamily="50" charset="-128"/>
                        </a:rPr>
                        <a:t>選定中</a:t>
                      </a:r>
                      <a:endParaRPr kumimoji="1" lang="en-US" altLang="ja-JP" sz="2000" dirty="0">
                        <a:highlight>
                          <a:srgbClr val="FFFF00"/>
                        </a:highlight>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66802189"/>
                  </a:ext>
                </a:extLst>
              </a:tr>
              <a:tr h="462735">
                <a:tc>
                  <a:txBody>
                    <a:bodyPr/>
                    <a:lstStyle/>
                    <a:p>
                      <a:r>
                        <a:rPr kumimoji="1" lang="ja-JP" altLang="en-US" sz="2000" dirty="0">
                          <a:latin typeface="メイリオ" panose="020B0604030504040204" pitchFamily="50" charset="-128"/>
                          <a:ea typeface="メイリオ" panose="020B0604030504040204" pitchFamily="50" charset="-128"/>
                        </a:rPr>
                        <a:t>開発チーム</a:t>
                      </a:r>
                      <a:r>
                        <a:rPr kumimoji="1" lang="ja-JP" altLang="en-US" sz="2000">
                          <a:latin typeface="メイリオ" panose="020B0604030504040204" pitchFamily="50" charset="-128"/>
                          <a:ea typeface="メイリオ" panose="020B0604030504040204" pitchFamily="50" charset="-128"/>
                        </a:rPr>
                        <a:t>２（システナ）</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高畠</a:t>
                      </a:r>
                      <a:r>
                        <a:rPr kumimoji="1" lang="en-US" altLang="ja-JP" sz="2000">
                          <a:latin typeface="メイリオ" panose="020B0604030504040204" pitchFamily="50" charset="-128"/>
                          <a:ea typeface="メイリオ" panose="020B0604030504040204" pitchFamily="50" charset="-128"/>
                        </a:rPr>
                        <a:t>SYS</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大田愛</a:t>
                      </a:r>
                      <a:r>
                        <a:rPr kumimoji="1" lang="en-US" altLang="ja-JP" sz="2000">
                          <a:latin typeface="メイリオ" panose="020B0604030504040204" pitchFamily="50" charset="-128"/>
                          <a:ea typeface="メイリオ" panose="020B0604030504040204" pitchFamily="50" charset="-128"/>
                        </a:rPr>
                        <a:t>SYS</a:t>
                      </a:r>
                      <a:r>
                        <a:rPr kumimoji="1" lang="ja-JP" altLang="en-US" sz="2000">
                          <a:latin typeface="メイリオ" panose="020B0604030504040204" pitchFamily="50" charset="-128"/>
                          <a:ea typeface="メイリオ" panose="020B0604030504040204" pitchFamily="50" charset="-128"/>
                        </a:rPr>
                        <a:t>、</a:t>
                      </a:r>
                      <a:r>
                        <a:rPr kumimoji="1" lang="en-US" altLang="ja-JP" sz="2000">
                          <a:highlight>
                            <a:srgbClr val="FFFF00"/>
                          </a:highlight>
                          <a:latin typeface="メイリオ" panose="020B0604030504040204" pitchFamily="50" charset="-128"/>
                          <a:ea typeface="メイリオ" panose="020B0604030504040204" pitchFamily="50" charset="-128"/>
                        </a:rPr>
                        <a:t>[</a:t>
                      </a:r>
                      <a:r>
                        <a:rPr kumimoji="1" lang="ja-JP" altLang="en-US" sz="2000" dirty="0">
                          <a:highlight>
                            <a:srgbClr val="FFFF00"/>
                          </a:highlight>
                          <a:latin typeface="メイリオ" panose="020B0604030504040204" pitchFamily="50" charset="-128"/>
                          <a:ea typeface="メイリオ" panose="020B0604030504040204" pitchFamily="50" charset="-128"/>
                        </a:rPr>
                        <a:t>システナ</a:t>
                      </a:r>
                      <a:r>
                        <a:rPr kumimoji="1" lang="en-US" altLang="ja-JP" sz="2000" dirty="0">
                          <a:highlight>
                            <a:srgbClr val="FFFF00"/>
                          </a:highlight>
                          <a:latin typeface="メイリオ" panose="020B0604030504040204" pitchFamily="50" charset="-128"/>
                          <a:ea typeface="メイリオ" panose="020B0604030504040204" pitchFamily="50" charset="-128"/>
                        </a:rPr>
                        <a:t>]</a:t>
                      </a:r>
                    </a:p>
                  </a:txBody>
                  <a:tcPr/>
                </a:tc>
                <a:extLst>
                  <a:ext uri="{0D108BD9-81ED-4DB2-BD59-A6C34878D82A}">
                    <a16:rowId xmlns:a16="http://schemas.microsoft.com/office/drawing/2014/main" val="97095704"/>
                  </a:ext>
                </a:extLst>
              </a:tr>
              <a:tr h="451974">
                <a:tc>
                  <a:txBody>
                    <a:bodyPr/>
                    <a:lstStyle/>
                    <a:p>
                      <a:r>
                        <a:rPr kumimoji="1" lang="ja-JP" altLang="en-US" sz="2000" dirty="0">
                          <a:latin typeface="メイリオ" panose="020B0604030504040204" pitchFamily="50" charset="-128"/>
                          <a:ea typeface="メイリオ" panose="020B0604030504040204" pitchFamily="50" charset="-128"/>
                        </a:rPr>
                        <a:t>開発チーム</a:t>
                      </a:r>
                      <a:r>
                        <a:rPr kumimoji="1" lang="ja-JP" altLang="en-US" sz="2000">
                          <a:latin typeface="メイリオ" panose="020B0604030504040204" pitchFamily="50" charset="-128"/>
                          <a:ea typeface="メイリオ" panose="020B0604030504040204" pitchFamily="50" charset="-128"/>
                        </a:rPr>
                        <a:t>３（</a:t>
                      </a:r>
                      <a:r>
                        <a:rPr kumimoji="1" lang="en-US" altLang="ja-JP" sz="2000">
                          <a:latin typeface="メイリオ" panose="020B0604030504040204" pitchFamily="50" charset="-128"/>
                          <a:ea typeface="メイリオ" panose="020B0604030504040204" pitchFamily="50" charset="-128"/>
                        </a:rPr>
                        <a:t>CSE</a:t>
                      </a:r>
                      <a:r>
                        <a:rPr kumimoji="1" lang="ja-JP" altLang="en-US" sz="200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highlight>
                            <a:srgbClr val="FFFF00"/>
                          </a:highlight>
                          <a:latin typeface="メイリオ" panose="020B0604030504040204" pitchFamily="50" charset="-128"/>
                          <a:ea typeface="メイリオ" panose="020B0604030504040204" pitchFamily="50" charset="-128"/>
                        </a:rPr>
                        <a:t>選定中</a:t>
                      </a:r>
                      <a:endParaRPr kumimoji="1" lang="en-US" altLang="ja-JP" sz="2000" dirty="0">
                        <a:highlight>
                          <a:srgbClr val="FFFF00"/>
                        </a:highlight>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highlight>
                            <a:srgbClr val="FFFF00"/>
                          </a:highlight>
                          <a:latin typeface="メイリオ" panose="020B0604030504040204" pitchFamily="50" charset="-128"/>
                          <a:ea typeface="メイリオ" panose="020B0604030504040204" pitchFamily="50" charset="-128"/>
                        </a:rPr>
                        <a:t>選定中</a:t>
                      </a:r>
                      <a:endParaRPr kumimoji="1" lang="en-US" altLang="ja-JP" sz="2000" dirty="0">
                        <a:highlight>
                          <a:srgbClr val="FFFF00"/>
                        </a:highlight>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556295236"/>
                  </a:ext>
                </a:extLst>
              </a:tr>
              <a:tr h="430494">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基盤・共通部品（端末）</a:t>
                      </a:r>
                    </a:p>
                  </a:txBody>
                  <a:tcPr/>
                </a:tc>
                <a:tc>
                  <a:txBody>
                    <a:bodyPr/>
                    <a:lstStyle/>
                    <a:p>
                      <a:r>
                        <a:rPr kumimoji="1" lang="ja-JP" altLang="en-US" sz="2000">
                          <a:latin typeface="メイリオ" panose="020B0604030504040204" pitchFamily="50" charset="-128"/>
                          <a:ea typeface="メイリオ" panose="020B0604030504040204" pitchFamily="50" charset="-128"/>
                        </a:rPr>
                        <a:t>南（</a:t>
                      </a:r>
                      <a:r>
                        <a:rPr kumimoji="1" lang="en-US" altLang="ja-JP" sz="2000">
                          <a:latin typeface="メイリオ" panose="020B0604030504040204" pitchFamily="50" charset="-128"/>
                          <a:ea typeface="メイリオ" panose="020B0604030504040204" pitchFamily="50" charset="-128"/>
                        </a:rPr>
                        <a:t>7</a:t>
                      </a:r>
                      <a:r>
                        <a:rPr kumimoji="1" lang="ja-JP" altLang="en-US" sz="2000">
                          <a:latin typeface="メイリオ" panose="020B0604030504040204" pitchFamily="50" charset="-128"/>
                          <a:ea typeface="メイリオ" panose="020B0604030504040204" pitchFamily="50" charset="-128"/>
                        </a:rPr>
                        <a:t>月～）</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a:latin typeface="メイリオ" panose="020B0604030504040204" pitchFamily="50" charset="-128"/>
                          <a:ea typeface="メイリオ" panose="020B0604030504040204" pitchFamily="50" charset="-128"/>
                        </a:rPr>
                        <a:t>熊倉</a:t>
                      </a:r>
                      <a:r>
                        <a:rPr kumimoji="1" lang="en-US" altLang="ja-JP" sz="2000" dirty="0">
                          <a:latin typeface="メイリオ" panose="020B0604030504040204" pitchFamily="50" charset="-128"/>
                          <a:ea typeface="メイリオ" panose="020B0604030504040204" pitchFamily="50" charset="-128"/>
                        </a:rPr>
                        <a:t>JN</a:t>
                      </a:r>
                      <a:r>
                        <a:rPr kumimoji="1" lang="ja-JP" altLang="en-US" sz="2000" dirty="0">
                          <a:latin typeface="メイリオ" panose="020B0604030504040204" pitchFamily="50" charset="-128"/>
                          <a:ea typeface="メイリオ" panose="020B0604030504040204" pitchFamily="50" charset="-128"/>
                        </a:rPr>
                        <a:t>、佐藤</a:t>
                      </a:r>
                      <a:r>
                        <a:rPr kumimoji="1" lang="en-US" altLang="ja-JP" sz="2000">
                          <a:latin typeface="メイリオ" panose="020B0604030504040204" pitchFamily="50" charset="-128"/>
                          <a:ea typeface="メイリオ" panose="020B0604030504040204" pitchFamily="50" charset="-128"/>
                        </a:rPr>
                        <a:t>JN</a:t>
                      </a:r>
                      <a:r>
                        <a:rPr kumimoji="1" lang="ja-JP" altLang="en-US" sz="2000">
                          <a:latin typeface="メイリオ" panose="020B0604030504040204" pitchFamily="50" charset="-128"/>
                          <a:ea typeface="メイリオ" panose="020B0604030504040204" pitchFamily="50" charset="-128"/>
                        </a:rPr>
                        <a:t>、齋藤</a:t>
                      </a:r>
                      <a:r>
                        <a:rPr kumimoji="1" lang="en-US" altLang="ja-JP" sz="2000">
                          <a:latin typeface="メイリオ" panose="020B0604030504040204" pitchFamily="50" charset="-128"/>
                          <a:ea typeface="メイリオ" panose="020B0604030504040204" pitchFamily="50" charset="-128"/>
                        </a:rPr>
                        <a:t>JN</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86133278"/>
                  </a:ext>
                </a:extLst>
              </a:tr>
              <a:tr h="429139">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基盤・共通</a:t>
                      </a:r>
                      <a:r>
                        <a:rPr kumimoji="1" lang="ja-JP" altLang="en-US" sz="2000">
                          <a:latin typeface="メイリオ" panose="020B0604030504040204" pitchFamily="50" charset="-128"/>
                          <a:ea typeface="メイリオ" panose="020B0604030504040204" pitchFamily="50" charset="-128"/>
                        </a:rPr>
                        <a:t>部品（サーバー）</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三上</a:t>
                      </a:r>
                      <a:r>
                        <a:rPr kumimoji="1" lang="en-US" altLang="ja-JP" sz="2000">
                          <a:latin typeface="メイリオ" panose="020B0604030504040204" pitchFamily="50" charset="-128"/>
                          <a:ea typeface="メイリオ" panose="020B0604030504040204" pitchFamily="50" charset="-128"/>
                        </a:rPr>
                        <a:t>CSE</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首藤</a:t>
                      </a:r>
                      <a:r>
                        <a:rPr kumimoji="1" lang="en-US" altLang="ja-JP" sz="2000">
                          <a:latin typeface="メイリオ" panose="020B0604030504040204" pitchFamily="50" charset="-128"/>
                          <a:ea typeface="メイリオ" panose="020B0604030504040204" pitchFamily="50" charset="-128"/>
                        </a:rPr>
                        <a:t>CSE</a:t>
                      </a:r>
                      <a:r>
                        <a:rPr kumimoji="1" lang="ja-JP" altLang="en-US" sz="2000">
                          <a:latin typeface="メイリオ" panose="020B0604030504040204" pitchFamily="50" charset="-128"/>
                          <a:ea typeface="メイリオ" panose="020B0604030504040204" pitchFamily="50" charset="-128"/>
                        </a:rPr>
                        <a:t>、</a:t>
                      </a:r>
                      <a:r>
                        <a:rPr kumimoji="1" lang="en-US" altLang="ja-JP" sz="2000">
                          <a:latin typeface="メイリオ" panose="020B0604030504040204" pitchFamily="50" charset="-128"/>
                          <a:ea typeface="メイリオ" panose="020B0604030504040204" pitchFamily="50" charset="-128"/>
                        </a:rPr>
                        <a:t>[CSE]</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409659259"/>
                  </a:ext>
                </a:extLst>
              </a:tr>
              <a:tr h="421378">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画面デザイン</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河野</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山崎、伊藤、大坪、</a:t>
                      </a:r>
                      <a:r>
                        <a:rPr kumimoji="1" lang="en-US" altLang="ja-JP" sz="2000">
                          <a:latin typeface="メイリオ" panose="020B0604030504040204" pitchFamily="50" charset="-128"/>
                          <a:ea typeface="メイリオ" panose="020B0604030504040204" pitchFamily="50" charset="-128"/>
                        </a:rPr>
                        <a:t>VTI</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83384339"/>
                  </a:ext>
                </a:extLst>
              </a:tr>
              <a:tr h="421378">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技術セクション責任者</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小松</a:t>
                      </a:r>
                      <a:endParaRPr kumimoji="1" lang="en-US" altLang="ja-JP" sz="200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業務設計：小松、</a:t>
                      </a:r>
                      <a:r>
                        <a:rPr kumimoji="1" lang="en-US" altLang="ja-JP" sz="2000">
                          <a:latin typeface="メイリオ" panose="020B0604030504040204" pitchFamily="50" charset="-128"/>
                          <a:ea typeface="メイリオ" panose="020B0604030504040204" pitchFamily="50" charset="-128"/>
                        </a:rPr>
                        <a:t>API</a:t>
                      </a:r>
                      <a:r>
                        <a:rPr kumimoji="1" lang="ja-JP" altLang="en-US" sz="2000">
                          <a:latin typeface="メイリオ" panose="020B0604030504040204" pitchFamily="50" charset="-128"/>
                          <a:ea typeface="メイリオ" panose="020B0604030504040204" pitchFamily="50" charset="-128"/>
                        </a:rPr>
                        <a:t>：重松、</a:t>
                      </a:r>
                      <a:r>
                        <a:rPr kumimoji="1" lang="en-US" altLang="ja-JP" sz="2000">
                          <a:latin typeface="メイリオ" panose="020B0604030504040204" pitchFamily="50" charset="-128"/>
                          <a:ea typeface="メイリオ" panose="020B0604030504040204" pitchFamily="50" charset="-128"/>
                        </a:rPr>
                        <a:t>OCI</a:t>
                      </a:r>
                      <a:r>
                        <a:rPr kumimoji="1" lang="ja-JP" altLang="en-US" sz="2000">
                          <a:latin typeface="メイリオ" panose="020B0604030504040204" pitchFamily="50" charset="-128"/>
                          <a:ea typeface="メイリオ" panose="020B0604030504040204" pitchFamily="50" charset="-128"/>
                        </a:rPr>
                        <a:t>アーキ：</a:t>
                      </a:r>
                      <a:r>
                        <a:rPr kumimoji="1" lang="ja-JP" altLang="en-US" sz="2000">
                          <a:highlight>
                            <a:srgbClr val="FFFF00"/>
                          </a:highlight>
                          <a:latin typeface="メイリオ" panose="020B0604030504040204" pitchFamily="50" charset="-128"/>
                          <a:ea typeface="メイリオ" panose="020B0604030504040204" pitchFamily="50" charset="-128"/>
                        </a:rPr>
                        <a:t>選定中</a:t>
                      </a:r>
                      <a:r>
                        <a:rPr kumimoji="1" lang="ja-JP" altLang="en-US" sz="2000">
                          <a:latin typeface="メイリオ" panose="020B0604030504040204" pitchFamily="50" charset="-128"/>
                          <a:ea typeface="メイリオ" panose="020B0604030504040204" pitchFamily="50" charset="-128"/>
                        </a:rPr>
                        <a:t>、</a:t>
                      </a:r>
                      <a:r>
                        <a:rPr kumimoji="1" lang="en-US" altLang="ja-JP" sz="2000">
                          <a:latin typeface="メイリオ" panose="020B0604030504040204" pitchFamily="50" charset="-128"/>
                          <a:ea typeface="メイリオ" panose="020B0604030504040204" pitchFamily="50" charset="-128"/>
                        </a:rPr>
                        <a:t>DB</a:t>
                      </a:r>
                      <a:r>
                        <a:rPr kumimoji="1" lang="ja-JP" altLang="en-US" sz="2000">
                          <a:latin typeface="メイリオ" panose="020B0604030504040204" pitchFamily="50" charset="-128"/>
                          <a:ea typeface="メイリオ" panose="020B0604030504040204" pitchFamily="50" charset="-128"/>
                        </a:rPr>
                        <a:t>：</a:t>
                      </a:r>
                      <a:r>
                        <a:rPr kumimoji="1" lang="ja-JP" altLang="en-US" sz="2000">
                          <a:highlight>
                            <a:srgbClr val="FFFF00"/>
                          </a:highlight>
                          <a:latin typeface="メイリオ" panose="020B0604030504040204" pitchFamily="50" charset="-128"/>
                          <a:ea typeface="メイリオ" panose="020B0604030504040204" pitchFamily="50" charset="-128"/>
                        </a:rPr>
                        <a:t>選定中</a:t>
                      </a:r>
                      <a:endParaRPr kumimoji="1" lang="en-US" altLang="ja-JP" sz="2000" dirty="0">
                        <a:highlight>
                          <a:srgbClr val="FFFF00"/>
                        </a:highlight>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360312709"/>
                  </a:ext>
                </a:extLst>
              </a:tr>
              <a:tr h="423021">
                <a:tc>
                  <a:txBody>
                    <a:bodyPr/>
                    <a:lstStyle/>
                    <a:p>
                      <a:r>
                        <a:rPr kumimoji="1" lang="ja-JP" altLang="en-US" sz="2000" dirty="0">
                          <a:latin typeface="メイリオ" panose="020B0604030504040204" pitchFamily="50" charset="-128"/>
                          <a:ea typeface="メイリオ" panose="020B0604030504040204" pitchFamily="50" charset="-128"/>
                        </a:rPr>
                        <a:t>運用管理・</a:t>
                      </a:r>
                      <a:r>
                        <a:rPr kumimoji="1" lang="ja-JP" altLang="en-US" sz="2000">
                          <a:latin typeface="メイリオ" panose="020B0604030504040204" pitchFamily="50" charset="-128"/>
                          <a:ea typeface="メイリオ" panose="020B0604030504040204" pitchFamily="50" charset="-128"/>
                        </a:rPr>
                        <a:t>資源管理・</a:t>
                      </a:r>
                      <a:r>
                        <a:rPr kumimoji="1" lang="en-US" altLang="ja-JP" sz="2000">
                          <a:latin typeface="メイリオ" panose="020B0604030504040204" pitchFamily="50" charset="-128"/>
                          <a:ea typeface="メイリオ" panose="020B0604030504040204" pitchFamily="50" charset="-128"/>
                        </a:rPr>
                        <a:t>CI/CD</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張</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張</a:t>
                      </a:r>
                      <a:r>
                        <a:rPr kumimoji="1" lang="en-US" altLang="ja-JP" sz="2000" dirty="0">
                          <a:latin typeface="メイリオ" panose="020B0604030504040204" pitchFamily="50" charset="-128"/>
                          <a:ea typeface="メイリオ" panose="020B0604030504040204" pitchFamily="50" charset="-128"/>
                        </a:rPr>
                        <a:t>Inc]</a:t>
                      </a:r>
                    </a:p>
                  </a:txBody>
                  <a:tcPr/>
                </a:tc>
                <a:extLst>
                  <a:ext uri="{0D108BD9-81ED-4DB2-BD59-A6C34878D82A}">
                    <a16:rowId xmlns:a16="http://schemas.microsoft.com/office/drawing/2014/main" val="3607237933"/>
                  </a:ext>
                </a:extLst>
              </a:tr>
              <a:tr h="489614">
                <a:tc>
                  <a:txBody>
                    <a:bodyPr/>
                    <a:lstStyle/>
                    <a:p>
                      <a:r>
                        <a:rPr kumimoji="1" lang="ja-JP" altLang="en-US" sz="2000">
                          <a:latin typeface="メイリオ" panose="020B0604030504040204" pitchFamily="50" charset="-128"/>
                          <a:ea typeface="メイリオ" panose="020B0604030504040204" pitchFamily="50" charset="-128"/>
                        </a:rPr>
                        <a:t>現行</a:t>
                      </a:r>
                      <a:r>
                        <a:rPr kumimoji="1" lang="en-US" altLang="ja-JP" sz="2000" dirty="0">
                          <a:latin typeface="メイリオ" panose="020B0604030504040204" pitchFamily="50" charset="-128"/>
                          <a:ea typeface="メイリオ" panose="020B0604030504040204" pitchFamily="50" charset="-128"/>
                        </a:rPr>
                        <a:t>QA</a:t>
                      </a:r>
                      <a:r>
                        <a:rPr kumimoji="1" lang="ja-JP" altLang="en-US" sz="2000" dirty="0">
                          <a:latin typeface="メイリオ" panose="020B0604030504040204" pitchFamily="50" charset="-128"/>
                          <a:ea typeface="メイリオ" panose="020B0604030504040204" pitchFamily="50" charset="-128"/>
                        </a:rPr>
                        <a:t>・レビュー</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小松</a:t>
                      </a: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a:latin typeface="メイリオ" panose="020B0604030504040204" pitchFamily="50" charset="-128"/>
                          <a:ea typeface="メイリオ" panose="020B0604030504040204" pitchFamily="50" charset="-128"/>
                        </a:rPr>
                        <a:t>山崎</a:t>
                      </a:r>
                      <a:r>
                        <a:rPr kumimoji="1" lang="ja-JP" altLang="en-US" sz="2000" dirty="0">
                          <a:latin typeface="メイリオ" panose="020B0604030504040204" pitchFamily="50" charset="-128"/>
                          <a:ea typeface="メイリオ" panose="020B0604030504040204" pitchFamily="50" charset="-128"/>
                        </a:rPr>
                        <a:t>、南、牧田</a:t>
                      </a:r>
                      <a:r>
                        <a:rPr kumimoji="1" lang="en-US" altLang="ja-JP" sz="2000" dirty="0">
                          <a:latin typeface="メイリオ" panose="020B0604030504040204" pitchFamily="50" charset="-128"/>
                          <a:ea typeface="メイリオ" panose="020B0604030504040204" pitchFamily="50" charset="-128"/>
                        </a:rPr>
                        <a:t>N</a:t>
                      </a:r>
                      <a:r>
                        <a:rPr kumimoji="1" lang="ja-JP" altLang="en-US" sz="2000" dirty="0">
                          <a:latin typeface="メイリオ" panose="020B0604030504040204" pitchFamily="50" charset="-128"/>
                          <a:ea typeface="メイリオ" panose="020B0604030504040204" pitchFamily="50" charset="-128"/>
                        </a:rPr>
                        <a:t>（兼）</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301219030"/>
                  </a:ext>
                </a:extLst>
              </a:tr>
              <a:tr h="489614">
                <a:tc>
                  <a:txBody>
                    <a:bodyPr/>
                    <a:lstStyle/>
                    <a:p>
                      <a:r>
                        <a:rPr kumimoji="1" lang="ja-JP" altLang="en-US" sz="2000" dirty="0">
                          <a:latin typeface="メイリオ" panose="020B0604030504040204" pitchFamily="50" charset="-128"/>
                          <a:ea typeface="メイリオ" panose="020B0604030504040204" pitchFamily="50" charset="-128"/>
                        </a:rPr>
                        <a:t>品質管理</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1" lang="en-US" altLang="ja-JP" sz="2000" dirty="0">
                        <a:latin typeface="メイリオ" panose="020B0604030504040204" pitchFamily="50" charset="-128"/>
                        <a:ea typeface="メイリオ" panose="020B0604030504040204" pitchFamily="50" charset="-128"/>
                      </a:endParaRP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1" lang="ja-JP" altLang="en-US" sz="2000" dirty="0">
                          <a:latin typeface="メイリオ" panose="020B0604030504040204" pitchFamily="50" charset="-128"/>
                          <a:ea typeface="メイリオ" panose="020B0604030504040204" pitchFamily="50" charset="-128"/>
                        </a:rPr>
                        <a:t>梅本、今岡、大町</a:t>
                      </a:r>
                      <a:endParaRPr kumimoji="1" lang="en-US" altLang="ja-JP"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895143585"/>
                  </a:ext>
                </a:extLst>
              </a:tr>
            </a:tbl>
          </a:graphicData>
        </a:graphic>
      </p:graphicFrame>
    </p:spTree>
    <p:extLst>
      <p:ext uri="{BB962C8B-B14F-4D97-AF65-F5344CB8AC3E}">
        <p14:creationId xmlns:p14="http://schemas.microsoft.com/office/powerpoint/2010/main" val="27564615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A5D462-5A00-44A6-8F6D-71014149EA2D}"/>
              </a:ext>
            </a:extLst>
          </p:cNvPr>
          <p:cNvSpPr>
            <a:spLocks noGrp="1"/>
          </p:cNvSpPr>
          <p:nvPr>
            <p:ph type="title"/>
          </p:nvPr>
        </p:nvSpPr>
        <p:spPr/>
        <p:txBody>
          <a:bodyPr vert="horz" lIns="0" tIns="0" rIns="0" bIns="0" rtlCol="0" anchor="ctr">
            <a:normAutofit/>
          </a:bodyPr>
          <a:lstStyle/>
          <a:p>
            <a:r>
              <a:rPr lang="ja-JP" altLang="en-US">
                <a:latin typeface="Meiryo UI" panose="020B0604030504040204" pitchFamily="50" charset="-128"/>
                <a:ea typeface="Meiryo UI" panose="020B0604030504040204" pitchFamily="50" charset="-128"/>
              </a:rPr>
              <a:t>７－５．会議体</a:t>
            </a:r>
          </a:p>
        </p:txBody>
      </p:sp>
      <p:sp>
        <p:nvSpPr>
          <p:cNvPr id="3" name="スライド番号プレースホルダー 2">
            <a:extLst>
              <a:ext uri="{FF2B5EF4-FFF2-40B4-BE49-F238E27FC236}">
                <a16:creationId xmlns:a16="http://schemas.microsoft.com/office/drawing/2014/main" id="{83D5304B-3104-412F-9F2A-9AFC96556EC6}"/>
              </a:ext>
            </a:extLst>
          </p:cNvPr>
          <p:cNvSpPr>
            <a:spLocks noGrp="1"/>
          </p:cNvSpPr>
          <p:nvPr>
            <p:ph type="sldNum" sz="quarter" idx="12"/>
          </p:nvPr>
        </p:nvSpPr>
        <p:spPr/>
        <p:txBody>
          <a:bodyPr/>
          <a:lstStyle/>
          <a:p>
            <a:fld id="{2A9E37A5-A917-4235-ABF6-8CD72E894915}" type="slidenum">
              <a:rPr lang="en-US" altLang="ja-JP" smtClean="0"/>
              <a:pPr/>
              <a:t>54</a:t>
            </a:fld>
            <a:endParaRPr lang="ja-JP" altLang="en-US"/>
          </a:p>
        </p:txBody>
      </p:sp>
      <p:sp>
        <p:nvSpPr>
          <p:cNvPr id="5" name="テキスト ボックス 4">
            <a:extLst>
              <a:ext uri="{FF2B5EF4-FFF2-40B4-BE49-F238E27FC236}">
                <a16:creationId xmlns:a16="http://schemas.microsoft.com/office/drawing/2014/main" id="{CB42D0DB-AC49-46FD-AA3B-0423BC7013C4}"/>
              </a:ext>
            </a:extLst>
          </p:cNvPr>
          <p:cNvSpPr txBox="1"/>
          <p:nvPr/>
        </p:nvSpPr>
        <p:spPr>
          <a:xfrm>
            <a:off x="560484" y="1380136"/>
            <a:ext cx="11347978" cy="1392689"/>
          </a:xfrm>
          <a:prstGeom prst="rect">
            <a:avLst/>
          </a:prstGeom>
          <a:noFill/>
        </p:spPr>
        <p:txBody>
          <a:bodyPr wrap="none" rtlCol="0">
            <a:spAutoFit/>
          </a:bodyPr>
          <a:lstStyle/>
          <a:p>
            <a:r>
              <a:rPr lang="ja-JP" altLang="ja-JP" sz="4400">
                <a:hlinkClick r:id="rId2"/>
              </a:rPr>
              <a:t>[KSNEWSYS] 会議体 | ドキュメント | Backlog</a:t>
            </a:r>
            <a:endParaRPr lang="en-US" altLang="ja-JP" sz="4400"/>
          </a:p>
          <a:p>
            <a:endParaRPr lang="ja-JP" altLang="en-US" sz="4050">
              <a:latin typeface="HGPｺﾞｼｯｸM" panose="020B0600000000000000" pitchFamily="50" charset="-128"/>
              <a:ea typeface="HGPｺﾞｼｯｸM" panose="020B0600000000000000" pitchFamily="50" charset="-128"/>
            </a:endParaRPr>
          </a:p>
        </p:txBody>
      </p:sp>
      <p:sp>
        <p:nvSpPr>
          <p:cNvPr id="6" name="テキスト プレースホルダー 11">
            <a:extLst>
              <a:ext uri="{FF2B5EF4-FFF2-40B4-BE49-F238E27FC236}">
                <a16:creationId xmlns:a16="http://schemas.microsoft.com/office/drawing/2014/main" id="{A3CC0140-0044-22A3-56DF-0A0B6567E1A0}"/>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pic>
        <p:nvPicPr>
          <p:cNvPr id="8" name="図 7">
            <a:extLst>
              <a:ext uri="{FF2B5EF4-FFF2-40B4-BE49-F238E27FC236}">
                <a16:creationId xmlns:a16="http://schemas.microsoft.com/office/drawing/2014/main" id="{03E1063F-2BED-010B-5E55-7A66F8544DAD}"/>
              </a:ext>
            </a:extLst>
          </p:cNvPr>
          <p:cNvPicPr>
            <a:picLocks noChangeAspect="1"/>
          </p:cNvPicPr>
          <p:nvPr/>
        </p:nvPicPr>
        <p:blipFill>
          <a:blip r:embed="rId3"/>
          <a:stretch>
            <a:fillRect/>
          </a:stretch>
        </p:blipFill>
        <p:spPr>
          <a:xfrm>
            <a:off x="1051969" y="2772825"/>
            <a:ext cx="6982764" cy="3990151"/>
          </a:xfrm>
          <a:prstGeom prst="rect">
            <a:avLst/>
          </a:prstGeom>
          <a:ln>
            <a:noFill/>
          </a:ln>
          <a:effectLst>
            <a:softEdge rad="112500"/>
          </a:effectLst>
        </p:spPr>
      </p:pic>
    </p:spTree>
    <p:extLst>
      <p:ext uri="{BB962C8B-B14F-4D97-AF65-F5344CB8AC3E}">
        <p14:creationId xmlns:p14="http://schemas.microsoft.com/office/powerpoint/2010/main" val="11358386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9DAFC-5CC9-DB36-CCBB-E021968D8AB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91B29593-0DC9-028E-5477-AAA03B5D87F4}"/>
              </a:ext>
            </a:extLst>
          </p:cNvPr>
          <p:cNvSpPr>
            <a:spLocks noGrp="1"/>
          </p:cNvSpPr>
          <p:nvPr>
            <p:ph type="ctrTitle"/>
          </p:nvPr>
        </p:nvSpPr>
        <p:spPr>
          <a:xfrm>
            <a:off x="0" y="3969000"/>
            <a:ext cx="18288000" cy="1512000"/>
          </a:xfrm>
        </p:spPr>
        <p:txBody>
          <a:bodyPr wrap="none" anchor="ctr">
            <a:normAutofit/>
          </a:bodyPr>
          <a:lstStyle/>
          <a:p>
            <a:r>
              <a:rPr kumimoji="1" lang="ja-JP" altLang="en-US"/>
              <a:t>９．決定事項一覧</a:t>
            </a:r>
          </a:p>
        </p:txBody>
      </p:sp>
      <p:sp>
        <p:nvSpPr>
          <p:cNvPr id="6" name="フッター プレースホルダー 5">
            <a:extLst>
              <a:ext uri="{FF2B5EF4-FFF2-40B4-BE49-F238E27FC236}">
                <a16:creationId xmlns:a16="http://schemas.microsoft.com/office/drawing/2014/main" id="{FD867BD1-C429-BD52-A94E-34242EDF91E7}"/>
              </a:ext>
            </a:extLst>
          </p:cNvPr>
          <p:cNvSpPr>
            <a:spLocks noGrp="1"/>
          </p:cNvSpPr>
          <p:nvPr>
            <p:ph type="ftr" sz="quarter" idx="16"/>
          </p:nvPr>
        </p:nvSpPr>
        <p:spPr>
          <a:xfrm>
            <a:off x="14294731" y="9903315"/>
            <a:ext cx="2619755" cy="378000"/>
          </a:xfrm>
        </p:spPr>
        <p:txBody>
          <a:bodyPr anchor="ctr">
            <a:normAutofit/>
          </a:bodyPr>
          <a:lstStyle/>
          <a:p>
            <a:pPr>
              <a:spcAft>
                <a:spcPts val="600"/>
              </a:spcAft>
            </a:pPr>
            <a:r>
              <a:rPr kumimoji="1" lang="en-US" altLang="ja-JP"/>
              <a:t>Confidential </a:t>
            </a:r>
            <a:endParaRPr kumimoji="1" lang="ja-JP" altLang="en-US"/>
          </a:p>
        </p:txBody>
      </p:sp>
      <p:sp>
        <p:nvSpPr>
          <p:cNvPr id="3" name="スライド番号プレースホルダー 2" hidden="1">
            <a:extLst>
              <a:ext uri="{FF2B5EF4-FFF2-40B4-BE49-F238E27FC236}">
                <a16:creationId xmlns:a16="http://schemas.microsoft.com/office/drawing/2014/main" id="{EB5B386F-C7FC-41D4-BB49-E302D1FEEFA4}"/>
              </a:ext>
            </a:extLst>
          </p:cNvPr>
          <p:cNvSpPr>
            <a:spLocks noGrp="1"/>
          </p:cNvSpPr>
          <p:nvPr>
            <p:ph type="sldNum" sz="quarter" idx="4294967295"/>
          </p:nvPr>
        </p:nvSpPr>
        <p:spPr>
          <a:xfrm>
            <a:off x="17069400" y="9936000"/>
            <a:ext cx="810000" cy="324000"/>
          </a:xfrm>
        </p:spPr>
        <p:txBody>
          <a:bodyPr/>
          <a:lstStyle/>
          <a:p>
            <a:pPr>
              <a:spcAft>
                <a:spcPts val="600"/>
              </a:spcAft>
            </a:pPr>
            <a:fld id="{2A9E37A5-A917-4235-ABF6-8CD72E894915}" type="slidenum">
              <a:rPr kumimoji="1" lang="ja-JP" altLang="en-US" smtClean="0"/>
              <a:pPr>
                <a:spcAft>
                  <a:spcPts val="600"/>
                </a:spcAft>
              </a:pPr>
              <a:t>55</a:t>
            </a:fld>
            <a:endParaRPr kumimoji="1" lang="ja-JP" altLang="en-US"/>
          </a:p>
        </p:txBody>
      </p:sp>
    </p:spTree>
    <p:extLst>
      <p:ext uri="{BB962C8B-B14F-4D97-AF65-F5344CB8AC3E}">
        <p14:creationId xmlns:p14="http://schemas.microsoft.com/office/powerpoint/2010/main" val="449955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AB125-6770-4D9C-8F18-E04D9A09504E}"/>
              </a:ext>
            </a:extLst>
          </p:cNvPr>
          <p:cNvSpPr>
            <a:spLocks noGrp="1"/>
          </p:cNvSpPr>
          <p:nvPr>
            <p:ph type="title"/>
          </p:nvPr>
        </p:nvSpPr>
        <p:spPr>
          <a:xfrm>
            <a:off x="383400" y="437400"/>
            <a:ext cx="15514200" cy="415800"/>
          </a:xfrm>
        </p:spPr>
        <p:txBody>
          <a:bodyPr vert="horz" lIns="0" tIns="0" rIns="0" bIns="0" rtlCol="0" anchor="ctr">
            <a:normAutofit/>
          </a:bodyPr>
          <a:lstStyle/>
          <a:p>
            <a:r>
              <a:rPr lang="ja-JP" altLang="en-US" dirty="0">
                <a:latin typeface="Meiryo UI" panose="020B0604030504040204" pitchFamily="50" charset="-128"/>
                <a:ea typeface="Meiryo UI" panose="020B0604030504040204" pitchFamily="50" charset="-128"/>
              </a:rPr>
              <a:t>９ー１</a:t>
            </a:r>
            <a:r>
              <a:rPr lang="en-US" altLang="ja-JP" dirty="0"/>
              <a:t>.</a:t>
            </a:r>
            <a:r>
              <a:rPr lang="ja-JP" altLang="en-US" dirty="0"/>
              <a:t>決定事項一覧</a:t>
            </a:r>
            <a:endParaRPr lang="ja-JP" altLang="en-US"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2590F02-C55A-4CC2-A630-718D87252AF0}"/>
              </a:ext>
            </a:extLst>
          </p:cNvPr>
          <p:cNvSpPr>
            <a:spLocks noGrp="1"/>
          </p:cNvSpPr>
          <p:nvPr>
            <p:ph type="sldNum" sz="quarter" idx="12"/>
          </p:nvPr>
        </p:nvSpPr>
        <p:spPr/>
        <p:txBody>
          <a:bodyPr/>
          <a:lstStyle/>
          <a:p>
            <a:fld id="{2A9E37A5-A917-4235-ABF6-8CD72E894915}" type="slidenum">
              <a:rPr lang="en-US" altLang="ja-JP" smtClean="0"/>
              <a:pPr/>
              <a:t>56</a:t>
            </a:fld>
            <a:endParaRPr lang="ja-JP" altLang="en-US"/>
          </a:p>
        </p:txBody>
      </p:sp>
      <p:sp>
        <p:nvSpPr>
          <p:cNvPr id="4" name="フッター プレースホルダー 3">
            <a:extLst>
              <a:ext uri="{FF2B5EF4-FFF2-40B4-BE49-F238E27FC236}">
                <a16:creationId xmlns:a16="http://schemas.microsoft.com/office/drawing/2014/main" id="{4F4093ED-1A3B-C477-AAC7-3AB1A2809D44}"/>
              </a:ext>
            </a:extLst>
          </p:cNvPr>
          <p:cNvSpPr>
            <a:spLocks noGrp="1"/>
          </p:cNvSpPr>
          <p:nvPr>
            <p:ph type="ftr" sz="quarter" idx="11"/>
          </p:nvPr>
        </p:nvSpPr>
        <p:spPr>
          <a:xfrm>
            <a:off x="14294731" y="9903315"/>
            <a:ext cx="2619755" cy="378000"/>
          </a:xfrm>
        </p:spPr>
        <p:txBody>
          <a:bodyPr/>
          <a:lstStyle>
            <a:lvl1pPr>
              <a:defRPr>
                <a:latin typeface="Meiryo UI" panose="020B0604030504040204" pitchFamily="50" charset="-128"/>
                <a:ea typeface="Meiryo UI" panose="020B0604030504040204" pitchFamily="50" charset="-128"/>
              </a:defRPr>
            </a:lvl1pPr>
          </a:lstStyle>
          <a:p>
            <a:r>
              <a:rPr lang="en-US"/>
              <a:t>Confidential </a:t>
            </a:r>
            <a:endParaRPr lang="en-US" altLang="ja-JP"/>
          </a:p>
        </p:txBody>
      </p:sp>
      <p:sp>
        <p:nvSpPr>
          <p:cNvPr id="7" name="テキスト プレースホルダー 11">
            <a:extLst>
              <a:ext uri="{FF2B5EF4-FFF2-40B4-BE49-F238E27FC236}">
                <a16:creationId xmlns:a16="http://schemas.microsoft.com/office/drawing/2014/main" id="{AFE53FCF-80CD-8B1A-6EF9-559D7BDD72F8}"/>
              </a:ext>
            </a:extLst>
          </p:cNvPr>
          <p:cNvSpPr txBox="1">
            <a:spLocks/>
          </p:cNvSpPr>
          <p:nvPr/>
        </p:nvSpPr>
        <p:spPr>
          <a:xfrm>
            <a:off x="5592800" y="9936000"/>
            <a:ext cx="7102401" cy="324000"/>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1050" kern="1200" baseline="0">
                <a:solidFill>
                  <a:srgbClr val="9A9A96"/>
                </a:solidFill>
                <a:latin typeface="+mj-lt"/>
                <a:ea typeface="源ノ角ゴシック JP Regular"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lt"/>
                <a:ea typeface="源ノ角ゴシック JP Regular"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lt"/>
                <a:ea typeface="源ノ角ゴシック JP Regular"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lt"/>
                <a:ea typeface="源ノ角ゴシック JP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575">
                <a:latin typeface="HGPｺﾞｼｯｸM" panose="020B0600000000000000" pitchFamily="50" charset="-128"/>
                <a:ea typeface="HGPｺﾞｼｯｸM" panose="020B0600000000000000" pitchFamily="50" charset="-128"/>
              </a:rPr>
              <a:t>Copyright © All rights reserved, SHARP MARKETING JAPAN CORPORATION</a:t>
            </a:r>
            <a:endParaRPr lang="ja-JP" altLang="en-US" sz="1575">
              <a:latin typeface="HGPｺﾞｼｯｸM" panose="020B0600000000000000" pitchFamily="50" charset="-128"/>
              <a:ea typeface="HGPｺﾞｼｯｸM" panose="020B0600000000000000" pitchFamily="50" charset="-128"/>
            </a:endParaRPr>
          </a:p>
        </p:txBody>
      </p:sp>
      <p:sp>
        <p:nvSpPr>
          <p:cNvPr id="6" name="タイトル 1">
            <a:extLst>
              <a:ext uri="{FF2B5EF4-FFF2-40B4-BE49-F238E27FC236}">
                <a16:creationId xmlns:a16="http://schemas.microsoft.com/office/drawing/2014/main" id="{A048B7B5-C05E-F3C3-7EB4-CC6A8AA57941}"/>
              </a:ext>
            </a:extLst>
          </p:cNvPr>
          <p:cNvSpPr txBox="1">
            <a:spLocks/>
          </p:cNvSpPr>
          <p:nvPr/>
        </p:nvSpPr>
        <p:spPr>
          <a:xfrm>
            <a:off x="534007" y="1600729"/>
            <a:ext cx="15514200" cy="415800"/>
          </a:xfrm>
          <a:prstGeom prst="rect">
            <a:avLst/>
          </a:prstGeom>
        </p:spPr>
        <p:txBody>
          <a:bodyPr vert="horz" lIns="0" tIns="0" rIns="0" bIns="0" rtlCol="0" anchor="ctr">
            <a:noAutofit/>
          </a:bodyPr>
          <a:lstStyle>
            <a:lvl1pPr algn="l" defTabSz="1371600" rtl="0" eaLnBrk="1" latinLnBrk="0" hangingPunct="1">
              <a:lnSpc>
                <a:spcPct val="90000"/>
              </a:lnSpc>
              <a:spcBef>
                <a:spcPct val="0"/>
              </a:spcBef>
              <a:buNone/>
              <a:defRPr kumimoji="1" sz="2700" kern="1200" baseline="0">
                <a:solidFill>
                  <a:srgbClr val="59574C"/>
                </a:solidFill>
                <a:latin typeface="Meiryo UI" panose="020B0604030504040204" pitchFamily="50" charset="-128"/>
                <a:ea typeface="Meiryo UI" panose="020B0604030504040204" pitchFamily="50" charset="-128"/>
                <a:cs typeface="+mj-cs"/>
              </a:defRPr>
            </a:lvl1pPr>
          </a:lstStyle>
          <a:p>
            <a:endParaRPr lang="ja-JP" altLang="en-US" sz="28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519C5D99-3B48-F86B-618A-680F8C8A1F7F}"/>
              </a:ext>
            </a:extLst>
          </p:cNvPr>
          <p:cNvSpPr txBox="1"/>
          <p:nvPr/>
        </p:nvSpPr>
        <p:spPr>
          <a:xfrm>
            <a:off x="534007" y="1351125"/>
            <a:ext cx="17415668" cy="684803"/>
          </a:xfrm>
          <a:prstGeom prst="rect">
            <a:avLst/>
          </a:prstGeom>
          <a:noFill/>
        </p:spPr>
        <p:txBody>
          <a:bodyPr wrap="square" rtlCol="0">
            <a:spAutoFit/>
          </a:bodyPr>
          <a:lstStyle/>
          <a:p>
            <a:pPr>
              <a:lnSpc>
                <a:spcPct val="150000"/>
              </a:lnSpc>
            </a:pPr>
            <a:r>
              <a:rPr lang="en-US" altLang="ja-JP" sz="2800">
                <a:latin typeface="メイリオ" panose="020B0604030504040204" pitchFamily="50" charset="-128"/>
                <a:ea typeface="メイリオ" panose="020B0604030504040204" pitchFamily="50" charset="-128"/>
                <a:hlinkClick r:id="rId2"/>
              </a:rPr>
              <a:t>https://54.64.199.139/svn/KsTabletPOS/4200_</a:t>
            </a:r>
            <a:r>
              <a:rPr lang="ja-JP" altLang="en-US" sz="2800">
                <a:latin typeface="メイリオ" panose="020B0604030504040204" pitchFamily="50" charset="-128"/>
                <a:ea typeface="メイリオ" panose="020B0604030504040204" pitchFamily="50" charset="-128"/>
                <a:hlinkClick r:id="rId2"/>
              </a:rPr>
              <a:t>グランドデザイン</a:t>
            </a:r>
            <a:endParaRPr lang="en-US" altLang="ja-JP" sz="28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552512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4604179"/>
      </p:ext>
    </p:extLst>
  </p:cSld>
  <p:clrMapOvr>
    <a:masterClrMapping/>
  </p:clrMapOvr>
</p:sld>
</file>

<file path=ppt/theme/theme1.xml><?xml version="1.0" encoding="utf-8"?>
<a:theme xmlns:a="http://schemas.openxmlformats.org/drawingml/2006/main" name="Be Original.テーマ">
  <a:themeElements>
    <a:clrScheme name="スタイルガイドライン">
      <a:dk1>
        <a:srgbClr val="59574C"/>
      </a:dk1>
      <a:lt1>
        <a:srgbClr val="FBFAF1"/>
      </a:lt1>
      <a:dk2>
        <a:srgbClr val="44546A"/>
      </a:dk2>
      <a:lt2>
        <a:srgbClr val="E7E6E6"/>
      </a:lt2>
      <a:accent1>
        <a:srgbClr val="7BA6DE"/>
      </a:accent1>
      <a:accent2>
        <a:srgbClr val="D45D00"/>
      </a:accent2>
      <a:accent3>
        <a:srgbClr val="DBDACB"/>
      </a:accent3>
      <a:accent4>
        <a:srgbClr val="FFA300"/>
      </a:accent4>
      <a:accent5>
        <a:srgbClr val="236192"/>
      </a:accent5>
      <a:accent6>
        <a:srgbClr val="035F1D"/>
      </a:accent6>
      <a:hlink>
        <a:srgbClr val="0563C1"/>
      </a:hlink>
      <a:folHlink>
        <a:srgbClr val="954F72"/>
      </a:folHlink>
    </a:clrScheme>
    <a:fontScheme name="スタイルガイドライン準拠">
      <a:majorFont>
        <a:latin typeface="Source Sans Pro"/>
        <a:ea typeface="源ノ角ゴシック JP Medium"/>
        <a:cs typeface=""/>
      </a:majorFont>
      <a:minorFont>
        <a:latin typeface="Source Sans Pro Black"/>
        <a:ea typeface="源ノ角ゴシック JP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59574C"/>
          </a:solidFill>
        </a:ln>
      </a:spPr>
      <a:bodyPr rtlCol="0" anchor="ctr"/>
      <a:lstStyle>
        <a:defPPr algn="ctr">
          <a:defRPr kumimoji="1" dirty="0" smtClean="0">
            <a:solidFill>
              <a:srgbClr val="59574C"/>
            </a:solidFill>
            <a:latin typeface="Source Sans Pro" panose="020B0503030403020204" pitchFamily="34" charset="0"/>
            <a:ea typeface="源ノ角ゴシック JP Regular" panose="020B0500000000000000" pitchFamily="34" charset="-128"/>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sz="3200" dirty="0" smtClean="0">
            <a:solidFill>
              <a:schemeClr val="bg1">
                <a:lumMod val="10000"/>
              </a:schemeClr>
            </a:solidFill>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4bc140-dba8-4755-bb3f-994b7d16408a" xsi:nil="true"/>
    <lcf76f155ced4ddcb4097134ff3c332f xmlns="3f41c9ba-4722-47dc-944d-e307c247106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CC5DFE86622C54FA415395869D16A8B" ma:contentTypeVersion="11" ma:contentTypeDescription="新しいドキュメントを作成します。" ma:contentTypeScope="" ma:versionID="b3a7fc785f8413af6f238272c885c1f4">
  <xsd:schema xmlns:xsd="http://www.w3.org/2001/XMLSchema" xmlns:xs="http://www.w3.org/2001/XMLSchema" xmlns:p="http://schemas.microsoft.com/office/2006/metadata/properties" xmlns:ns2="3f41c9ba-4722-47dc-944d-e307c247106d" xmlns:ns3="7c4bc140-dba8-4755-bb3f-994b7d16408a" targetNamespace="http://schemas.microsoft.com/office/2006/metadata/properties" ma:root="true" ma:fieldsID="00166112198be06187a0c248e3ae7bfa" ns2:_="" ns3:_="">
    <xsd:import namespace="3f41c9ba-4722-47dc-944d-e307c247106d"/>
    <xsd:import namespace="7c4bc140-dba8-4755-bb3f-994b7d1640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41c9ba-4722-47dc-944d-e307c24710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6de805ed-0ddf-4e5b-915b-481f2a666b4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c4bc140-dba8-4755-bb3f-994b7d16408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2659d32-2768-4b7a-bd91-11b25cb1b4f1}" ma:internalName="TaxCatchAll" ma:showField="CatchAllData" ma:web="7c4bc140-dba8-4755-bb3f-994b7d1640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C52409-3BCD-49A6-9702-299A58502060}">
  <ds:schemaRefs>
    <ds:schemaRef ds:uri="3f41c9ba-4722-47dc-944d-e307c247106d"/>
    <ds:schemaRef ds:uri="http://purl.org/dc/dcmitype/"/>
    <ds:schemaRef ds:uri="http://schemas.openxmlformats.org/package/2006/metadata/core-properties"/>
    <ds:schemaRef ds:uri="http://www.w3.org/XML/1998/namespace"/>
    <ds:schemaRef ds:uri="http://purl.org/dc/elements/1.1/"/>
    <ds:schemaRef ds:uri="7c4bc140-dba8-4755-bb3f-994b7d16408a"/>
    <ds:schemaRef ds:uri="http://schemas.microsoft.com/office/2006/metadata/properties"/>
    <ds:schemaRef ds:uri="http://purl.org/dc/terms/"/>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ECA27C64-A995-4794-8284-78BAE93F1357}">
  <ds:schemaRefs>
    <ds:schemaRef ds:uri="3f41c9ba-4722-47dc-944d-e307c247106d"/>
    <ds:schemaRef ds:uri="7c4bc140-dba8-4755-bb3f-994b7d1640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D70CFFA-7B27-4DC2-9E93-5F1733FBA6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3866</TotalTime>
  <Words>9016</Words>
  <Application>Microsoft Office PowerPoint</Application>
  <PresentationFormat>ユーザー設定</PresentationFormat>
  <Paragraphs>1527</Paragraphs>
  <Slides>57</Slides>
  <Notes>13</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57</vt:i4>
      </vt:variant>
    </vt:vector>
  </HeadingPairs>
  <TitlesOfParts>
    <vt:vector size="69" baseType="lpstr">
      <vt:lpstr>(日本語用のフォントを使用)</vt:lpstr>
      <vt:lpstr>HGPｺﾞｼｯｸM</vt:lpstr>
      <vt:lpstr>HGSｺﾞｼｯｸM</vt:lpstr>
      <vt:lpstr>Malgun Gothic Semilight</vt:lpstr>
      <vt:lpstr>Meiryo UI</vt:lpstr>
      <vt:lpstr>メイリオ</vt:lpstr>
      <vt:lpstr>Arial</vt:lpstr>
      <vt:lpstr>Calibri</vt:lpstr>
      <vt:lpstr>Open Sans</vt:lpstr>
      <vt:lpstr>Source Sans Pro</vt:lpstr>
      <vt:lpstr>Source Sans Pro Black</vt:lpstr>
      <vt:lpstr>Be Original.テーマ</vt:lpstr>
      <vt:lpstr>タブレットPOSシステム グランドデザイン資料  Ver3.0（内部資料）</vt:lpstr>
      <vt:lpstr>変更履歴</vt:lpstr>
      <vt:lpstr>変更履歴</vt:lpstr>
      <vt:lpstr>変更履歴</vt:lpstr>
      <vt:lpstr>変更履歴</vt:lpstr>
      <vt:lpstr>◆目次</vt:lpstr>
      <vt:lpstr>１．はじめに ２．背景と目的：家電量販店の市況 ３．現状と課題 ４．グランドデザインの目標</vt:lpstr>
      <vt:lpstr>１．はじめに</vt:lpstr>
      <vt:lpstr>２．背景と目的：家電量販店の市況</vt:lpstr>
      <vt:lpstr>３．現状と課題 ４．グランドデザインの目標</vt:lpstr>
      <vt:lpstr>５．要件整理・対象範囲</vt:lpstr>
      <vt:lpstr>５－１．全体アーキテクチャ（本番環境）（１）</vt:lpstr>
      <vt:lpstr>５－１．全体アーキテクチャ（本番環境）（２）</vt:lpstr>
      <vt:lpstr>５－１．全体アーキテクチャ（本番環境）（３）</vt:lpstr>
      <vt:lpstr>５－２．現行POSアプリとの関係</vt:lpstr>
      <vt:lpstr>５－３．全体スケジュール（１）</vt:lpstr>
      <vt:lpstr>５－３．全体スケジュール（２）</vt:lpstr>
      <vt:lpstr>５－３．全体スケジュール（３）</vt:lpstr>
      <vt:lpstr>５－３．全体スケジュール（４）</vt:lpstr>
      <vt:lpstr>５－４．接続デバイス</vt:lpstr>
      <vt:lpstr>５－５．機能一覧</vt:lpstr>
      <vt:lpstr>５－６．練習モード</vt:lpstr>
      <vt:lpstr>５－７．オフライン機能（１）</vt:lpstr>
      <vt:lpstr>５－７．オフライン機能（２）</vt:lpstr>
      <vt:lpstr>５－８．通常・初心者モード</vt:lpstr>
      <vt:lpstr>５－９．認証機能</vt:lpstr>
      <vt:lpstr>５－１０．メニュー機能（１）</vt:lpstr>
      <vt:lpstr>５－１０．メニュー機能（２）</vt:lpstr>
      <vt:lpstr>５－１１．環境一覧</vt:lpstr>
      <vt:lpstr>６．システム開発のポイント</vt:lpstr>
      <vt:lpstr>６－１．マルチプラットフォーム対応</vt:lpstr>
      <vt:lpstr>６－２.　マルチデバイス対応（１）iPad／Windows（通常デバイス）</vt:lpstr>
      <vt:lpstr>６－２.　マルチデバイス対応（２）Windows（レガシーOCXデバイス）</vt:lpstr>
      <vt:lpstr>６－２.　マルチデバイス対応（３）Windows（レガシーOCXデバイス）</vt:lpstr>
      <vt:lpstr>６－３．マイクロサービスアーキテクチャ（１）</vt:lpstr>
      <vt:lpstr>６－３．マイクロサービスアーキテクチャ（２） ＜Ks様確認中＞</vt:lpstr>
      <vt:lpstr>６－４．開発環境（採用データベース）</vt:lpstr>
      <vt:lpstr>６－４．開発環境（使用言語等）</vt:lpstr>
      <vt:lpstr>６－５．UI / UX 設計方針</vt:lpstr>
      <vt:lpstr>６－6．共通部品の開発方針（コントロール）</vt:lpstr>
      <vt:lpstr>６－6．共通部品の開発方針（API）＜暫定＞</vt:lpstr>
      <vt:lpstr>６－6．共通部品の開発方針（部品の保守）＜暫定＞</vt:lpstr>
      <vt:lpstr>６－7．非機能要件</vt:lpstr>
      <vt:lpstr>６－8．運用監視（１）</vt:lpstr>
      <vt:lpstr>６－8．運用監視（２）</vt:lpstr>
      <vt:lpstr>６－8．運用監視（３）</vt:lpstr>
      <vt:lpstr>６－9．設計書ラインナップ</vt:lpstr>
      <vt:lpstr>６－9．設計書ラインナップ</vt:lpstr>
      <vt:lpstr>７．プロジェクト推進</vt:lpstr>
      <vt:lpstr>７ー１．DevOpsモデルの導入による自動化推進</vt:lpstr>
      <vt:lpstr>７－２．移行・導入計画</vt:lpstr>
      <vt:lpstr>７－３．教育計画</vt:lpstr>
      <vt:lpstr>７－４．推進体制（7月組みなおし、9月までの体制）</vt:lpstr>
      <vt:lpstr>７－５．会議体</vt:lpstr>
      <vt:lpstr>９．決定事項一覧</vt:lpstr>
      <vt:lpstr>９ー１.決定事項一覧</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伊藤怜央馬/主任</dc:creator>
  <cp:lastModifiedBy>鎌田克/参事</cp:lastModifiedBy>
  <cp:revision>104</cp:revision>
  <dcterms:created xsi:type="dcterms:W3CDTF">2022-10-24T00:43:26Z</dcterms:created>
  <dcterms:modified xsi:type="dcterms:W3CDTF">2026-07-14T12:25:59Z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0x010100ACC5DFE86622C54FA415395869D16A8B</vt:lpwstr>
  </property>
  <property fmtid="{D5CDD505-2E9C-101B-9397-08002B2CF9AE}" pid="3" name="Order">
    <vt:r8>16000</vt:r8>
  </property>
  <property fmtid="{D5CDD505-2E9C-101B-9397-08002B2CF9AE}" pid="4" name="MediaServiceImageTags">
    <vt:lpwstr/>
  </property>
</Properties>
</file>