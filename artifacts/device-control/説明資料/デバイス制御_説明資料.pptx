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18288000" cy="10287000"/>
  <p:notesSz cx="6858000" cy="9144000"/>
  <p:embeddedFontLst>
    <p:embeddedFont>
      <p:font typeface="Meiryo UI" panose="020B0604030504040204" pitchFamily="50" charset="-128"/>
      <p:regular r:id="rId11"/>
      <p:bold r:id="rId12"/>
      <p:italic r:id="rId13"/>
      <p:boldItalic r:id="rId14"/>
    </p:embeddedFont>
    <p:embeddedFont>
      <p:font typeface="Arimo" panose="020B0600070205080204" charset="0"/>
      <p:regular r:id="rId15"/>
      <p:bold r:id="rId16"/>
      <p:italic r:id="rId17"/>
      <p:boldItalic r:id="rId18"/>
    </p:embeddedFont>
  </p:embeddedFont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470B99F-87D4-495D-A868-2400528E7458}">
  <a:tblStyle styleId="{E470B99F-87D4-495D-A868-2400528E745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89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/>
              <a:t>TỰ NHỚ: Hôm nay muốn mọi người hiểu gì?</a:t>
            </a:r>
          </a:p>
          <a:p>
            <a:endParaRPr lang="en-US" altLang="ja-JP"/>
          </a:p>
          <a:p>
            <a:r>
              <a:rPr lang="ja-JP" altLang="en-US"/>
              <a:t>では、始めますね。今日は、デバイス制御の資料について、全体の考え方と、画面側でどう使うかをご説明します。
今回は、業務画面を開発する方が、機器ごとの細かい仕組みを一から調べなくても、必要な処理を呼び出せるように、インターフェースと使い方を整理しています。
まずは、その使い方から見ていきますね。そのあとで、デバイスコネクタの資料を使って、内部の構成を簡単にご説明します。
今日の説明を聞いていただいて、画面側で必要な機能が足りているか、それから、使い方が分かりにくくないか、そのあたりをご確認いただければと思います。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/>
              <a:t>TỰ NHỚ: Người làm màn hình dùng tài liệu này làm gì?</a:t>
            </a:r>
          </a:p>
          <a:p>
            <a:endParaRPr lang="en-US" altLang="ja-JP"/>
          </a:p>
          <a:p>
            <a:r>
              <a:rPr lang="ja-JP" altLang="en-US"/>
              <a:t>まず、インターフェースの資料なんですが、機器ごとに、呼び出せる処理と、渡す情報、それから返ってくる結果をまとめています。
たとえばスキャナであれば、画面側から読取りを依頼して、読み取った内容を受け取ります。その結果を画面でどう使うかは、業務画面側で処理していただきます。
つまり、画面側では何をしたいかを指定して、結果を受け取る、という使い方ですね。機器との接続や、機器ごとの細かい制御は、デバイス制御側で扱います。
組み込むときも、今ある画面の処理から、用意した機能を呼び出していただく考え方です。その流れを、資料の最初に記載しています。
ここは実際に使う方に見ていただきたいところで、必要な処理が見つからないとか、何を渡せばよいか分からない、といった点があれば、具体的に直していきたいと思っています。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/>
              <a:t>TỰ NHỚ: Một lần gọi thì xảy ra chuyện gì?</a:t>
            </a:r>
          </a:p>
          <a:p>
            <a:endParaRPr lang="en-US" altLang="ja-JP"/>
          </a:p>
          <a:p>
            <a:r>
              <a:rPr lang="ja-JP" altLang="en-US"/>
              <a:t>少しイメージしやすいように、スキャナの例で説明しますね。
画面でコードを読み取りたいときに、読取りの処理を呼び出します。一件読み取れたら、機器やカメラを解放して、その結果を画面側へ返します。
画面側は、返ってきたコードを使って、そのあとの業務処理を進めます。もう一件読みたい場合は、もう一度、利用を開始して読み取ります。
一回呼び出したら、一件読み取って終わる、という動きですね。ずっと読み続ける使い方ではありません。
ほかの機器についても、画面から必要な処理を呼んで、結果を受け取る、という考え方は共通です。ただ、使い始めるタイミングや結果の返り方には違いがあるので、その部分は機器ごとのシートで説明しています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/>
              <a:t>TỰ NHỚ: Bên nào xử lý màn hình, bên nào điều khiển máy?</a:t>
            </a:r>
          </a:p>
          <a:p>
            <a:endParaRPr lang="en-US" altLang="ja-JP"/>
          </a:p>
          <a:p>
            <a:r>
              <a:rPr lang="ja-JP" altLang="en-US"/>
              <a:t>では、その呼び出しを内部でどう処理するか、というところに移りますね。
大きく見ると、画面を動かすアプリ側と、機器を操作する側に分かれています。</a:t>
            </a:r>
            <a:r>
              <a:rPr lang="en-US" altLang="ja-JP"/>
              <a:t>Windows</a:t>
            </a:r>
            <a:r>
              <a:rPr lang="ja-JP" altLang="en-US"/>
              <a:t>では、既存の機器を動かすために、</a:t>
            </a:r>
            <a:r>
              <a:rPr lang="en-US" altLang="ja-JP"/>
              <a:t>Windows</a:t>
            </a:r>
            <a:r>
              <a:rPr lang="ja-JP" altLang="en-US"/>
              <a:t>用の仕組みを使うものがあります。その部分をアプリとは別に動かしているのが、デバイスコネクタです。
アプリ側から操作を依頼すると、デバイスコネクタが機器を操作して、結果を返します。画面側が直接、機器の細かい仕組みを扱う必要はありません。
先ほどのインターフェースの説明とつなげると、画面側は決められた呼び方を使って、その先の機器ごとの差は、デバイス制御側で扱う、という構成ですね。
なお、</a:t>
            </a:r>
            <a:r>
              <a:rPr lang="en-US" altLang="ja-JP"/>
              <a:t>Windows</a:t>
            </a:r>
            <a:r>
              <a:rPr lang="ja-JP" altLang="en-US"/>
              <a:t>の機器がすべてデバイスコネクタを通るわけではなくて、直接扱うものもあります。詳しい違いは基本設計書にありますが、まずは、この役割の分け方を押さえていただければと思います。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/>
              <a:t>TỰ NHỚ: Điểm nào giống Windows, điểm nào khác?</a:t>
            </a:r>
          </a:p>
          <a:p>
            <a:endParaRPr lang="en-US" altLang="ja-JP"/>
          </a:p>
          <a:p>
            <a:r>
              <a:rPr lang="ja-JP" altLang="en-US"/>
              <a:t>ここで、</a:t>
            </a:r>
            <a:r>
              <a:rPr lang="en-US" altLang="ja-JP"/>
              <a:t>iOS</a:t>
            </a:r>
            <a:r>
              <a:rPr lang="ja-JP" altLang="en-US"/>
              <a:t>の場合も簡単に説明しますね。
</a:t>
            </a:r>
            <a:r>
              <a:rPr lang="en-US" altLang="ja-JP"/>
              <a:t>iOS</a:t>
            </a:r>
            <a:r>
              <a:rPr lang="ja-JP" altLang="en-US"/>
              <a:t>では、デバイスコネクタは使いません。デバイス制御側から、</a:t>
            </a:r>
            <a:r>
              <a:rPr lang="en-US" altLang="ja-JP"/>
              <a:t>iOS</a:t>
            </a:r>
            <a:r>
              <a:rPr lang="ja-JP" altLang="en-US"/>
              <a:t>で使える仕組みを通して機器を扱います。
内部の動かし方は</a:t>
            </a:r>
            <a:r>
              <a:rPr lang="en-US" altLang="ja-JP"/>
              <a:t>Windows</a:t>
            </a:r>
            <a:r>
              <a:rPr lang="ja-JP" altLang="en-US"/>
              <a:t>と違うんですが、画面側の呼び出し方は、できるだけ共通にする方針です。画面を作る方が、</a:t>
            </a:r>
            <a:r>
              <a:rPr lang="en-US" altLang="ja-JP"/>
              <a:t>OS</a:t>
            </a:r>
            <a:r>
              <a:rPr lang="ja-JP" altLang="en-US"/>
              <a:t>ごとに全部違う使い方を覚えなくてもよいようにしたい、という考え方ですね。
ただ、呼び方が共通だから、すべての機能が使えるかというと、そこは別です。機器によって、</a:t>
            </a:r>
            <a:r>
              <a:rPr lang="en-US" altLang="ja-JP"/>
              <a:t>iOS</a:t>
            </a:r>
            <a:r>
              <a:rPr lang="ja-JP" altLang="en-US"/>
              <a:t>で使える機能と使えない機能があります。
なので、実際に使用する機器と、画面で必要な処理を合わせて確認する必要があります。対応していない機能があれば、画面側でどう扱うかも含めて相談していくことになります。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/>
              <a:t>TỰ NHỚ: Đang theo hướng nào, còn gì chưa chốt?</a:t>
            </a:r>
          </a:p>
          <a:p>
            <a:endParaRPr lang="en-US" altLang="ja-JP"/>
          </a:p>
          <a:p>
            <a:r>
              <a:rPr lang="ja-JP" altLang="en-US"/>
              <a:t>次に、設定のところなんですが、どの機器を使うか、どこへ接続するか、といった情報を読み込んで、機器を使えるようにします。
この部分は、亀谷さんと相談しています。アプリの起動時に</a:t>
            </a:r>
            <a:r>
              <a:rPr lang="en-US" altLang="ja-JP"/>
              <a:t>API</a:t>
            </a:r>
            <a:r>
              <a:rPr lang="ja-JP" altLang="en-US"/>
              <a:t>から設定を取得することを前提に進めています。
ただ、今の実装は、アプリ側にある設定ファイルを読み込む形なので、そこを</a:t>
            </a:r>
            <a:r>
              <a:rPr lang="en-US" altLang="ja-JP"/>
              <a:t>API</a:t>
            </a:r>
            <a:r>
              <a:rPr lang="ja-JP" altLang="en-US"/>
              <a:t>から取得する流れに、どうつなげるかを整理する必要があります。
それから、起動時に読み込めれば全部決まる、というわけでもないんですね。たとえば、設定を取得できなかったときにどうするか、設定が変わったらいつ反映するか、といったケースがあります。
そのあたりは業務での使い方にも関わるので、今の時点では、まだすべて決めきれていません。まず基本の流れを整理して、必要なケースは引き続き相談していく、という状況です。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/>
              <a:t>TỰ NHỚ: Phạm vi của hai phần này là gì?</a:t>
            </a:r>
          </a:p>
          <a:p>
            <a:endParaRPr lang="en-US" altLang="ja-JP"/>
          </a:p>
          <a:p>
            <a:r>
              <a:rPr lang="ja-JP" altLang="en-US"/>
              <a:t>インターフェースの資料に戻って、</a:t>
            </a:r>
            <a:r>
              <a:rPr lang="en-US" altLang="ja-JP"/>
              <a:t>A4</a:t>
            </a:r>
            <a:r>
              <a:rPr lang="ja-JP" altLang="en-US"/>
              <a:t>と</a:t>
            </a:r>
            <a:r>
              <a:rPr lang="en-US" altLang="ja-JP"/>
              <a:t>POSA</a:t>
            </a:r>
            <a:r>
              <a:rPr lang="ja-JP" altLang="en-US"/>
              <a:t>についても補足しますね。
この二つは、スキャナなどの周辺機器とはグループを分けています。画面から利用するための窓口は用意しますが、機器の読取りや開閉とは、処理の内容が違うためです。
まず</a:t>
            </a:r>
            <a:r>
              <a:rPr lang="en-US" altLang="ja-JP"/>
              <a:t>A4</a:t>
            </a:r>
            <a:r>
              <a:rPr lang="ja-JP" altLang="en-US"/>
              <a:t>帳票印刷なんですが、サーバー側で作られた</a:t>
            </a:r>
            <a:r>
              <a:rPr lang="en-US" altLang="ja-JP"/>
              <a:t>PDF</a:t>
            </a:r>
            <a:r>
              <a:rPr lang="ja-JP" altLang="en-US"/>
              <a:t>を受け取って、印刷する流れを想定しています。この部分で、帳票のレイアウトを一から作るわけではありません。
ただ、</a:t>
            </a:r>
            <a:r>
              <a:rPr lang="en-US" altLang="ja-JP"/>
              <a:t>PDF</a:t>
            </a:r>
            <a:r>
              <a:rPr lang="ja-JP" altLang="en-US"/>
              <a:t>を受け渡すところと、実際のプリンタで印刷するところは、分けて確認する必要があります。実際の印刷については、使用するプリンタや確認環境が必要になります。
</a:t>
            </a:r>
            <a:r>
              <a:rPr lang="en-US" altLang="ja-JP"/>
              <a:t>POSA</a:t>
            </a:r>
            <a:r>
              <a:rPr lang="ja-JP" altLang="en-US"/>
              <a:t>のほうは、機器そのものではなく、カード取引として整理しています。連携先を含めた確認範囲や担当については、まだ確認が必要です。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/>
              <a:t>TỰ NHỚ: Muốn mọi người kiểm tra và góp ý gì?</a:t>
            </a:r>
          </a:p>
          <a:p>
            <a:endParaRPr lang="en-US" altLang="ja-JP"/>
          </a:p>
          <a:p>
            <a:r>
              <a:rPr lang="ja-JP" altLang="en-US"/>
              <a:t>最後に、ほかの資料との関係をお話ししますね。
画面へ組み込む方には、まずインターフェースの資料を見ていただく想定です。そのうえで、内部の仕組みを確認したい場合は、基本設計書やクラス構成図を見る、という順番です。
プログラム仕様書には、個々の処理をもう少し詳しく記載しています。こちらは主に、実装を確認する方や、今後修正する方に使っていただく資料です。
コードについては、ジャパンネットのソースをベースにした作業用のコードへ組み込んでいます。今後、開発側へ反映する際には、既存の共通部品との役割分担や、使い方を合わせていきたいと思っています。
ただ、実装があることと、実機で確認が終わっていることは別なんですね。ハンディターミナル、</a:t>
            </a:r>
            <a:r>
              <a:rPr lang="en-US" altLang="ja-JP"/>
              <a:t>A4</a:t>
            </a:r>
            <a:r>
              <a:rPr lang="ja-JP" altLang="en-US"/>
              <a:t>、</a:t>
            </a:r>
            <a:r>
              <a:rPr lang="en-US" altLang="ja-JP"/>
              <a:t>POSA</a:t>
            </a:r>
            <a:r>
              <a:rPr lang="ja-JP" altLang="en-US"/>
              <a:t>などは、環境や担当も含めて、まだ確認が残っています。
ですので、まず今回の資料で、画面側から必要な処理を呼び出せそうかを見ていただいて、不足があれば具体的に整理したいと思っています。
使いたい画面と、そこで行いたい処理を教えていただけると、確認しやすいですね。その内容をもとに、追加や修正が必要なところを確認していきたいと思います。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13;p37"/>
          <p:cNvCxnSpPr/>
          <p:nvPr/>
        </p:nvCxnSpPr>
        <p:spPr>
          <a:xfrm rot="3731">
            <a:off x="367413" y="1083108"/>
            <a:ext cx="17552118" cy="0"/>
          </a:xfrm>
          <a:prstGeom prst="straightConnector1">
            <a:avLst/>
          </a:prstGeom>
          <a:ln w="19050" cap="rnd">
            <a:solidFill>
              <a:srgbClr val="DBDAC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37">
            <a:extLst>
              <a:ext uri="{FF2B5EF4-FFF2-40B4-BE49-F238E27FC236}">
                <a16:creationId xmlns:a16="http://schemas.microsoft.com/office/drawing/2014/main" id="{8B8678DE-F250-4D72-9007-E4E400D9E80C}"/>
              </a:ext>
            </a:extLst>
          </p:cNvPr>
          <p:cNvSpPr>
            <a:spLocks noGrp="1"/>
          </p:cNvSpPr>
          <p:nvPr/>
        </p:nvSpPr>
        <p:spPr>
          <a:xfrm>
            <a:off x="16284600" y="240300"/>
            <a:ext cx="1620012" cy="810006"/>
          </a:xfrm>
          <a:custGeom>
            <a:avLst/>
            <a:gdLst/>
            <a:ahLst/>
            <a:cxnLst/>
            <a:rect l="l" t="t" r="r" b="b"/>
            <a:pathLst>
              <a:path w="2160016" h="1080008">
                <a:moveTo>
                  <a:pt x="0" y="0"/>
                </a:moveTo>
                <a:lnTo>
                  <a:pt x="2160016" y="0"/>
                </a:lnTo>
                <a:lnTo>
                  <a:pt x="2160016" y="1080008"/>
                </a:lnTo>
                <a:lnTo>
                  <a:pt x="0" y="1080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Google Shape;15;p37">
            <a:extLst>
              <a:ext uri="{FF2B5EF4-FFF2-40B4-BE49-F238E27FC236}">
                <a16:creationId xmlns:a16="http://schemas.microsoft.com/office/drawing/2014/main" id="{7E25BA69-87EC-4EB0-A7D8-E96D506B1AE0}"/>
              </a:ext>
            </a:extLst>
          </p:cNvPr>
          <p:cNvSpPr>
            <a:spLocks noGrp="1"/>
          </p:cNvSpPr>
          <p:nvPr/>
        </p:nvSpPr>
        <p:spPr>
          <a:xfrm>
            <a:off x="5729960" y="10004580"/>
            <a:ext cx="6828081" cy="18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sz="1050" b="0" i="0" u="none" cap="none">
                <a:solidFill>
                  <a:srgbClr val="9A9A96"/>
                </a:solidFill>
                <a:latin typeface="Arimo"/>
                <a:ea typeface="Arimo"/>
                <a:cs typeface="Arimo"/>
              </a:rPr>
              <a:t>Copyright © All rights reserved, SHARP CORPORATION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Google Shape;17;p37">
            <a:extLst>
              <a:ext uri="{FF2B5EF4-FFF2-40B4-BE49-F238E27FC236}">
                <a16:creationId xmlns:a16="http://schemas.microsoft.com/office/drawing/2014/main" id="{C2AE5584-BA5E-4C93-9A78-329B6BC4A1D6}"/>
              </a:ext>
            </a:extLst>
          </p:cNvPr>
          <p:cNvSpPr>
            <a:spLocks noGrp="1"/>
          </p:cNvSpPr>
          <p:nvPr/>
        </p:nvSpPr>
        <p:spPr>
          <a:xfrm>
            <a:off x="378000" y="9936000"/>
            <a:ext cx="4114800" cy="324000"/>
          </a:xfrm>
          <a:custGeom>
            <a:avLst/>
            <a:gdLst/>
            <a:ahLst/>
            <a:cxnLst/>
            <a:rect l="l" t="t" r="r" b="b"/>
            <a:pathLst>
              <a:path w="5486400" h="432000">
                <a:moveTo>
                  <a:pt x="0" y="0"/>
                </a:moveTo>
                <a:lnTo>
                  <a:pt x="5486400" y="0"/>
                </a:lnTo>
                <a:lnTo>
                  <a:pt x="5486400" y="432000"/>
                </a:lnTo>
                <a:lnTo>
                  <a:pt x="0" y="432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Google Shape;18;p37">
            <a:extLst>
              <a:ext uri="{FF2B5EF4-FFF2-40B4-BE49-F238E27FC236}">
                <a16:creationId xmlns:a16="http://schemas.microsoft.com/office/drawing/2014/main" id="{13EB7955-E226-4BE1-AB69-A4674A662E30}"/>
              </a:ext>
            </a:extLst>
          </p:cNvPr>
          <p:cNvSpPr>
            <a:spLocks noGrp="1"/>
          </p:cNvSpPr>
          <p:nvPr/>
        </p:nvSpPr>
        <p:spPr>
          <a:xfrm>
            <a:off x="378000" y="9921713"/>
            <a:ext cx="4114800" cy="338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Google Shape;20;p37">
            <a:extLst>
              <a:ext uri="{FF2B5EF4-FFF2-40B4-BE49-F238E27FC236}">
                <a16:creationId xmlns:a16="http://schemas.microsoft.com/office/drawing/2014/main" id="{98300D10-3487-4987-9B7A-ECEF72EF4C3A}"/>
              </a:ext>
            </a:extLst>
          </p:cNvPr>
          <p:cNvSpPr>
            <a:spLocks noGrp="1"/>
          </p:cNvSpPr>
          <p:nvPr/>
        </p:nvSpPr>
        <p:spPr>
          <a:xfrm>
            <a:off x="14294731" y="9903315"/>
            <a:ext cx="2619755" cy="378000"/>
          </a:xfrm>
          <a:custGeom>
            <a:avLst/>
            <a:gdLst/>
            <a:ahLst/>
            <a:cxnLst/>
            <a:rect l="l" t="t" r="r" b="b"/>
            <a:pathLst>
              <a:path w="3493007" h="504000">
                <a:moveTo>
                  <a:pt x="0" y="0"/>
                </a:moveTo>
                <a:lnTo>
                  <a:pt x="3493007" y="0"/>
                </a:lnTo>
                <a:lnTo>
                  <a:pt x="3493007" y="504000"/>
                </a:lnTo>
                <a:lnTo>
                  <a:pt x="0" y="504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Google Shape;21;p37">
            <a:extLst>
              <a:ext uri="{FF2B5EF4-FFF2-40B4-BE49-F238E27FC236}">
                <a16:creationId xmlns:a16="http://schemas.microsoft.com/office/drawing/2014/main" id="{35820F95-D50F-4803-AB50-F3B943F83A18}"/>
              </a:ext>
            </a:extLst>
          </p:cNvPr>
          <p:cNvSpPr>
            <a:spLocks noGrp="1"/>
          </p:cNvSpPr>
          <p:nvPr/>
        </p:nvSpPr>
        <p:spPr>
          <a:xfrm>
            <a:off x="14294731" y="9889028"/>
            <a:ext cx="2619755" cy="39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9A9A96"/>
                </a:solidFill>
                <a:latin typeface="Arimo"/>
                <a:ea typeface="Arimo"/>
                <a:cs typeface="Arimo"/>
              </a:rPr>
              <a:t>Confidential 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Google Shape;22;p37">
            <a:extLst>
              <a:ext uri="{FF2B5EF4-FFF2-40B4-BE49-F238E27FC236}">
                <a16:creationId xmlns:a16="http://schemas.microsoft.com/office/drawing/2014/main" id="{33EF97DE-C608-466A-BA8B-C2B3E86636CF}"/>
              </a:ext>
            </a:extLst>
          </p:cNvPr>
          <p:cNvSpPr>
            <a:spLocks noGrp="1"/>
          </p:cNvSpPr>
          <p:nvPr/>
        </p:nvSpPr>
        <p:spPr>
          <a:xfrm>
            <a:off x="17428362" y="9936000"/>
            <a:ext cx="476250" cy="23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sz="1500" b="0" i="0" u="none" cap="none">
                <a:solidFill>
                  <a:srgbClr val="A5A5A5"/>
                </a:solidFill>
                <a:latin typeface="Arial"/>
                <a:ea typeface="Arial"/>
                <a:cs typeface="Arial"/>
              </a:rPr>
              <a:t>‹#›</a:t>
            </a:fld>
            <a:endParaRPr sz="1500" b="0" i="0" u="none" cap="none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_Last">
  <p:cSld name="Cover_L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8">
            <a:extLst>
              <a:ext uri="{FF2B5EF4-FFF2-40B4-BE49-F238E27FC236}">
                <a16:creationId xmlns:a16="http://schemas.microsoft.com/office/drawing/2014/main" id="{065D0D02-501F-4520-A45B-1C1DF14C2872}"/>
              </a:ext>
            </a:extLst>
          </p:cNvPr>
          <p:cNvSpPr>
            <a:spLocks noGrp="1"/>
          </p:cNvSpPr>
          <p:nvPr/>
        </p:nvSpPr>
        <p:spPr>
          <a:xfrm>
            <a:off x="6332905" y="4020580"/>
            <a:ext cx="5622226" cy="1668304"/>
          </a:xfrm>
          <a:custGeom>
            <a:avLst/>
            <a:gdLst/>
            <a:ahLst/>
            <a:cxnLst/>
            <a:rect l="l" t="t" r="r" b="b"/>
            <a:pathLst>
              <a:path w="7496302" h="2224405">
                <a:moveTo>
                  <a:pt x="0" y="0"/>
                </a:moveTo>
                <a:lnTo>
                  <a:pt x="7496302" y="0"/>
                </a:lnTo>
                <a:lnTo>
                  <a:pt x="7496302" y="2224405"/>
                </a:lnTo>
                <a:lnTo>
                  <a:pt x="0" y="2224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t="-59" b="-62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</p:sldLayoutIdLst>
  <p:hf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6B9DF7-7B2A-496E-ACD7-43B49F4EAAD1}"/>
              </a:ext>
            </a:extLst>
          </p:cNvPr>
          <p:cNvSpPr>
            <a:spLocks noGrp="1"/>
          </p:cNvSpPr>
          <p:nvPr/>
        </p:nvSpPr>
        <p:spPr>
          <a:xfrm>
            <a:off x="374904" y="310896"/>
            <a:ext cx="14173200" cy="461665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ja-JP" altLang="en-US" sz="3000" b="1">
                <a:solidFill>
                  <a:srgbClr val="54545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デバイス制御の使い方と全体構成</a:t>
            </a:r>
            <a:endParaRPr sz="3000" b="1">
              <a:solidFill>
                <a:srgbClr val="545454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74D695E-ABF0-4E77-A66D-26606BD71623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17190720" cy="1280160"/>
          </a:xfrm>
          <a:prstGeom prst="roundRect">
            <a:avLst>
              <a:gd name="adj" fmla="val 12000"/>
            </a:avLst>
          </a:prstGeom>
          <a:solidFill>
            <a:srgbClr val="F2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  <a:r>
              <a:rPr lang="ja-JP" altLang="en-US" sz="28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業務画面から必要な機能を呼び出せるように、使い方を整理しています。</a:t>
            </a:r>
            <a:endParaRPr sz="2800" b="1">
              <a:solidFill>
                <a:srgbClr val="555555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E3DF0B2-AAB8-A943-9DED-BDF897F840D1}"/>
              </a:ext>
            </a:extLst>
          </p:cNvPr>
          <p:cNvSpPr/>
          <p:nvPr/>
        </p:nvSpPr>
        <p:spPr>
          <a:xfrm>
            <a:off x="660400" y="3429000"/>
            <a:ext cx="3556000" cy="1206500"/>
          </a:xfrm>
          <a:prstGeom prst="rect">
            <a:avLst/>
          </a:prstGeom>
          <a:solidFill>
            <a:srgbClr val="F2DBDB"/>
          </a:solidFill>
          <a:ln w="254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1D20471-46F3-3AB0-7D1E-9A57F5A03AB9}"/>
              </a:ext>
            </a:extLst>
          </p:cNvPr>
          <p:cNvSpPr txBox="1"/>
          <p:nvPr/>
        </p:nvSpPr>
        <p:spPr>
          <a:xfrm>
            <a:off x="762000" y="3657600"/>
            <a:ext cx="3365500" cy="543739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27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使い方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F44C350-CFD3-4274-3063-75889214C53B}"/>
              </a:ext>
            </a:extLst>
          </p:cNvPr>
          <p:cNvSpPr txBox="1"/>
          <p:nvPr/>
        </p:nvSpPr>
        <p:spPr>
          <a:xfrm>
            <a:off x="4635500" y="3581400"/>
            <a:ext cx="12890500" cy="57451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kumimoji="1" lang="ja-JP" altLang="en-US" sz="29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画面から何を呼び出し、どのような結果を受け取るか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17C848A-97B3-9873-F42F-065A72F608CF}"/>
              </a:ext>
            </a:extLst>
          </p:cNvPr>
          <p:cNvSpPr/>
          <p:nvPr/>
        </p:nvSpPr>
        <p:spPr>
          <a:xfrm>
            <a:off x="660400" y="5143500"/>
            <a:ext cx="3556000" cy="1206500"/>
          </a:xfrm>
          <a:prstGeom prst="rect">
            <a:avLst/>
          </a:prstGeom>
          <a:solidFill>
            <a:srgbClr val="F2DBDB"/>
          </a:solidFill>
          <a:ln w="254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7B6C488-17F1-D502-909F-D93BA7BCAF00}"/>
              </a:ext>
            </a:extLst>
          </p:cNvPr>
          <p:cNvSpPr txBox="1"/>
          <p:nvPr/>
        </p:nvSpPr>
        <p:spPr>
          <a:xfrm>
            <a:off x="762000" y="5372100"/>
            <a:ext cx="3365500" cy="543739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27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全体構成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A5EB7F7-7C32-9F11-99A0-A4682EE6C8AB}"/>
              </a:ext>
            </a:extLst>
          </p:cNvPr>
          <p:cNvSpPr txBox="1"/>
          <p:nvPr/>
        </p:nvSpPr>
        <p:spPr>
          <a:xfrm>
            <a:off x="4635500" y="5295900"/>
            <a:ext cx="12890500" cy="57451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kumimoji="1" lang="ja-JP" altLang="en-US" sz="29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アプリ側と機器を操作する側の役割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A7AB829-BF68-DD90-66FE-8A805A07AD74}"/>
              </a:ext>
            </a:extLst>
          </p:cNvPr>
          <p:cNvSpPr/>
          <p:nvPr/>
        </p:nvSpPr>
        <p:spPr>
          <a:xfrm>
            <a:off x="660400" y="6858000"/>
            <a:ext cx="3556000" cy="1206500"/>
          </a:xfrm>
          <a:prstGeom prst="rect">
            <a:avLst/>
          </a:prstGeom>
          <a:solidFill>
            <a:srgbClr val="F2DBDB"/>
          </a:solidFill>
          <a:ln w="254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2156EF4-A15A-9733-BC7B-F263C73E6527}"/>
              </a:ext>
            </a:extLst>
          </p:cNvPr>
          <p:cNvSpPr txBox="1"/>
          <p:nvPr/>
        </p:nvSpPr>
        <p:spPr>
          <a:xfrm>
            <a:off x="762000" y="7086600"/>
            <a:ext cx="3365500" cy="543739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27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確認したいこと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B58A9E9-3D1E-B4DE-CCB7-BDF1B76D1807}"/>
              </a:ext>
            </a:extLst>
          </p:cNvPr>
          <p:cNvSpPr txBox="1"/>
          <p:nvPr/>
        </p:nvSpPr>
        <p:spPr>
          <a:xfrm>
            <a:off x="4635500" y="7010400"/>
            <a:ext cx="12890500" cy="57451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kumimoji="1" lang="ja-JP" altLang="en-US" sz="29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必要な機能が足りているか、使い方が分かりやすいか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8F555A2-C109-88BA-40EF-372684908673}"/>
              </a:ext>
            </a:extLst>
          </p:cNvPr>
          <p:cNvSpPr txBox="1"/>
          <p:nvPr/>
        </p:nvSpPr>
        <p:spPr>
          <a:xfrm>
            <a:off x="609600" y="8826500"/>
            <a:ext cx="16954500" cy="482183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kumimoji="1" lang="ja-JP" altLang="en-US" sz="23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タブレット</a:t>
            </a:r>
            <a:r>
              <a:rPr kumimoji="1" lang="en-US" altLang="ja-JP" sz="23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 </a:t>
            </a:r>
            <a:r>
              <a:rPr kumimoji="1" lang="ja-JP" altLang="en-US" sz="23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／ デバイス制御</a:t>
            </a:r>
          </a:p>
        </p:txBody>
      </p:sp>
    </p:spTree>
    <p:extLst>
      <p:ext uri="{BB962C8B-B14F-4D97-AF65-F5344CB8AC3E}">
        <p14:creationId xmlns:p14="http://schemas.microsoft.com/office/powerpoint/2010/main" val="634152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6B9DF7-7B2A-496E-ACD7-43B49F4EAAD1}"/>
              </a:ext>
            </a:extLst>
          </p:cNvPr>
          <p:cNvSpPr>
            <a:spLocks noGrp="1"/>
          </p:cNvSpPr>
          <p:nvPr/>
        </p:nvSpPr>
        <p:spPr>
          <a:xfrm>
            <a:off x="374904" y="310896"/>
            <a:ext cx="14173200" cy="461665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ja-JP" altLang="en-US" sz="3000" b="1">
                <a:solidFill>
                  <a:srgbClr val="54545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インターフェース資料の使い方</a:t>
            </a:r>
            <a:endParaRPr sz="3000" b="1">
              <a:solidFill>
                <a:srgbClr val="545454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74D695E-ABF0-4E77-A66D-26606BD71623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17190720" cy="1280160"/>
          </a:xfrm>
          <a:prstGeom prst="roundRect">
            <a:avLst>
              <a:gd name="adj" fmla="val 12000"/>
            </a:avLst>
          </a:prstGeom>
          <a:solidFill>
            <a:srgbClr val="F2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  <a:r>
              <a:rPr lang="ja-JP" altLang="en-US" sz="28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機器ごとに、呼び出せる処理、渡す情報、返ってくる結果を確認できます。</a:t>
            </a:r>
            <a:endParaRPr sz="2800" b="1">
              <a:solidFill>
                <a:srgbClr val="555555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E886E8E3-042E-A002-3E14-F6D9E9D07B9C}"/>
              </a:ext>
            </a:extLst>
          </p:cNvPr>
          <p:cNvSpPr/>
          <p:nvPr/>
        </p:nvSpPr>
        <p:spPr>
          <a:xfrm>
            <a:off x="698500" y="3683000"/>
            <a:ext cx="5334000" cy="39370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BBB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263BCF6-2EF0-5B04-F3A9-0B4623DE5EAA}"/>
              </a:ext>
            </a:extLst>
          </p:cNvPr>
          <p:cNvSpPr txBox="1"/>
          <p:nvPr/>
        </p:nvSpPr>
        <p:spPr>
          <a:xfrm>
            <a:off x="850900" y="3937000"/>
            <a:ext cx="5029200" cy="589905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30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呼び出す処理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C57593E-77DD-2D0B-A859-EC421378145A}"/>
              </a:ext>
            </a:extLst>
          </p:cNvPr>
          <p:cNvSpPr txBox="1"/>
          <p:nvPr/>
        </p:nvSpPr>
        <p:spPr>
          <a:xfrm>
            <a:off x="850900" y="4851400"/>
            <a:ext cx="50292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26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使いたい機能を探す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626C5FD6-2029-BA2C-87FE-D40B7991332F}"/>
              </a:ext>
            </a:extLst>
          </p:cNvPr>
          <p:cNvSpPr/>
          <p:nvPr/>
        </p:nvSpPr>
        <p:spPr>
          <a:xfrm>
            <a:off x="6477000" y="3683000"/>
            <a:ext cx="5334000" cy="39370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BBB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7F23005-DAD4-D4DA-4DE4-890D5AC7DA0E}"/>
              </a:ext>
            </a:extLst>
          </p:cNvPr>
          <p:cNvSpPr txBox="1"/>
          <p:nvPr/>
        </p:nvSpPr>
        <p:spPr>
          <a:xfrm>
            <a:off x="6629400" y="3937000"/>
            <a:ext cx="5029200" cy="589905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30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渡す情報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3FC50BD-9539-8250-C325-A65D29416198}"/>
              </a:ext>
            </a:extLst>
          </p:cNvPr>
          <p:cNvSpPr txBox="1"/>
          <p:nvPr/>
        </p:nvSpPr>
        <p:spPr>
          <a:xfrm>
            <a:off x="6629400" y="4851400"/>
            <a:ext cx="50292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26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必要な値と条件を確認する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5069B2C-BAC3-54D7-929B-9DF70A386295}"/>
              </a:ext>
            </a:extLst>
          </p:cNvPr>
          <p:cNvSpPr/>
          <p:nvPr/>
        </p:nvSpPr>
        <p:spPr>
          <a:xfrm>
            <a:off x="12255500" y="3683000"/>
            <a:ext cx="5334000" cy="39370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BBB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0DD4AD1-B043-AA98-EA52-832DBCE1C113}"/>
              </a:ext>
            </a:extLst>
          </p:cNvPr>
          <p:cNvSpPr txBox="1"/>
          <p:nvPr/>
        </p:nvSpPr>
        <p:spPr>
          <a:xfrm>
            <a:off x="12407900" y="3937000"/>
            <a:ext cx="5029200" cy="589905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30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受け取る結果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DB77FC8-A976-E6EE-E2C5-878A360EEB5D}"/>
              </a:ext>
            </a:extLst>
          </p:cNvPr>
          <p:cNvSpPr txBox="1"/>
          <p:nvPr/>
        </p:nvSpPr>
        <p:spPr>
          <a:xfrm>
            <a:off x="12407900" y="4851400"/>
            <a:ext cx="50292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26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画面側の処理につなげる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24DB321-2189-060B-E0A1-641431617FFC}"/>
              </a:ext>
            </a:extLst>
          </p:cNvPr>
          <p:cNvSpPr txBox="1"/>
          <p:nvPr/>
        </p:nvSpPr>
        <p:spPr>
          <a:xfrm>
            <a:off x="609600" y="8826500"/>
            <a:ext cx="16954500" cy="482183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kumimoji="1" lang="ja-JP" altLang="en-US" sz="23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組込みの流れは資料の冒頭、機器ごとの違いは各シートに記載しています。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275240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6B9DF7-7B2A-496E-ACD7-43B49F4EAAD1}"/>
              </a:ext>
            </a:extLst>
          </p:cNvPr>
          <p:cNvSpPr>
            <a:spLocks noGrp="1"/>
          </p:cNvSpPr>
          <p:nvPr/>
        </p:nvSpPr>
        <p:spPr>
          <a:xfrm>
            <a:off x="374904" y="310896"/>
            <a:ext cx="14173200" cy="461665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ja-JP" altLang="en-US" sz="3000" b="1">
                <a:solidFill>
                  <a:srgbClr val="54545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スキャナの利用例</a:t>
            </a:r>
            <a:endParaRPr sz="3000" b="1">
              <a:solidFill>
                <a:srgbClr val="545454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74D695E-ABF0-4E77-A66D-26606BD71623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17190720" cy="1280160"/>
          </a:xfrm>
          <a:prstGeom prst="roundRect">
            <a:avLst>
              <a:gd name="adj" fmla="val 12000"/>
            </a:avLst>
          </a:prstGeom>
          <a:solidFill>
            <a:srgbClr val="F2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  <a:r>
              <a:rPr lang="ja-JP" altLang="en-US" sz="28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一回の呼び出しで一件を読み取り、接続を解放してから結果を返します。</a:t>
            </a:r>
            <a:endParaRPr sz="2800" b="1">
              <a:solidFill>
                <a:srgbClr val="555555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BAB0AF94-6DC8-00DB-AFCF-7F8A6B7E106E}"/>
              </a:ext>
            </a:extLst>
          </p:cNvPr>
          <p:cNvSpPr/>
          <p:nvPr/>
        </p:nvSpPr>
        <p:spPr>
          <a:xfrm>
            <a:off x="698500" y="3683000"/>
            <a:ext cx="3822700" cy="39370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BBB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D30FC60-F90A-8CF2-F2C8-6D633C434D2D}"/>
              </a:ext>
            </a:extLst>
          </p:cNvPr>
          <p:cNvSpPr txBox="1"/>
          <p:nvPr/>
        </p:nvSpPr>
        <p:spPr>
          <a:xfrm>
            <a:off x="850900" y="3937000"/>
            <a:ext cx="3517900" cy="589905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30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利用を開始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9897F94-B2C4-82DE-9FD3-F09708628333}"/>
              </a:ext>
            </a:extLst>
          </p:cNvPr>
          <p:cNvSpPr txBox="1"/>
          <p:nvPr/>
        </p:nvSpPr>
        <p:spPr>
          <a:xfrm>
            <a:off x="850900" y="4851400"/>
            <a:ext cx="35179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26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読取りを依頼する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2686FA7-D221-1986-BC31-1F35800E0E34}"/>
              </a:ext>
            </a:extLst>
          </p:cNvPr>
          <p:cNvSpPr/>
          <p:nvPr/>
        </p:nvSpPr>
        <p:spPr>
          <a:xfrm>
            <a:off x="5054600" y="3683000"/>
            <a:ext cx="3822700" cy="39370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BBB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7CFA8F5-4656-0917-8007-9F4A357AA47E}"/>
              </a:ext>
            </a:extLst>
          </p:cNvPr>
          <p:cNvSpPr txBox="1"/>
          <p:nvPr/>
        </p:nvSpPr>
        <p:spPr>
          <a:xfrm>
            <a:off x="5207000" y="3937000"/>
            <a:ext cx="3517900" cy="589905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30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一件を読取り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18292F9-32C5-D432-E5E1-98FB457C1EA8}"/>
              </a:ext>
            </a:extLst>
          </p:cNvPr>
          <p:cNvSpPr txBox="1"/>
          <p:nvPr/>
        </p:nvSpPr>
        <p:spPr>
          <a:xfrm>
            <a:off x="5207000" y="4851400"/>
            <a:ext cx="35179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26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コードを読み取る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824B6121-B853-4218-7230-6A810BA5FACB}"/>
              </a:ext>
            </a:extLst>
          </p:cNvPr>
          <p:cNvSpPr/>
          <p:nvPr/>
        </p:nvSpPr>
        <p:spPr>
          <a:xfrm>
            <a:off x="9410700" y="3683000"/>
            <a:ext cx="3822700" cy="39370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BBB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A047A04-F32E-2E51-8FAD-A5DD4853F96A}"/>
              </a:ext>
            </a:extLst>
          </p:cNvPr>
          <p:cNvSpPr txBox="1"/>
          <p:nvPr/>
        </p:nvSpPr>
        <p:spPr>
          <a:xfrm>
            <a:off x="9563100" y="3937000"/>
            <a:ext cx="3517900" cy="589905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30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接続を解放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4FF28C4-29A2-AFA1-989D-E24B99507D98}"/>
              </a:ext>
            </a:extLst>
          </p:cNvPr>
          <p:cNvSpPr txBox="1"/>
          <p:nvPr/>
        </p:nvSpPr>
        <p:spPr>
          <a:xfrm>
            <a:off x="9563100" y="4851400"/>
            <a:ext cx="35179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26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機器またはカメラ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19736F6D-D0F3-D82B-F5EC-5E35C548B6F9}"/>
              </a:ext>
            </a:extLst>
          </p:cNvPr>
          <p:cNvSpPr/>
          <p:nvPr/>
        </p:nvSpPr>
        <p:spPr>
          <a:xfrm>
            <a:off x="13766800" y="3683000"/>
            <a:ext cx="3822700" cy="39370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BBB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3F7F57B-5EFD-A474-012E-17F118F827CE}"/>
              </a:ext>
            </a:extLst>
          </p:cNvPr>
          <p:cNvSpPr txBox="1"/>
          <p:nvPr/>
        </p:nvSpPr>
        <p:spPr>
          <a:xfrm>
            <a:off x="13919200" y="3937000"/>
            <a:ext cx="3517900" cy="589905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30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結果を返す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03650E6-1B2A-BE2B-8EFF-463C5923A2E5}"/>
              </a:ext>
            </a:extLst>
          </p:cNvPr>
          <p:cNvSpPr txBox="1"/>
          <p:nvPr/>
        </p:nvSpPr>
        <p:spPr>
          <a:xfrm>
            <a:off x="13919200" y="4851400"/>
            <a:ext cx="35179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26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画面側で利用する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A8FB44C5-FA87-ACA1-8175-F8D156AE2C9B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4521200" y="5651500"/>
            <a:ext cx="533400" cy="0"/>
          </a:xfrm>
          <a:prstGeom prst="straightConnector1">
            <a:avLst/>
          </a:prstGeom>
          <a:ln w="38100">
            <a:solidFill>
              <a:srgbClr val="555555"/>
            </a:solidFill>
            <a:prstDash val="solid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353F4478-1A0A-377B-2D40-A4804D42B771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8877300" y="5651500"/>
            <a:ext cx="533400" cy="0"/>
          </a:xfrm>
          <a:prstGeom prst="straightConnector1">
            <a:avLst/>
          </a:prstGeom>
          <a:ln w="38100">
            <a:solidFill>
              <a:srgbClr val="555555"/>
            </a:solidFill>
            <a:prstDash val="solid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E5CB3B5C-36C8-E402-628D-0897F49E6179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>
            <a:off x="13233400" y="5651500"/>
            <a:ext cx="533400" cy="0"/>
          </a:xfrm>
          <a:prstGeom prst="straightConnector1">
            <a:avLst/>
          </a:prstGeom>
          <a:ln w="38100">
            <a:solidFill>
              <a:srgbClr val="555555"/>
            </a:solidFill>
            <a:prstDash val="solid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F312EAE-F071-97FE-D340-1F2470A1D6D4}"/>
              </a:ext>
            </a:extLst>
          </p:cNvPr>
          <p:cNvSpPr txBox="1"/>
          <p:nvPr/>
        </p:nvSpPr>
        <p:spPr>
          <a:xfrm>
            <a:off x="609600" y="8826500"/>
            <a:ext cx="16954500" cy="482183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kumimoji="1" lang="ja-JP" altLang="en-US" sz="23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次の一件を読むときは、もう一度、利用を開始します。</a:t>
            </a:r>
          </a:p>
        </p:txBody>
      </p:sp>
    </p:spTree>
    <p:extLst>
      <p:ext uri="{BB962C8B-B14F-4D97-AF65-F5344CB8AC3E}">
        <p14:creationId xmlns:p14="http://schemas.microsoft.com/office/powerpoint/2010/main" val="2057222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6B9DF7-7B2A-496E-ACD7-43B49F4EAAD1}"/>
              </a:ext>
            </a:extLst>
          </p:cNvPr>
          <p:cNvSpPr>
            <a:spLocks noGrp="1"/>
          </p:cNvSpPr>
          <p:nvPr/>
        </p:nvSpPr>
        <p:spPr>
          <a:xfrm>
            <a:off x="374904" y="310896"/>
            <a:ext cx="14173200" cy="461665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ja-JP" altLang="en-US" sz="3000" b="1">
                <a:solidFill>
                  <a:srgbClr val="54545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アプリとデバイスコネクタの役割</a:t>
            </a:r>
            <a:endParaRPr sz="3000" b="1">
              <a:solidFill>
                <a:srgbClr val="545454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74D695E-ABF0-4E77-A66D-26606BD71623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17190720" cy="1280160"/>
          </a:xfrm>
          <a:prstGeom prst="roundRect">
            <a:avLst>
              <a:gd name="adj" fmla="val 12000"/>
            </a:avLst>
          </a:prstGeom>
          <a:solidFill>
            <a:srgbClr val="F2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  <a:r>
              <a:rPr lang="ja-JP" altLang="en-US" sz="28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画面側はデバイス制御を利用します。デバイスコネクタを直接呼ぶ必要はありません。</a:t>
            </a:r>
            <a:endParaRPr sz="2800" b="1">
              <a:solidFill>
                <a:srgbClr val="555555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D88A4EA-4BB5-7229-4C6C-2BA2B262B7C3}"/>
              </a:ext>
            </a:extLst>
          </p:cNvPr>
          <p:cNvSpPr/>
          <p:nvPr/>
        </p:nvSpPr>
        <p:spPr>
          <a:xfrm>
            <a:off x="660400" y="3556000"/>
            <a:ext cx="10922000" cy="3619500"/>
          </a:xfrm>
          <a:prstGeom prst="rect">
            <a:avLst/>
          </a:prstGeom>
          <a:noFill/>
          <a:ln w="25400" cap="sq">
            <a:solidFill>
              <a:srgbClr val="555555"/>
            </a:solidFill>
            <a:prstDash val="dot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8E7DF5-8314-232D-5A22-BC9CF48CCEB2}"/>
              </a:ext>
            </a:extLst>
          </p:cNvPr>
          <p:cNvSpPr txBox="1"/>
          <p:nvPr/>
        </p:nvSpPr>
        <p:spPr>
          <a:xfrm>
            <a:off x="825500" y="2984500"/>
            <a:ext cx="10541000" cy="543739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kumimoji="1" lang="ja-JP" altLang="en-US" sz="27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アプリ内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0C73C93-2D17-DB42-ADE7-ED4EA17CEEB1}"/>
              </a:ext>
            </a:extLst>
          </p:cNvPr>
          <p:cNvSpPr txBox="1"/>
          <p:nvPr/>
        </p:nvSpPr>
        <p:spPr>
          <a:xfrm>
            <a:off x="12509500" y="2984500"/>
            <a:ext cx="4953000" cy="543739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27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別プロセス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87BF0647-9C79-81E2-DA3A-0CFEEDAC2B8F}"/>
              </a:ext>
            </a:extLst>
          </p:cNvPr>
          <p:cNvSpPr/>
          <p:nvPr/>
        </p:nvSpPr>
        <p:spPr>
          <a:xfrm>
            <a:off x="952500" y="4127500"/>
            <a:ext cx="4635500" cy="26035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BBB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D25C713-F510-595F-74A9-A81EB7EDCA18}"/>
              </a:ext>
            </a:extLst>
          </p:cNvPr>
          <p:cNvSpPr txBox="1"/>
          <p:nvPr/>
        </p:nvSpPr>
        <p:spPr>
          <a:xfrm>
            <a:off x="1104900" y="4381500"/>
            <a:ext cx="4330700" cy="589905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30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業務画面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895F335-AC78-8E56-D6D3-15A785D7D346}"/>
              </a:ext>
            </a:extLst>
          </p:cNvPr>
          <p:cNvSpPr txBox="1"/>
          <p:nvPr/>
        </p:nvSpPr>
        <p:spPr>
          <a:xfrm>
            <a:off x="1104900" y="5295900"/>
            <a:ext cx="43307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26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操作を依頼し、結果を使う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9ECE4EF-A7DB-1AAA-1657-0175CEEA798E}"/>
              </a:ext>
            </a:extLst>
          </p:cNvPr>
          <p:cNvSpPr/>
          <p:nvPr/>
        </p:nvSpPr>
        <p:spPr>
          <a:xfrm>
            <a:off x="6413500" y="4127500"/>
            <a:ext cx="4635500" cy="26035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BBB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2DC1BB3-56E0-C4E2-5D06-A6C53D47F6FC}"/>
              </a:ext>
            </a:extLst>
          </p:cNvPr>
          <p:cNvSpPr txBox="1"/>
          <p:nvPr/>
        </p:nvSpPr>
        <p:spPr>
          <a:xfrm>
            <a:off x="6565900" y="4381500"/>
            <a:ext cx="4330700" cy="589905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30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デバイス制御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66FD21C-03A0-7582-019B-BC82DAE11E37}"/>
              </a:ext>
            </a:extLst>
          </p:cNvPr>
          <p:cNvSpPr txBox="1"/>
          <p:nvPr/>
        </p:nvSpPr>
        <p:spPr>
          <a:xfrm>
            <a:off x="6565900" y="5295900"/>
            <a:ext cx="43307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26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機器に応じて処理をつなぐ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D86DC242-2F58-9091-43A0-2248D4628C4A}"/>
              </a:ext>
            </a:extLst>
          </p:cNvPr>
          <p:cNvSpPr/>
          <p:nvPr/>
        </p:nvSpPr>
        <p:spPr>
          <a:xfrm>
            <a:off x="12573000" y="4127500"/>
            <a:ext cx="4953000" cy="26035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BBB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725BC4F-257D-B401-29FF-A7F467BA8D03}"/>
              </a:ext>
            </a:extLst>
          </p:cNvPr>
          <p:cNvSpPr txBox="1"/>
          <p:nvPr/>
        </p:nvSpPr>
        <p:spPr>
          <a:xfrm>
            <a:off x="12725400" y="4381500"/>
            <a:ext cx="4648200" cy="589905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30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デバイスコネクタ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43073B9-D68D-AE13-78A1-3763A036AE01}"/>
              </a:ext>
            </a:extLst>
          </p:cNvPr>
          <p:cNvSpPr txBox="1"/>
          <p:nvPr/>
        </p:nvSpPr>
        <p:spPr>
          <a:xfrm>
            <a:off x="12725400" y="5295900"/>
            <a:ext cx="4648200" cy="928459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en-US" altLang="ja-JP" sz="26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Windows</a:t>
            </a:r>
            <a:r>
              <a:rPr kumimoji="1" lang="ja-JP" altLang="en-US" sz="26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の既存機器を
操作する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49046ABE-237D-5123-B628-9F26186A4BEB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5588000" y="5429250"/>
            <a:ext cx="825500" cy="0"/>
          </a:xfrm>
          <a:prstGeom prst="straightConnector1">
            <a:avLst/>
          </a:prstGeom>
          <a:ln w="38100">
            <a:solidFill>
              <a:srgbClr val="555555"/>
            </a:solidFill>
            <a:prstDash val="solid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6B80F4DB-7945-9262-85E7-568CB69C879B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>
            <a:off x="11049000" y="5429250"/>
            <a:ext cx="1524000" cy="0"/>
          </a:xfrm>
          <a:prstGeom prst="straightConnector1">
            <a:avLst/>
          </a:prstGeom>
          <a:ln w="38100">
            <a:solidFill>
              <a:srgbClr val="555555"/>
            </a:solidFill>
            <a:prstDash val="solid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D7E4C51-A9D5-1BDE-3BEA-8D7636EA0E32}"/>
              </a:ext>
            </a:extLst>
          </p:cNvPr>
          <p:cNvSpPr txBox="1"/>
          <p:nvPr/>
        </p:nvSpPr>
        <p:spPr>
          <a:xfrm>
            <a:off x="6223000" y="7175500"/>
            <a:ext cx="571500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24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操作を依頼 →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C7EB66E-EF31-5043-283D-5AD79541A616}"/>
              </a:ext>
            </a:extLst>
          </p:cNvPr>
          <p:cNvSpPr txBox="1"/>
          <p:nvPr/>
        </p:nvSpPr>
        <p:spPr>
          <a:xfrm>
            <a:off x="6223000" y="7874000"/>
            <a:ext cx="571500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24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← 結果を受け取る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1CD3AD1-C09C-79D9-84FE-9BC790D4BA51}"/>
              </a:ext>
            </a:extLst>
          </p:cNvPr>
          <p:cNvSpPr txBox="1"/>
          <p:nvPr/>
        </p:nvSpPr>
        <p:spPr>
          <a:xfrm>
            <a:off x="609600" y="8826500"/>
            <a:ext cx="16954500" cy="482183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kumimoji="1" lang="en-US" altLang="ja-JP" sz="23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Windows</a:t>
            </a:r>
            <a:r>
              <a:rPr kumimoji="1" lang="ja-JP" altLang="en-US" sz="23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には、デバイスコネクタを通さず、直接扱う機器もあります。</a:t>
            </a:r>
          </a:p>
        </p:txBody>
      </p:sp>
    </p:spTree>
    <p:extLst>
      <p:ext uri="{BB962C8B-B14F-4D97-AF65-F5344CB8AC3E}">
        <p14:creationId xmlns:p14="http://schemas.microsoft.com/office/powerpoint/2010/main" val="3467087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6B9DF7-7B2A-496E-ACD7-43B49F4EAAD1}"/>
              </a:ext>
            </a:extLst>
          </p:cNvPr>
          <p:cNvSpPr>
            <a:spLocks noGrp="1"/>
          </p:cNvSpPr>
          <p:nvPr/>
        </p:nvSpPr>
        <p:spPr>
          <a:xfrm>
            <a:off x="374904" y="310896"/>
            <a:ext cx="14173200" cy="461665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3000" b="1">
                <a:solidFill>
                  <a:srgbClr val="54545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Windows</a:t>
            </a:r>
            <a:r>
              <a:rPr lang="ja-JP" altLang="en-US" sz="3000" b="1">
                <a:solidFill>
                  <a:srgbClr val="54545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と</a:t>
            </a:r>
            <a:r>
              <a:rPr lang="en-US" sz="3000" b="1">
                <a:solidFill>
                  <a:srgbClr val="54545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iOS</a:t>
            </a:r>
            <a:r>
              <a:rPr lang="ja-JP" altLang="en-US" sz="3000" b="1">
                <a:solidFill>
                  <a:srgbClr val="54545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の違い</a:t>
            </a:r>
            <a:endParaRPr sz="3000" b="1">
              <a:solidFill>
                <a:srgbClr val="545454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74D695E-ABF0-4E77-A66D-26606BD71623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17190720" cy="1280160"/>
          </a:xfrm>
          <a:prstGeom prst="roundRect">
            <a:avLst>
              <a:gd name="adj" fmla="val 12000"/>
            </a:avLst>
          </a:prstGeom>
          <a:solidFill>
            <a:srgbClr val="F2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  <a:r>
              <a:rPr lang="ja-JP" altLang="en-US" sz="28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画面側の呼び出し方は共通にする方針です。機器の動かし方は</a:t>
            </a:r>
            <a:r>
              <a:rPr lang="en-US" altLang="ja-JP" sz="28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OS</a:t>
            </a:r>
            <a:r>
              <a:rPr lang="ja-JP" altLang="en-US" sz="28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によって異なります。</a:t>
            </a:r>
            <a:endParaRPr sz="2800" b="1">
              <a:solidFill>
                <a:srgbClr val="555555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3C3938C-F9A4-B946-801F-329C5BBDCAC5}"/>
              </a:ext>
            </a:extLst>
          </p:cNvPr>
          <p:cNvSpPr/>
          <p:nvPr/>
        </p:nvSpPr>
        <p:spPr>
          <a:xfrm>
            <a:off x="698500" y="3683000"/>
            <a:ext cx="8223250" cy="39370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BBB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72D5414-957A-A155-F13A-1D0EF4CA7F44}"/>
              </a:ext>
            </a:extLst>
          </p:cNvPr>
          <p:cNvSpPr txBox="1"/>
          <p:nvPr/>
        </p:nvSpPr>
        <p:spPr>
          <a:xfrm>
            <a:off x="850900" y="3937000"/>
            <a:ext cx="7918450" cy="589905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en-US" altLang="ja-JP" sz="30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Windows</a:t>
            </a:r>
            <a:endParaRPr kumimoji="1" lang="ja-JP" altLang="en-US" sz="3000" b="1">
              <a:solidFill>
                <a:srgbClr val="555555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278AE3B-2DAA-605B-4EAE-CC55E6D680AE}"/>
              </a:ext>
            </a:extLst>
          </p:cNvPr>
          <p:cNvSpPr txBox="1"/>
          <p:nvPr/>
        </p:nvSpPr>
        <p:spPr>
          <a:xfrm>
            <a:off x="850900" y="4851400"/>
            <a:ext cx="7918450" cy="928459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26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一部の機器は
デバイスコネクタ経由で操作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93ADE67E-B65A-38AB-0150-65781C38F5F7}"/>
              </a:ext>
            </a:extLst>
          </p:cNvPr>
          <p:cNvSpPr/>
          <p:nvPr/>
        </p:nvSpPr>
        <p:spPr>
          <a:xfrm>
            <a:off x="9366250" y="3683000"/>
            <a:ext cx="8223250" cy="39370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BBB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CB4B81C-41D9-E8C4-BFAD-185D700D054D}"/>
              </a:ext>
            </a:extLst>
          </p:cNvPr>
          <p:cNvSpPr txBox="1"/>
          <p:nvPr/>
        </p:nvSpPr>
        <p:spPr>
          <a:xfrm>
            <a:off x="9518650" y="3937000"/>
            <a:ext cx="7918450" cy="589905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en-US" altLang="ja-JP" sz="30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iOS</a:t>
            </a:r>
            <a:endParaRPr kumimoji="1" lang="ja-JP" altLang="en-US" sz="3000" b="1">
              <a:solidFill>
                <a:srgbClr val="555555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6B82C9A-DEA4-7779-0FA2-1790A97ECC79}"/>
              </a:ext>
            </a:extLst>
          </p:cNvPr>
          <p:cNvSpPr txBox="1"/>
          <p:nvPr/>
        </p:nvSpPr>
        <p:spPr>
          <a:xfrm>
            <a:off x="9518650" y="4851400"/>
            <a:ext cx="7918450" cy="928459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26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デバイスコネクタは使わず
デバイス制御から操作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C43810F-DAB6-A1A7-8E75-75587C16049B}"/>
              </a:ext>
            </a:extLst>
          </p:cNvPr>
          <p:cNvSpPr txBox="1"/>
          <p:nvPr/>
        </p:nvSpPr>
        <p:spPr>
          <a:xfrm>
            <a:off x="609600" y="8826500"/>
            <a:ext cx="16954500" cy="482183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kumimoji="1" lang="ja-JP" altLang="en-US" sz="23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共通の呼び出し方でも、使える機能は機器や</a:t>
            </a:r>
            <a:r>
              <a:rPr kumimoji="1" lang="en-US" altLang="ja-JP" sz="23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SDK</a:t>
            </a:r>
            <a:r>
              <a:rPr kumimoji="1" lang="ja-JP" altLang="en-US" sz="23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の対応状況により異なります。</a:t>
            </a:r>
          </a:p>
        </p:txBody>
      </p:sp>
    </p:spTree>
    <p:extLst>
      <p:ext uri="{BB962C8B-B14F-4D97-AF65-F5344CB8AC3E}">
        <p14:creationId xmlns:p14="http://schemas.microsoft.com/office/powerpoint/2010/main" val="2540185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6B9DF7-7B2A-496E-ACD7-43B49F4EAAD1}"/>
              </a:ext>
            </a:extLst>
          </p:cNvPr>
          <p:cNvSpPr>
            <a:spLocks noGrp="1"/>
          </p:cNvSpPr>
          <p:nvPr/>
        </p:nvSpPr>
        <p:spPr>
          <a:xfrm>
            <a:off x="374904" y="310896"/>
            <a:ext cx="14173200" cy="461665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ja-JP" altLang="en-US" sz="3000" b="1">
                <a:solidFill>
                  <a:srgbClr val="54545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設定の読み込み</a:t>
            </a:r>
            <a:endParaRPr sz="3000" b="1">
              <a:solidFill>
                <a:srgbClr val="545454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74D695E-ABF0-4E77-A66D-26606BD71623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17190720" cy="1280160"/>
          </a:xfrm>
          <a:prstGeom prst="roundRect">
            <a:avLst>
              <a:gd name="adj" fmla="val 12000"/>
            </a:avLst>
          </a:prstGeom>
          <a:solidFill>
            <a:srgbClr val="F2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  <a:r>
              <a:rPr lang="ja-JP" altLang="en-US" sz="28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起動時に</a:t>
            </a:r>
            <a:r>
              <a:rPr lang="en-US" altLang="ja-JP" sz="28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API</a:t>
            </a:r>
            <a:r>
              <a:rPr lang="ja-JP" altLang="en-US" sz="28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から設定を取得することを前提に、進め方を相談しています。</a:t>
            </a:r>
            <a:endParaRPr sz="2800" b="1">
              <a:solidFill>
                <a:srgbClr val="555555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9D5567B-2BD5-2E58-7631-8628F0D43B4B}"/>
              </a:ext>
            </a:extLst>
          </p:cNvPr>
          <p:cNvSpPr/>
          <p:nvPr/>
        </p:nvSpPr>
        <p:spPr>
          <a:xfrm>
            <a:off x="660400" y="3429000"/>
            <a:ext cx="3556000" cy="1206500"/>
          </a:xfrm>
          <a:prstGeom prst="rect">
            <a:avLst/>
          </a:prstGeom>
          <a:solidFill>
            <a:srgbClr val="F2DBDB"/>
          </a:solidFill>
          <a:ln w="254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EF729A6-E0F4-0988-0068-5BC408C16B75}"/>
              </a:ext>
            </a:extLst>
          </p:cNvPr>
          <p:cNvSpPr txBox="1"/>
          <p:nvPr/>
        </p:nvSpPr>
        <p:spPr>
          <a:xfrm>
            <a:off x="762000" y="3657600"/>
            <a:ext cx="3365500" cy="543739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27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現在の実装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E53EF03-AC02-79FE-2BF4-9D688098B7E9}"/>
              </a:ext>
            </a:extLst>
          </p:cNvPr>
          <p:cNvSpPr txBox="1"/>
          <p:nvPr/>
        </p:nvSpPr>
        <p:spPr>
          <a:xfrm>
            <a:off x="4635500" y="3581400"/>
            <a:ext cx="12890500" cy="57451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kumimoji="1" lang="ja-JP" altLang="en-US" sz="29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アプリ側にある設定ファイルを読み込む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B4C2C7D-6575-1510-9858-C9695B04F529}"/>
              </a:ext>
            </a:extLst>
          </p:cNvPr>
          <p:cNvSpPr/>
          <p:nvPr/>
        </p:nvSpPr>
        <p:spPr>
          <a:xfrm>
            <a:off x="660400" y="5143500"/>
            <a:ext cx="3556000" cy="1206500"/>
          </a:xfrm>
          <a:prstGeom prst="rect">
            <a:avLst/>
          </a:prstGeom>
          <a:solidFill>
            <a:srgbClr val="F2DBDB"/>
          </a:solidFill>
          <a:ln w="254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46C2BE5-4466-0797-5646-20FC29AF6621}"/>
              </a:ext>
            </a:extLst>
          </p:cNvPr>
          <p:cNvSpPr txBox="1"/>
          <p:nvPr/>
        </p:nvSpPr>
        <p:spPr>
          <a:xfrm>
            <a:off x="762000" y="5372100"/>
            <a:ext cx="3365500" cy="543739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27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進めている方向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A81D7B-FD74-B9E2-F08B-5DBD3A417589}"/>
              </a:ext>
            </a:extLst>
          </p:cNvPr>
          <p:cNvSpPr txBox="1"/>
          <p:nvPr/>
        </p:nvSpPr>
        <p:spPr>
          <a:xfrm>
            <a:off x="4635500" y="5295900"/>
            <a:ext cx="12890500" cy="57451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kumimoji="1" lang="ja-JP" altLang="en-US" sz="29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起動時に</a:t>
            </a:r>
            <a:r>
              <a:rPr kumimoji="1" lang="en-US" altLang="ja-JP" sz="29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  <a:r>
              <a:rPr kumimoji="1" lang="ja-JP" altLang="en-US" sz="29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から設定を取得する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CF0F664-AB21-5ADE-0153-375A1A694ADE}"/>
              </a:ext>
            </a:extLst>
          </p:cNvPr>
          <p:cNvSpPr/>
          <p:nvPr/>
        </p:nvSpPr>
        <p:spPr>
          <a:xfrm>
            <a:off x="660400" y="6858000"/>
            <a:ext cx="3556000" cy="1206500"/>
          </a:xfrm>
          <a:prstGeom prst="rect">
            <a:avLst/>
          </a:prstGeom>
          <a:solidFill>
            <a:srgbClr val="F2DBDB"/>
          </a:solidFill>
          <a:ln w="254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7A83282-8000-70DB-7AA6-CCAF76EFD9DA}"/>
              </a:ext>
            </a:extLst>
          </p:cNvPr>
          <p:cNvSpPr txBox="1"/>
          <p:nvPr/>
        </p:nvSpPr>
        <p:spPr>
          <a:xfrm>
            <a:off x="762000" y="7086600"/>
            <a:ext cx="3365500" cy="543739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27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引き続き相談する点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C951870-38A7-2775-F925-5A67C88339C8}"/>
              </a:ext>
            </a:extLst>
          </p:cNvPr>
          <p:cNvSpPr txBox="1"/>
          <p:nvPr/>
        </p:nvSpPr>
        <p:spPr>
          <a:xfrm>
            <a:off x="4635500" y="7010400"/>
            <a:ext cx="12890500" cy="57451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kumimoji="1" lang="ja-JP" altLang="en-US" sz="29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取得できない場合の扱い、設定変更を反映するタイミング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E1DCFEA-45AF-90DF-8BAC-9804ACB8F8CC}"/>
              </a:ext>
            </a:extLst>
          </p:cNvPr>
          <p:cNvSpPr txBox="1"/>
          <p:nvPr/>
        </p:nvSpPr>
        <p:spPr>
          <a:xfrm>
            <a:off x="609600" y="8826500"/>
            <a:ext cx="16954500" cy="482183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kumimoji="1" lang="ja-JP" altLang="en-US" sz="23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設定項目の詳細：設定ファイル記載要領</a:t>
            </a:r>
            <a:r>
              <a:rPr kumimoji="1" lang="en-US" altLang="ja-JP" sz="23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_</a:t>
            </a:r>
            <a:r>
              <a:rPr kumimoji="1" lang="ja-JP" altLang="en-US" sz="23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端末アプリ</a:t>
            </a:r>
            <a:r>
              <a:rPr kumimoji="1" lang="en-US" altLang="ja-JP" sz="23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_</a:t>
            </a:r>
            <a:r>
              <a:rPr kumimoji="1" lang="ja-JP" altLang="en-US" sz="23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デバイス制御</a:t>
            </a:r>
          </a:p>
        </p:txBody>
      </p:sp>
    </p:spTree>
    <p:extLst>
      <p:ext uri="{BB962C8B-B14F-4D97-AF65-F5344CB8AC3E}">
        <p14:creationId xmlns:p14="http://schemas.microsoft.com/office/powerpoint/2010/main" val="3172782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6B9DF7-7B2A-496E-ACD7-43B49F4EAAD1}"/>
              </a:ext>
            </a:extLst>
          </p:cNvPr>
          <p:cNvSpPr>
            <a:spLocks noGrp="1"/>
          </p:cNvSpPr>
          <p:nvPr/>
        </p:nvSpPr>
        <p:spPr>
          <a:xfrm>
            <a:off x="374904" y="310896"/>
            <a:ext cx="14173200" cy="461665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altLang="ja-JP" sz="3000" b="1">
                <a:solidFill>
                  <a:srgbClr val="54545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A4</a:t>
            </a:r>
            <a:r>
              <a:rPr lang="ja-JP" altLang="en-US" sz="3000" b="1">
                <a:solidFill>
                  <a:srgbClr val="54545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帳票印刷と</a:t>
            </a:r>
            <a:r>
              <a:rPr lang="en-US" altLang="ja-JP" sz="3000" b="1">
                <a:solidFill>
                  <a:srgbClr val="54545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POSA</a:t>
            </a:r>
            <a:r>
              <a:rPr lang="ja-JP" altLang="en-US" sz="3000" b="1">
                <a:solidFill>
                  <a:srgbClr val="54545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カード取引</a:t>
            </a:r>
            <a:endParaRPr sz="3000" b="1">
              <a:solidFill>
                <a:srgbClr val="545454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74D695E-ABF0-4E77-A66D-26606BD71623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17190720" cy="1280160"/>
          </a:xfrm>
          <a:prstGeom prst="roundRect">
            <a:avLst>
              <a:gd name="adj" fmla="val 12000"/>
            </a:avLst>
          </a:prstGeom>
          <a:solidFill>
            <a:srgbClr val="F2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  <a:r>
              <a:rPr lang="ja-JP" altLang="en-US" sz="28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画面から利用する窓口を、周辺機器とは別のグループに整理しています。</a:t>
            </a:r>
            <a:endParaRPr sz="2800" b="1">
              <a:solidFill>
                <a:srgbClr val="555555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BE926398-ACFF-6E44-6B67-1407C77EE85A}"/>
              </a:ext>
            </a:extLst>
          </p:cNvPr>
          <p:cNvSpPr/>
          <p:nvPr/>
        </p:nvSpPr>
        <p:spPr>
          <a:xfrm>
            <a:off x="698500" y="3683000"/>
            <a:ext cx="8223250" cy="39370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BBB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342734-353F-3D55-6D22-D77198CB9F15}"/>
              </a:ext>
            </a:extLst>
          </p:cNvPr>
          <p:cNvSpPr txBox="1"/>
          <p:nvPr/>
        </p:nvSpPr>
        <p:spPr>
          <a:xfrm>
            <a:off x="850900" y="3937000"/>
            <a:ext cx="7918450" cy="589905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en-US" altLang="ja-JP" sz="30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A4</a:t>
            </a:r>
            <a:r>
              <a:rPr kumimoji="1" lang="ja-JP" altLang="en-US" sz="30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帳票印刷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9278A9C-5007-9DE0-50D4-470757F9C685}"/>
              </a:ext>
            </a:extLst>
          </p:cNvPr>
          <p:cNvSpPr txBox="1"/>
          <p:nvPr/>
        </p:nvSpPr>
        <p:spPr>
          <a:xfrm>
            <a:off x="850900" y="4851400"/>
            <a:ext cx="7918450" cy="1728678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26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サーバーで作成した</a:t>
            </a:r>
            <a:r>
              <a:rPr kumimoji="1" lang="en-US" altLang="ja-JP" sz="26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PDF</a:t>
            </a:r>
            <a:r>
              <a:rPr kumimoji="1" lang="ja-JP" altLang="en-US" sz="26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を受け取り
印刷処理へ渡す
帳票レイアウトの作成は含めない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E43180B-BC4D-7518-F713-CC151FB2F331}"/>
              </a:ext>
            </a:extLst>
          </p:cNvPr>
          <p:cNvSpPr/>
          <p:nvPr/>
        </p:nvSpPr>
        <p:spPr>
          <a:xfrm>
            <a:off x="9366250" y="3683000"/>
            <a:ext cx="8223250" cy="39370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BBB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2B43EA0-98A0-072E-17C5-7C12DE16D1BB}"/>
              </a:ext>
            </a:extLst>
          </p:cNvPr>
          <p:cNvSpPr txBox="1"/>
          <p:nvPr/>
        </p:nvSpPr>
        <p:spPr>
          <a:xfrm>
            <a:off x="9518650" y="3937000"/>
            <a:ext cx="7918450" cy="589905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en-US" altLang="ja-JP" sz="30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POSA</a:t>
            </a:r>
            <a:r>
              <a:rPr kumimoji="1" lang="ja-JP" altLang="en-US" sz="30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カード取引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6CF6D70-E645-C3F4-FDB6-33277FAE306B}"/>
              </a:ext>
            </a:extLst>
          </p:cNvPr>
          <p:cNvSpPr txBox="1"/>
          <p:nvPr/>
        </p:nvSpPr>
        <p:spPr>
          <a:xfrm>
            <a:off x="9518650" y="4851400"/>
            <a:ext cx="7918450" cy="1728678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26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カード取引として扱う
連携先を含めた確認範囲と
担当を確認する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70B681E-20EC-930A-29D0-11327C375F60}"/>
              </a:ext>
            </a:extLst>
          </p:cNvPr>
          <p:cNvSpPr txBox="1"/>
          <p:nvPr/>
        </p:nvSpPr>
        <p:spPr>
          <a:xfrm>
            <a:off x="609600" y="8826500"/>
            <a:ext cx="16954500" cy="482183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kumimoji="1" lang="en-US" altLang="ja-JP" sz="23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A4</a:t>
            </a:r>
            <a:r>
              <a:rPr kumimoji="1" lang="ja-JP" altLang="en-US" sz="23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は、</a:t>
            </a:r>
            <a:r>
              <a:rPr kumimoji="1" lang="en-US" altLang="ja-JP" sz="23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PDF</a:t>
            </a:r>
            <a:r>
              <a:rPr kumimoji="1" lang="ja-JP" altLang="en-US" sz="23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の受け渡しと実際のプリンタでの印刷を分けて確認します。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1635797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6B9DF7-7B2A-496E-ACD7-43B49F4EAAD1}"/>
              </a:ext>
            </a:extLst>
          </p:cNvPr>
          <p:cNvSpPr>
            <a:spLocks noGrp="1"/>
          </p:cNvSpPr>
          <p:nvPr/>
        </p:nvSpPr>
        <p:spPr>
          <a:xfrm>
            <a:off x="374904" y="310896"/>
            <a:ext cx="14173200" cy="461665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ja-JP" altLang="en-US" sz="3000" b="1">
                <a:solidFill>
                  <a:srgbClr val="54545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ご確認いただきたいこと</a:t>
            </a:r>
            <a:endParaRPr sz="3000" b="1">
              <a:solidFill>
                <a:srgbClr val="545454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74D695E-ABF0-4E77-A66D-26606BD71623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17190720" cy="1280160"/>
          </a:xfrm>
          <a:prstGeom prst="roundRect">
            <a:avLst>
              <a:gd name="adj" fmla="val 12000"/>
            </a:avLst>
          </a:prstGeom>
          <a:solidFill>
            <a:srgbClr val="F2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  <a:r>
              <a:rPr lang="ja-JP" altLang="en-US" sz="28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必要な機能が足りているか、資料を見て使えるか、ご意見をお願いします。</a:t>
            </a:r>
            <a:endParaRPr sz="2800" b="1">
              <a:solidFill>
                <a:srgbClr val="555555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D7A4B0A-3014-A88D-C632-9536C0A6D57F}"/>
              </a:ext>
            </a:extLst>
          </p:cNvPr>
          <p:cNvSpPr/>
          <p:nvPr/>
        </p:nvSpPr>
        <p:spPr>
          <a:xfrm>
            <a:off x="660400" y="3429000"/>
            <a:ext cx="3556000" cy="1206500"/>
          </a:xfrm>
          <a:prstGeom prst="rect">
            <a:avLst/>
          </a:prstGeom>
          <a:solidFill>
            <a:srgbClr val="F2DBDB"/>
          </a:solidFill>
          <a:ln w="254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F6BF6A5-28A8-EC45-10AD-4CB25BF4355B}"/>
              </a:ext>
            </a:extLst>
          </p:cNvPr>
          <p:cNvSpPr txBox="1"/>
          <p:nvPr/>
        </p:nvSpPr>
        <p:spPr>
          <a:xfrm>
            <a:off x="762000" y="3657600"/>
            <a:ext cx="3365500" cy="543739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27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機能と使い方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30B6998-A17D-516A-36B0-735B20A53CE3}"/>
              </a:ext>
            </a:extLst>
          </p:cNvPr>
          <p:cNvSpPr txBox="1"/>
          <p:nvPr/>
        </p:nvSpPr>
        <p:spPr>
          <a:xfrm>
            <a:off x="4635500" y="3581400"/>
            <a:ext cx="12890500" cy="57451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kumimoji="1" lang="ja-JP" altLang="en-US" sz="29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対象の画面と、そこで行いたい処理を照らし合わせる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89F94DA-44E5-EBCA-C472-F0F5B6692DC5}"/>
              </a:ext>
            </a:extLst>
          </p:cNvPr>
          <p:cNvSpPr/>
          <p:nvPr/>
        </p:nvSpPr>
        <p:spPr>
          <a:xfrm>
            <a:off x="660400" y="5143500"/>
            <a:ext cx="3556000" cy="1206500"/>
          </a:xfrm>
          <a:prstGeom prst="rect">
            <a:avLst/>
          </a:prstGeom>
          <a:solidFill>
            <a:srgbClr val="F2DBDB"/>
          </a:solidFill>
          <a:ln w="254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29E86CE-9A2F-C4C5-A817-49475E327B29}"/>
              </a:ext>
            </a:extLst>
          </p:cNvPr>
          <p:cNvSpPr txBox="1"/>
          <p:nvPr/>
        </p:nvSpPr>
        <p:spPr>
          <a:xfrm>
            <a:off x="762000" y="5372100"/>
            <a:ext cx="3365500" cy="543739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27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資料の使い分け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34E1B43-D8FD-DCC6-C321-6FEEEA14E51C}"/>
              </a:ext>
            </a:extLst>
          </p:cNvPr>
          <p:cNvSpPr txBox="1"/>
          <p:nvPr/>
        </p:nvSpPr>
        <p:spPr>
          <a:xfrm>
            <a:off x="4635500" y="5295900"/>
            <a:ext cx="12890500" cy="102079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kumimoji="1" lang="ja-JP" altLang="en-US" sz="29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使い方はインターフェース、内部構成は基本設計書
個々の処理はプログラム仕様書で確認する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D08570B-0873-FC1B-7553-D27C29A69859}"/>
              </a:ext>
            </a:extLst>
          </p:cNvPr>
          <p:cNvSpPr/>
          <p:nvPr/>
        </p:nvSpPr>
        <p:spPr>
          <a:xfrm>
            <a:off x="660400" y="6858000"/>
            <a:ext cx="3556000" cy="1206500"/>
          </a:xfrm>
          <a:prstGeom prst="rect">
            <a:avLst/>
          </a:prstGeom>
          <a:solidFill>
            <a:srgbClr val="F2DBDB"/>
          </a:solidFill>
          <a:ln w="254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66865D2-0C58-44E4-5F48-70B53C6443E0}"/>
              </a:ext>
            </a:extLst>
          </p:cNvPr>
          <p:cNvSpPr txBox="1"/>
          <p:nvPr/>
        </p:nvSpPr>
        <p:spPr>
          <a:xfrm>
            <a:off x="762000" y="7086600"/>
            <a:ext cx="3365500" cy="543739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kumimoji="1" lang="ja-JP" altLang="en-US" sz="2700" b="1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実機での確認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E0BBEFE-8952-5159-3152-4AFE0B3B326F}"/>
              </a:ext>
            </a:extLst>
          </p:cNvPr>
          <p:cNvSpPr txBox="1"/>
          <p:nvPr/>
        </p:nvSpPr>
        <p:spPr>
          <a:xfrm>
            <a:off x="4635500" y="7010400"/>
            <a:ext cx="12890500" cy="57451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kumimoji="1" lang="ja-JP" altLang="en-US" sz="29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ハンディターミナル、</a:t>
            </a:r>
            <a:r>
              <a:rPr kumimoji="1" lang="en-US" altLang="ja-JP" sz="29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A4</a:t>
            </a:r>
            <a:r>
              <a:rPr kumimoji="1" lang="ja-JP" altLang="en-US" sz="29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kumimoji="1" lang="en-US" altLang="ja-JP" sz="29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POSA</a:t>
            </a:r>
            <a:r>
              <a:rPr kumimoji="1" lang="ja-JP" altLang="en-US" sz="29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などの環境と担当を確認する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0866366-AE21-3A35-645F-16EA57E6C517}"/>
              </a:ext>
            </a:extLst>
          </p:cNvPr>
          <p:cNvSpPr txBox="1"/>
          <p:nvPr/>
        </p:nvSpPr>
        <p:spPr>
          <a:xfrm>
            <a:off x="609600" y="8826500"/>
            <a:ext cx="16954500" cy="482183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kumimoji="1" lang="ja-JP" altLang="en-US" sz="2300">
                <a:solidFill>
                  <a:srgbClr val="55555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実装の有無と、実機での確認が完了しているかは分けて整理します。</a:t>
            </a:r>
          </a:p>
        </p:txBody>
      </p:sp>
    </p:spTree>
    <p:extLst>
      <p:ext uri="{BB962C8B-B14F-4D97-AF65-F5344CB8AC3E}">
        <p14:creationId xmlns:p14="http://schemas.microsoft.com/office/powerpoint/2010/main" val="2528940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2143</Words>
  <Application>Microsoft Office PowerPoint</Application>
  <DocSecurity>0</DocSecurity>
  <PresentationFormat>ユーザー設定</PresentationFormat>
  <Paragraphs>98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Arimo</vt:lpstr>
      <vt:lpstr>Meiryo UI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グエンホンソン</cp:lastModifiedBy>
  <cp:revision>2</cp:revision>
  <dcterms:created xsi:type="dcterms:W3CDTF">2026-09-04T01:45:55Z</dcterms:created>
  <dcterms:modified xsi:type="dcterms:W3CDTF">2026-09-16T02:38:10Z</dcterms:modified>
</cp:coreProperties>
</file>