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8288000" cy="10287000"/>
  <p:notesSz cx="6858000" cy="9144000"/>
  <p:embeddedFontLst>
    <p:embeddedFont>
      <p:font typeface="Arimo" panose="020B0600070205080204" charset="0"/>
      <p:regular r:id="rId35"/>
      <p:bold r:id="rId36"/>
      <p:italic r:id="rId37"/>
      <p:boldItalic r:id="rId38"/>
    </p:embeddedFont>
  </p:embeddedFont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470B99F-87D4-495D-A868-2400528E7458}">
  <a:tblStyle styleId="{E470B99F-87D4-495D-A868-2400528E7458}"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89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_First" type="blank">
  <p:cSld name="BLANK">
    <p:spTree>
      <p:nvGrpSpPr>
        <p:cNvPr id="1" name=""/>
        <p:cNvGrpSpPr/>
        <p:nvPr/>
      </p:nvGrpSpPr>
      <p:grpSpPr>
        <a:xfrm>
          <a:off x="0" y="0"/>
          <a:ext cx="0" cy="0"/>
          <a:chOff x="0" y="0"/>
          <a:chExt cx="0" cy="0"/>
        </a:xfrm>
      </p:grpSpPr>
      <p:sp>
        <p:nvSpPr>
          <p:cNvPr id="11" name="Google Shape;11;p36">
            <a:extLst>
              <a:ext uri="{FF2B5EF4-FFF2-40B4-BE49-F238E27FC236}">
                <a16:creationId xmlns:a16="http://schemas.microsoft.com/office/drawing/2014/main" id="{216FC328-BCCD-45B8-87ED-1829D727E1BE}"/>
              </a:ext>
            </a:extLst>
          </p:cNvPr>
          <p:cNvSpPr>
            <a:spLocks noGrp="1"/>
          </p:cNvSpPr>
          <p:nvPr/>
        </p:nvSpPr>
        <p:spPr>
          <a:xfrm>
            <a:off x="8063999" y="973984"/>
            <a:ext cx="2158936" cy="1079468"/>
          </a:xfrm>
          <a:custGeom>
            <a:avLst/>
            <a:gdLst/>
            <a:ahLst/>
            <a:cxnLst/>
            <a:rect l="l" t="t" r="r" b="b"/>
            <a:pathLst>
              <a:path w="2878582" h="1439291">
                <a:moveTo>
                  <a:pt x="0" y="0"/>
                </a:moveTo>
                <a:lnTo>
                  <a:pt x="2878582" y="0"/>
                </a:lnTo>
                <a:lnTo>
                  <a:pt x="2878582" y="1439291"/>
                </a:lnTo>
                <a:lnTo>
                  <a:pt x="0" y="1439291"/>
                </a:lnTo>
                <a:lnTo>
                  <a:pt x="0" y="0"/>
                </a:lnTo>
                <a:close/>
              </a:path>
            </a:pathLst>
          </a:custGeom>
          <a:blipFill rotWithShape="1">
            <a:blip r:embed="rId2">
              <a:alphaModFix/>
            </a:blip>
            <a:stretch>
              <a:fillRect/>
            </a:stretch>
          </a:blipFill>
          <a:ln>
            <a:noFill/>
          </a:ln>
        </p:spPr>
        <p:txBody>
          <a:bodyPr spcFirstLastPara="1" wrap="square" lIns="91425" tIns="45700" rIns="91425" bIns="45700" anchor="t">
            <a:noAutofit/>
          </a:bodyPr>
          <a:lstStyle/>
          <a:p>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
        <p:cNvGrpSpPr/>
        <p:nvPr/>
      </p:nvGrpSpPr>
      <p:grpSpPr>
        <a:xfrm>
          <a:off x="0" y="0"/>
          <a:ext cx="0" cy="0"/>
          <a:chOff x="0" y="0"/>
          <a:chExt cx="0" cy="0"/>
        </a:xfrm>
      </p:grpSpPr>
      <p:cxnSp>
        <p:nvCxnSpPr>
          <p:cNvPr id="23" name="Google Shape;13;p37"/>
          <p:cNvCxnSpPr/>
          <p:nvPr/>
        </p:nvCxnSpPr>
        <p:spPr>
          <a:xfrm rot="3731">
            <a:off x="367413" y="1083108"/>
            <a:ext cx="17552118" cy="0"/>
          </a:xfrm>
          <a:prstGeom prst="straightConnector1">
            <a:avLst/>
          </a:prstGeom>
          <a:ln w="19050" cap="rnd">
            <a:solidFill>
              <a:srgbClr val="DBDACB"/>
            </a:solidFill>
            <a:prstDash val="solid"/>
            <a:round/>
            <a:headEnd type="none" w="sm" len="sm"/>
            <a:tailEnd type="none" w="sm" len="sm"/>
          </a:ln>
        </p:spPr>
      </p:cxnSp>
      <p:sp>
        <p:nvSpPr>
          <p:cNvPr id="14" name="Google Shape;14;p37">
            <a:extLst>
              <a:ext uri="{FF2B5EF4-FFF2-40B4-BE49-F238E27FC236}">
                <a16:creationId xmlns:a16="http://schemas.microsoft.com/office/drawing/2014/main" id="{8B8678DE-F250-4D72-9007-E4E400D9E80C}"/>
              </a:ext>
            </a:extLst>
          </p:cNvPr>
          <p:cNvSpPr>
            <a:spLocks noGrp="1"/>
          </p:cNvSpPr>
          <p:nvPr/>
        </p:nvSpPr>
        <p:spPr>
          <a:xfrm>
            <a:off x="16284600" y="240300"/>
            <a:ext cx="1620012" cy="810006"/>
          </a:xfrm>
          <a:custGeom>
            <a:avLst/>
            <a:gdLst/>
            <a:ahLst/>
            <a:cxnLst/>
            <a:rect l="l" t="t" r="r" b="b"/>
            <a:pathLst>
              <a:path w="2160016" h="1080008">
                <a:moveTo>
                  <a:pt x="0" y="0"/>
                </a:moveTo>
                <a:lnTo>
                  <a:pt x="2160016" y="0"/>
                </a:lnTo>
                <a:lnTo>
                  <a:pt x="2160016" y="1080008"/>
                </a:lnTo>
                <a:lnTo>
                  <a:pt x="0" y="1080008"/>
                </a:lnTo>
                <a:lnTo>
                  <a:pt x="0" y="0"/>
                </a:lnTo>
                <a:close/>
              </a:path>
            </a:pathLst>
          </a:custGeom>
          <a:blipFill rotWithShape="1">
            <a:blip r:embed="rId2">
              <a:alphaModFix/>
            </a:blip>
            <a:stretch>
              <a:fillRect/>
            </a:stretch>
          </a:blipFill>
          <a:ln>
            <a:noFill/>
          </a:ln>
        </p:spPr>
        <p:txBody>
          <a:bodyPr spcFirstLastPara="1" wrap="square" lIns="91425" tIns="45700" rIns="91425" bIns="45700" anchor="t">
            <a:noAutofit/>
          </a:bodyPr>
          <a:lstStyle/>
          <a:p>
            <a:pPr marL="0" marR="0" lvl="0" indent="0" algn="l">
              <a:lnSpc>
                <a:spcPct val="100000"/>
              </a:lnSpc>
              <a:spcBef>
                <a:spcPts val="0"/>
              </a:spcBef>
              <a:spcAft>
                <a:spcPts val="0"/>
              </a:spcAft>
              <a:buNone/>
            </a:pPr>
            <a:endParaRPr sz="1400" b="0" i="0" u="none" cap="none">
              <a:solidFill>
                <a:srgbClr val="000000"/>
              </a:solidFill>
              <a:latin typeface="Arial"/>
              <a:ea typeface="Arial"/>
              <a:cs typeface="Arial"/>
            </a:endParaRPr>
          </a:p>
        </p:txBody>
      </p:sp>
      <p:sp>
        <p:nvSpPr>
          <p:cNvPr id="15" name="Google Shape;15;p37">
            <a:extLst>
              <a:ext uri="{FF2B5EF4-FFF2-40B4-BE49-F238E27FC236}">
                <a16:creationId xmlns:a16="http://schemas.microsoft.com/office/drawing/2014/main" id="{7E25BA69-87EC-4EB0-A7D8-E96D506B1AE0}"/>
              </a:ext>
            </a:extLst>
          </p:cNvPr>
          <p:cNvSpPr>
            <a:spLocks noGrp="1"/>
          </p:cNvSpPr>
          <p:nvPr/>
        </p:nvSpPr>
        <p:spPr>
          <a:xfrm>
            <a:off x="5729960" y="10004580"/>
            <a:ext cx="6828081" cy="186840"/>
          </a:xfrm>
          <a:prstGeom prst="rect">
            <a:avLst/>
          </a:prstGeom>
          <a:noFill/>
          <a:ln>
            <a:noFill/>
          </a:ln>
        </p:spPr>
        <p:txBody>
          <a:bodyPr spcFirstLastPara="1" wrap="square" lIns="0" tIns="0" rIns="0" bIns="0" anchor="t">
            <a:spAutoFit/>
          </a:bodyPr>
          <a:lstStyle/>
          <a:p>
            <a:pPr marL="0" marR="0" lvl="0" indent="0" algn="ctr">
              <a:lnSpc>
                <a:spcPct val="108000"/>
              </a:lnSpc>
              <a:spcBef>
                <a:spcPts val="0"/>
              </a:spcBef>
              <a:spcAft>
                <a:spcPts val="0"/>
              </a:spcAft>
              <a:buClr>
                <a:srgbClr val="000000"/>
              </a:buClr>
              <a:buSzPts val="1050"/>
              <a:buFont typeface="Arial"/>
              <a:buNone/>
            </a:pPr>
            <a:r>
              <a:rPr sz="1050" b="0" i="0" u="none" cap="none">
                <a:solidFill>
                  <a:srgbClr val="9A9A96"/>
                </a:solidFill>
                <a:latin typeface="Arimo"/>
                <a:ea typeface="Arimo"/>
                <a:cs typeface="Arimo"/>
              </a:rPr>
              <a:t>Copyright © All rights reserved, SHARP CORPORATION</a:t>
            </a:r>
            <a:endParaRPr sz="1400" b="0" i="0" u="none" cap="none">
              <a:solidFill>
                <a:srgbClr val="000000"/>
              </a:solidFill>
              <a:latin typeface="Arial"/>
              <a:ea typeface="Arial"/>
              <a:cs typeface="Arial"/>
            </a:endParaRPr>
          </a:p>
        </p:txBody>
      </p:sp>
      <p:sp>
        <p:nvSpPr>
          <p:cNvPr id="17" name="Google Shape;17;p37">
            <a:extLst>
              <a:ext uri="{FF2B5EF4-FFF2-40B4-BE49-F238E27FC236}">
                <a16:creationId xmlns:a16="http://schemas.microsoft.com/office/drawing/2014/main" id="{C2AE5584-BA5E-4C93-9A78-329B6BC4A1D6}"/>
              </a:ext>
            </a:extLst>
          </p:cNvPr>
          <p:cNvSpPr>
            <a:spLocks noGrp="1"/>
          </p:cNvSpPr>
          <p:nvPr/>
        </p:nvSpPr>
        <p:spPr>
          <a:xfrm>
            <a:off x="378000" y="9936000"/>
            <a:ext cx="4114800" cy="324000"/>
          </a:xfrm>
          <a:custGeom>
            <a:avLst/>
            <a:gdLst/>
            <a:ahLst/>
            <a:cxnLst/>
            <a:rect l="l" t="t" r="r" b="b"/>
            <a:pathLst>
              <a:path w="5486400" h="432000">
                <a:moveTo>
                  <a:pt x="0" y="0"/>
                </a:moveTo>
                <a:lnTo>
                  <a:pt x="5486400" y="0"/>
                </a:lnTo>
                <a:lnTo>
                  <a:pt x="5486400" y="432000"/>
                </a:lnTo>
                <a:lnTo>
                  <a:pt x="0" y="432000"/>
                </a:lnTo>
                <a:close/>
              </a:path>
            </a:pathLst>
          </a:custGeom>
          <a:solidFill>
            <a:srgbClr val="000000">
              <a:alpha val="0"/>
            </a:srgbClr>
          </a:solidFill>
          <a:ln>
            <a:noFill/>
          </a:ln>
        </p:spPr>
        <p:txBody>
          <a:bodyPr spcFirstLastPara="1" wrap="square" lIns="91425" tIns="45700" rIns="91425" bIns="45700" anchor="t">
            <a:noAutofit/>
          </a:bodyPr>
          <a:lstStyle/>
          <a:p>
            <a:pPr marL="0" marR="0" lvl="0" indent="0" algn="l">
              <a:lnSpc>
                <a:spcPct val="100000"/>
              </a:lnSpc>
              <a:spcBef>
                <a:spcPts val="0"/>
              </a:spcBef>
              <a:spcAft>
                <a:spcPts val="0"/>
              </a:spcAft>
              <a:buNone/>
            </a:pPr>
            <a:endParaRPr sz="1400" b="0" i="0" u="none" cap="none">
              <a:solidFill>
                <a:srgbClr val="000000"/>
              </a:solidFill>
              <a:latin typeface="Arial"/>
              <a:ea typeface="Arial"/>
              <a:cs typeface="Arial"/>
            </a:endParaRPr>
          </a:p>
        </p:txBody>
      </p:sp>
      <p:sp>
        <p:nvSpPr>
          <p:cNvPr id="18" name="Google Shape;18;p37">
            <a:extLst>
              <a:ext uri="{FF2B5EF4-FFF2-40B4-BE49-F238E27FC236}">
                <a16:creationId xmlns:a16="http://schemas.microsoft.com/office/drawing/2014/main" id="{13EB7955-E226-4BE1-AB69-A4674A662E30}"/>
              </a:ext>
            </a:extLst>
          </p:cNvPr>
          <p:cNvSpPr>
            <a:spLocks noGrp="1"/>
          </p:cNvSpPr>
          <p:nvPr/>
        </p:nvSpPr>
        <p:spPr>
          <a:xfrm>
            <a:off x="378000" y="9921713"/>
            <a:ext cx="4114800" cy="338288"/>
          </a:xfrm>
          <a:prstGeom prst="rect">
            <a:avLst/>
          </a:prstGeom>
          <a:noFill/>
          <a:ln>
            <a:noFill/>
          </a:ln>
        </p:spPr>
        <p:txBody>
          <a:bodyPr spcFirstLastPara="1" wrap="square" lIns="0" tIns="0" rIns="0" bIns="0" anchor="ctr">
            <a:noAutofit/>
          </a:bodyPr>
          <a:lstStyle/>
          <a:p>
            <a:pPr marL="0" marR="0" lvl="0" indent="0" algn="l">
              <a:lnSpc>
                <a:spcPct val="120000"/>
              </a:lnSpc>
              <a:spcBef>
                <a:spcPts val="0"/>
              </a:spcBef>
              <a:spcAft>
                <a:spcPts val="0"/>
              </a:spcAft>
              <a:buClr>
                <a:srgbClr val="000000"/>
              </a:buClr>
              <a:buSzPts val="1500"/>
              <a:buFont typeface="Arial"/>
              <a:buNone/>
            </a:pPr>
            <a:r>
              <a:rPr sz="1500" b="0" i="0" u="none" cap="none">
                <a:solidFill>
                  <a:srgbClr val="9A9A96"/>
                </a:solidFill>
                <a:latin typeface="Arimo"/>
                <a:ea typeface="Arimo"/>
                <a:cs typeface="Arimo"/>
              </a:rPr>
              <a:t>2026/08/27</a:t>
            </a:r>
            <a:endParaRPr sz="1400" b="0" i="0" u="none" cap="none">
              <a:solidFill>
                <a:srgbClr val="000000"/>
              </a:solidFill>
              <a:latin typeface="Arial"/>
              <a:ea typeface="Arial"/>
              <a:cs typeface="Arial"/>
            </a:endParaRPr>
          </a:p>
        </p:txBody>
      </p:sp>
      <p:sp>
        <p:nvSpPr>
          <p:cNvPr id="20" name="Google Shape;20;p37">
            <a:extLst>
              <a:ext uri="{FF2B5EF4-FFF2-40B4-BE49-F238E27FC236}">
                <a16:creationId xmlns:a16="http://schemas.microsoft.com/office/drawing/2014/main" id="{98300D10-3487-4987-9B7A-ECEF72EF4C3A}"/>
              </a:ext>
            </a:extLst>
          </p:cNvPr>
          <p:cNvSpPr>
            <a:spLocks noGrp="1"/>
          </p:cNvSpPr>
          <p:nvPr/>
        </p:nvSpPr>
        <p:spPr>
          <a:xfrm>
            <a:off x="14294731" y="9903315"/>
            <a:ext cx="2619755" cy="378000"/>
          </a:xfrm>
          <a:custGeom>
            <a:avLst/>
            <a:gdLst/>
            <a:ahLst/>
            <a:cxnLst/>
            <a:rect l="l" t="t" r="r" b="b"/>
            <a:pathLst>
              <a:path w="3493007" h="504000">
                <a:moveTo>
                  <a:pt x="0" y="0"/>
                </a:moveTo>
                <a:lnTo>
                  <a:pt x="3493007" y="0"/>
                </a:lnTo>
                <a:lnTo>
                  <a:pt x="3493007" y="504000"/>
                </a:lnTo>
                <a:lnTo>
                  <a:pt x="0" y="504000"/>
                </a:lnTo>
                <a:close/>
              </a:path>
            </a:pathLst>
          </a:custGeom>
          <a:solidFill>
            <a:srgbClr val="000000">
              <a:alpha val="0"/>
            </a:srgbClr>
          </a:solidFill>
          <a:ln>
            <a:noFill/>
          </a:ln>
        </p:spPr>
        <p:txBody>
          <a:bodyPr spcFirstLastPara="1" wrap="square" lIns="91425" tIns="45700" rIns="91425" bIns="45700" anchor="t">
            <a:noAutofit/>
          </a:bodyPr>
          <a:lstStyle/>
          <a:p>
            <a:pPr marL="0" marR="0" lvl="0" indent="0" algn="l">
              <a:lnSpc>
                <a:spcPct val="100000"/>
              </a:lnSpc>
              <a:spcBef>
                <a:spcPts val="0"/>
              </a:spcBef>
              <a:spcAft>
                <a:spcPts val="0"/>
              </a:spcAft>
              <a:buNone/>
            </a:pPr>
            <a:endParaRPr sz="1400" b="0" i="0" u="none" cap="none">
              <a:solidFill>
                <a:srgbClr val="000000"/>
              </a:solidFill>
              <a:latin typeface="Arial"/>
              <a:ea typeface="Arial"/>
              <a:cs typeface="Arial"/>
            </a:endParaRPr>
          </a:p>
        </p:txBody>
      </p:sp>
      <p:sp>
        <p:nvSpPr>
          <p:cNvPr id="21" name="Google Shape;21;p37">
            <a:extLst>
              <a:ext uri="{FF2B5EF4-FFF2-40B4-BE49-F238E27FC236}">
                <a16:creationId xmlns:a16="http://schemas.microsoft.com/office/drawing/2014/main" id="{35820F95-D50F-4803-AB50-F3B943F83A18}"/>
              </a:ext>
            </a:extLst>
          </p:cNvPr>
          <p:cNvSpPr>
            <a:spLocks noGrp="1"/>
          </p:cNvSpPr>
          <p:nvPr/>
        </p:nvSpPr>
        <p:spPr>
          <a:xfrm>
            <a:off x="14294731" y="9889028"/>
            <a:ext cx="2619755" cy="392288"/>
          </a:xfrm>
          <a:prstGeom prst="rect">
            <a:avLst/>
          </a:prstGeom>
          <a:noFill/>
          <a:ln>
            <a:noFill/>
          </a:ln>
        </p:spPr>
        <p:txBody>
          <a:bodyPr spcFirstLastPara="1" wrap="square" lIns="0" tIns="0" rIns="0" bIns="0" anchor="ctr">
            <a:noAutofit/>
          </a:bodyPr>
          <a:lstStyle/>
          <a:p>
            <a:pPr marL="0" marR="0" lvl="0" indent="0" algn="ctr">
              <a:lnSpc>
                <a:spcPct val="120000"/>
              </a:lnSpc>
              <a:spcBef>
                <a:spcPts val="0"/>
              </a:spcBef>
              <a:spcAft>
                <a:spcPts val="0"/>
              </a:spcAft>
              <a:buClr>
                <a:srgbClr val="000000"/>
              </a:buClr>
              <a:buSzPts val="1500"/>
              <a:buFont typeface="Arial"/>
              <a:buNone/>
            </a:pPr>
            <a:r>
              <a:rPr sz="1500" b="0" i="0" u="none" cap="none">
                <a:solidFill>
                  <a:srgbClr val="9A9A96"/>
                </a:solidFill>
                <a:latin typeface="Arimo"/>
                <a:ea typeface="Arimo"/>
                <a:cs typeface="Arimo"/>
              </a:rPr>
              <a:t>Confidential </a:t>
            </a:r>
            <a:endParaRPr sz="1400" b="0" i="0" u="none" cap="none">
              <a:solidFill>
                <a:srgbClr val="000000"/>
              </a:solidFill>
              <a:latin typeface="Arial"/>
              <a:ea typeface="Arial"/>
              <a:cs typeface="Arial"/>
            </a:endParaRPr>
          </a:p>
        </p:txBody>
      </p:sp>
      <p:sp>
        <p:nvSpPr>
          <p:cNvPr id="22" name="Google Shape;22;p37">
            <a:extLst>
              <a:ext uri="{FF2B5EF4-FFF2-40B4-BE49-F238E27FC236}">
                <a16:creationId xmlns:a16="http://schemas.microsoft.com/office/drawing/2014/main" id="{33EF97DE-C608-466A-BA8B-C2B3E86636CF}"/>
              </a:ext>
            </a:extLst>
          </p:cNvPr>
          <p:cNvSpPr>
            <a:spLocks noGrp="1"/>
          </p:cNvSpPr>
          <p:nvPr/>
        </p:nvSpPr>
        <p:spPr>
          <a:xfrm>
            <a:off x="17428362" y="9936000"/>
            <a:ext cx="476250" cy="236860"/>
          </a:xfrm>
          <a:prstGeom prst="rect">
            <a:avLst/>
          </a:prstGeom>
          <a:noFill/>
          <a:ln>
            <a:noFill/>
          </a:ln>
        </p:spPr>
        <p:txBody>
          <a:bodyPr spcFirstLastPara="1" wrap="square" lIns="91425" tIns="45700" rIns="91425" bIns="45700" anchor="t">
            <a:noAutofit/>
          </a:bodyPr>
          <a:lstStyle/>
          <a:p>
            <a:pPr marL="0" marR="0" lvl="0" indent="0" algn="ctr">
              <a:lnSpc>
                <a:spcPct val="100000"/>
              </a:lnSpc>
              <a:spcBef>
                <a:spcPts val="0"/>
              </a:spcBef>
              <a:spcAft>
                <a:spcPts val="0"/>
              </a:spcAft>
              <a:buClr>
                <a:srgbClr val="000000"/>
              </a:buClr>
              <a:buSzPts val="1500"/>
              <a:buFont typeface="Arial"/>
              <a:buNone/>
            </a:pPr>
            <a:fld id="{00000000-1234-1234-1234-123412341234}" type="slidenum">
              <a:rPr sz="1500" b="0" i="0" u="none" cap="none">
                <a:solidFill>
                  <a:srgbClr val="A5A5A5"/>
                </a:solidFill>
                <a:latin typeface="Arial"/>
                <a:ea typeface="Arial"/>
                <a:cs typeface="Arial"/>
              </a:rPr>
              <a:t>‹#›</a:t>
            </a:fld>
            <a:endParaRPr sz="1500" b="0" i="0" u="none" cap="none">
              <a:solidFill>
                <a:srgbClr val="A5A5A5"/>
              </a:solidFill>
              <a:latin typeface="Arial"/>
              <a:ea typeface="Arial"/>
              <a:cs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ver_Last">
  <p:cSld name="Cover_Last">
    <p:spTree>
      <p:nvGrpSpPr>
        <p:cNvPr id="1" name=""/>
        <p:cNvGrpSpPr/>
        <p:nvPr/>
      </p:nvGrpSpPr>
      <p:grpSpPr>
        <a:xfrm>
          <a:off x="0" y="0"/>
          <a:ext cx="0" cy="0"/>
          <a:chOff x="0" y="0"/>
          <a:chExt cx="0" cy="0"/>
        </a:xfrm>
      </p:grpSpPr>
      <p:sp>
        <p:nvSpPr>
          <p:cNvPr id="24" name="Google Shape;24;p38">
            <a:extLst>
              <a:ext uri="{FF2B5EF4-FFF2-40B4-BE49-F238E27FC236}">
                <a16:creationId xmlns:a16="http://schemas.microsoft.com/office/drawing/2014/main" id="{065D0D02-501F-4520-A45B-1C1DF14C2872}"/>
              </a:ext>
            </a:extLst>
          </p:cNvPr>
          <p:cNvSpPr>
            <a:spLocks noGrp="1"/>
          </p:cNvSpPr>
          <p:nvPr/>
        </p:nvSpPr>
        <p:spPr>
          <a:xfrm>
            <a:off x="6332905" y="4020580"/>
            <a:ext cx="5622226" cy="1668304"/>
          </a:xfrm>
          <a:custGeom>
            <a:avLst/>
            <a:gdLst/>
            <a:ahLst/>
            <a:cxnLst/>
            <a:rect l="l" t="t" r="r" b="b"/>
            <a:pathLst>
              <a:path w="7496302" h="2224405">
                <a:moveTo>
                  <a:pt x="0" y="0"/>
                </a:moveTo>
                <a:lnTo>
                  <a:pt x="7496302" y="0"/>
                </a:lnTo>
                <a:lnTo>
                  <a:pt x="7496302" y="2224405"/>
                </a:lnTo>
                <a:lnTo>
                  <a:pt x="0" y="2224405"/>
                </a:lnTo>
                <a:lnTo>
                  <a:pt x="0" y="0"/>
                </a:lnTo>
                <a:close/>
              </a:path>
            </a:pathLst>
          </a:custGeom>
          <a:blipFill rotWithShape="1">
            <a:blip r:embed="rId2">
              <a:alphaModFix/>
            </a:blip>
            <a:stretch>
              <a:fillRect t="-59" b="-62"/>
            </a:stretch>
          </a:blip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889EB2-C02C-40DB-AE49-F020472D6A01}"/>
              </a:ext>
            </a:extLst>
          </p:cNvPr>
          <p:cNvSpPr>
            <a:spLocks noGrp="1"/>
          </p:cNvSpPr>
          <p:nvPr/>
        </p:nvSpPr>
        <p:spPr>
          <a:xfrm>
            <a:off x="731520" y="3200400"/>
            <a:ext cx="16824960" cy="731520"/>
          </a:xfrm>
          <a:prstGeom prst="rect">
            <a:avLst/>
          </a:prstGeom>
          <a:noFill/>
        </p:spPr>
        <p:txBody>
          <a:bodyPr wrap="square" lIns="45720" tIns="0" rIns="45720" bIns="0" anchor="t">
            <a:spAutoFit/>
          </a:bodyPr>
          <a:lstStyle/>
          <a:p>
            <a:pPr algn="ctr">
              <a:spcAft>
                <a:spcPts val="600"/>
              </a:spcAft>
              <a:buNone/>
            </a:pPr>
            <a:r>
              <a:rPr sz="3200" b="0">
                <a:solidFill>
                  <a:srgbClr val="545454"/>
                </a:solidFill>
                <a:latin typeface="Arial"/>
                <a:ea typeface="Arial"/>
                <a:cs typeface="Arial"/>
              </a:rPr>
              <a:t>ケーズホールディングス様向け</a:t>
            </a:r>
          </a:p>
        </p:txBody>
      </p:sp>
      <p:sp>
        <p:nvSpPr>
          <p:cNvPr id="3" name="TextBox 2">
            <a:extLst>
              <a:ext uri="{FF2B5EF4-FFF2-40B4-BE49-F238E27FC236}">
                <a16:creationId xmlns:a16="http://schemas.microsoft.com/office/drawing/2014/main" id="{859CD68F-DB0A-48FE-B602-AD434942F03B}"/>
              </a:ext>
            </a:extLst>
          </p:cNvPr>
          <p:cNvSpPr>
            <a:spLocks noGrp="1"/>
          </p:cNvSpPr>
          <p:nvPr/>
        </p:nvSpPr>
        <p:spPr>
          <a:xfrm>
            <a:off x="731520" y="3977639"/>
            <a:ext cx="16824960" cy="954107"/>
          </a:xfrm>
          <a:prstGeom prst="rect">
            <a:avLst/>
          </a:prstGeom>
          <a:noFill/>
        </p:spPr>
        <p:txBody>
          <a:bodyPr wrap="square" lIns="45720" tIns="0" rIns="45720" bIns="0" anchor="t">
            <a:spAutoFit/>
          </a:bodyPr>
          <a:lstStyle/>
          <a:p>
            <a:pPr algn="ctr">
              <a:spcAft>
                <a:spcPts val="600"/>
              </a:spcAft>
              <a:buNone/>
            </a:pPr>
            <a:r>
              <a:rPr sz="6200" b="1" dirty="0" err="1">
                <a:solidFill>
                  <a:srgbClr val="545454"/>
                </a:solidFill>
                <a:latin typeface="Arial"/>
                <a:ea typeface="Arial"/>
                <a:cs typeface="Arial"/>
              </a:rPr>
              <a:t>次世代POS</a:t>
            </a:r>
            <a:r>
              <a:rPr sz="6200" b="1" dirty="0">
                <a:solidFill>
                  <a:srgbClr val="545454"/>
                </a:solidFill>
                <a:latin typeface="Arial"/>
                <a:ea typeface="Arial"/>
                <a:cs typeface="Arial"/>
              </a:rPr>
              <a:t> </a:t>
            </a:r>
            <a:r>
              <a:rPr sz="6200" b="1" dirty="0" err="1">
                <a:solidFill>
                  <a:srgbClr val="545454"/>
                </a:solidFill>
                <a:latin typeface="Arial"/>
                <a:ea typeface="Arial"/>
                <a:cs typeface="Arial"/>
              </a:rPr>
              <a:t>アーキテクチャ提案</a:t>
            </a:r>
            <a:r>
              <a:rPr lang="ja-JP" altLang="en-US" sz="6200" b="1" dirty="0">
                <a:solidFill>
                  <a:srgbClr val="545454"/>
                </a:solidFill>
                <a:latin typeface="Arial"/>
                <a:ea typeface="Arial"/>
                <a:cs typeface="Arial"/>
              </a:rPr>
              <a:t>書</a:t>
            </a:r>
            <a:endParaRPr sz="6200" b="1" dirty="0">
              <a:solidFill>
                <a:srgbClr val="545454"/>
              </a:solidFill>
              <a:latin typeface="Arial"/>
              <a:ea typeface="Arial"/>
              <a:cs typeface="Arial"/>
            </a:endParaRPr>
          </a:p>
        </p:txBody>
      </p:sp>
      <p:sp>
        <p:nvSpPr>
          <p:cNvPr id="4" name="TextBox 3">
            <a:extLst>
              <a:ext uri="{FF2B5EF4-FFF2-40B4-BE49-F238E27FC236}">
                <a16:creationId xmlns:a16="http://schemas.microsoft.com/office/drawing/2014/main" id="{5A2FFCEE-6CD1-4E2E-A055-312C1864AD30}"/>
              </a:ext>
            </a:extLst>
          </p:cNvPr>
          <p:cNvSpPr>
            <a:spLocks noGrp="1"/>
          </p:cNvSpPr>
          <p:nvPr/>
        </p:nvSpPr>
        <p:spPr>
          <a:xfrm>
            <a:off x="731520" y="9052560"/>
            <a:ext cx="16824960" cy="640080"/>
          </a:xfrm>
          <a:prstGeom prst="rect">
            <a:avLst/>
          </a:prstGeom>
          <a:noFill/>
        </p:spPr>
        <p:txBody>
          <a:bodyPr wrap="square" lIns="45720" tIns="0" rIns="45720" bIns="0" anchor="t">
            <a:spAutoFit/>
          </a:bodyPr>
          <a:lstStyle/>
          <a:p>
            <a:pPr algn="ctr">
              <a:spcAft>
                <a:spcPts val="600"/>
              </a:spcAft>
              <a:buNone/>
            </a:pPr>
            <a:r>
              <a:rPr sz="2800" b="0">
                <a:solidFill>
                  <a:srgbClr val="545454"/>
                </a:solidFill>
                <a:latin typeface="Arial"/>
                <a:ea typeface="Arial"/>
                <a:cs typeface="Arial"/>
              </a:rPr>
              <a:t>2026/08/27</a:t>
            </a:r>
          </a:p>
        </p:txBody>
      </p:sp>
    </p:spTree>
    <p:extLst>
      <p:ext uri="{BB962C8B-B14F-4D97-AF65-F5344CB8AC3E}">
        <p14:creationId xmlns:p14="http://schemas.microsoft.com/office/powerpoint/2010/main" val="485314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521DD1-638E-48ED-9AC7-97A55F57CBD0}"/>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目次</a:t>
            </a:r>
          </a:p>
        </p:txBody>
      </p:sp>
      <p:sp>
        <p:nvSpPr>
          <p:cNvPr id="3" name="TextBox 2">
            <a:extLst>
              <a:ext uri="{FF2B5EF4-FFF2-40B4-BE49-F238E27FC236}">
                <a16:creationId xmlns:a16="http://schemas.microsoft.com/office/drawing/2014/main" id="{78FD85F3-04A6-462D-B335-14B89D783601}"/>
              </a:ext>
            </a:extLst>
          </p:cNvPr>
          <p:cNvSpPr>
            <a:spLocks noGrp="1"/>
          </p:cNvSpPr>
          <p:nvPr/>
        </p:nvSpPr>
        <p:spPr>
          <a:xfrm>
            <a:off x="5029200" y="3291840"/>
            <a:ext cx="8229600" cy="365760"/>
          </a:xfrm>
          <a:prstGeom prst="rect">
            <a:avLst/>
          </a:prstGeom>
          <a:noFill/>
        </p:spPr>
        <p:txBody>
          <a:bodyPr wrap="square" lIns="0" tIns="0" rIns="0" bIns="0">
            <a:spAutoFit/>
          </a:bodyPr>
          <a:lstStyle/>
          <a:p>
            <a:pPr>
              <a:spcAft>
                <a:spcPts val="2000"/>
              </a:spcAft>
              <a:buNone/>
            </a:pPr>
            <a:r>
              <a:rPr sz="3200">
                <a:solidFill>
                  <a:srgbClr val="545454"/>
                </a:solidFill>
                <a:latin typeface="Arial"/>
                <a:ea typeface="Arial"/>
                <a:cs typeface="Arial"/>
              </a:rPr>
              <a:t>1. 全体構成</a:t>
            </a:r>
          </a:p>
          <a:p>
            <a:pPr>
              <a:spcAft>
                <a:spcPts val="2000"/>
              </a:spcAft>
              <a:buNone/>
            </a:pPr>
            <a:r>
              <a:rPr sz="3200">
                <a:solidFill>
                  <a:srgbClr val="545454"/>
                </a:solidFill>
                <a:latin typeface="Arial"/>
                <a:ea typeface="Arial"/>
                <a:cs typeface="Arial"/>
              </a:rPr>
              <a:t>2. 端末アプリケーション</a:t>
            </a:r>
          </a:p>
          <a:p>
            <a:pPr>
              <a:spcAft>
                <a:spcPts val="2000"/>
              </a:spcAft>
              <a:buNone/>
            </a:pPr>
            <a:r>
              <a:rPr sz="3200">
                <a:solidFill>
                  <a:srgbClr val="545454"/>
                </a:solidFill>
                <a:latin typeface="Arial"/>
                <a:ea typeface="Arial"/>
                <a:cs typeface="Arial"/>
              </a:rPr>
              <a:t>3. デバイス制御</a:t>
            </a:r>
          </a:p>
          <a:p>
            <a:pPr>
              <a:spcAft>
                <a:spcPts val="2000"/>
              </a:spcAft>
              <a:buNone/>
            </a:pPr>
            <a:r>
              <a:rPr sz="3200">
                <a:solidFill>
                  <a:srgbClr val="545454"/>
                </a:solidFill>
                <a:latin typeface="Arial"/>
                <a:ea typeface="Arial"/>
                <a:cs typeface="Arial"/>
              </a:rPr>
              <a:t>4. デバイスコネクタ</a:t>
            </a:r>
          </a:p>
          <a:p>
            <a:pPr>
              <a:spcAft>
                <a:spcPts val="2000"/>
              </a:spcAft>
              <a:buNone/>
            </a:pPr>
            <a:r>
              <a:rPr sz="3200">
                <a:solidFill>
                  <a:srgbClr val="545454"/>
                </a:solidFill>
                <a:latin typeface="Arial"/>
                <a:ea typeface="Arial"/>
                <a:cs typeface="Arial"/>
              </a:rPr>
              <a:t>5. 運用・保守</a:t>
            </a:r>
          </a:p>
        </p:txBody>
      </p:sp>
    </p:spTree>
    <p:extLst>
      <p:ext uri="{BB962C8B-B14F-4D97-AF65-F5344CB8AC3E}">
        <p14:creationId xmlns:p14="http://schemas.microsoft.com/office/powerpoint/2010/main" val="778461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7D77EA-5157-4CFC-AFF6-8ABE1A323304}"/>
              </a:ext>
            </a:extLst>
          </p:cNvPr>
          <p:cNvSpPr>
            <a:spLocks noGrp="1"/>
          </p:cNvSpPr>
          <p:nvPr/>
        </p:nvSpPr>
        <p:spPr>
          <a:xfrm>
            <a:off x="1828800" y="3291840"/>
            <a:ext cx="14630400" cy="822960"/>
          </a:xfrm>
          <a:prstGeom prst="rect">
            <a:avLst/>
          </a:prstGeom>
          <a:noFill/>
        </p:spPr>
        <p:txBody>
          <a:bodyPr wrap="square" lIns="45720" tIns="0" rIns="45720" bIns="0" anchor="t">
            <a:spAutoFit/>
          </a:bodyPr>
          <a:lstStyle/>
          <a:p>
            <a:pPr algn="ctr">
              <a:spcAft>
                <a:spcPts val="600"/>
              </a:spcAft>
              <a:buNone/>
            </a:pPr>
            <a:r>
              <a:rPr sz="3000" b="1">
                <a:solidFill>
                  <a:srgbClr val="8C8C8C"/>
                </a:solidFill>
                <a:latin typeface="Arial"/>
                <a:ea typeface="Arial"/>
                <a:cs typeface="Arial"/>
              </a:rPr>
              <a:t>第1</a:t>
            </a:r>
          </a:p>
        </p:txBody>
      </p:sp>
      <p:sp>
        <p:nvSpPr>
          <p:cNvPr id="3" name="TextBox 2">
            <a:extLst>
              <a:ext uri="{FF2B5EF4-FFF2-40B4-BE49-F238E27FC236}">
                <a16:creationId xmlns:a16="http://schemas.microsoft.com/office/drawing/2014/main" id="{B824A59D-94FD-4917-9D4F-DC05F29D1C4F}"/>
              </a:ext>
            </a:extLst>
          </p:cNvPr>
          <p:cNvSpPr>
            <a:spLocks noGrp="1"/>
          </p:cNvSpPr>
          <p:nvPr/>
        </p:nvSpPr>
        <p:spPr>
          <a:xfrm>
            <a:off x="1828800" y="4023360"/>
            <a:ext cx="14630400" cy="1280160"/>
          </a:xfrm>
          <a:prstGeom prst="rect">
            <a:avLst/>
          </a:prstGeom>
          <a:noFill/>
        </p:spPr>
        <p:txBody>
          <a:bodyPr wrap="square" lIns="45720" tIns="0" rIns="45720" bIns="0" anchor="t">
            <a:spAutoFit/>
          </a:bodyPr>
          <a:lstStyle/>
          <a:p>
            <a:pPr algn="ctr">
              <a:spcAft>
                <a:spcPts val="600"/>
              </a:spcAft>
              <a:buNone/>
            </a:pPr>
            <a:r>
              <a:rPr sz="5800" b="1">
                <a:solidFill>
                  <a:srgbClr val="545454"/>
                </a:solidFill>
                <a:latin typeface="Arial"/>
                <a:ea typeface="Arial"/>
                <a:cs typeface="Arial"/>
              </a:rPr>
              <a:t>全体構成</a:t>
            </a:r>
          </a:p>
        </p:txBody>
      </p:sp>
      <p:sp>
        <p:nvSpPr>
          <p:cNvPr id="4" name="TextBox 3">
            <a:extLst>
              <a:ext uri="{FF2B5EF4-FFF2-40B4-BE49-F238E27FC236}">
                <a16:creationId xmlns:a16="http://schemas.microsoft.com/office/drawing/2014/main" id="{57D650C4-F43F-498C-9769-1D0007EB02E1}"/>
              </a:ext>
            </a:extLst>
          </p:cNvPr>
          <p:cNvSpPr>
            <a:spLocks noGrp="1"/>
          </p:cNvSpPr>
          <p:nvPr/>
        </p:nvSpPr>
        <p:spPr>
          <a:xfrm>
            <a:off x="1828800" y="5760720"/>
            <a:ext cx="14630400" cy="548640"/>
          </a:xfrm>
          <a:prstGeom prst="rect">
            <a:avLst/>
          </a:prstGeom>
          <a:noFill/>
        </p:spPr>
        <p:txBody>
          <a:bodyPr wrap="square" lIns="45720" tIns="0" rIns="45720" bIns="0" anchor="t">
            <a:spAutoFit/>
          </a:bodyPr>
          <a:lstStyle/>
          <a:p>
            <a:pPr algn="ctr">
              <a:spcAft>
                <a:spcPts val="600"/>
              </a:spcAft>
              <a:buNone/>
            </a:pPr>
            <a:r>
              <a:rPr sz="2200" b="0">
                <a:solidFill>
                  <a:srgbClr val="545454"/>
                </a:solidFill>
                <a:latin typeface="Arial"/>
                <a:ea typeface="Arial"/>
                <a:cs typeface="Arial"/>
              </a:rPr>
              <a:t>システムの構成要素とプロセス境界を説明します。</a:t>
            </a:r>
          </a:p>
        </p:txBody>
      </p:sp>
      <p:sp>
        <p:nvSpPr>
          <p:cNvPr id="5" name="TextBox 4">
            <a:extLst>
              <a:ext uri="{FF2B5EF4-FFF2-40B4-BE49-F238E27FC236}">
                <a16:creationId xmlns:a16="http://schemas.microsoft.com/office/drawing/2014/main" id="{41C379E0-4372-4200-AC48-A475545C5C6D}"/>
              </a:ext>
            </a:extLst>
          </p:cNvPr>
          <p:cNvSpPr>
            <a:spLocks noGrp="1"/>
          </p:cNvSpPr>
          <p:nvPr/>
        </p:nvSpPr>
        <p:spPr>
          <a:xfrm>
            <a:off x="5303520" y="6858000"/>
            <a:ext cx="7680960" cy="365760"/>
          </a:xfrm>
          <a:prstGeom prst="rect">
            <a:avLst/>
          </a:prstGeom>
          <a:noFill/>
        </p:spPr>
        <p:txBody>
          <a:bodyPr wrap="square" lIns="0" tIns="0" rIns="0" bIns="0">
            <a:spAutoFit/>
          </a:bodyPr>
          <a:lstStyle/>
          <a:p>
            <a:pPr>
              <a:spcAft>
                <a:spcPts val="800"/>
              </a:spcAft>
              <a:buNone/>
            </a:pPr>
            <a:r>
              <a:rPr sz="1600">
                <a:solidFill>
                  <a:srgbClr val="545454"/>
                </a:solidFill>
                <a:latin typeface="Arial"/>
                <a:ea typeface="Arial"/>
                <a:cs typeface="Arial"/>
              </a:rPr>
              <a:t>•  スライド4 — 設計範囲と前提</a:t>
            </a:r>
          </a:p>
          <a:p>
            <a:pPr>
              <a:spcAft>
                <a:spcPts val="800"/>
              </a:spcAft>
              <a:buNone/>
            </a:pPr>
            <a:r>
              <a:rPr sz="1600">
                <a:solidFill>
                  <a:srgbClr val="545454"/>
                </a:solidFill>
                <a:latin typeface="Arial"/>
                <a:ea typeface="Arial"/>
                <a:cs typeface="Arial"/>
              </a:rPr>
              <a:t>•  スライド5 — システム全体構成</a:t>
            </a:r>
          </a:p>
          <a:p>
            <a:pPr>
              <a:spcAft>
                <a:spcPts val="800"/>
              </a:spcAft>
              <a:buNone/>
            </a:pPr>
            <a:r>
              <a:rPr sz="1600">
                <a:solidFill>
                  <a:srgbClr val="545454"/>
                </a:solidFill>
                <a:latin typeface="Arial"/>
                <a:ea typeface="Arial"/>
                <a:cs typeface="Arial"/>
              </a:rPr>
              <a:t>•  スライド6 — プロセス構成と責務範囲</a:t>
            </a:r>
          </a:p>
        </p:txBody>
      </p:sp>
    </p:spTree>
    <p:extLst>
      <p:ext uri="{BB962C8B-B14F-4D97-AF65-F5344CB8AC3E}">
        <p14:creationId xmlns:p14="http://schemas.microsoft.com/office/powerpoint/2010/main" val="279637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6B9DF7-7B2A-496E-ACD7-43B49F4EAAD1}"/>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設計範囲と前提</a:t>
            </a:r>
          </a:p>
        </p:txBody>
      </p:sp>
      <p:sp>
        <p:nvSpPr>
          <p:cNvPr id="3" name="Rounded Rectangle 2">
            <a:extLst>
              <a:ext uri="{FF2B5EF4-FFF2-40B4-BE49-F238E27FC236}">
                <a16:creationId xmlns:a16="http://schemas.microsoft.com/office/drawing/2014/main" id="{174D695E-ABF0-4E77-A66D-26606BD71623}"/>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Windows POSとタブレットPOS（Android／iOS）を対象とし、端末アプリ、サーバー側サービス、運用基盤および周辺機器の責務範囲を定めます。</a:t>
            </a:r>
          </a:p>
        </p:txBody>
      </p:sp>
      <p:sp>
        <p:nvSpPr>
          <p:cNvPr id="4" name="TextBox 3">
            <a:extLst>
              <a:ext uri="{FF2B5EF4-FFF2-40B4-BE49-F238E27FC236}">
                <a16:creationId xmlns:a16="http://schemas.microsoft.com/office/drawing/2014/main" id="{99FF428F-44BB-418A-806B-F35B2A13BF7A}"/>
              </a:ext>
            </a:extLst>
          </p:cNvPr>
          <p:cNvSpPr>
            <a:spLocks noGrp="1"/>
          </p:cNvSpPr>
          <p:nvPr/>
        </p:nvSpPr>
        <p:spPr>
          <a:xfrm>
            <a:off x="594360" y="292608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責務分担</a:t>
            </a:r>
          </a:p>
        </p:txBody>
      </p:sp>
      <p:sp>
        <p:nvSpPr>
          <p:cNvPr id="5" name="TextBox 4">
            <a:extLst>
              <a:ext uri="{FF2B5EF4-FFF2-40B4-BE49-F238E27FC236}">
                <a16:creationId xmlns:a16="http://schemas.microsoft.com/office/drawing/2014/main" id="{9EADE146-39BC-4FBB-847B-1F9A84FD929F}"/>
              </a:ext>
            </a:extLst>
          </p:cNvPr>
          <p:cNvSpPr>
            <a:spLocks noGrp="1"/>
          </p:cNvSpPr>
          <p:nvPr/>
        </p:nvSpPr>
        <p:spPr>
          <a:xfrm>
            <a:off x="685800" y="340156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端末アプリは画面表示と業務処理を担当します。</a:t>
            </a:r>
          </a:p>
          <a:p>
            <a:pPr>
              <a:spcAft>
                <a:spcPts val="500"/>
              </a:spcAft>
              <a:buNone/>
            </a:pPr>
            <a:r>
              <a:rPr sz="1700">
                <a:solidFill>
                  <a:srgbClr val="545454"/>
                </a:solidFill>
                <a:latin typeface="Arial"/>
                <a:ea typeface="Arial"/>
                <a:cs typeface="Arial"/>
              </a:rPr>
              <a:t>•  DeviceCtrlは接続方式の選択と機器制御を担当します。</a:t>
            </a:r>
          </a:p>
          <a:p>
            <a:pPr>
              <a:spcAft>
                <a:spcPts val="500"/>
              </a:spcAft>
              <a:buNone/>
            </a:pPr>
            <a:r>
              <a:rPr sz="1700">
                <a:solidFill>
                  <a:srgbClr val="545454"/>
                </a:solidFill>
                <a:latin typeface="Arial"/>
                <a:ea typeface="Arial"/>
                <a:cs typeface="Arial"/>
              </a:rPr>
              <a:t>•  デバイスコネクタはWindows POSの別プロセスで既存の機器制御資産を扱います。</a:t>
            </a:r>
          </a:p>
          <a:p>
            <a:pPr>
              <a:spcAft>
                <a:spcPts val="500"/>
              </a:spcAft>
              <a:buNone/>
            </a:pPr>
            <a:r>
              <a:rPr sz="1700">
                <a:solidFill>
                  <a:srgbClr val="545454"/>
                </a:solidFill>
                <a:latin typeface="Arial"/>
                <a:ea typeface="Arial"/>
                <a:cs typeface="Arial"/>
              </a:rPr>
              <a:t>•  サーバー側サービスは認証と業務APIを提供し、運用基盤はアプリ配信と監視を担当します。</a:t>
            </a:r>
          </a:p>
        </p:txBody>
      </p:sp>
      <p:sp>
        <p:nvSpPr>
          <p:cNvPr id="6" name="TextBox 5">
            <a:extLst>
              <a:ext uri="{FF2B5EF4-FFF2-40B4-BE49-F238E27FC236}">
                <a16:creationId xmlns:a16="http://schemas.microsoft.com/office/drawing/2014/main" id="{37A7D5E2-C172-4937-B2F1-7B34EF9BCA85}"/>
              </a:ext>
            </a:extLst>
          </p:cNvPr>
          <p:cNvSpPr>
            <a:spLocks noGrp="1"/>
          </p:cNvSpPr>
          <p:nvPr/>
        </p:nvSpPr>
        <p:spPr>
          <a:xfrm>
            <a:off x="594360" y="4791456"/>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設計前提</a:t>
            </a:r>
          </a:p>
        </p:txBody>
      </p:sp>
      <p:sp>
        <p:nvSpPr>
          <p:cNvPr id="7" name="TextBox 6">
            <a:extLst>
              <a:ext uri="{FF2B5EF4-FFF2-40B4-BE49-F238E27FC236}">
                <a16:creationId xmlns:a16="http://schemas.microsoft.com/office/drawing/2014/main" id="{4D215969-2513-4BCC-A3EE-B3DF238F4D9D}"/>
              </a:ext>
            </a:extLst>
          </p:cNvPr>
          <p:cNvSpPr>
            <a:spLocks noGrp="1"/>
          </p:cNvSpPr>
          <p:nvPr/>
        </p:nvSpPr>
        <p:spPr>
          <a:xfrm>
            <a:off x="685800" y="5266944"/>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端末アプリは.NET MAUIの一つのプロセスとして動作します。</a:t>
            </a:r>
          </a:p>
          <a:p>
            <a:pPr>
              <a:spcAft>
                <a:spcPts val="500"/>
              </a:spcAft>
              <a:buNone/>
            </a:pPr>
            <a:r>
              <a:rPr sz="1700">
                <a:solidFill>
                  <a:srgbClr val="545454"/>
                </a:solidFill>
                <a:latin typeface="Arial"/>
                <a:ea typeface="Arial"/>
                <a:cs typeface="Arial"/>
              </a:rPr>
              <a:t>•  DeviceCtrlは端末アプリのプロセス内で動作するライブラリです。</a:t>
            </a:r>
          </a:p>
          <a:p>
            <a:pPr>
              <a:spcAft>
                <a:spcPts val="500"/>
              </a:spcAft>
              <a:buNone/>
            </a:pPr>
            <a:r>
              <a:rPr sz="1700">
                <a:solidFill>
                  <a:srgbClr val="545454"/>
                </a:solidFill>
                <a:latin typeface="Arial"/>
                <a:ea typeface="Arial"/>
                <a:cs typeface="Arial"/>
              </a:rPr>
              <a:t>•  Windows POSでは直接接続とデバイスコネクタ経由を使い分けます。</a:t>
            </a:r>
          </a:p>
          <a:p>
            <a:pPr>
              <a:spcAft>
                <a:spcPts val="500"/>
              </a:spcAft>
              <a:buNone/>
            </a:pPr>
            <a:r>
              <a:rPr sz="1700">
                <a:solidFill>
                  <a:srgbClr val="545454"/>
                </a:solidFill>
                <a:latin typeface="Arial"/>
                <a:ea typeface="Arial"/>
                <a:cs typeface="Arial"/>
              </a:rPr>
              <a:t>•  タブレットPOS（Android／iOS）ではカメラ、Bluetooth、SDKまたはOS標準APIを介して周辺機器へ直接接続します。</a:t>
            </a:r>
          </a:p>
        </p:txBody>
      </p:sp>
      <p:pic>
        <p:nvPicPr>
          <p:cNvPr id="17" name="Picture 7"/>
          <p:cNvPicPr>
            <a:picLocks noChangeAspect="1"/>
          </p:cNvPicPr>
          <p:nvPr/>
        </p:nvPicPr>
        <p:blipFill>
          <a:blip r:embed="rId3"/>
          <a:stretch>
            <a:fillRect/>
          </a:stretch>
        </p:blipFill>
        <p:spPr>
          <a:xfrm>
            <a:off x="14694408" y="5394960"/>
            <a:ext cx="2314723" cy="3291840"/>
          </a:xfrm>
          <a:prstGeom prst="rect">
            <a:avLst/>
          </a:prstGeom>
        </p:spPr>
      </p:pic>
      <p:sp>
        <p:nvSpPr>
          <p:cNvPr id="9" name="TextBox 8">
            <a:extLst>
              <a:ext uri="{FF2B5EF4-FFF2-40B4-BE49-F238E27FC236}">
                <a16:creationId xmlns:a16="http://schemas.microsoft.com/office/drawing/2014/main" id="{7B1A115E-0A91-4F72-B148-55F94967EF9C}"/>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ARCH-01 1.2、2.2、ARCH-DEVICE-01 2.1、ARCH-HOST-01 2.1</a:t>
            </a:r>
          </a:p>
        </p:txBody>
      </p:sp>
    </p:spTree>
    <p:extLst>
      <p:ext uri="{BB962C8B-B14F-4D97-AF65-F5344CB8AC3E}">
        <p14:creationId xmlns:p14="http://schemas.microsoft.com/office/powerpoint/2010/main" val="634152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FF6467-0DE3-4651-8082-2BEC5B96D3DB}"/>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システム全体構成</a:t>
            </a:r>
          </a:p>
        </p:txBody>
      </p:sp>
      <p:sp>
        <p:nvSpPr>
          <p:cNvPr id="3" name="Rounded Rectangle 2">
            <a:extLst>
              <a:ext uri="{FF2B5EF4-FFF2-40B4-BE49-F238E27FC236}">
                <a16:creationId xmlns:a16="http://schemas.microsoft.com/office/drawing/2014/main" id="{1273E8B3-7F96-4B1C-BB4F-0CC0D0F65F68}"/>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端末アプリ、サーバー側サービス、運用基盤および周辺機器の境界を明確にし、各領域を独立して変更できる構成とします。</a:t>
            </a:r>
          </a:p>
        </p:txBody>
      </p:sp>
      <p:sp>
        <p:nvSpPr>
          <p:cNvPr id="4" name="TextBox 3">
            <a:extLst>
              <a:ext uri="{FF2B5EF4-FFF2-40B4-BE49-F238E27FC236}">
                <a16:creationId xmlns:a16="http://schemas.microsoft.com/office/drawing/2014/main" id="{EFFC4C19-F080-4C1A-9540-4ADD3633B6DB}"/>
              </a:ext>
            </a:extLst>
          </p:cNvPr>
          <p:cNvSpPr>
            <a:spLocks noGrp="1"/>
          </p:cNvSpPr>
          <p:nvPr/>
        </p:nvSpPr>
        <p:spPr>
          <a:xfrm>
            <a:off x="594360" y="292608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要点</a:t>
            </a:r>
          </a:p>
        </p:txBody>
      </p:sp>
      <p:sp>
        <p:nvSpPr>
          <p:cNvPr id="5" name="TextBox 4">
            <a:extLst>
              <a:ext uri="{FF2B5EF4-FFF2-40B4-BE49-F238E27FC236}">
                <a16:creationId xmlns:a16="http://schemas.microsoft.com/office/drawing/2014/main" id="{3211AA87-CEB1-40FA-B9FE-A3B2EC70D07A}"/>
              </a:ext>
            </a:extLst>
          </p:cNvPr>
          <p:cNvSpPr>
            <a:spLocks noGrp="1"/>
          </p:cNvSpPr>
          <p:nvPr/>
        </p:nvSpPr>
        <p:spPr>
          <a:xfrm>
            <a:off x="685800" y="340156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端末アプリは認証と業務処理をサーバー側サービスへ要求し、通信断に備えて必要な状態を端末内へ保持します。</a:t>
            </a:r>
          </a:p>
          <a:p>
            <a:pPr>
              <a:spcAft>
                <a:spcPts val="500"/>
              </a:spcAft>
              <a:buNone/>
            </a:pPr>
            <a:r>
              <a:rPr sz="1700">
                <a:solidFill>
                  <a:srgbClr val="545454"/>
                </a:solidFill>
                <a:latin typeface="Arial"/>
                <a:ea typeface="Arial"/>
                <a:cs typeface="Arial"/>
              </a:rPr>
              <a:t>•  画面およびアプリケーション処理は周辺機器を直接呼び出しません。</a:t>
            </a:r>
          </a:p>
          <a:p>
            <a:pPr>
              <a:spcAft>
                <a:spcPts val="500"/>
              </a:spcAft>
              <a:buNone/>
            </a:pPr>
            <a:r>
              <a:rPr sz="1700">
                <a:solidFill>
                  <a:srgbClr val="545454"/>
                </a:solidFill>
                <a:latin typeface="Arial"/>
                <a:ea typeface="Arial"/>
                <a:cs typeface="Arial"/>
              </a:rPr>
              <a:t>•  DeviceCtrlがOSと設定に応じて接続経路を選択します。</a:t>
            </a:r>
          </a:p>
          <a:p>
            <a:pPr>
              <a:spcAft>
                <a:spcPts val="500"/>
              </a:spcAft>
              <a:buNone/>
            </a:pPr>
            <a:r>
              <a:rPr sz="1700">
                <a:solidFill>
                  <a:srgbClr val="545454"/>
                </a:solidFill>
                <a:latin typeface="Arial"/>
                <a:ea typeface="Arial"/>
                <a:cs typeface="Arial"/>
              </a:rPr>
              <a:t>•  Windows POSでは既存機器への要求だけを、別プロセスのデバイスコネクタへ転送します。</a:t>
            </a:r>
          </a:p>
          <a:p>
            <a:pPr>
              <a:spcAft>
                <a:spcPts val="500"/>
              </a:spcAft>
              <a:buNone/>
            </a:pPr>
            <a:r>
              <a:rPr sz="1700">
                <a:solidFill>
                  <a:srgbClr val="545454"/>
                </a:solidFill>
                <a:latin typeface="Arial"/>
                <a:ea typeface="Arial"/>
                <a:cs typeface="Arial"/>
              </a:rPr>
              <a:t>•  タブレットPOS（Android／iOS）では、共通の接続方針と対象機器を採用し、各OSに対応した接続方式別実装から周辺機器へ直接接続します。</a:t>
            </a:r>
          </a:p>
          <a:p>
            <a:pPr>
              <a:spcAft>
                <a:spcPts val="500"/>
              </a:spcAft>
              <a:buNone/>
            </a:pPr>
            <a:r>
              <a:rPr sz="1700">
                <a:solidFill>
                  <a:srgbClr val="545454"/>
                </a:solidFill>
                <a:latin typeface="Arial"/>
                <a:ea typeface="Arial"/>
                <a:cs typeface="Arial"/>
              </a:rPr>
              <a:t>•  運用基盤はアプリ配信、利用可能なバージョンの管理およびクラッシュ監視を担当します。</a:t>
            </a:r>
          </a:p>
        </p:txBody>
      </p:sp>
      <p:sp>
        <p:nvSpPr>
          <p:cNvPr id="6" name="Rounded Rectangle 5">
            <a:extLst>
              <a:ext uri="{FF2B5EF4-FFF2-40B4-BE49-F238E27FC236}">
                <a16:creationId xmlns:a16="http://schemas.microsoft.com/office/drawing/2014/main" id="{A1A65804-66A1-4D90-81AC-99E93424C819}"/>
              </a:ext>
            </a:extLst>
          </p:cNvPr>
          <p:cNvSpPr>
            <a:spLocks noGrp="1"/>
          </p:cNvSpPr>
          <p:nvPr/>
        </p:nvSpPr>
        <p:spPr>
          <a:xfrm>
            <a:off x="640080" y="5513832"/>
            <a:ext cx="3146450" cy="967618"/>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C5667F9-78D8-4EFC-9194-8DDCDA318A82}"/>
              </a:ext>
            </a:extLst>
          </p:cNvPr>
          <p:cNvSpPr>
            <a:spLocks noGrp="1"/>
          </p:cNvSpPr>
          <p:nvPr/>
        </p:nvSpPr>
        <p:spPr>
          <a:xfrm>
            <a:off x="749808" y="5586984"/>
            <a:ext cx="2926994"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サーバー側サービス</a:t>
            </a:r>
          </a:p>
        </p:txBody>
      </p:sp>
      <p:sp>
        <p:nvSpPr>
          <p:cNvPr id="8" name="Rounded Rectangle 7">
            <a:extLst>
              <a:ext uri="{FF2B5EF4-FFF2-40B4-BE49-F238E27FC236}">
                <a16:creationId xmlns:a16="http://schemas.microsoft.com/office/drawing/2014/main" id="{93AA9987-2971-43AF-B94E-D575F77EA104}"/>
              </a:ext>
            </a:extLst>
          </p:cNvPr>
          <p:cNvSpPr>
            <a:spLocks noGrp="1"/>
          </p:cNvSpPr>
          <p:nvPr/>
        </p:nvSpPr>
        <p:spPr>
          <a:xfrm>
            <a:off x="822959" y="5811560"/>
            <a:ext cx="2780690" cy="558241"/>
          </a:xfrm>
          <a:prstGeom prst="roundRect">
            <a:avLst>
              <a:gd name="adj" fmla="val 8000"/>
            </a:avLst>
          </a:prstGeom>
          <a:solidFill>
            <a:srgbClr val="FFF2CC"/>
          </a:solidFill>
          <a:ln w="15875">
            <a:solidFill>
              <a:srgbClr val="BF9000"/>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認証／業務API</a:t>
            </a:r>
          </a:p>
          <a:p>
            <a:pPr algn="ctr">
              <a:buNone/>
            </a:pPr>
            <a:r>
              <a:rPr sz="900" b="0">
                <a:solidFill>
                  <a:srgbClr val="333333"/>
                </a:solidFill>
                <a:latin typeface="Arial"/>
                <a:ea typeface="Arial"/>
                <a:cs typeface="Arial"/>
              </a:rPr>
              <a:t>マスターデータ／取引データ</a:t>
            </a:r>
          </a:p>
        </p:txBody>
      </p:sp>
      <p:sp>
        <p:nvSpPr>
          <p:cNvPr id="9" name="Rounded Rectangle 8">
            <a:extLst>
              <a:ext uri="{FF2B5EF4-FFF2-40B4-BE49-F238E27FC236}">
                <a16:creationId xmlns:a16="http://schemas.microsoft.com/office/drawing/2014/main" id="{C18D225E-0499-4070-A49E-64ADFDC6C9D9}"/>
              </a:ext>
            </a:extLst>
          </p:cNvPr>
          <p:cNvSpPr>
            <a:spLocks noGrp="1"/>
          </p:cNvSpPr>
          <p:nvPr/>
        </p:nvSpPr>
        <p:spPr>
          <a:xfrm>
            <a:off x="640080" y="6853610"/>
            <a:ext cx="3146450" cy="1637507"/>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1F81CE31-D8FE-4A09-A432-5626AD15B278}"/>
              </a:ext>
            </a:extLst>
          </p:cNvPr>
          <p:cNvSpPr>
            <a:spLocks noGrp="1"/>
          </p:cNvSpPr>
          <p:nvPr/>
        </p:nvSpPr>
        <p:spPr>
          <a:xfrm>
            <a:off x="749808" y="6926762"/>
            <a:ext cx="2926994"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運用基盤</a:t>
            </a:r>
          </a:p>
        </p:txBody>
      </p:sp>
      <p:sp>
        <p:nvSpPr>
          <p:cNvPr id="11" name="Rounded Rectangle 10">
            <a:extLst>
              <a:ext uri="{FF2B5EF4-FFF2-40B4-BE49-F238E27FC236}">
                <a16:creationId xmlns:a16="http://schemas.microsoft.com/office/drawing/2014/main" id="{A88F39A5-0893-4762-86C8-89D9E2E1414A}"/>
              </a:ext>
            </a:extLst>
          </p:cNvPr>
          <p:cNvSpPr>
            <a:spLocks noGrp="1"/>
          </p:cNvSpPr>
          <p:nvPr/>
        </p:nvSpPr>
        <p:spPr>
          <a:xfrm>
            <a:off x="822959" y="7151339"/>
            <a:ext cx="2780690" cy="483809"/>
          </a:xfrm>
          <a:prstGeom prst="roundRect">
            <a:avLst>
              <a:gd name="adj" fmla="val 8000"/>
            </a:avLst>
          </a:prstGeom>
          <a:solidFill>
            <a:srgbClr val="FFF2CC"/>
          </a:solidFill>
          <a:ln w="15875">
            <a:solidFill>
              <a:srgbClr val="BF9000"/>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アプリ配信／バージョン管理</a:t>
            </a:r>
          </a:p>
        </p:txBody>
      </p:sp>
      <p:sp>
        <p:nvSpPr>
          <p:cNvPr id="12" name="Rounded Rectangle 11">
            <a:extLst>
              <a:ext uri="{FF2B5EF4-FFF2-40B4-BE49-F238E27FC236}">
                <a16:creationId xmlns:a16="http://schemas.microsoft.com/office/drawing/2014/main" id="{50BB63EC-464D-43DB-8BE1-65B58AF39E1F}"/>
              </a:ext>
            </a:extLst>
          </p:cNvPr>
          <p:cNvSpPr>
            <a:spLocks noGrp="1"/>
          </p:cNvSpPr>
          <p:nvPr/>
        </p:nvSpPr>
        <p:spPr>
          <a:xfrm>
            <a:off x="822959" y="7821228"/>
            <a:ext cx="2780690" cy="483809"/>
          </a:xfrm>
          <a:prstGeom prst="roundRect">
            <a:avLst>
              <a:gd name="adj" fmla="val 8000"/>
            </a:avLst>
          </a:prstGeom>
          <a:solidFill>
            <a:srgbClr val="FFF2CC"/>
          </a:solidFill>
          <a:ln w="15875">
            <a:solidFill>
              <a:srgbClr val="BF9000"/>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クラッシュ監視／ログ保管</a:t>
            </a:r>
          </a:p>
        </p:txBody>
      </p:sp>
      <p:sp>
        <p:nvSpPr>
          <p:cNvPr id="13" name="Rounded Rectangle 12">
            <a:extLst>
              <a:ext uri="{FF2B5EF4-FFF2-40B4-BE49-F238E27FC236}">
                <a16:creationId xmlns:a16="http://schemas.microsoft.com/office/drawing/2014/main" id="{35321655-B738-47E4-81EC-CAC7F6E2B829}"/>
              </a:ext>
            </a:extLst>
          </p:cNvPr>
          <p:cNvSpPr>
            <a:spLocks noGrp="1"/>
          </p:cNvSpPr>
          <p:nvPr/>
        </p:nvSpPr>
        <p:spPr>
          <a:xfrm>
            <a:off x="4152290" y="5513832"/>
            <a:ext cx="8453628" cy="3721607"/>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703793F-70C4-44E0-9EF9-6C5F2A8920A3}"/>
              </a:ext>
            </a:extLst>
          </p:cNvPr>
          <p:cNvSpPr>
            <a:spLocks noGrp="1"/>
          </p:cNvSpPr>
          <p:nvPr/>
        </p:nvSpPr>
        <p:spPr>
          <a:xfrm>
            <a:off x="4262018" y="5586984"/>
            <a:ext cx="7859268"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POS端末内アプリケーション</a:t>
            </a:r>
          </a:p>
        </p:txBody>
      </p:sp>
      <p:sp>
        <p:nvSpPr>
          <p:cNvPr id="15" name="Rounded Rectangle 14">
            <a:extLst>
              <a:ext uri="{FF2B5EF4-FFF2-40B4-BE49-F238E27FC236}">
                <a16:creationId xmlns:a16="http://schemas.microsoft.com/office/drawing/2014/main" id="{686BBCEA-AE94-405B-9FBF-9605A57B8F72}"/>
              </a:ext>
            </a:extLst>
          </p:cNvPr>
          <p:cNvSpPr>
            <a:spLocks noGrp="1"/>
          </p:cNvSpPr>
          <p:nvPr/>
        </p:nvSpPr>
        <p:spPr>
          <a:xfrm>
            <a:off x="4335170" y="5879592"/>
            <a:ext cx="4847234" cy="3172967"/>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F3D096-AB5E-4682-A87D-94FD03782682}"/>
              </a:ext>
            </a:extLst>
          </p:cNvPr>
          <p:cNvSpPr>
            <a:spLocks noGrp="1"/>
          </p:cNvSpPr>
          <p:nvPr/>
        </p:nvSpPr>
        <p:spPr>
          <a:xfrm>
            <a:off x="4444898" y="5952744"/>
            <a:ext cx="4627778"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端末アプリ — MAUIプロセス</a:t>
            </a:r>
          </a:p>
        </p:txBody>
      </p:sp>
      <p:sp>
        <p:nvSpPr>
          <p:cNvPr id="17" name="Rounded Rectangle 16">
            <a:extLst>
              <a:ext uri="{FF2B5EF4-FFF2-40B4-BE49-F238E27FC236}">
                <a16:creationId xmlns:a16="http://schemas.microsoft.com/office/drawing/2014/main" id="{DDE0D4AA-8CDD-4603-A5DC-B10D3384FE07}"/>
              </a:ext>
            </a:extLst>
          </p:cNvPr>
          <p:cNvSpPr>
            <a:spLocks noGrp="1"/>
          </p:cNvSpPr>
          <p:nvPr/>
        </p:nvSpPr>
        <p:spPr>
          <a:xfrm>
            <a:off x="4563770" y="6220937"/>
            <a:ext cx="4390034" cy="558241"/>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画面と状態</a:t>
            </a:r>
          </a:p>
          <a:p>
            <a:pPr algn="ctr">
              <a:buNone/>
            </a:pPr>
            <a:r>
              <a:rPr sz="900" b="0">
                <a:solidFill>
                  <a:srgbClr val="333333"/>
                </a:solidFill>
                <a:latin typeface="Arial"/>
                <a:ea typeface="Arial"/>
                <a:cs typeface="Arial"/>
              </a:rPr>
              <a:t>ビュー／ビューモデル</a:t>
            </a:r>
          </a:p>
        </p:txBody>
      </p:sp>
      <p:sp>
        <p:nvSpPr>
          <p:cNvPr id="18" name="Rounded Rectangle 17">
            <a:extLst>
              <a:ext uri="{FF2B5EF4-FFF2-40B4-BE49-F238E27FC236}">
                <a16:creationId xmlns:a16="http://schemas.microsoft.com/office/drawing/2014/main" id="{B91B06E3-7D25-4B0B-8901-23D071BFF6AF}"/>
              </a:ext>
            </a:extLst>
          </p:cNvPr>
          <p:cNvSpPr>
            <a:spLocks noGrp="1"/>
          </p:cNvSpPr>
          <p:nvPr/>
        </p:nvSpPr>
        <p:spPr>
          <a:xfrm>
            <a:off x="4563770" y="6965259"/>
            <a:ext cx="4390034" cy="558241"/>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アプリケーション処理</a:t>
            </a:r>
          </a:p>
          <a:p>
            <a:pPr algn="ctr">
              <a:buNone/>
            </a:pPr>
            <a:r>
              <a:rPr sz="900" b="0">
                <a:solidFill>
                  <a:srgbClr val="333333"/>
                </a:solidFill>
                <a:latin typeface="Arial"/>
                <a:ea typeface="Arial"/>
                <a:cs typeface="Arial"/>
              </a:rPr>
              <a:t>コマンド／クエリ／サービス</a:t>
            </a:r>
          </a:p>
        </p:txBody>
      </p:sp>
      <p:sp>
        <p:nvSpPr>
          <p:cNvPr id="19" name="Rounded Rectangle 18">
            <a:extLst>
              <a:ext uri="{FF2B5EF4-FFF2-40B4-BE49-F238E27FC236}">
                <a16:creationId xmlns:a16="http://schemas.microsoft.com/office/drawing/2014/main" id="{973B3AE6-4FE3-4544-AC58-122B79B64B9D}"/>
              </a:ext>
            </a:extLst>
          </p:cNvPr>
          <p:cNvSpPr>
            <a:spLocks noGrp="1"/>
          </p:cNvSpPr>
          <p:nvPr/>
        </p:nvSpPr>
        <p:spPr>
          <a:xfrm>
            <a:off x="4563770" y="7709580"/>
            <a:ext cx="4390034" cy="558241"/>
          </a:xfrm>
          <a:prstGeom prst="roundRect">
            <a:avLst>
              <a:gd name="adj" fmla="val 8000"/>
            </a:avLst>
          </a:prstGeom>
          <a:solidFill>
            <a:srgbClr val="E2F0D9"/>
          </a:solidFill>
          <a:ln w="15875">
            <a:solidFill>
              <a:srgbClr val="70AD47"/>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デバイス制御</a:t>
            </a:r>
          </a:p>
          <a:p>
            <a:pPr algn="ctr">
              <a:buNone/>
            </a:pPr>
            <a:r>
              <a:rPr sz="900" b="0">
                <a:solidFill>
                  <a:srgbClr val="333333"/>
                </a:solidFill>
                <a:latin typeface="Arial"/>
                <a:ea typeface="Arial"/>
                <a:cs typeface="Arial"/>
              </a:rPr>
              <a:t>DeviceCtrl</a:t>
            </a:r>
          </a:p>
        </p:txBody>
      </p:sp>
      <p:sp>
        <p:nvSpPr>
          <p:cNvPr id="20" name="Rounded Rectangle 19">
            <a:extLst>
              <a:ext uri="{FF2B5EF4-FFF2-40B4-BE49-F238E27FC236}">
                <a16:creationId xmlns:a16="http://schemas.microsoft.com/office/drawing/2014/main" id="{F4CF49AF-BA14-4475-98DA-86A80627397B}"/>
              </a:ext>
            </a:extLst>
          </p:cNvPr>
          <p:cNvSpPr>
            <a:spLocks noGrp="1"/>
          </p:cNvSpPr>
          <p:nvPr/>
        </p:nvSpPr>
        <p:spPr>
          <a:xfrm>
            <a:off x="4563770" y="8491118"/>
            <a:ext cx="4390034" cy="558241"/>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共通基盤</a:t>
            </a:r>
          </a:p>
          <a:p>
            <a:pPr algn="ctr">
              <a:buNone/>
            </a:pPr>
            <a:r>
              <a:rPr sz="900" b="0">
                <a:solidFill>
                  <a:srgbClr val="333333"/>
                </a:solidFill>
                <a:latin typeface="Arial"/>
                <a:ea typeface="Arial"/>
                <a:cs typeface="Arial"/>
              </a:rPr>
              <a:t>ログ／監視／画面状態</a:t>
            </a:r>
          </a:p>
        </p:txBody>
      </p:sp>
      <p:sp>
        <p:nvSpPr>
          <p:cNvPr id="21" name="Connector 20">
            <a:extLst>
              <a:ext uri="{FF2B5EF4-FFF2-40B4-BE49-F238E27FC236}">
                <a16:creationId xmlns:a16="http://schemas.microsoft.com/office/drawing/2014/main" id="{FFF95397-DFC1-4992-94C4-DFCEE1382266}"/>
              </a:ext>
            </a:extLst>
          </p:cNvPr>
          <p:cNvSpPr>
            <a:spLocks noGrp="1"/>
          </p:cNvSpPr>
          <p:nvPr/>
        </p:nvSpPr>
        <p:spPr>
          <a:xfrm>
            <a:off x="6758787" y="6779178"/>
            <a:ext cx="0" cy="186081"/>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2" name="Connector 21">
            <a:extLst>
              <a:ext uri="{FF2B5EF4-FFF2-40B4-BE49-F238E27FC236}">
                <a16:creationId xmlns:a16="http://schemas.microsoft.com/office/drawing/2014/main" id="{852FEB0C-F4B2-4225-9A12-B0BC89389EBD}"/>
              </a:ext>
            </a:extLst>
          </p:cNvPr>
          <p:cNvSpPr>
            <a:spLocks noGrp="1"/>
          </p:cNvSpPr>
          <p:nvPr/>
        </p:nvSpPr>
        <p:spPr>
          <a:xfrm>
            <a:off x="6758787" y="7523500"/>
            <a:ext cx="0" cy="18608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3" name="Connector 22">
            <a:extLst>
              <a:ext uri="{FF2B5EF4-FFF2-40B4-BE49-F238E27FC236}">
                <a16:creationId xmlns:a16="http://schemas.microsoft.com/office/drawing/2014/main" id="{2F894A8E-4078-4E1E-88C1-7214F46B0695}"/>
              </a:ext>
            </a:extLst>
          </p:cNvPr>
          <p:cNvSpPr>
            <a:spLocks noGrp="1"/>
          </p:cNvSpPr>
          <p:nvPr/>
        </p:nvSpPr>
        <p:spPr>
          <a:xfrm>
            <a:off x="6758787" y="8267821"/>
            <a:ext cx="0" cy="223297"/>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4" name="TextBox 23">
            <a:extLst>
              <a:ext uri="{FF2B5EF4-FFF2-40B4-BE49-F238E27FC236}">
                <a16:creationId xmlns:a16="http://schemas.microsoft.com/office/drawing/2014/main" id="{8DFC9F50-6803-453F-8B19-E6B6FBE1468A}"/>
              </a:ext>
            </a:extLst>
          </p:cNvPr>
          <p:cNvSpPr>
            <a:spLocks noGrp="1"/>
          </p:cNvSpPr>
          <p:nvPr/>
        </p:nvSpPr>
        <p:spPr>
          <a:xfrm>
            <a:off x="6809334" y="6823749"/>
            <a:ext cx="2926080" cy="256032"/>
          </a:xfrm>
          <a:prstGeom prst="rect">
            <a:avLst/>
          </a:prstGeom>
          <a:noFill/>
        </p:spPr>
        <p:txBody>
          <a:bodyPr wrap="square" lIns="45720" tIns="0" rIns="45720" bIns="0" anchor="t">
            <a:spAutoFit/>
          </a:bodyPr>
          <a:lstStyle/>
          <a:p>
            <a:pPr algn="l">
              <a:spcAft>
                <a:spcPts val="600"/>
              </a:spcAft>
              <a:buNone/>
            </a:pPr>
            <a:r>
              <a:rPr sz="900" b="0">
                <a:solidFill>
                  <a:srgbClr val="8C8C8C"/>
                </a:solidFill>
                <a:latin typeface="Arial"/>
                <a:ea typeface="Arial"/>
                <a:cs typeface="Arial"/>
              </a:rPr>
              <a:t>処理要求</a:t>
            </a:r>
          </a:p>
        </p:txBody>
      </p:sp>
      <p:sp>
        <p:nvSpPr>
          <p:cNvPr id="25" name="TextBox 24">
            <a:extLst>
              <a:ext uri="{FF2B5EF4-FFF2-40B4-BE49-F238E27FC236}">
                <a16:creationId xmlns:a16="http://schemas.microsoft.com/office/drawing/2014/main" id="{73687EDB-9E6D-4306-9305-380F2DD38788}"/>
              </a:ext>
            </a:extLst>
          </p:cNvPr>
          <p:cNvSpPr>
            <a:spLocks noGrp="1"/>
          </p:cNvSpPr>
          <p:nvPr/>
        </p:nvSpPr>
        <p:spPr>
          <a:xfrm>
            <a:off x="6830415" y="7542108"/>
            <a:ext cx="2926080" cy="256032"/>
          </a:xfrm>
          <a:prstGeom prst="rect">
            <a:avLst/>
          </a:prstGeom>
          <a:noFill/>
        </p:spPr>
        <p:txBody>
          <a:bodyPr wrap="square" lIns="45720" tIns="0" rIns="45720" bIns="0" anchor="t">
            <a:spAutoFit/>
          </a:bodyPr>
          <a:lstStyle/>
          <a:p>
            <a:pPr algn="l">
              <a:spcAft>
                <a:spcPts val="600"/>
              </a:spcAft>
              <a:buNone/>
            </a:pPr>
            <a:r>
              <a:rPr sz="900" b="0">
                <a:solidFill>
                  <a:srgbClr val="8C8C8C"/>
                </a:solidFill>
                <a:latin typeface="Arial"/>
                <a:ea typeface="Arial"/>
                <a:cs typeface="Arial"/>
              </a:rPr>
              <a:t>デバイス制御インターフェース</a:t>
            </a:r>
          </a:p>
        </p:txBody>
      </p:sp>
      <p:sp>
        <p:nvSpPr>
          <p:cNvPr id="26" name="TextBox 25">
            <a:extLst>
              <a:ext uri="{FF2B5EF4-FFF2-40B4-BE49-F238E27FC236}">
                <a16:creationId xmlns:a16="http://schemas.microsoft.com/office/drawing/2014/main" id="{2B2D9CEF-8E1C-4610-A666-F2020E5A7769}"/>
              </a:ext>
            </a:extLst>
          </p:cNvPr>
          <p:cNvSpPr>
            <a:spLocks noGrp="1"/>
          </p:cNvSpPr>
          <p:nvPr/>
        </p:nvSpPr>
        <p:spPr>
          <a:xfrm>
            <a:off x="6787261" y="8325885"/>
            <a:ext cx="2926080" cy="256032"/>
          </a:xfrm>
          <a:prstGeom prst="rect">
            <a:avLst/>
          </a:prstGeom>
          <a:noFill/>
        </p:spPr>
        <p:txBody>
          <a:bodyPr wrap="square" lIns="45720" tIns="0" rIns="45720" bIns="0" anchor="t">
            <a:spAutoFit/>
          </a:bodyPr>
          <a:lstStyle/>
          <a:p>
            <a:pPr algn="l">
              <a:spcAft>
                <a:spcPts val="600"/>
              </a:spcAft>
              <a:buNone/>
            </a:pPr>
            <a:r>
              <a:rPr sz="900" b="0">
                <a:solidFill>
                  <a:srgbClr val="8C8C8C"/>
                </a:solidFill>
                <a:latin typeface="Arial"/>
                <a:ea typeface="Arial"/>
                <a:cs typeface="Arial"/>
              </a:rPr>
              <a:t>共通利用</a:t>
            </a:r>
          </a:p>
        </p:txBody>
      </p:sp>
      <p:sp>
        <p:nvSpPr>
          <p:cNvPr id="27" name="Rounded Rectangle 26">
            <a:extLst>
              <a:ext uri="{FF2B5EF4-FFF2-40B4-BE49-F238E27FC236}">
                <a16:creationId xmlns:a16="http://schemas.microsoft.com/office/drawing/2014/main" id="{409D3E2F-2DEE-4869-AC6F-76F2E95A1B7C}"/>
              </a:ext>
            </a:extLst>
          </p:cNvPr>
          <p:cNvSpPr>
            <a:spLocks noGrp="1"/>
          </p:cNvSpPr>
          <p:nvPr/>
        </p:nvSpPr>
        <p:spPr>
          <a:xfrm>
            <a:off x="9819741" y="7018508"/>
            <a:ext cx="2499969" cy="1363462"/>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D76B15C-5078-419B-9534-22DF005082BC}"/>
              </a:ext>
            </a:extLst>
          </p:cNvPr>
          <p:cNvSpPr>
            <a:spLocks noGrp="1"/>
          </p:cNvSpPr>
          <p:nvPr/>
        </p:nvSpPr>
        <p:spPr>
          <a:xfrm>
            <a:off x="9929468" y="7127067"/>
            <a:ext cx="2280513" cy="446276"/>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デバイスコネクタ</a:t>
            </a:r>
            <a:endParaRPr sz="1200" b="1">
              <a:solidFill>
                <a:srgbClr val="8C8C8C"/>
              </a:solidFill>
            </a:endParaRPr>
          </a:p>
          <a:p>
            <a:pPr algn="l">
              <a:spcAft>
                <a:spcPts val="600"/>
              </a:spcAft>
              <a:buNone/>
            </a:pPr>
            <a:r>
              <a:rPr sz="1200" b="1">
                <a:solidFill>
                  <a:srgbClr val="8C8C8C"/>
                </a:solidFill>
                <a:latin typeface="Arial"/>
                <a:ea typeface="Arial"/>
                <a:cs typeface="Arial"/>
              </a:rPr>
              <a:t>Windows POSの別プロセス</a:t>
            </a:r>
          </a:p>
        </p:txBody>
      </p:sp>
      <p:sp>
        <p:nvSpPr>
          <p:cNvPr id="29" name="Rounded Rectangle 28">
            <a:extLst>
              <a:ext uri="{FF2B5EF4-FFF2-40B4-BE49-F238E27FC236}">
                <a16:creationId xmlns:a16="http://schemas.microsoft.com/office/drawing/2014/main" id="{FCF65D5A-611B-4654-8631-F17A296B2C6C}"/>
              </a:ext>
            </a:extLst>
          </p:cNvPr>
          <p:cNvSpPr>
            <a:spLocks noGrp="1"/>
          </p:cNvSpPr>
          <p:nvPr/>
        </p:nvSpPr>
        <p:spPr>
          <a:xfrm>
            <a:off x="9956901" y="7712081"/>
            <a:ext cx="2225649" cy="558241"/>
          </a:xfrm>
          <a:prstGeom prst="roundRect">
            <a:avLst>
              <a:gd name="adj" fmla="val 8000"/>
            </a:avLst>
          </a:prstGeom>
          <a:solidFill>
            <a:srgbClr val="FCE4D6"/>
          </a:solidFill>
          <a:ln w="15875">
            <a:solidFill>
              <a:srgbClr val="ED7D31"/>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プロセス間通信</a:t>
            </a:r>
          </a:p>
          <a:p>
            <a:pPr algn="ctr">
              <a:buNone/>
            </a:pPr>
            <a:r>
              <a:rPr sz="900" b="0">
                <a:solidFill>
                  <a:srgbClr val="333333"/>
                </a:solidFill>
                <a:latin typeface="Arial"/>
                <a:ea typeface="Arial"/>
                <a:cs typeface="Arial"/>
              </a:rPr>
              <a:t>機器管理と制御</a:t>
            </a:r>
          </a:p>
        </p:txBody>
      </p:sp>
      <p:sp>
        <p:nvSpPr>
          <p:cNvPr id="30" name="Rounded Rectangle 29">
            <a:extLst>
              <a:ext uri="{FF2B5EF4-FFF2-40B4-BE49-F238E27FC236}">
                <a16:creationId xmlns:a16="http://schemas.microsoft.com/office/drawing/2014/main" id="{F7DC2AC4-8F5D-423B-B160-5586F314F328}"/>
              </a:ext>
            </a:extLst>
          </p:cNvPr>
          <p:cNvSpPr>
            <a:spLocks noGrp="1"/>
          </p:cNvSpPr>
          <p:nvPr/>
        </p:nvSpPr>
        <p:spPr>
          <a:xfrm>
            <a:off x="12715646" y="5513832"/>
            <a:ext cx="4932273" cy="3721607"/>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5A6AE593-0072-446D-AFAA-0A24E4E3D3A4}"/>
              </a:ext>
            </a:extLst>
          </p:cNvPr>
          <p:cNvSpPr>
            <a:spLocks noGrp="1"/>
          </p:cNvSpPr>
          <p:nvPr/>
        </p:nvSpPr>
        <p:spPr>
          <a:xfrm>
            <a:off x="12825374" y="5586984"/>
            <a:ext cx="4712817"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周辺機器</a:t>
            </a:r>
          </a:p>
        </p:txBody>
      </p:sp>
      <p:sp>
        <p:nvSpPr>
          <p:cNvPr id="32" name="Rounded Rectangle 31">
            <a:extLst>
              <a:ext uri="{FF2B5EF4-FFF2-40B4-BE49-F238E27FC236}">
                <a16:creationId xmlns:a16="http://schemas.microsoft.com/office/drawing/2014/main" id="{59DC5040-80A5-4975-B6AC-C962015E59AC}"/>
              </a:ext>
            </a:extLst>
          </p:cNvPr>
          <p:cNvSpPr>
            <a:spLocks noGrp="1"/>
          </p:cNvSpPr>
          <p:nvPr/>
        </p:nvSpPr>
        <p:spPr>
          <a:xfrm>
            <a:off x="12944246" y="5811560"/>
            <a:ext cx="4475073" cy="632673"/>
          </a:xfrm>
          <a:prstGeom prst="roundRect">
            <a:avLst>
              <a:gd name="adj" fmla="val 8000"/>
            </a:avLst>
          </a:prstGeom>
          <a:solidFill>
            <a:srgbClr val="E4DFEC"/>
          </a:solidFill>
          <a:ln w="15875">
            <a:solidFill>
              <a:srgbClr val="8064A2"/>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直接接続機器</a:t>
            </a:r>
          </a:p>
          <a:p>
            <a:pPr algn="ctr">
              <a:buNone/>
            </a:pPr>
            <a:r>
              <a:rPr sz="900" b="0">
                <a:solidFill>
                  <a:srgbClr val="333333"/>
                </a:solidFill>
                <a:latin typeface="Arial"/>
                <a:ea typeface="Arial"/>
                <a:cs typeface="Arial"/>
              </a:rPr>
              <a:t>バーコードスキャナー／専用キーボード</a:t>
            </a:r>
          </a:p>
        </p:txBody>
      </p:sp>
      <p:sp>
        <p:nvSpPr>
          <p:cNvPr id="33" name="Rounded Rectangle 32">
            <a:extLst>
              <a:ext uri="{FF2B5EF4-FFF2-40B4-BE49-F238E27FC236}">
                <a16:creationId xmlns:a16="http://schemas.microsoft.com/office/drawing/2014/main" id="{35EDBB0A-6646-4042-BF3D-918A0A704D15}"/>
              </a:ext>
            </a:extLst>
          </p:cNvPr>
          <p:cNvSpPr>
            <a:spLocks noGrp="1"/>
          </p:cNvSpPr>
          <p:nvPr/>
        </p:nvSpPr>
        <p:spPr>
          <a:xfrm>
            <a:off x="12969392" y="6714623"/>
            <a:ext cx="4475073" cy="893185"/>
          </a:xfrm>
          <a:prstGeom prst="roundRect">
            <a:avLst>
              <a:gd name="adj" fmla="val 8000"/>
            </a:avLst>
          </a:prstGeom>
          <a:solidFill>
            <a:srgbClr val="E4DFEC"/>
          </a:solidFill>
          <a:ln w="15875">
            <a:solidFill>
              <a:srgbClr val="8064A2"/>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既存機器</a:t>
            </a:r>
          </a:p>
          <a:p>
            <a:pPr algn="ctr">
              <a:buNone/>
            </a:pPr>
            <a:r>
              <a:rPr sz="900" b="0">
                <a:solidFill>
                  <a:srgbClr val="333333"/>
                </a:solidFill>
                <a:latin typeface="Arial"/>
                <a:ea typeface="Arial"/>
                <a:cs typeface="Arial"/>
              </a:rPr>
              <a:t>自動釣銭機／ドロア／カスタマーディスプレイ</a:t>
            </a:r>
          </a:p>
          <a:p>
            <a:pPr algn="ctr">
              <a:buNone/>
            </a:pPr>
            <a:r>
              <a:rPr sz="900" b="0">
                <a:solidFill>
                  <a:srgbClr val="333333"/>
                </a:solidFill>
                <a:latin typeface="Arial"/>
                <a:ea typeface="Arial"/>
                <a:cs typeface="Arial"/>
              </a:rPr>
              <a:t>プリンター／決済端末</a:t>
            </a:r>
          </a:p>
        </p:txBody>
      </p:sp>
      <p:sp>
        <p:nvSpPr>
          <p:cNvPr id="34" name="Rounded Rectangle 33">
            <a:extLst>
              <a:ext uri="{FF2B5EF4-FFF2-40B4-BE49-F238E27FC236}">
                <a16:creationId xmlns:a16="http://schemas.microsoft.com/office/drawing/2014/main" id="{0822955D-8E7C-4705-ABA8-9C4D8AB2AD9A}"/>
              </a:ext>
            </a:extLst>
          </p:cNvPr>
          <p:cNvSpPr>
            <a:spLocks noGrp="1"/>
          </p:cNvSpPr>
          <p:nvPr/>
        </p:nvSpPr>
        <p:spPr>
          <a:xfrm>
            <a:off x="12973507" y="8383950"/>
            <a:ext cx="4475073" cy="744321"/>
          </a:xfrm>
          <a:prstGeom prst="roundRect">
            <a:avLst>
              <a:gd name="adj" fmla="val 8000"/>
            </a:avLst>
          </a:prstGeom>
          <a:solidFill>
            <a:srgbClr val="E4DFEC"/>
          </a:solidFill>
          <a:ln w="15875">
            <a:solidFill>
              <a:srgbClr val="8064A2"/>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直接接続機器</a:t>
            </a:r>
          </a:p>
          <a:p>
            <a:pPr algn="ctr">
              <a:buNone/>
            </a:pPr>
            <a:r>
              <a:rPr sz="900" b="0">
                <a:solidFill>
                  <a:srgbClr val="333333"/>
                </a:solidFill>
                <a:latin typeface="Arial"/>
                <a:ea typeface="Arial"/>
                <a:cs typeface="Arial"/>
              </a:rPr>
              <a:t>スキャナー／プリンター</a:t>
            </a:r>
          </a:p>
          <a:p>
            <a:pPr algn="ctr">
              <a:buNone/>
            </a:pPr>
            <a:r>
              <a:rPr sz="900" b="0">
                <a:solidFill>
                  <a:srgbClr val="333333"/>
                </a:solidFill>
                <a:latin typeface="Arial"/>
                <a:ea typeface="Arial"/>
                <a:cs typeface="Arial"/>
              </a:rPr>
              <a:t>カスタマーディスプレイ／決済端末</a:t>
            </a:r>
          </a:p>
        </p:txBody>
      </p:sp>
      <p:cxnSp>
        <p:nvCxnSpPr>
          <p:cNvPr id="86" name="Connector 34"/>
          <p:cNvCxnSpPr>
            <a:stCxn id="18" idx="1"/>
            <a:endCxn id="8" idx="3"/>
          </p:cNvCxnSpPr>
          <p:nvPr/>
        </p:nvCxnSpPr>
        <p:spPr>
          <a:xfrm rot="10800000">
            <a:off x="3603650" y="6090682"/>
            <a:ext cx="960121" cy="1153699"/>
          </a:xfrm>
          <a:prstGeom prst="bentConnector3">
            <a:avLst>
              <a:gd name="adj1" fmla="val 69841"/>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2C0C00D4-3831-47EF-9E81-26F7104365F4}"/>
              </a:ext>
            </a:extLst>
          </p:cNvPr>
          <p:cNvSpPr>
            <a:spLocks noGrp="1"/>
          </p:cNvSpPr>
          <p:nvPr/>
        </p:nvSpPr>
        <p:spPr>
          <a:xfrm>
            <a:off x="3977843" y="7047995"/>
            <a:ext cx="471627" cy="138499"/>
          </a:xfrm>
          <a:prstGeom prst="rect">
            <a:avLst/>
          </a:prstGeom>
          <a:noFill/>
        </p:spPr>
        <p:txBody>
          <a:bodyPr wrap="square" lIns="45720" tIns="0" rIns="45720" bIns="0" anchor="t">
            <a:spAutoFit/>
          </a:bodyPr>
          <a:lstStyle/>
          <a:p>
            <a:pPr algn="l">
              <a:spcAft>
                <a:spcPts val="600"/>
              </a:spcAft>
              <a:buNone/>
            </a:pPr>
            <a:r>
              <a:rPr sz="900" b="0">
                <a:solidFill>
                  <a:srgbClr val="8C8C8C"/>
                </a:solidFill>
                <a:latin typeface="Arial"/>
                <a:ea typeface="Arial"/>
                <a:cs typeface="Arial"/>
              </a:rPr>
              <a:t>HTTPS</a:t>
            </a:r>
          </a:p>
        </p:txBody>
      </p:sp>
      <p:cxnSp>
        <p:nvCxnSpPr>
          <p:cNvPr id="88" name="Connector 36"/>
          <p:cNvCxnSpPr/>
          <p:nvPr/>
        </p:nvCxnSpPr>
        <p:spPr>
          <a:xfrm>
            <a:off x="3786530" y="7374636"/>
            <a:ext cx="548640" cy="372160"/>
          </a:xfrm>
          <a:prstGeom prst="bentConnector3">
            <a:avLst>
              <a:gd name="adj1" fmla="val 15278"/>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D65019E2-FF01-450C-BADC-F7DB5D8F73C4}"/>
              </a:ext>
            </a:extLst>
          </p:cNvPr>
          <p:cNvSpPr>
            <a:spLocks noGrp="1"/>
          </p:cNvSpPr>
          <p:nvPr/>
        </p:nvSpPr>
        <p:spPr>
          <a:xfrm>
            <a:off x="3892930" y="7528531"/>
            <a:ext cx="2194560" cy="256032"/>
          </a:xfrm>
          <a:prstGeom prst="rect">
            <a:avLst/>
          </a:prstGeom>
          <a:noFill/>
        </p:spPr>
        <p:txBody>
          <a:bodyPr wrap="square" lIns="45720" tIns="0" rIns="45720" bIns="0" anchor="t">
            <a:spAutoFit/>
          </a:bodyPr>
          <a:lstStyle/>
          <a:p>
            <a:pPr algn="l">
              <a:spcAft>
                <a:spcPts val="600"/>
              </a:spcAft>
              <a:buNone/>
            </a:pPr>
            <a:r>
              <a:rPr sz="900" b="0">
                <a:solidFill>
                  <a:srgbClr val="8C8C8C"/>
                </a:solidFill>
                <a:latin typeface="Arial"/>
                <a:ea typeface="Arial"/>
                <a:cs typeface="Arial"/>
              </a:rPr>
              <a:t>配信／利用ポリシー</a:t>
            </a:r>
          </a:p>
        </p:txBody>
      </p:sp>
      <p:cxnSp>
        <p:nvCxnSpPr>
          <p:cNvPr id="90" name="Connector 38"/>
          <p:cNvCxnSpPr/>
          <p:nvPr/>
        </p:nvCxnSpPr>
        <p:spPr>
          <a:xfrm rot="10800000">
            <a:off x="3811678" y="8256479"/>
            <a:ext cx="752092" cy="553873"/>
          </a:xfrm>
          <a:prstGeom prst="bentConnector3">
            <a:avLst>
              <a:gd name="adj1" fmla="val 78707"/>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4B185054-55AA-4010-93C7-121A21401241}"/>
              </a:ext>
            </a:extLst>
          </p:cNvPr>
          <p:cNvSpPr>
            <a:spLocks noGrp="1"/>
          </p:cNvSpPr>
          <p:nvPr/>
        </p:nvSpPr>
        <p:spPr>
          <a:xfrm>
            <a:off x="3951579" y="8647841"/>
            <a:ext cx="2377440" cy="256032"/>
          </a:xfrm>
          <a:prstGeom prst="rect">
            <a:avLst/>
          </a:prstGeom>
          <a:noFill/>
        </p:spPr>
        <p:txBody>
          <a:bodyPr wrap="square" lIns="45720" tIns="0" rIns="45720" bIns="0" anchor="t">
            <a:spAutoFit/>
          </a:bodyPr>
          <a:lstStyle/>
          <a:p>
            <a:pPr algn="l">
              <a:spcAft>
                <a:spcPts val="600"/>
              </a:spcAft>
              <a:buNone/>
            </a:pPr>
            <a:r>
              <a:rPr sz="900" b="0">
                <a:solidFill>
                  <a:srgbClr val="8C8C8C"/>
                </a:solidFill>
                <a:latin typeface="Arial"/>
                <a:ea typeface="Arial"/>
                <a:cs typeface="Arial"/>
              </a:rPr>
              <a:t>クラッシュ情報／運用ログ</a:t>
            </a:r>
          </a:p>
        </p:txBody>
      </p:sp>
      <p:cxnSp>
        <p:nvCxnSpPr>
          <p:cNvPr id="92" name="Connector 40"/>
          <p:cNvCxnSpPr>
            <a:stCxn id="19" idx="3"/>
            <a:endCxn id="29" idx="1"/>
          </p:cNvCxnSpPr>
          <p:nvPr/>
        </p:nvCxnSpPr>
        <p:spPr>
          <a:xfrm>
            <a:off x="8953804" y="7988701"/>
            <a:ext cx="1003097" cy="2501"/>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FB91CF14-3B02-49C0-B5D8-902A6C63D102}"/>
              </a:ext>
            </a:extLst>
          </p:cNvPr>
          <p:cNvSpPr>
            <a:spLocks noGrp="1"/>
          </p:cNvSpPr>
          <p:nvPr/>
        </p:nvSpPr>
        <p:spPr>
          <a:xfrm>
            <a:off x="9089668" y="7776949"/>
            <a:ext cx="1645920" cy="256032"/>
          </a:xfrm>
          <a:prstGeom prst="rect">
            <a:avLst/>
          </a:prstGeom>
          <a:noFill/>
        </p:spPr>
        <p:txBody>
          <a:bodyPr wrap="square" lIns="45720" tIns="0" rIns="45720" bIns="0" anchor="t">
            <a:spAutoFit/>
          </a:bodyPr>
          <a:lstStyle/>
          <a:p>
            <a:pPr algn="l">
              <a:spcAft>
                <a:spcPts val="600"/>
              </a:spcAft>
              <a:buNone/>
            </a:pPr>
            <a:r>
              <a:rPr sz="900" b="0">
                <a:solidFill>
                  <a:srgbClr val="8C8C8C"/>
                </a:solidFill>
                <a:latin typeface="Arial"/>
                <a:ea typeface="Arial"/>
                <a:cs typeface="Arial"/>
              </a:rPr>
              <a:t>名前付きパイプ</a:t>
            </a:r>
          </a:p>
        </p:txBody>
      </p:sp>
      <p:cxnSp>
        <p:nvCxnSpPr>
          <p:cNvPr id="94" name="Connector 42"/>
          <p:cNvCxnSpPr>
            <a:stCxn id="29" idx="3"/>
            <a:endCxn id="33" idx="1"/>
          </p:cNvCxnSpPr>
          <p:nvPr/>
        </p:nvCxnSpPr>
        <p:spPr>
          <a:xfrm flipV="1">
            <a:off x="12182550" y="7161216"/>
            <a:ext cx="786842" cy="829986"/>
          </a:xfrm>
          <a:prstGeom prst="bentConnector3">
            <a:avLst>
              <a:gd name="adj1" fmla="val 11263"/>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B8407565-6E80-4E55-AED9-5DFB0D055043}"/>
              </a:ext>
            </a:extLst>
          </p:cNvPr>
          <p:cNvSpPr>
            <a:spLocks noGrp="1"/>
          </p:cNvSpPr>
          <p:nvPr/>
        </p:nvSpPr>
        <p:spPr>
          <a:xfrm>
            <a:off x="11869826" y="6958558"/>
            <a:ext cx="2377440" cy="256032"/>
          </a:xfrm>
          <a:prstGeom prst="rect">
            <a:avLst/>
          </a:prstGeom>
          <a:noFill/>
        </p:spPr>
        <p:txBody>
          <a:bodyPr wrap="square" lIns="45720" tIns="0" rIns="45720" bIns="0" anchor="t">
            <a:spAutoFit/>
          </a:bodyPr>
          <a:lstStyle/>
          <a:p>
            <a:pPr algn="l">
              <a:spcAft>
                <a:spcPts val="600"/>
              </a:spcAft>
              <a:buNone/>
            </a:pPr>
            <a:r>
              <a:rPr sz="900" b="0">
                <a:solidFill>
                  <a:srgbClr val="8C8C8C"/>
                </a:solidFill>
                <a:latin typeface="Arial"/>
                <a:ea typeface="Arial"/>
                <a:cs typeface="Arial"/>
              </a:rPr>
              <a:t>OPOS／OCX／DLL</a:t>
            </a:r>
          </a:p>
        </p:txBody>
      </p:sp>
      <p:cxnSp>
        <p:nvCxnSpPr>
          <p:cNvPr id="96" name="Connector 45"/>
          <p:cNvCxnSpPr>
            <a:stCxn id="19" idx="3"/>
          </p:cNvCxnSpPr>
          <p:nvPr/>
        </p:nvCxnSpPr>
        <p:spPr>
          <a:xfrm flipV="1">
            <a:off x="8953804" y="6127897"/>
            <a:ext cx="3990442" cy="1860804"/>
          </a:xfrm>
          <a:prstGeom prst="bentConnector3">
            <a:avLst>
              <a:gd name="adj1" fmla="val 3534"/>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28D116B6-1D93-4013-B511-C48FD9F59859}"/>
              </a:ext>
            </a:extLst>
          </p:cNvPr>
          <p:cNvSpPr>
            <a:spLocks noGrp="1"/>
          </p:cNvSpPr>
          <p:nvPr/>
        </p:nvSpPr>
        <p:spPr>
          <a:xfrm>
            <a:off x="9649891" y="5899845"/>
            <a:ext cx="2926080" cy="274320"/>
          </a:xfrm>
          <a:prstGeom prst="rect">
            <a:avLst/>
          </a:prstGeom>
          <a:noFill/>
        </p:spPr>
        <p:txBody>
          <a:bodyPr wrap="square" lIns="45720" tIns="0" rIns="45720" bIns="0" anchor="t">
            <a:spAutoFit/>
          </a:bodyPr>
          <a:lstStyle/>
          <a:p>
            <a:pPr algn="ctr">
              <a:spcAft>
                <a:spcPts val="600"/>
              </a:spcAft>
              <a:buNone/>
            </a:pPr>
            <a:r>
              <a:rPr sz="1000" b="0">
                <a:solidFill>
                  <a:srgbClr val="8C8C8C"/>
                </a:solidFill>
                <a:latin typeface="Arial"/>
                <a:ea typeface="Arial"/>
                <a:cs typeface="Arial"/>
              </a:rPr>
              <a:t>シリアル通信／ロウインプット</a:t>
            </a:r>
          </a:p>
        </p:txBody>
      </p:sp>
      <p:cxnSp>
        <p:nvCxnSpPr>
          <p:cNvPr id="98" name="Connector 48"/>
          <p:cNvCxnSpPr>
            <a:stCxn id="19" idx="3"/>
            <a:endCxn id="34" idx="1"/>
          </p:cNvCxnSpPr>
          <p:nvPr/>
        </p:nvCxnSpPr>
        <p:spPr>
          <a:xfrm>
            <a:off x="8953804" y="7988701"/>
            <a:ext cx="4019703" cy="767410"/>
          </a:xfrm>
          <a:prstGeom prst="bentConnector3">
            <a:avLst>
              <a:gd name="adj1" fmla="val 3556"/>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680B232A-E24D-4472-BD39-4ABF91D03B55}"/>
              </a:ext>
            </a:extLst>
          </p:cNvPr>
          <p:cNvSpPr>
            <a:spLocks noGrp="1"/>
          </p:cNvSpPr>
          <p:nvPr/>
        </p:nvSpPr>
        <p:spPr>
          <a:xfrm>
            <a:off x="9365284" y="8499178"/>
            <a:ext cx="2926080" cy="274320"/>
          </a:xfrm>
          <a:prstGeom prst="rect">
            <a:avLst/>
          </a:prstGeom>
          <a:noFill/>
        </p:spPr>
        <p:txBody>
          <a:bodyPr wrap="square" lIns="45720" tIns="0" rIns="45720" bIns="0" anchor="t">
            <a:spAutoFit/>
          </a:bodyPr>
          <a:lstStyle/>
          <a:p>
            <a:pPr algn="ctr">
              <a:spcAft>
                <a:spcPts val="600"/>
              </a:spcAft>
              <a:buNone/>
            </a:pPr>
            <a:r>
              <a:rPr sz="1000" b="0">
                <a:solidFill>
                  <a:srgbClr val="8C8C8C"/>
                </a:solidFill>
                <a:latin typeface="Arial"/>
                <a:ea typeface="Arial"/>
                <a:cs typeface="Arial"/>
              </a:rPr>
              <a:t>カメラ／Bluetooth／SDK／OS標準API</a:t>
            </a:r>
          </a:p>
        </p:txBody>
      </p:sp>
      <p:sp>
        <p:nvSpPr>
          <p:cNvPr id="51" name="TextBox 50">
            <a:extLst>
              <a:ext uri="{FF2B5EF4-FFF2-40B4-BE49-F238E27FC236}">
                <a16:creationId xmlns:a16="http://schemas.microsoft.com/office/drawing/2014/main" id="{5E51ACE9-056F-46B6-8005-6D84758EAD15}"/>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ARCH-01 2.1–2.5、4.5.5、6.1、7.2–7.4、9.4、ARCH-DEVICE-01 7.1–7.4、ARCH-HOST-01 5.1、KSNEWSYS-309、KSNEWSYS-396、KSNEWSYS-426</a:t>
            </a:r>
          </a:p>
        </p:txBody>
      </p:sp>
      <p:pic>
        <p:nvPicPr>
          <p:cNvPr id="101" name="Picture 47"/>
          <p:cNvPicPr>
            <a:picLocks noChangeAspect="1"/>
          </p:cNvPicPr>
          <p:nvPr/>
        </p:nvPicPr>
        <p:blipFill>
          <a:blip r:embed="rId3"/>
          <a:stretch>
            <a:fillRect/>
          </a:stretch>
        </p:blipFill>
        <p:spPr>
          <a:xfrm>
            <a:off x="15046146" y="2911164"/>
            <a:ext cx="2124254" cy="2124254"/>
          </a:xfrm>
          <a:prstGeom prst="rect">
            <a:avLst/>
          </a:prstGeom>
        </p:spPr>
      </p:pic>
    </p:spTree>
    <p:extLst>
      <p:ext uri="{BB962C8B-B14F-4D97-AF65-F5344CB8AC3E}">
        <p14:creationId xmlns:p14="http://schemas.microsoft.com/office/powerpoint/2010/main" val="159286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879084-5FA5-4BE1-BE63-419AE4709558}"/>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プロセス構成と責務範囲</a:t>
            </a:r>
          </a:p>
        </p:txBody>
      </p:sp>
      <p:sp>
        <p:nvSpPr>
          <p:cNvPr id="3" name="Rounded Rectangle 2">
            <a:extLst>
              <a:ext uri="{FF2B5EF4-FFF2-40B4-BE49-F238E27FC236}">
                <a16:creationId xmlns:a16="http://schemas.microsoft.com/office/drawing/2014/main" id="{F5BD1D91-0C2D-471C-BA3C-C9763A1620E9}"/>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端末アプリは一つのMAUIプロセスで動作し、Windows POS向けの既存機器制御だけをデバイスコネクタへ分離します。</a:t>
            </a:r>
          </a:p>
        </p:txBody>
      </p:sp>
      <p:graphicFrame>
        <p:nvGraphicFramePr>
          <p:cNvPr id="9" name="Table 3"/>
          <p:cNvGraphicFramePr/>
          <p:nvPr/>
        </p:nvGraphicFramePr>
        <p:xfrm>
          <a:off x="621792" y="2926080"/>
          <a:ext cx="17190719" cy="2560320"/>
        </p:xfrm>
        <a:graphic>
          <a:graphicData uri="http://schemas.openxmlformats.org/drawingml/2006/table">
            <a:tbl>
              <a:tblPr firstRow="1" bandRow="1">
                <a:tableStyleId>{5C22544A-7EE6-4342-B048-85BDC9FD1C3A}</a:tableStyleId>
              </a:tblPr>
              <a:tblGrid>
                <a:gridCol w="3080171">
                  <a:extLst>
                    <a:ext uri="{9D8B030D-6E8A-4147-A177-3AD203B41FA5}">
                      <a16:colId xmlns:a16="http://schemas.microsoft.com/office/drawing/2014/main" val="20000"/>
                    </a:ext>
                  </a:extLst>
                </a:gridCol>
                <a:gridCol w="6873180">
                  <a:extLst>
                    <a:ext uri="{9D8B030D-6E8A-4147-A177-3AD203B41FA5}">
                      <a16:colId xmlns:a16="http://schemas.microsoft.com/office/drawing/2014/main" val="20001"/>
                    </a:ext>
                  </a:extLst>
                </a:gridCol>
                <a:gridCol w="7237368">
                  <a:extLst>
                    <a:ext uri="{9D8B030D-6E8A-4147-A177-3AD203B41FA5}">
                      <a16:colId xmlns:a16="http://schemas.microsoft.com/office/drawing/2014/main" val="20002"/>
                    </a:ext>
                  </a:extLst>
                </a:gridCol>
              </a:tblGrid>
              <a:tr h="365760">
                <a:tc>
                  <a:txBody>
                    <a:bodyPr/>
                    <a:lstStyle/>
                    <a:p>
                      <a:r>
                        <a:rPr sz="1400" b="1">
                          <a:solidFill>
                            <a:srgbClr val="FFFFFF"/>
                          </a:solidFill>
                          <a:latin typeface="Arial"/>
                          <a:ea typeface="Arial"/>
                          <a:cs typeface="Arial"/>
                        </a:rPr>
                        <a:t>範囲</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主な責務</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設計目的</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画面・アプリケーション</a:t>
                      </a:r>
                    </a:p>
                  </a:txBody>
                  <a:tcPr marL="64008" marR="64008" marT="27432" marB="27432" anchor="ctr">
                    <a:solidFill>
                      <a:srgbClr val="FFFFFF"/>
                    </a:solidFill>
                  </a:tcPr>
                </a:tc>
                <a:tc>
                  <a:txBody>
                    <a:bodyPr/>
                    <a:lstStyle/>
                    <a:p>
                      <a:r>
                        <a:rPr sz="1400">
                          <a:solidFill>
                            <a:srgbClr val="545454"/>
                          </a:solidFill>
                          <a:latin typeface="Arial"/>
                          <a:ea typeface="Arial"/>
                          <a:cs typeface="Arial"/>
                        </a:rPr>
                        <a:t>ビュー、ビューモデル、ユースケース、画面遷移</a:t>
                      </a:r>
                    </a:p>
                  </a:txBody>
                  <a:tcPr marL="64008" marR="64008" marT="27432" marB="27432" anchor="ctr">
                    <a:solidFill>
                      <a:srgbClr val="FFFFFF"/>
                    </a:solidFill>
                  </a:tcPr>
                </a:tc>
                <a:tc>
                  <a:txBody>
                    <a:bodyPr/>
                    <a:lstStyle/>
                    <a:p>
                      <a:r>
                        <a:rPr sz="1400">
                          <a:solidFill>
                            <a:srgbClr val="545454"/>
                          </a:solidFill>
                          <a:latin typeface="Arial"/>
                          <a:ea typeface="Arial"/>
                          <a:cs typeface="Arial"/>
                        </a:rPr>
                        <a:t>表示と処理を分ける</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デバイス制御</a:t>
                      </a:r>
                    </a:p>
                  </a:txBody>
                  <a:tcPr marL="64008" marR="64008" marT="27432" marB="27432" anchor="ctr">
                    <a:solidFill>
                      <a:srgbClr val="F7F7F7"/>
                    </a:solidFill>
                  </a:tcPr>
                </a:tc>
                <a:tc>
                  <a:txBody>
                    <a:bodyPr/>
                    <a:lstStyle/>
                    <a:p>
                      <a:r>
                        <a:rPr sz="1400">
                          <a:solidFill>
                            <a:srgbClr val="545454"/>
                          </a:solidFill>
                          <a:latin typeface="Arial"/>
                          <a:ea typeface="Arial"/>
                          <a:cs typeface="Arial"/>
                        </a:rPr>
                        <a:t>設定、機器選択、デバイス制御インターフェース、接続方式別実装</a:t>
                      </a:r>
                    </a:p>
                  </a:txBody>
                  <a:tcPr marL="64008" marR="64008" marT="27432" marB="27432" anchor="ctr">
                    <a:solidFill>
                      <a:srgbClr val="F7F7F7"/>
                    </a:solidFill>
                  </a:tcPr>
                </a:tc>
                <a:tc>
                  <a:txBody>
                    <a:bodyPr/>
                    <a:lstStyle/>
                    <a:p>
                      <a:r>
                        <a:rPr sz="1400">
                          <a:solidFill>
                            <a:srgbClr val="545454"/>
                          </a:solidFill>
                          <a:latin typeface="Arial"/>
                          <a:ea typeface="Arial"/>
                          <a:cs typeface="Arial"/>
                        </a:rPr>
                        <a:t>機器や接続方式の差分を吸収する</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共通基盤・構成</a:t>
                      </a:r>
                    </a:p>
                  </a:txBody>
                  <a:tcPr marL="64008" marR="64008" marT="27432" marB="27432" anchor="ctr">
                    <a:solidFill>
                      <a:srgbClr val="FFFFFF"/>
                    </a:solidFill>
                  </a:tcPr>
                </a:tc>
                <a:tc>
                  <a:txBody>
                    <a:bodyPr/>
                    <a:lstStyle/>
                    <a:p>
                      <a:r>
                        <a:rPr sz="1400">
                          <a:solidFill>
                            <a:srgbClr val="545454"/>
                          </a:solidFill>
                          <a:latin typeface="Arial"/>
                          <a:ea typeface="Arial"/>
                          <a:cs typeface="Arial"/>
                        </a:rPr>
                        <a:t>ログ、監視、画面状態、依存性注入、ライフサイクル</a:t>
                      </a:r>
                    </a:p>
                  </a:txBody>
                  <a:tcPr marL="64008" marR="64008" marT="27432" marB="27432" anchor="ctr">
                    <a:solidFill>
                      <a:srgbClr val="FFFFFF"/>
                    </a:solidFill>
                  </a:tcPr>
                </a:tc>
                <a:tc>
                  <a:txBody>
                    <a:bodyPr/>
                    <a:lstStyle/>
                    <a:p>
                      <a:r>
                        <a:rPr sz="1400">
                          <a:solidFill>
                            <a:srgbClr val="545454"/>
                          </a:solidFill>
                          <a:latin typeface="Arial"/>
                          <a:ea typeface="Arial"/>
                          <a:cs typeface="Arial"/>
                        </a:rPr>
                        <a:t>共通機能と初期化を一か所で管理する</a:t>
                      </a:r>
                    </a:p>
                  </a:txBody>
                  <a:tcPr marL="64008" marR="64008" marT="27432" marB="27432" anchor="ctr">
                    <a:solidFill>
                      <a:srgbClr val="FFFFFF"/>
                    </a:solidFill>
                  </a:tcPr>
                </a:tc>
                <a:extLst>
                  <a:ext uri="{0D108BD9-81ED-4DB2-BD59-A6C34878D82A}">
                    <a16:rowId xmlns:a16="http://schemas.microsoft.com/office/drawing/2014/main" val="10003"/>
                  </a:ext>
                </a:extLst>
              </a:tr>
              <a:tr h="365760">
                <a:tc>
                  <a:txBody>
                    <a:bodyPr/>
                    <a:lstStyle/>
                    <a:p>
                      <a:r>
                        <a:rPr sz="1400">
                          <a:solidFill>
                            <a:srgbClr val="545454"/>
                          </a:solidFill>
                          <a:latin typeface="Arial"/>
                          <a:ea typeface="Arial"/>
                          <a:cs typeface="Arial"/>
                        </a:rPr>
                        <a:t>デバイスコネクタ</a:t>
                      </a:r>
                    </a:p>
                  </a:txBody>
                  <a:tcPr marL="64008" marR="64008" marT="27432" marB="27432" anchor="ctr">
                    <a:solidFill>
                      <a:srgbClr val="F7F7F7"/>
                    </a:solidFill>
                  </a:tcPr>
                </a:tc>
                <a:tc>
                  <a:txBody>
                    <a:bodyPr/>
                    <a:lstStyle/>
                    <a:p>
                      <a:r>
                        <a:rPr sz="1400">
                          <a:solidFill>
                            <a:srgbClr val="545454"/>
                          </a:solidFill>
                          <a:latin typeface="Arial"/>
                          <a:ea typeface="Arial"/>
                          <a:cs typeface="Arial"/>
                        </a:rPr>
                        <a:t>要求受付、機器管理、OPOS／OCX／DLL呼出し</a:t>
                      </a:r>
                    </a:p>
                  </a:txBody>
                  <a:tcPr marL="64008" marR="64008" marT="27432" marB="27432" anchor="ctr">
                    <a:solidFill>
                      <a:srgbClr val="F7F7F7"/>
                    </a:solidFill>
                  </a:tcPr>
                </a:tc>
                <a:tc>
                  <a:txBody>
                    <a:bodyPr/>
                    <a:lstStyle/>
                    <a:p>
                      <a:r>
                        <a:rPr sz="1400">
                          <a:solidFill>
                            <a:srgbClr val="545454"/>
                          </a:solidFill>
                          <a:latin typeface="Arial"/>
                          <a:ea typeface="Arial"/>
                          <a:cs typeface="Arial"/>
                        </a:rPr>
                        <a:t>既存の機器制御資産をWindows POSの別プロセスへ分離する</a:t>
                      </a:r>
                    </a:p>
                  </a:txBody>
                  <a:tcPr marL="64008" marR="64008" marT="27432" marB="27432" anchor="ctr">
                    <a:solidFill>
                      <a:srgbClr val="F7F7F7"/>
                    </a:solidFill>
                  </a:tcPr>
                </a:tc>
                <a:extLst>
                  <a:ext uri="{0D108BD9-81ED-4DB2-BD59-A6C34878D82A}">
                    <a16:rowId xmlns:a16="http://schemas.microsoft.com/office/drawing/2014/main" val="10004"/>
                  </a:ext>
                </a:extLst>
              </a:tr>
              <a:tr h="365760">
                <a:tc>
                  <a:txBody>
                    <a:bodyPr/>
                    <a:lstStyle/>
                    <a:p>
                      <a:r>
                        <a:rPr sz="1400">
                          <a:solidFill>
                            <a:srgbClr val="545454"/>
                          </a:solidFill>
                          <a:latin typeface="Arial"/>
                          <a:ea typeface="Arial"/>
                          <a:cs typeface="Arial"/>
                        </a:rPr>
                        <a:t>サーバー側サービス</a:t>
                      </a:r>
                    </a:p>
                  </a:txBody>
                  <a:tcPr marL="64008" marR="64008" marT="27432" marB="27432" anchor="ctr">
                    <a:solidFill>
                      <a:srgbClr val="FFFFFF"/>
                    </a:solidFill>
                  </a:tcPr>
                </a:tc>
                <a:tc>
                  <a:txBody>
                    <a:bodyPr/>
                    <a:lstStyle/>
                    <a:p>
                      <a:r>
                        <a:rPr sz="1400">
                          <a:solidFill>
                            <a:srgbClr val="545454"/>
                          </a:solidFill>
                          <a:latin typeface="Arial"/>
                          <a:ea typeface="Arial"/>
                          <a:cs typeface="Arial"/>
                        </a:rPr>
                        <a:t>認証、業務API、マスターデータ、取引データ</a:t>
                      </a:r>
                    </a:p>
                  </a:txBody>
                  <a:tcPr marL="64008" marR="64008" marT="27432" marB="27432" anchor="ctr">
                    <a:solidFill>
                      <a:srgbClr val="FFFFFF"/>
                    </a:solidFill>
                  </a:tcPr>
                </a:tc>
                <a:tc>
                  <a:txBody>
                    <a:bodyPr/>
                    <a:lstStyle/>
                    <a:p>
                      <a:r>
                        <a:rPr sz="1400">
                          <a:solidFill>
                            <a:srgbClr val="545454"/>
                          </a:solidFill>
                          <a:latin typeface="Arial"/>
                          <a:ea typeface="Arial"/>
                          <a:cs typeface="Arial"/>
                        </a:rPr>
                        <a:t>業務ルールと正となるデータを端末から分離する</a:t>
                      </a:r>
                    </a:p>
                  </a:txBody>
                  <a:tcPr marL="64008" marR="64008" marT="27432" marB="27432" anchor="ctr">
                    <a:solidFill>
                      <a:srgbClr val="FFFFFF"/>
                    </a:solidFill>
                  </a:tcPr>
                </a:tc>
                <a:extLst>
                  <a:ext uri="{0D108BD9-81ED-4DB2-BD59-A6C34878D82A}">
                    <a16:rowId xmlns:a16="http://schemas.microsoft.com/office/drawing/2014/main" val="10005"/>
                  </a:ext>
                </a:extLst>
              </a:tr>
              <a:tr h="365760">
                <a:tc>
                  <a:txBody>
                    <a:bodyPr/>
                    <a:lstStyle/>
                    <a:p>
                      <a:r>
                        <a:rPr sz="1400">
                          <a:solidFill>
                            <a:srgbClr val="545454"/>
                          </a:solidFill>
                          <a:latin typeface="Arial"/>
                          <a:ea typeface="Arial"/>
                          <a:cs typeface="Arial"/>
                        </a:rPr>
                        <a:t>運用基盤</a:t>
                      </a:r>
                    </a:p>
                  </a:txBody>
                  <a:tcPr marL="64008" marR="64008" marT="27432" marB="27432" anchor="ctr">
                    <a:solidFill>
                      <a:srgbClr val="F7F7F7"/>
                    </a:solidFill>
                  </a:tcPr>
                </a:tc>
                <a:tc>
                  <a:txBody>
                    <a:bodyPr/>
                    <a:lstStyle/>
                    <a:p>
                      <a:r>
                        <a:rPr sz="1400">
                          <a:solidFill>
                            <a:srgbClr val="545454"/>
                          </a:solidFill>
                          <a:latin typeface="Arial"/>
                          <a:ea typeface="Arial"/>
                          <a:cs typeface="Arial"/>
                        </a:rPr>
                        <a:t>アプリ配信、バージョン管理、クラッシュ監視、ログ保管</a:t>
                      </a:r>
                    </a:p>
                  </a:txBody>
                  <a:tcPr marL="64008" marR="64008" marT="27432" marB="27432" anchor="ctr">
                    <a:solidFill>
                      <a:srgbClr val="F7F7F7"/>
                    </a:solidFill>
                  </a:tcPr>
                </a:tc>
                <a:tc>
                  <a:txBody>
                    <a:bodyPr/>
                    <a:lstStyle/>
                    <a:p>
                      <a:r>
                        <a:rPr sz="1400">
                          <a:solidFill>
                            <a:srgbClr val="545454"/>
                          </a:solidFill>
                          <a:latin typeface="Arial"/>
                          <a:ea typeface="Arial"/>
                          <a:cs typeface="Arial"/>
                        </a:rPr>
                        <a:t>端末の運用状態と更新を一元管理する</a:t>
                      </a:r>
                    </a:p>
                  </a:txBody>
                  <a:tcPr marL="64008" marR="64008" marT="27432" marB="27432" anchor="ctr">
                    <a:solidFill>
                      <a:srgbClr val="F7F7F7"/>
                    </a:solidFill>
                  </a:tcPr>
                </a:tc>
                <a:extLst>
                  <a:ext uri="{0D108BD9-81ED-4DB2-BD59-A6C34878D82A}">
                    <a16:rowId xmlns:a16="http://schemas.microsoft.com/office/drawing/2014/main" val="10006"/>
                  </a:ext>
                </a:extLst>
              </a:tr>
            </a:tbl>
          </a:graphicData>
        </a:graphic>
      </p:graphicFrame>
      <p:sp>
        <p:nvSpPr>
          <p:cNvPr id="5" name="TextBox 4">
            <a:extLst>
              <a:ext uri="{FF2B5EF4-FFF2-40B4-BE49-F238E27FC236}">
                <a16:creationId xmlns:a16="http://schemas.microsoft.com/office/drawing/2014/main" id="{5A66327B-5E6A-4D26-92A0-90B42955215B}"/>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ARCH-01 2.5、7.1、8.2、9.4、ARCH-02 2.2、ARCH-HOST-01 2.2、KSNEWSYS-309、KSNEWSYS-396、KSNEWSYS-426</a:t>
            </a:r>
          </a:p>
        </p:txBody>
      </p:sp>
    </p:spTree>
    <p:extLst>
      <p:ext uri="{BB962C8B-B14F-4D97-AF65-F5344CB8AC3E}">
        <p14:creationId xmlns:p14="http://schemas.microsoft.com/office/powerpoint/2010/main" val="1009648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0D48CC-2517-46AE-82A4-C146E16EBE35}"/>
              </a:ext>
            </a:extLst>
          </p:cNvPr>
          <p:cNvSpPr>
            <a:spLocks noGrp="1"/>
          </p:cNvSpPr>
          <p:nvPr/>
        </p:nvSpPr>
        <p:spPr>
          <a:xfrm>
            <a:off x="1828800" y="3291840"/>
            <a:ext cx="14630400" cy="822960"/>
          </a:xfrm>
          <a:prstGeom prst="rect">
            <a:avLst/>
          </a:prstGeom>
          <a:noFill/>
        </p:spPr>
        <p:txBody>
          <a:bodyPr wrap="square" lIns="45720" tIns="0" rIns="45720" bIns="0" anchor="t">
            <a:spAutoFit/>
          </a:bodyPr>
          <a:lstStyle/>
          <a:p>
            <a:pPr algn="ctr">
              <a:spcAft>
                <a:spcPts val="600"/>
              </a:spcAft>
              <a:buNone/>
            </a:pPr>
            <a:r>
              <a:rPr sz="3000" b="1">
                <a:solidFill>
                  <a:srgbClr val="8C8C8C"/>
                </a:solidFill>
                <a:latin typeface="Arial"/>
                <a:ea typeface="Arial"/>
                <a:cs typeface="Arial"/>
              </a:rPr>
              <a:t>第2</a:t>
            </a:r>
          </a:p>
        </p:txBody>
      </p:sp>
      <p:sp>
        <p:nvSpPr>
          <p:cNvPr id="3" name="TextBox 2">
            <a:extLst>
              <a:ext uri="{FF2B5EF4-FFF2-40B4-BE49-F238E27FC236}">
                <a16:creationId xmlns:a16="http://schemas.microsoft.com/office/drawing/2014/main" id="{55028F99-E5DF-4B85-9087-EF150F18CB53}"/>
              </a:ext>
            </a:extLst>
          </p:cNvPr>
          <p:cNvSpPr>
            <a:spLocks noGrp="1"/>
          </p:cNvSpPr>
          <p:nvPr/>
        </p:nvSpPr>
        <p:spPr>
          <a:xfrm>
            <a:off x="1828800" y="4023360"/>
            <a:ext cx="14630400" cy="1280160"/>
          </a:xfrm>
          <a:prstGeom prst="rect">
            <a:avLst/>
          </a:prstGeom>
          <a:noFill/>
        </p:spPr>
        <p:txBody>
          <a:bodyPr wrap="square" lIns="45720" tIns="0" rIns="45720" bIns="0" anchor="t">
            <a:spAutoFit/>
          </a:bodyPr>
          <a:lstStyle/>
          <a:p>
            <a:pPr algn="ctr">
              <a:spcAft>
                <a:spcPts val="600"/>
              </a:spcAft>
              <a:buNone/>
            </a:pPr>
            <a:r>
              <a:rPr sz="5800" b="1">
                <a:solidFill>
                  <a:srgbClr val="545454"/>
                </a:solidFill>
                <a:latin typeface="Arial"/>
                <a:ea typeface="Arial"/>
                <a:cs typeface="Arial"/>
              </a:rPr>
              <a:t>端末アプリケーション</a:t>
            </a:r>
          </a:p>
        </p:txBody>
      </p:sp>
      <p:sp>
        <p:nvSpPr>
          <p:cNvPr id="4" name="TextBox 3">
            <a:extLst>
              <a:ext uri="{FF2B5EF4-FFF2-40B4-BE49-F238E27FC236}">
                <a16:creationId xmlns:a16="http://schemas.microsoft.com/office/drawing/2014/main" id="{7CA94467-765F-4EF9-9C75-24FBA2919AA8}"/>
              </a:ext>
            </a:extLst>
          </p:cNvPr>
          <p:cNvSpPr>
            <a:spLocks noGrp="1"/>
          </p:cNvSpPr>
          <p:nvPr/>
        </p:nvSpPr>
        <p:spPr>
          <a:xfrm>
            <a:off x="1828800" y="5481320"/>
            <a:ext cx="14630400" cy="548640"/>
          </a:xfrm>
          <a:prstGeom prst="rect">
            <a:avLst/>
          </a:prstGeom>
          <a:noFill/>
        </p:spPr>
        <p:txBody>
          <a:bodyPr wrap="square" lIns="45720" tIns="0" rIns="45720" bIns="0" anchor="t">
            <a:spAutoFit/>
          </a:bodyPr>
          <a:lstStyle/>
          <a:p>
            <a:pPr algn="ctr">
              <a:spcAft>
                <a:spcPts val="600"/>
              </a:spcAft>
              <a:buNone/>
            </a:pPr>
            <a:r>
              <a:rPr sz="2200" b="0">
                <a:solidFill>
                  <a:srgbClr val="545454"/>
                </a:solidFill>
                <a:latin typeface="Arial"/>
                <a:ea typeface="Arial"/>
                <a:cs typeface="Arial"/>
              </a:rPr>
              <a:t>端末アプリの構造、表示、共通基盤およびデータ保護の方針を説明します。</a:t>
            </a:r>
          </a:p>
        </p:txBody>
      </p:sp>
      <p:sp>
        <p:nvSpPr>
          <p:cNvPr id="5" name="TextBox 4">
            <a:extLst>
              <a:ext uri="{FF2B5EF4-FFF2-40B4-BE49-F238E27FC236}">
                <a16:creationId xmlns:a16="http://schemas.microsoft.com/office/drawing/2014/main" id="{69F46214-3C6D-4D24-A12D-484DDAA0C808}"/>
              </a:ext>
            </a:extLst>
          </p:cNvPr>
          <p:cNvSpPr>
            <a:spLocks noGrp="1"/>
          </p:cNvSpPr>
          <p:nvPr/>
        </p:nvSpPr>
        <p:spPr>
          <a:xfrm>
            <a:off x="5303520" y="6248400"/>
            <a:ext cx="7680960" cy="365760"/>
          </a:xfrm>
          <a:prstGeom prst="rect">
            <a:avLst/>
          </a:prstGeom>
          <a:noFill/>
        </p:spPr>
        <p:txBody>
          <a:bodyPr wrap="square" lIns="0" tIns="0" rIns="0" bIns="0">
            <a:spAutoFit/>
          </a:bodyPr>
          <a:lstStyle/>
          <a:p>
            <a:pPr>
              <a:spcAft>
                <a:spcPts val="800"/>
              </a:spcAft>
              <a:buNone/>
            </a:pPr>
            <a:r>
              <a:rPr sz="1600">
                <a:solidFill>
                  <a:srgbClr val="545454"/>
                </a:solidFill>
                <a:latin typeface="Arial"/>
                <a:ea typeface="Arial"/>
                <a:cs typeface="Arial"/>
              </a:rPr>
              <a:t>•  スライド8 — 端末アプリの責務分担</a:t>
            </a:r>
          </a:p>
          <a:p>
            <a:pPr>
              <a:spcAft>
                <a:spcPts val="800"/>
              </a:spcAft>
              <a:buNone/>
            </a:pPr>
            <a:r>
              <a:rPr sz="1600">
                <a:solidFill>
                  <a:srgbClr val="545454"/>
                </a:solidFill>
                <a:latin typeface="Arial"/>
                <a:ea typeface="Arial"/>
                <a:cs typeface="Arial"/>
              </a:rPr>
              <a:t>•  スライド9 — 責務と変更影響範囲</a:t>
            </a:r>
          </a:p>
          <a:p>
            <a:pPr>
              <a:spcAft>
                <a:spcPts val="800"/>
              </a:spcAft>
              <a:buNone/>
            </a:pPr>
            <a:r>
              <a:rPr sz="1600">
                <a:solidFill>
                  <a:srgbClr val="545454"/>
                </a:solidFill>
                <a:latin typeface="Arial"/>
                <a:ea typeface="Arial"/>
                <a:cs typeface="Arial"/>
              </a:rPr>
              <a:t>•  スライド10 — 画面のMVVM・レイヤ構成</a:t>
            </a:r>
          </a:p>
          <a:p>
            <a:pPr>
              <a:spcAft>
                <a:spcPts val="800"/>
              </a:spcAft>
              <a:buNone/>
            </a:pPr>
            <a:r>
              <a:rPr sz="1600">
                <a:solidFill>
                  <a:srgbClr val="545454"/>
                </a:solidFill>
                <a:latin typeface="Arial"/>
                <a:ea typeface="Arial"/>
                <a:cs typeface="Arial"/>
              </a:rPr>
              <a:t>•  スライド11 — 対応端末とレスポンシブ表示方針</a:t>
            </a:r>
          </a:p>
          <a:p>
            <a:pPr>
              <a:spcAft>
                <a:spcPts val="800"/>
              </a:spcAft>
              <a:buNone/>
            </a:pPr>
            <a:r>
              <a:rPr sz="1600">
                <a:solidFill>
                  <a:srgbClr val="545454"/>
                </a:solidFill>
                <a:latin typeface="Arial"/>
                <a:ea typeface="Arial"/>
                <a:cs typeface="Arial"/>
              </a:rPr>
              <a:t>•  スライド12 — 端末アプリの依存方向</a:t>
            </a:r>
          </a:p>
          <a:p>
            <a:pPr>
              <a:spcAft>
                <a:spcPts val="800"/>
              </a:spcAft>
              <a:buNone/>
            </a:pPr>
            <a:r>
              <a:rPr sz="1600">
                <a:solidFill>
                  <a:srgbClr val="545454"/>
                </a:solidFill>
                <a:latin typeface="Arial"/>
                <a:ea typeface="Arial"/>
                <a:cs typeface="Arial"/>
              </a:rPr>
              <a:t>•  スライド13 — 画面操作から機器制御までの処理フロー</a:t>
            </a:r>
          </a:p>
          <a:p>
            <a:pPr>
              <a:spcAft>
                <a:spcPts val="800"/>
              </a:spcAft>
              <a:buNone/>
            </a:pPr>
            <a:r>
              <a:rPr sz="1600">
                <a:solidFill>
                  <a:srgbClr val="545454"/>
                </a:solidFill>
                <a:latin typeface="Arial"/>
                <a:ea typeface="Arial"/>
                <a:cs typeface="Arial"/>
              </a:rPr>
              <a:t>•  スライド14 — アプリ起動・認証・状態復元</a:t>
            </a:r>
          </a:p>
          <a:p>
            <a:pPr>
              <a:spcAft>
                <a:spcPts val="800"/>
              </a:spcAft>
              <a:buNone/>
            </a:pPr>
            <a:r>
              <a:rPr sz="1600">
                <a:solidFill>
                  <a:srgbClr val="545454"/>
                </a:solidFill>
                <a:latin typeface="Arial"/>
                <a:ea typeface="Arial"/>
                <a:cs typeface="Arial"/>
              </a:rPr>
              <a:t>•  スライド15 — 共通基盤とアプリライフサイクル</a:t>
            </a:r>
          </a:p>
          <a:p>
            <a:pPr>
              <a:spcAft>
                <a:spcPts val="800"/>
              </a:spcAft>
              <a:buNone/>
            </a:pPr>
            <a:r>
              <a:rPr sz="1600">
                <a:solidFill>
                  <a:srgbClr val="545454"/>
                </a:solidFill>
                <a:latin typeface="Arial"/>
                <a:ea typeface="Arial"/>
                <a:cs typeface="Arial"/>
              </a:rPr>
              <a:t>•  スライド16 — 端末内データの暗号化と鍵管理</a:t>
            </a:r>
          </a:p>
          <a:p>
            <a:pPr>
              <a:spcAft>
                <a:spcPts val="800"/>
              </a:spcAft>
              <a:buNone/>
            </a:pPr>
            <a:r>
              <a:rPr sz="1600">
                <a:solidFill>
                  <a:srgbClr val="545454"/>
                </a:solidFill>
                <a:latin typeface="Arial"/>
                <a:ea typeface="Arial"/>
                <a:cs typeface="Arial"/>
              </a:rPr>
              <a:t>•  スライド17 — ログ収集・監視・機微情報保護</a:t>
            </a:r>
          </a:p>
        </p:txBody>
      </p:sp>
    </p:spTree>
    <p:extLst>
      <p:ext uri="{BB962C8B-B14F-4D97-AF65-F5344CB8AC3E}">
        <p14:creationId xmlns:p14="http://schemas.microsoft.com/office/powerpoint/2010/main" val="1940915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42F04C-8D5C-4DE5-8B38-13FB56F7CF7E}"/>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端末アプリの責務分担</a:t>
            </a:r>
          </a:p>
        </p:txBody>
      </p:sp>
      <p:sp>
        <p:nvSpPr>
          <p:cNvPr id="3" name="Rounded Rectangle 2">
            <a:extLst>
              <a:ext uri="{FF2B5EF4-FFF2-40B4-BE49-F238E27FC236}">
                <a16:creationId xmlns:a16="http://schemas.microsoft.com/office/drawing/2014/main" id="{352DE16E-254E-4FA4-B0F1-86AD3D21B778}"/>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端末アプリの内部を画面・アプリケーション、デバイス制御および共通基盤・構成の三つの責務領域に分けます。</a:t>
            </a:r>
          </a:p>
        </p:txBody>
      </p:sp>
      <p:sp>
        <p:nvSpPr>
          <p:cNvPr id="4" name="TextBox 3">
            <a:extLst>
              <a:ext uri="{FF2B5EF4-FFF2-40B4-BE49-F238E27FC236}">
                <a16:creationId xmlns:a16="http://schemas.microsoft.com/office/drawing/2014/main" id="{7D8A0181-BB86-46F0-8E49-F6A3A5A05043}"/>
              </a:ext>
            </a:extLst>
          </p:cNvPr>
          <p:cNvSpPr>
            <a:spLocks noGrp="1"/>
          </p:cNvSpPr>
          <p:nvPr/>
        </p:nvSpPr>
        <p:spPr>
          <a:xfrm>
            <a:off x="594360" y="292608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責務領域</a:t>
            </a:r>
          </a:p>
        </p:txBody>
      </p:sp>
      <p:sp>
        <p:nvSpPr>
          <p:cNvPr id="5" name="TextBox 4">
            <a:extLst>
              <a:ext uri="{FF2B5EF4-FFF2-40B4-BE49-F238E27FC236}">
                <a16:creationId xmlns:a16="http://schemas.microsoft.com/office/drawing/2014/main" id="{ED9B9650-0B1F-45F1-842F-10D54D58C7E0}"/>
              </a:ext>
            </a:extLst>
          </p:cNvPr>
          <p:cNvSpPr>
            <a:spLocks noGrp="1"/>
          </p:cNvSpPr>
          <p:nvPr/>
        </p:nvSpPr>
        <p:spPr>
          <a:xfrm>
            <a:off x="685800" y="340156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画面・アプリケーション：ビュー、ビューモデル、アプリケーション処理、画面遷移</a:t>
            </a:r>
          </a:p>
          <a:p>
            <a:pPr>
              <a:spcAft>
                <a:spcPts val="500"/>
              </a:spcAft>
              <a:buNone/>
            </a:pPr>
            <a:r>
              <a:rPr sz="1700">
                <a:solidFill>
                  <a:srgbClr val="545454"/>
                </a:solidFill>
                <a:latin typeface="Arial"/>
                <a:ea typeface="Arial"/>
                <a:cs typeface="Arial"/>
              </a:rPr>
              <a:t>•  デバイス制御：DeviceManager、設定、デバイス制御インターフェース、StrategyFactory、OS別の接続方式別実装</a:t>
            </a:r>
          </a:p>
          <a:p>
            <a:pPr>
              <a:spcAft>
                <a:spcPts val="500"/>
              </a:spcAft>
              <a:buNone/>
            </a:pPr>
            <a:r>
              <a:rPr sz="1700">
                <a:solidFill>
                  <a:srgbClr val="545454"/>
                </a:solidFill>
                <a:latin typeface="Arial"/>
                <a:ea typeface="Arial"/>
                <a:cs typeface="Arial"/>
              </a:rPr>
              <a:t>•  共通基盤・構成：TabletPos.Core、依存性注入、アプリライフサイクル、デバイスコネクタのプロセス管理</a:t>
            </a:r>
          </a:p>
        </p:txBody>
      </p:sp>
      <p:sp>
        <p:nvSpPr>
          <p:cNvPr id="6" name="TextBox 5">
            <a:extLst>
              <a:ext uri="{FF2B5EF4-FFF2-40B4-BE49-F238E27FC236}">
                <a16:creationId xmlns:a16="http://schemas.microsoft.com/office/drawing/2014/main" id="{FF3DC93E-B01C-479C-AFA4-70425AC37CCF}"/>
              </a:ext>
            </a:extLst>
          </p:cNvPr>
          <p:cNvSpPr>
            <a:spLocks noGrp="1"/>
          </p:cNvSpPr>
          <p:nvPr/>
        </p:nvSpPr>
        <p:spPr>
          <a:xfrm>
            <a:off x="594360" y="4498848"/>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効果</a:t>
            </a:r>
          </a:p>
        </p:txBody>
      </p:sp>
      <p:sp>
        <p:nvSpPr>
          <p:cNvPr id="7" name="TextBox 6">
            <a:extLst>
              <a:ext uri="{FF2B5EF4-FFF2-40B4-BE49-F238E27FC236}">
                <a16:creationId xmlns:a16="http://schemas.microsoft.com/office/drawing/2014/main" id="{5C3C4867-6645-4169-806E-7CE109FA8F58}"/>
              </a:ext>
            </a:extLst>
          </p:cNvPr>
          <p:cNvSpPr>
            <a:spLocks noGrp="1"/>
          </p:cNvSpPr>
          <p:nvPr/>
        </p:nvSpPr>
        <p:spPr>
          <a:xfrm>
            <a:off x="685800" y="4974336"/>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画面変更による機器選択への影響を抑えます。</a:t>
            </a:r>
          </a:p>
          <a:p>
            <a:pPr>
              <a:spcAft>
                <a:spcPts val="500"/>
              </a:spcAft>
              <a:buNone/>
            </a:pPr>
            <a:r>
              <a:rPr sz="1700">
                <a:solidFill>
                  <a:srgbClr val="545454"/>
                </a:solidFill>
                <a:latin typeface="Arial"/>
                <a:ea typeface="Arial"/>
                <a:cs typeface="Arial"/>
              </a:rPr>
              <a:t>•  機器変更時も、ビューモデルは個別の実装クラスを意識しません。</a:t>
            </a:r>
          </a:p>
          <a:p>
            <a:pPr>
              <a:spcAft>
                <a:spcPts val="500"/>
              </a:spcAft>
              <a:buNone/>
            </a:pPr>
            <a:r>
              <a:rPr sz="1700">
                <a:solidFill>
                  <a:srgbClr val="545454"/>
                </a:solidFill>
                <a:latin typeface="Arial"/>
                <a:ea typeface="Arial"/>
                <a:cs typeface="Arial"/>
              </a:rPr>
              <a:t>•  ログと画面状態保存の共通実装をTabletPos.Coreへ集約します。</a:t>
            </a:r>
          </a:p>
        </p:txBody>
      </p:sp>
      <p:sp>
        <p:nvSpPr>
          <p:cNvPr id="8" name="TextBox 7">
            <a:extLst>
              <a:ext uri="{FF2B5EF4-FFF2-40B4-BE49-F238E27FC236}">
                <a16:creationId xmlns:a16="http://schemas.microsoft.com/office/drawing/2014/main" id="{D3BDB0A0-5A43-4B97-9A33-2215ED380653}"/>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ARCH-01 2.5、3.1、7.1、ARCH-02 2.1–2.3</a:t>
            </a:r>
          </a:p>
        </p:txBody>
      </p:sp>
    </p:spTree>
    <p:extLst>
      <p:ext uri="{BB962C8B-B14F-4D97-AF65-F5344CB8AC3E}">
        <p14:creationId xmlns:p14="http://schemas.microsoft.com/office/powerpoint/2010/main" val="1805389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E7D371-F838-4025-ACE0-8D4B96C5D83C}"/>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責務と変更影響範囲</a:t>
            </a:r>
          </a:p>
        </p:txBody>
      </p:sp>
      <p:sp>
        <p:nvSpPr>
          <p:cNvPr id="3" name="Rounded Rectangle 2">
            <a:extLst>
              <a:ext uri="{FF2B5EF4-FFF2-40B4-BE49-F238E27FC236}">
                <a16:creationId xmlns:a16="http://schemas.microsoft.com/office/drawing/2014/main" id="{513CD944-F9BE-4D73-90CB-8A089C923747}"/>
              </a:ext>
            </a:extLst>
          </p:cNvPr>
          <p:cNvSpPr>
            <a:spLocks noGrp="1"/>
          </p:cNvSpPr>
          <p:nvPr/>
        </p:nvSpPr>
        <p:spPr>
          <a:xfrm>
            <a:off x="548640" y="1371600"/>
            <a:ext cx="17190720" cy="86868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変更内容から、担当領域と確認範囲を特定できます。</a:t>
            </a:r>
          </a:p>
        </p:txBody>
      </p:sp>
      <p:graphicFrame>
        <p:nvGraphicFramePr>
          <p:cNvPr id="9" name="Table 3"/>
          <p:cNvGraphicFramePr/>
          <p:nvPr/>
        </p:nvGraphicFramePr>
        <p:xfrm>
          <a:off x="621792" y="2514600"/>
          <a:ext cx="17190718" cy="2194560"/>
        </p:xfrm>
        <a:graphic>
          <a:graphicData uri="http://schemas.openxmlformats.org/drawingml/2006/table">
            <a:tbl>
              <a:tblPr firstRow="1" bandRow="1">
                <a:tableStyleId>{5C22544A-7EE6-4342-B048-85BDC9FD1C3A}</a:tableStyleId>
              </a:tblPr>
              <a:tblGrid>
                <a:gridCol w="4564392">
                  <a:extLst>
                    <a:ext uri="{9D8B030D-6E8A-4147-A177-3AD203B41FA5}">
                      <a16:colId xmlns:a16="http://schemas.microsoft.com/office/drawing/2014/main" val="20000"/>
                    </a:ext>
                  </a:extLst>
                </a:gridCol>
                <a:gridCol w="3431321">
                  <a:extLst>
                    <a:ext uri="{9D8B030D-6E8A-4147-A177-3AD203B41FA5}">
                      <a16:colId xmlns:a16="http://schemas.microsoft.com/office/drawing/2014/main" val="20001"/>
                    </a:ext>
                  </a:extLst>
                </a:gridCol>
                <a:gridCol w="9195005">
                  <a:extLst>
                    <a:ext uri="{9D8B030D-6E8A-4147-A177-3AD203B41FA5}">
                      <a16:colId xmlns:a16="http://schemas.microsoft.com/office/drawing/2014/main" val="20002"/>
                    </a:ext>
                  </a:extLst>
                </a:gridCol>
              </a:tblGrid>
              <a:tr h="365760">
                <a:tc>
                  <a:txBody>
                    <a:bodyPr/>
                    <a:lstStyle/>
                    <a:p>
                      <a:r>
                        <a:rPr sz="1400" b="1">
                          <a:solidFill>
                            <a:srgbClr val="FFFFFF"/>
                          </a:solidFill>
                          <a:latin typeface="Arial"/>
                          <a:ea typeface="Arial"/>
                          <a:cs typeface="Arial"/>
                        </a:rPr>
                        <a:t>変更内容</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担当領域</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主な確認範囲</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画面の追加・変更</a:t>
                      </a:r>
                    </a:p>
                  </a:txBody>
                  <a:tcPr marL="64008" marR="64008" marT="27432" marB="27432" anchor="ctr">
                    <a:solidFill>
                      <a:srgbClr val="FFFFFF"/>
                    </a:solidFill>
                  </a:tcPr>
                </a:tc>
                <a:tc>
                  <a:txBody>
                    <a:bodyPr/>
                    <a:lstStyle/>
                    <a:p>
                      <a:r>
                        <a:rPr sz="1400">
                          <a:solidFill>
                            <a:srgbClr val="545454"/>
                          </a:solidFill>
                          <a:latin typeface="Arial"/>
                          <a:ea typeface="Arial"/>
                          <a:cs typeface="Arial"/>
                        </a:rPr>
                        <a:t>画面・アプリケーション</a:t>
                      </a:r>
                    </a:p>
                  </a:txBody>
                  <a:tcPr marL="64008" marR="64008" marT="27432" marB="27432" anchor="ctr">
                    <a:solidFill>
                      <a:srgbClr val="FFFFFF"/>
                    </a:solidFill>
                  </a:tcPr>
                </a:tc>
                <a:tc>
                  <a:txBody>
                    <a:bodyPr/>
                    <a:lstStyle/>
                    <a:p>
                      <a:r>
                        <a:rPr sz="1400">
                          <a:solidFill>
                            <a:srgbClr val="545454"/>
                          </a:solidFill>
                          <a:latin typeface="Arial"/>
                          <a:ea typeface="Arial"/>
                          <a:cs typeface="Arial"/>
                        </a:rPr>
                        <a:t>ビュー、ビューモデル、画面遷移、アプリケーション処理</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利用機器の変更</a:t>
                      </a:r>
                    </a:p>
                  </a:txBody>
                  <a:tcPr marL="64008" marR="64008" marT="27432" marB="27432" anchor="ctr">
                    <a:solidFill>
                      <a:srgbClr val="F7F7F7"/>
                    </a:solidFill>
                  </a:tcPr>
                </a:tc>
                <a:tc>
                  <a:txBody>
                    <a:bodyPr/>
                    <a:lstStyle/>
                    <a:p>
                      <a:r>
                        <a:rPr sz="1400">
                          <a:solidFill>
                            <a:srgbClr val="545454"/>
                          </a:solidFill>
                          <a:latin typeface="Arial"/>
                          <a:ea typeface="Arial"/>
                          <a:cs typeface="Arial"/>
                        </a:rPr>
                        <a:t>デバイス制御</a:t>
                      </a:r>
                    </a:p>
                  </a:txBody>
                  <a:tcPr marL="64008" marR="64008" marT="27432" marB="27432" anchor="ctr">
                    <a:solidFill>
                      <a:srgbClr val="F7F7F7"/>
                    </a:solidFill>
                  </a:tcPr>
                </a:tc>
                <a:tc>
                  <a:txBody>
                    <a:bodyPr/>
                    <a:lstStyle/>
                    <a:p>
                      <a:r>
                        <a:rPr sz="1400">
                          <a:solidFill>
                            <a:srgbClr val="545454"/>
                          </a:solidFill>
                          <a:latin typeface="Arial"/>
                          <a:ea typeface="Arial"/>
                          <a:cs typeface="Arial"/>
                        </a:rPr>
                        <a:t>DeviceCtrl設定、デバイス制御インターフェース、接続方式別実装、実機</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Windows POS向け既存機器の変更</a:t>
                      </a:r>
                    </a:p>
                  </a:txBody>
                  <a:tcPr marL="64008" marR="64008" marT="27432" marB="27432" anchor="ctr">
                    <a:solidFill>
                      <a:srgbClr val="FFFFFF"/>
                    </a:solidFill>
                  </a:tcPr>
                </a:tc>
                <a:tc>
                  <a:txBody>
                    <a:bodyPr/>
                    <a:lstStyle/>
                    <a:p>
                      <a:r>
                        <a:rPr sz="1400">
                          <a:solidFill>
                            <a:srgbClr val="545454"/>
                          </a:solidFill>
                          <a:latin typeface="Arial"/>
                          <a:ea typeface="Arial"/>
                          <a:cs typeface="Arial"/>
                        </a:rPr>
                        <a:t>デバイスコネクタ</a:t>
                      </a:r>
                    </a:p>
                  </a:txBody>
                  <a:tcPr marL="64008" marR="64008" marT="27432" marB="27432" anchor="ctr">
                    <a:solidFill>
                      <a:srgbClr val="FFFFFF"/>
                    </a:solidFill>
                  </a:tcPr>
                </a:tc>
                <a:tc>
                  <a:txBody>
                    <a:bodyPr/>
                    <a:lstStyle/>
                    <a:p>
                      <a:r>
                        <a:rPr sz="1400">
                          <a:solidFill>
                            <a:srgbClr val="545454"/>
                          </a:solidFill>
                          <a:latin typeface="Arial"/>
                          <a:ea typeface="Arial"/>
                          <a:cs typeface="Arial"/>
                        </a:rPr>
                        <a:t>コネクタ設定、要求変換、デバイス制御インターフェース（IFDevice）、OPOS／OCX、実機</a:t>
                      </a:r>
                    </a:p>
                  </a:txBody>
                  <a:tcPr marL="64008" marR="64008" marT="27432" marB="27432" anchor="ctr">
                    <a:solidFill>
                      <a:srgbClr val="FFFFFF"/>
                    </a:solidFill>
                  </a:tcPr>
                </a:tc>
                <a:extLst>
                  <a:ext uri="{0D108BD9-81ED-4DB2-BD59-A6C34878D82A}">
                    <a16:rowId xmlns:a16="http://schemas.microsoft.com/office/drawing/2014/main" val="10003"/>
                  </a:ext>
                </a:extLst>
              </a:tr>
              <a:tr h="365760">
                <a:tc>
                  <a:txBody>
                    <a:bodyPr/>
                    <a:lstStyle/>
                    <a:p>
                      <a:r>
                        <a:rPr sz="1400">
                          <a:solidFill>
                            <a:srgbClr val="545454"/>
                          </a:solidFill>
                          <a:latin typeface="Arial"/>
                          <a:ea typeface="Arial"/>
                          <a:cs typeface="Arial"/>
                        </a:rPr>
                        <a:t>状態保存・ログの変更</a:t>
                      </a:r>
                    </a:p>
                  </a:txBody>
                  <a:tcPr marL="64008" marR="64008" marT="27432" marB="27432" anchor="ctr">
                    <a:solidFill>
                      <a:srgbClr val="F7F7F7"/>
                    </a:solidFill>
                  </a:tcPr>
                </a:tc>
                <a:tc>
                  <a:txBody>
                    <a:bodyPr/>
                    <a:lstStyle/>
                    <a:p>
                      <a:r>
                        <a:rPr sz="1400">
                          <a:solidFill>
                            <a:srgbClr val="545454"/>
                          </a:solidFill>
                          <a:latin typeface="Arial"/>
                          <a:ea typeface="Arial"/>
                          <a:cs typeface="Arial"/>
                        </a:rPr>
                        <a:t>共通基盤</a:t>
                      </a:r>
                    </a:p>
                  </a:txBody>
                  <a:tcPr marL="64008" marR="64008" marT="27432" marB="27432" anchor="ctr">
                    <a:solidFill>
                      <a:srgbClr val="F7F7F7"/>
                    </a:solidFill>
                  </a:tcPr>
                </a:tc>
                <a:tc>
                  <a:txBody>
                    <a:bodyPr/>
                    <a:lstStyle/>
                    <a:p>
                      <a:r>
                        <a:rPr sz="1400">
                          <a:solidFill>
                            <a:srgbClr val="545454"/>
                          </a:solidFill>
                          <a:latin typeface="Arial"/>
                          <a:ea typeface="Arial"/>
                          <a:cs typeface="Arial"/>
                        </a:rPr>
                        <a:t>TabletPos.Core、ローカルデータ、監視</a:t>
                      </a:r>
                    </a:p>
                  </a:txBody>
                  <a:tcPr marL="64008" marR="64008" marT="27432" marB="27432" anchor="ctr">
                    <a:solidFill>
                      <a:srgbClr val="F7F7F7"/>
                    </a:solidFill>
                  </a:tcPr>
                </a:tc>
                <a:extLst>
                  <a:ext uri="{0D108BD9-81ED-4DB2-BD59-A6C34878D82A}">
                    <a16:rowId xmlns:a16="http://schemas.microsoft.com/office/drawing/2014/main" val="10004"/>
                  </a:ext>
                </a:extLst>
              </a:tr>
              <a:tr h="365760">
                <a:tc>
                  <a:txBody>
                    <a:bodyPr/>
                    <a:lstStyle/>
                    <a:p>
                      <a:r>
                        <a:rPr sz="1400">
                          <a:solidFill>
                            <a:srgbClr val="545454"/>
                          </a:solidFill>
                          <a:latin typeface="Arial"/>
                          <a:ea typeface="Arial"/>
                          <a:cs typeface="Arial"/>
                        </a:rPr>
                        <a:t>コネクタのライフサイクル変更</a:t>
                      </a:r>
                    </a:p>
                  </a:txBody>
                  <a:tcPr marL="64008" marR="64008" marT="27432" marB="27432" anchor="ctr">
                    <a:solidFill>
                      <a:srgbClr val="FFFFFF"/>
                    </a:solidFill>
                  </a:tcPr>
                </a:tc>
                <a:tc>
                  <a:txBody>
                    <a:bodyPr/>
                    <a:lstStyle/>
                    <a:p>
                      <a:r>
                        <a:rPr sz="1400">
                          <a:solidFill>
                            <a:srgbClr val="545454"/>
                          </a:solidFill>
                          <a:latin typeface="Arial"/>
                          <a:ea typeface="Arial"/>
                          <a:cs typeface="Arial"/>
                        </a:rPr>
                        <a:t>端末アプリ／デバイスコネクタ</a:t>
                      </a:r>
                    </a:p>
                  </a:txBody>
                  <a:tcPr marL="64008" marR="64008" marT="27432" marB="27432" anchor="ctr">
                    <a:solidFill>
                      <a:srgbClr val="FFFFFF"/>
                    </a:solidFill>
                  </a:tcPr>
                </a:tc>
                <a:tc>
                  <a:txBody>
                    <a:bodyPr/>
                    <a:lstStyle/>
                    <a:p>
                      <a:r>
                        <a:rPr sz="1400">
                          <a:solidFill>
                            <a:srgbClr val="545454"/>
                          </a:solidFill>
                          <a:latin typeface="Arial"/>
                          <a:ea typeface="Arial"/>
                          <a:cs typeface="Arial"/>
                        </a:rPr>
                        <a:t>起動、準備完了確認、停止、復旧</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C4383152-15F1-45EE-A883-2264886D90AE}"/>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ARCH-01 8.3、ARCH-02 6、ARCH-HOST-01 10.6</a:t>
            </a:r>
          </a:p>
        </p:txBody>
      </p:sp>
    </p:spTree>
    <p:extLst>
      <p:ext uri="{BB962C8B-B14F-4D97-AF65-F5344CB8AC3E}">
        <p14:creationId xmlns:p14="http://schemas.microsoft.com/office/powerpoint/2010/main" val="2141947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FF82E9-36FC-4803-9BD7-5D8EB8C3F76A}"/>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画面のMVVM・レイヤ構成</a:t>
            </a:r>
          </a:p>
        </p:txBody>
      </p:sp>
      <p:sp>
        <p:nvSpPr>
          <p:cNvPr id="3" name="Rounded Rectangle 2">
            <a:extLst>
              <a:ext uri="{FF2B5EF4-FFF2-40B4-BE49-F238E27FC236}">
                <a16:creationId xmlns:a16="http://schemas.microsoft.com/office/drawing/2014/main" id="{0F85E266-6638-4C7C-BAFA-D4469E1A75B4}"/>
              </a:ext>
            </a:extLst>
          </p:cNvPr>
          <p:cNvSpPr>
            <a:spLocks noGrp="1"/>
          </p:cNvSpPr>
          <p:nvPr/>
        </p:nvSpPr>
        <p:spPr>
          <a:xfrm>
            <a:off x="548640" y="1371600"/>
            <a:ext cx="17190720" cy="86868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画面を責務ごとに分離し、表示変更による業務処理への影響を抑えます。</a:t>
            </a:r>
          </a:p>
        </p:txBody>
      </p:sp>
      <p:graphicFrame>
        <p:nvGraphicFramePr>
          <p:cNvPr id="9" name="Table 3"/>
          <p:cNvGraphicFramePr/>
          <p:nvPr/>
        </p:nvGraphicFramePr>
        <p:xfrm>
          <a:off x="621792" y="2514600"/>
          <a:ext cx="17190718" cy="2194560"/>
        </p:xfrm>
        <a:graphic>
          <a:graphicData uri="http://schemas.openxmlformats.org/drawingml/2006/table">
            <a:tbl>
              <a:tblPr firstRow="1" bandRow="1">
                <a:tableStyleId>{5C22544A-7EE6-4342-B048-85BDC9FD1C3A}</a:tableStyleId>
              </a:tblPr>
              <a:tblGrid>
                <a:gridCol w="3075468">
                  <a:extLst>
                    <a:ext uri="{9D8B030D-6E8A-4147-A177-3AD203B41FA5}">
                      <a16:colId xmlns:a16="http://schemas.microsoft.com/office/drawing/2014/main" val="20000"/>
                    </a:ext>
                  </a:extLst>
                </a:gridCol>
                <a:gridCol w="6057490">
                  <a:extLst>
                    <a:ext uri="{9D8B030D-6E8A-4147-A177-3AD203B41FA5}">
                      <a16:colId xmlns:a16="http://schemas.microsoft.com/office/drawing/2014/main" val="20001"/>
                    </a:ext>
                  </a:extLst>
                </a:gridCol>
                <a:gridCol w="8057760">
                  <a:extLst>
                    <a:ext uri="{9D8B030D-6E8A-4147-A177-3AD203B41FA5}">
                      <a16:colId xmlns:a16="http://schemas.microsoft.com/office/drawing/2014/main" val="20002"/>
                    </a:ext>
                  </a:extLst>
                </a:gridCol>
              </a:tblGrid>
              <a:tr h="365760">
                <a:tc>
                  <a:txBody>
                    <a:bodyPr/>
                    <a:lstStyle/>
                    <a:p>
                      <a:r>
                        <a:rPr sz="1400" b="1">
                          <a:solidFill>
                            <a:srgbClr val="FFFFFF"/>
                          </a:solidFill>
                          <a:latin typeface="Arial"/>
                          <a:ea typeface="Arial"/>
                          <a:cs typeface="Arial"/>
                        </a:rPr>
                        <a:t>構成要素</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責務</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直接扱わない内容</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ビュー</a:t>
                      </a:r>
                    </a:p>
                  </a:txBody>
                  <a:tcPr marL="64008" marR="64008" marT="27432" marB="27432" anchor="ctr">
                    <a:solidFill>
                      <a:srgbClr val="FFFFFF"/>
                    </a:solidFill>
                  </a:tcPr>
                </a:tc>
                <a:tc>
                  <a:txBody>
                    <a:bodyPr/>
                    <a:lstStyle/>
                    <a:p>
                      <a:r>
                        <a:rPr sz="1400">
                          <a:solidFill>
                            <a:srgbClr val="545454"/>
                          </a:solidFill>
                          <a:latin typeface="Arial"/>
                          <a:ea typeface="Arial"/>
                          <a:cs typeface="Arial"/>
                        </a:rPr>
                        <a:t>表示、入力、画面サイズに応じた配置</a:t>
                      </a:r>
                    </a:p>
                  </a:txBody>
                  <a:tcPr marL="64008" marR="64008" marT="27432" marB="27432" anchor="ctr">
                    <a:solidFill>
                      <a:srgbClr val="FFFFFF"/>
                    </a:solidFill>
                  </a:tcPr>
                </a:tc>
                <a:tc>
                  <a:txBody>
                    <a:bodyPr/>
                    <a:lstStyle/>
                    <a:p>
                      <a:r>
                        <a:rPr sz="1400">
                          <a:solidFill>
                            <a:srgbClr val="545454"/>
                          </a:solidFill>
                          <a:latin typeface="Arial"/>
                          <a:ea typeface="Arial"/>
                          <a:cs typeface="Arial"/>
                        </a:rPr>
                        <a:t>業務フロー、機器接続、保存</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ビューモデル</a:t>
                      </a:r>
                    </a:p>
                  </a:txBody>
                  <a:tcPr marL="64008" marR="64008" marT="27432" marB="27432" anchor="ctr">
                    <a:solidFill>
                      <a:srgbClr val="F7F7F7"/>
                    </a:solidFill>
                  </a:tcPr>
                </a:tc>
                <a:tc>
                  <a:txBody>
                    <a:bodyPr/>
                    <a:lstStyle/>
                    <a:p>
                      <a:r>
                        <a:rPr sz="1400">
                          <a:solidFill>
                            <a:srgbClr val="545454"/>
                          </a:solidFill>
                          <a:latin typeface="Arial"/>
                          <a:ea typeface="Arial"/>
                          <a:cs typeface="Arial"/>
                        </a:rPr>
                        <a:t>画面状態、入力検証、コマンド、画面遷移要求</a:t>
                      </a:r>
                    </a:p>
                  </a:txBody>
                  <a:tcPr marL="64008" marR="64008" marT="27432" marB="27432" anchor="ctr">
                    <a:solidFill>
                      <a:srgbClr val="F7F7F7"/>
                    </a:solidFill>
                  </a:tcPr>
                </a:tc>
                <a:tc>
                  <a:txBody>
                    <a:bodyPr/>
                    <a:lstStyle/>
                    <a:p>
                      <a:r>
                        <a:rPr sz="1400">
                          <a:solidFill>
                            <a:srgbClr val="545454"/>
                          </a:solidFill>
                          <a:latin typeface="Arial"/>
                          <a:ea typeface="Arial"/>
                          <a:cs typeface="Arial"/>
                        </a:rPr>
                        <a:t>OPOS、名前付きパイプ、SDK、SQLite、Sentry</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アプリケーション層</a:t>
                      </a:r>
                    </a:p>
                  </a:txBody>
                  <a:tcPr marL="64008" marR="64008" marT="27432" marB="27432" anchor="ctr">
                    <a:solidFill>
                      <a:srgbClr val="FFFFFF"/>
                    </a:solidFill>
                  </a:tcPr>
                </a:tc>
                <a:tc>
                  <a:txBody>
                    <a:bodyPr/>
                    <a:lstStyle/>
                    <a:p>
                      <a:r>
                        <a:rPr sz="1400">
                          <a:solidFill>
                            <a:srgbClr val="545454"/>
                          </a:solidFill>
                          <a:latin typeface="Arial"/>
                          <a:ea typeface="Arial"/>
                          <a:cs typeface="Arial"/>
                        </a:rPr>
                        <a:t>ユースケースの調整と外部境界の呼出し</a:t>
                      </a:r>
                    </a:p>
                  </a:txBody>
                  <a:tcPr marL="64008" marR="64008" marT="27432" marB="27432" anchor="ctr">
                    <a:solidFill>
                      <a:srgbClr val="FFFFFF"/>
                    </a:solidFill>
                  </a:tcPr>
                </a:tc>
                <a:tc>
                  <a:txBody>
                    <a:bodyPr/>
                    <a:lstStyle/>
                    <a:p>
                      <a:r>
                        <a:rPr sz="1400">
                          <a:solidFill>
                            <a:srgbClr val="545454"/>
                          </a:solidFill>
                          <a:latin typeface="Arial"/>
                          <a:ea typeface="Arial"/>
                          <a:cs typeface="Arial"/>
                        </a:rPr>
                        <a:t>表示詳細、機器の具象実装</a:t>
                      </a:r>
                    </a:p>
                  </a:txBody>
                  <a:tcPr marL="64008" marR="64008" marT="27432" marB="27432" anchor="ctr">
                    <a:solidFill>
                      <a:srgbClr val="FFFFFF"/>
                    </a:solidFill>
                  </a:tcPr>
                </a:tc>
                <a:extLst>
                  <a:ext uri="{0D108BD9-81ED-4DB2-BD59-A6C34878D82A}">
                    <a16:rowId xmlns:a16="http://schemas.microsoft.com/office/drawing/2014/main" val="10003"/>
                  </a:ext>
                </a:extLst>
              </a:tr>
              <a:tr h="365760">
                <a:tc>
                  <a:txBody>
                    <a:bodyPr/>
                    <a:lstStyle/>
                    <a:p>
                      <a:r>
                        <a:rPr sz="1400">
                          <a:solidFill>
                            <a:srgbClr val="545454"/>
                          </a:solidFill>
                          <a:latin typeface="Arial"/>
                          <a:ea typeface="Arial"/>
                          <a:cs typeface="Arial"/>
                        </a:rPr>
                        <a:t>ドメイン層</a:t>
                      </a:r>
                    </a:p>
                  </a:txBody>
                  <a:tcPr marL="64008" marR="64008" marT="27432" marB="27432" anchor="ctr">
                    <a:solidFill>
                      <a:srgbClr val="F7F7F7"/>
                    </a:solidFill>
                  </a:tcPr>
                </a:tc>
                <a:tc>
                  <a:txBody>
                    <a:bodyPr/>
                    <a:lstStyle/>
                    <a:p>
                      <a:r>
                        <a:rPr sz="1400">
                          <a:solidFill>
                            <a:srgbClr val="545454"/>
                          </a:solidFill>
                          <a:latin typeface="Arial"/>
                          <a:ea typeface="Arial"/>
                          <a:cs typeface="Arial"/>
                        </a:rPr>
                        <a:t>共通の業務ルールと状態</a:t>
                      </a:r>
                    </a:p>
                  </a:txBody>
                  <a:tcPr marL="64008" marR="64008" marT="27432" marB="27432" anchor="ctr">
                    <a:solidFill>
                      <a:srgbClr val="F7F7F7"/>
                    </a:solidFill>
                  </a:tcPr>
                </a:tc>
                <a:tc>
                  <a:txBody>
                    <a:bodyPr/>
                    <a:lstStyle/>
                    <a:p>
                      <a:r>
                        <a:rPr sz="1400">
                          <a:solidFill>
                            <a:srgbClr val="545454"/>
                          </a:solidFill>
                          <a:latin typeface="Arial"/>
                          <a:ea typeface="Arial"/>
                          <a:cs typeface="Arial"/>
                        </a:rPr>
                        <a:t>画面、OS、接続方式</a:t>
                      </a:r>
                    </a:p>
                  </a:txBody>
                  <a:tcPr marL="64008" marR="64008" marT="27432" marB="27432" anchor="ctr">
                    <a:solidFill>
                      <a:srgbClr val="F7F7F7"/>
                    </a:solidFill>
                  </a:tcPr>
                </a:tc>
                <a:extLst>
                  <a:ext uri="{0D108BD9-81ED-4DB2-BD59-A6C34878D82A}">
                    <a16:rowId xmlns:a16="http://schemas.microsoft.com/office/drawing/2014/main" val="10004"/>
                  </a:ext>
                </a:extLst>
              </a:tr>
              <a:tr h="365760">
                <a:tc>
                  <a:txBody>
                    <a:bodyPr/>
                    <a:lstStyle/>
                    <a:p>
                      <a:r>
                        <a:rPr sz="1400">
                          <a:solidFill>
                            <a:srgbClr val="545454"/>
                          </a:solidFill>
                          <a:latin typeface="Arial"/>
                          <a:ea typeface="Arial"/>
                          <a:cs typeface="Arial"/>
                        </a:rPr>
                        <a:t>ポート／基盤層</a:t>
                      </a:r>
                    </a:p>
                  </a:txBody>
                  <a:tcPr marL="64008" marR="64008" marT="27432" marB="27432" anchor="ctr">
                    <a:solidFill>
                      <a:srgbClr val="FFFFFF"/>
                    </a:solidFill>
                  </a:tcPr>
                </a:tc>
                <a:tc>
                  <a:txBody>
                    <a:bodyPr/>
                    <a:lstStyle/>
                    <a:p>
                      <a:r>
                        <a:rPr sz="1400">
                          <a:solidFill>
                            <a:srgbClr val="545454"/>
                          </a:solidFill>
                          <a:latin typeface="Arial"/>
                          <a:ea typeface="Arial"/>
                          <a:cs typeface="Arial"/>
                        </a:rPr>
                        <a:t>画面遷移、保存、外部機能との接続口と実装</a:t>
                      </a:r>
                    </a:p>
                  </a:txBody>
                  <a:tcPr marL="64008" marR="64008" marT="27432" marB="27432" anchor="ctr">
                    <a:solidFill>
                      <a:srgbClr val="FFFFFF"/>
                    </a:solidFill>
                  </a:tcPr>
                </a:tc>
                <a:tc>
                  <a:txBody>
                    <a:bodyPr/>
                    <a:lstStyle/>
                    <a:p>
                      <a:r>
                        <a:rPr sz="1400">
                          <a:solidFill>
                            <a:srgbClr val="545454"/>
                          </a:solidFill>
                          <a:latin typeface="Arial"/>
                          <a:ea typeface="Arial"/>
                          <a:cs typeface="Arial"/>
                        </a:rPr>
                        <a:t>業務判断</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21BE6961-A0CE-44C1-B26A-E78662B87FE8}"/>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ARCH-01 3.1–3.6、ARCH-02 2.2–2.4、3–5</a:t>
            </a:r>
          </a:p>
        </p:txBody>
      </p:sp>
    </p:spTree>
    <p:extLst>
      <p:ext uri="{BB962C8B-B14F-4D97-AF65-F5344CB8AC3E}">
        <p14:creationId xmlns:p14="http://schemas.microsoft.com/office/powerpoint/2010/main" val="1412416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BBF00A-967A-488C-A0FF-499B0F5428E0}"/>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対応端末とレスポンシブ表示方針</a:t>
            </a:r>
          </a:p>
        </p:txBody>
      </p:sp>
      <p:sp>
        <p:nvSpPr>
          <p:cNvPr id="3" name="Rounded Rectangle 2">
            <a:extLst>
              <a:ext uri="{FF2B5EF4-FFF2-40B4-BE49-F238E27FC236}">
                <a16:creationId xmlns:a16="http://schemas.microsoft.com/office/drawing/2014/main" id="{363F397B-B931-4373-B496-0105EF7B8CC2}"/>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共通の画面構造を保ちながら、端末の大きさ、解像度、DPIおよび向きに応じて見やすく操作しやすい表示へ調整します。</a:t>
            </a:r>
          </a:p>
        </p:txBody>
      </p:sp>
      <p:sp>
        <p:nvSpPr>
          <p:cNvPr id="4" name="TextBox 3">
            <a:extLst>
              <a:ext uri="{FF2B5EF4-FFF2-40B4-BE49-F238E27FC236}">
                <a16:creationId xmlns:a16="http://schemas.microsoft.com/office/drawing/2014/main" id="{52B4F65F-E55A-4E2E-BCFC-85CE7CDCC10C}"/>
              </a:ext>
            </a:extLst>
          </p:cNvPr>
          <p:cNvSpPr>
            <a:spLocks noGrp="1"/>
          </p:cNvSpPr>
          <p:nvPr/>
        </p:nvSpPr>
        <p:spPr>
          <a:xfrm>
            <a:off x="594360" y="292608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対応方針</a:t>
            </a:r>
          </a:p>
        </p:txBody>
      </p:sp>
      <p:sp>
        <p:nvSpPr>
          <p:cNvPr id="5" name="TextBox 4">
            <a:extLst>
              <a:ext uri="{FF2B5EF4-FFF2-40B4-BE49-F238E27FC236}">
                <a16:creationId xmlns:a16="http://schemas.microsoft.com/office/drawing/2014/main" id="{BF8E3F8F-20D3-49B4-95ED-A52FE7063B58}"/>
              </a:ext>
            </a:extLst>
          </p:cNvPr>
          <p:cNvSpPr>
            <a:spLocks noGrp="1"/>
          </p:cNvSpPr>
          <p:nvPr/>
        </p:nvSpPr>
        <p:spPr>
          <a:xfrm>
            <a:off x="685800" y="340156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ビューは共通スタイルと相対配置を利用し、画面サイズに応じて余白、文字および操作領域を調整します。</a:t>
            </a:r>
          </a:p>
          <a:p>
            <a:pPr>
              <a:spcAft>
                <a:spcPts val="500"/>
              </a:spcAft>
              <a:buNone/>
            </a:pPr>
            <a:r>
              <a:rPr sz="1700">
                <a:solidFill>
                  <a:srgbClr val="545454"/>
                </a:solidFill>
                <a:latin typeface="Arial"/>
                <a:ea typeface="Arial"/>
                <a:cs typeface="Arial"/>
              </a:rPr>
              <a:t>•  ビューモデルとアプリケーション層はレイアウトへ依存せず、Windows POSとタブレットPOS（Android／iOS）で共通利用します。</a:t>
            </a:r>
          </a:p>
          <a:p>
            <a:pPr>
              <a:spcAft>
                <a:spcPts val="500"/>
              </a:spcAft>
              <a:buNone/>
            </a:pPr>
            <a:r>
              <a:rPr sz="1700">
                <a:solidFill>
                  <a:srgbClr val="545454"/>
                </a:solidFill>
                <a:latin typeface="Arial"/>
                <a:ea typeface="Arial"/>
                <a:cs typeface="Arial"/>
              </a:rPr>
              <a:t>•  Windows POSでは全画面表示とし、業務に不要なタイトルバーやタスクバーを表示しません。</a:t>
            </a:r>
          </a:p>
          <a:p>
            <a:pPr>
              <a:spcAft>
                <a:spcPts val="500"/>
              </a:spcAft>
              <a:buNone/>
            </a:pPr>
            <a:r>
              <a:rPr sz="1700">
                <a:solidFill>
                  <a:srgbClr val="545454"/>
                </a:solidFill>
                <a:latin typeface="Arial"/>
                <a:ea typeface="Arial"/>
                <a:cs typeface="Arial"/>
              </a:rPr>
              <a:t>•  タブレットPOS（Android／iOS）ではセーフエリア、画面の向きおよびシステムバーを考慮します。</a:t>
            </a:r>
          </a:p>
          <a:p>
            <a:pPr>
              <a:spcAft>
                <a:spcPts val="500"/>
              </a:spcAft>
              <a:buNone/>
            </a:pPr>
            <a:r>
              <a:rPr sz="1700">
                <a:solidFill>
                  <a:srgbClr val="545454"/>
                </a:solidFill>
                <a:latin typeface="Arial"/>
                <a:ea typeface="Arial"/>
                <a:cs typeface="Arial"/>
              </a:rPr>
              <a:t>•  代表的な画面と画面遷移はPoCで動作を確認済みです。</a:t>
            </a:r>
          </a:p>
        </p:txBody>
      </p:sp>
      <p:graphicFrame>
        <p:nvGraphicFramePr>
          <p:cNvPr id="19" name="Table 5"/>
          <p:cNvGraphicFramePr/>
          <p:nvPr/>
        </p:nvGraphicFramePr>
        <p:xfrm>
          <a:off x="621792" y="5084064"/>
          <a:ext cx="17190719" cy="1828800"/>
        </p:xfrm>
        <a:graphic>
          <a:graphicData uri="http://schemas.openxmlformats.org/drawingml/2006/table">
            <a:tbl>
              <a:tblPr firstRow="1" bandRow="1">
                <a:tableStyleId>{5C22544A-7EE6-4342-B048-85BDC9FD1C3A}</a:tableStyleId>
              </a:tblPr>
              <a:tblGrid>
                <a:gridCol w="2201262">
                  <a:extLst>
                    <a:ext uri="{9D8B030D-6E8A-4147-A177-3AD203B41FA5}">
                      <a16:colId xmlns:a16="http://schemas.microsoft.com/office/drawing/2014/main" val="20000"/>
                    </a:ext>
                  </a:extLst>
                </a:gridCol>
                <a:gridCol w="14989457">
                  <a:extLst>
                    <a:ext uri="{9D8B030D-6E8A-4147-A177-3AD203B41FA5}">
                      <a16:colId xmlns:a16="http://schemas.microsoft.com/office/drawing/2014/main" val="20001"/>
                    </a:ext>
                  </a:extLst>
                </a:gridCol>
              </a:tblGrid>
              <a:tr h="365760">
                <a:tc>
                  <a:txBody>
                    <a:bodyPr/>
                    <a:lstStyle/>
                    <a:p>
                      <a:r>
                        <a:rPr sz="1400" b="1">
                          <a:solidFill>
                            <a:srgbClr val="FFFFFF"/>
                          </a:solidFill>
                          <a:latin typeface="Arial"/>
                          <a:ea typeface="Arial"/>
                          <a:cs typeface="Arial"/>
                        </a:rPr>
                        <a:t>確認軸</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主な確認内容</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端末</a:t>
                      </a:r>
                    </a:p>
                  </a:txBody>
                  <a:tcPr marL="64008" marR="64008" marT="27432" marB="27432" anchor="ctr">
                    <a:solidFill>
                      <a:srgbClr val="FFFFFF"/>
                    </a:solidFill>
                  </a:tcPr>
                </a:tc>
                <a:tc>
                  <a:txBody>
                    <a:bodyPr/>
                    <a:lstStyle/>
                    <a:p>
                      <a:r>
                        <a:rPr sz="1400">
                          <a:solidFill>
                            <a:srgbClr val="545454"/>
                          </a:solidFill>
                          <a:latin typeface="Arial"/>
                          <a:ea typeface="Arial"/>
                          <a:cs typeface="Arial"/>
                        </a:rPr>
                        <a:t>Windows POS、タブレットPOS（Android／iOS）</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表示</a:t>
                      </a:r>
                    </a:p>
                  </a:txBody>
                  <a:tcPr marL="64008" marR="64008" marT="27432" marB="27432" anchor="ctr">
                    <a:solidFill>
                      <a:srgbClr val="F7F7F7"/>
                    </a:solidFill>
                  </a:tcPr>
                </a:tc>
                <a:tc>
                  <a:txBody>
                    <a:bodyPr/>
                    <a:lstStyle/>
                    <a:p>
                      <a:r>
                        <a:rPr sz="1400">
                          <a:solidFill>
                            <a:srgbClr val="545454"/>
                          </a:solidFill>
                          <a:latin typeface="Arial"/>
                          <a:ea typeface="Arial"/>
                          <a:cs typeface="Arial"/>
                        </a:rPr>
                        <a:t>XGA、HD、FHD、4K、OSの拡大率、縦横比</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操作</a:t>
                      </a:r>
                    </a:p>
                  </a:txBody>
                  <a:tcPr marL="64008" marR="64008" marT="27432" marB="27432" anchor="ctr">
                    <a:solidFill>
                      <a:srgbClr val="FFFFFF"/>
                    </a:solidFill>
                  </a:tcPr>
                </a:tc>
                <a:tc>
                  <a:txBody>
                    <a:bodyPr/>
                    <a:lstStyle/>
                    <a:p>
                      <a:r>
                        <a:rPr sz="1400">
                          <a:solidFill>
                            <a:srgbClr val="545454"/>
                          </a:solidFill>
                          <a:latin typeface="Arial"/>
                          <a:ea typeface="Arial"/>
                          <a:cs typeface="Arial"/>
                        </a:rPr>
                        <a:t>文字の可読性、タッチ領域、項目の見切れ、全画面表示</a:t>
                      </a:r>
                    </a:p>
                  </a:txBody>
                  <a:tcPr marL="64008" marR="64008" marT="27432" marB="27432" anchor="ctr">
                    <a:solidFill>
                      <a:srgbClr val="FFFFFF"/>
                    </a:solidFill>
                  </a:tcPr>
                </a:tc>
                <a:extLst>
                  <a:ext uri="{0D108BD9-81ED-4DB2-BD59-A6C34878D82A}">
                    <a16:rowId xmlns:a16="http://schemas.microsoft.com/office/drawing/2014/main" val="10003"/>
                  </a:ext>
                </a:extLst>
              </a:tr>
              <a:tr h="365760">
                <a:tc>
                  <a:txBody>
                    <a:bodyPr/>
                    <a:lstStyle/>
                    <a:p>
                      <a:r>
                        <a:rPr sz="1400">
                          <a:solidFill>
                            <a:srgbClr val="545454"/>
                          </a:solidFill>
                          <a:latin typeface="Arial"/>
                          <a:ea typeface="Arial"/>
                          <a:cs typeface="Arial"/>
                        </a:rPr>
                        <a:t>検証</a:t>
                      </a:r>
                    </a:p>
                  </a:txBody>
                  <a:tcPr marL="64008" marR="64008" marT="27432" marB="27432" anchor="ctr">
                    <a:solidFill>
                      <a:srgbClr val="F7F7F7"/>
                    </a:solidFill>
                  </a:tcPr>
                </a:tc>
                <a:tc>
                  <a:txBody>
                    <a:bodyPr/>
                    <a:lstStyle/>
                    <a:p>
                      <a:r>
                        <a:rPr sz="1400">
                          <a:solidFill>
                            <a:srgbClr val="545454"/>
                          </a:solidFill>
                          <a:latin typeface="Arial"/>
                          <a:ea typeface="Arial"/>
                          <a:cs typeface="Arial"/>
                        </a:rPr>
                        <a:t>代表端末と代表解像度を組み合わせた実機確認</a:t>
                      </a:r>
                    </a:p>
                  </a:txBody>
                  <a:tcPr marL="64008" marR="64008" marT="27432" marB="27432" anchor="ctr">
                    <a:solidFill>
                      <a:srgbClr val="F7F7F7"/>
                    </a:solidFill>
                  </a:tcPr>
                </a:tc>
                <a:extLst>
                  <a:ext uri="{0D108BD9-81ED-4DB2-BD59-A6C34878D82A}">
                    <a16:rowId xmlns:a16="http://schemas.microsoft.com/office/drawing/2014/main" val="10004"/>
                  </a:ext>
                </a:extLst>
              </a:tr>
            </a:tbl>
          </a:graphicData>
        </a:graphic>
      </p:graphicFrame>
      <p:pic>
        <p:nvPicPr>
          <p:cNvPr id="20" name="Picture 6"/>
          <p:cNvPicPr>
            <a:picLocks noChangeAspect="1"/>
          </p:cNvPicPr>
          <p:nvPr/>
        </p:nvPicPr>
        <p:blipFill>
          <a:blip r:embed="rId3"/>
          <a:stretch>
            <a:fillRect/>
          </a:stretch>
        </p:blipFill>
        <p:spPr>
          <a:xfrm>
            <a:off x="10241280" y="6949440"/>
            <a:ext cx="3145536" cy="1965960"/>
          </a:xfrm>
          <a:prstGeom prst="rect">
            <a:avLst/>
          </a:prstGeom>
        </p:spPr>
      </p:pic>
      <p:sp>
        <p:nvSpPr>
          <p:cNvPr id="8" name="TextBox 7">
            <a:extLst>
              <a:ext uri="{FF2B5EF4-FFF2-40B4-BE49-F238E27FC236}">
                <a16:creationId xmlns:a16="http://schemas.microsoft.com/office/drawing/2014/main" id="{CBF1788C-2E2D-4DC2-8F4F-955413B94C92}"/>
              </a:ext>
            </a:extLst>
          </p:cNvPr>
          <p:cNvSpPr>
            <a:spLocks noGrp="1"/>
          </p:cNvSpPr>
          <p:nvPr/>
        </p:nvSpPr>
        <p:spPr>
          <a:xfrm>
            <a:off x="10172700" y="9025128"/>
            <a:ext cx="3282696" cy="320040"/>
          </a:xfrm>
          <a:prstGeom prst="rect">
            <a:avLst/>
          </a:prstGeom>
          <a:noFill/>
        </p:spPr>
        <p:txBody>
          <a:bodyPr wrap="square" lIns="45720" tIns="0" rIns="45720" bIns="0" anchor="t">
            <a:spAutoFit/>
          </a:bodyPr>
          <a:lstStyle/>
          <a:p>
            <a:pPr algn="ctr">
              <a:spcAft>
                <a:spcPts val="600"/>
              </a:spcAft>
              <a:buNone/>
            </a:pPr>
            <a:r>
              <a:rPr sz="1000" b="1">
                <a:solidFill>
                  <a:srgbClr val="8C8C8C"/>
                </a:solidFill>
                <a:latin typeface="Arial"/>
                <a:ea typeface="Arial"/>
                <a:cs typeface="Arial"/>
              </a:rPr>
              <a:t>Windows POS</a:t>
            </a:r>
          </a:p>
        </p:txBody>
      </p:sp>
      <p:pic>
        <p:nvPicPr>
          <p:cNvPr id="22" name="Picture 8"/>
          <p:cNvPicPr>
            <a:picLocks noChangeAspect="1"/>
          </p:cNvPicPr>
          <p:nvPr/>
        </p:nvPicPr>
        <p:blipFill>
          <a:blip r:embed="rId4"/>
          <a:stretch>
            <a:fillRect/>
          </a:stretch>
        </p:blipFill>
        <p:spPr>
          <a:xfrm>
            <a:off x="14017752" y="6949440"/>
            <a:ext cx="2994308" cy="1965960"/>
          </a:xfrm>
          <a:prstGeom prst="rect">
            <a:avLst/>
          </a:prstGeom>
        </p:spPr>
      </p:pic>
      <p:sp>
        <p:nvSpPr>
          <p:cNvPr id="10" name="TextBox 9">
            <a:extLst>
              <a:ext uri="{FF2B5EF4-FFF2-40B4-BE49-F238E27FC236}">
                <a16:creationId xmlns:a16="http://schemas.microsoft.com/office/drawing/2014/main" id="{4B32B39A-4BF2-42BB-A9DD-77398362A6E2}"/>
              </a:ext>
            </a:extLst>
          </p:cNvPr>
          <p:cNvSpPr>
            <a:spLocks noGrp="1"/>
          </p:cNvSpPr>
          <p:nvPr/>
        </p:nvSpPr>
        <p:spPr>
          <a:xfrm>
            <a:off x="13949172" y="9025128"/>
            <a:ext cx="3131468" cy="320040"/>
          </a:xfrm>
          <a:prstGeom prst="rect">
            <a:avLst/>
          </a:prstGeom>
          <a:noFill/>
        </p:spPr>
        <p:txBody>
          <a:bodyPr wrap="square" lIns="45720" tIns="0" rIns="45720" bIns="0" anchor="t">
            <a:spAutoFit/>
          </a:bodyPr>
          <a:lstStyle/>
          <a:p>
            <a:pPr algn="ctr">
              <a:spcAft>
                <a:spcPts val="600"/>
              </a:spcAft>
              <a:buNone/>
            </a:pPr>
            <a:r>
              <a:rPr sz="1000" b="1">
                <a:solidFill>
                  <a:srgbClr val="8C8C8C"/>
                </a:solidFill>
                <a:latin typeface="Arial"/>
                <a:ea typeface="Arial"/>
                <a:cs typeface="Arial"/>
              </a:rPr>
              <a:t>タブレットPOS（Android／iOS）</a:t>
            </a:r>
          </a:p>
        </p:txBody>
      </p:sp>
      <p:sp>
        <p:nvSpPr>
          <p:cNvPr id="11" name="TextBox 10">
            <a:extLst>
              <a:ext uri="{FF2B5EF4-FFF2-40B4-BE49-F238E27FC236}">
                <a16:creationId xmlns:a16="http://schemas.microsoft.com/office/drawing/2014/main" id="{09011813-3303-45DC-AE0F-94033D202319}"/>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KSNEWSYS-17、KSNEWSYS-18、KSNEWSYS-28、KSNEWSYS-137、KSNEWSYS-353、KSNEWSYS-399、KSNEWSYS-416、PoC実装確認</a:t>
            </a:r>
          </a:p>
        </p:txBody>
      </p:sp>
    </p:spTree>
    <p:extLst>
      <p:ext uri="{BB962C8B-B14F-4D97-AF65-F5344CB8AC3E}">
        <p14:creationId xmlns:p14="http://schemas.microsoft.com/office/powerpoint/2010/main" val="1318170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B54D39-ACDB-4F20-906A-2E1499068696}"/>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端末アプリの依存方向</a:t>
            </a:r>
          </a:p>
        </p:txBody>
      </p:sp>
      <p:sp>
        <p:nvSpPr>
          <p:cNvPr id="3" name="Rounded Rectangle 2">
            <a:extLst>
              <a:ext uri="{FF2B5EF4-FFF2-40B4-BE49-F238E27FC236}">
                <a16:creationId xmlns:a16="http://schemas.microsoft.com/office/drawing/2014/main" id="{B00F93B1-2E51-452B-A472-DFDCD82D5A89}"/>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依存先を公開インターフェースに限定し、基盤技術の変更がユースケースへ直接波及しない構成とします。</a:t>
            </a:r>
          </a:p>
        </p:txBody>
      </p:sp>
      <p:sp>
        <p:nvSpPr>
          <p:cNvPr id="4" name="TextBox 3">
            <a:extLst>
              <a:ext uri="{FF2B5EF4-FFF2-40B4-BE49-F238E27FC236}">
                <a16:creationId xmlns:a16="http://schemas.microsoft.com/office/drawing/2014/main" id="{F46F4E75-F12A-46F2-903D-819513AFB609}"/>
              </a:ext>
            </a:extLst>
          </p:cNvPr>
          <p:cNvSpPr>
            <a:spLocks noGrp="1"/>
          </p:cNvSpPr>
          <p:nvPr/>
        </p:nvSpPr>
        <p:spPr>
          <a:xfrm>
            <a:off x="594360" y="2926080"/>
            <a:ext cx="676656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要点</a:t>
            </a:r>
          </a:p>
        </p:txBody>
      </p:sp>
      <p:sp>
        <p:nvSpPr>
          <p:cNvPr id="5" name="TextBox 4">
            <a:extLst>
              <a:ext uri="{FF2B5EF4-FFF2-40B4-BE49-F238E27FC236}">
                <a16:creationId xmlns:a16="http://schemas.microsoft.com/office/drawing/2014/main" id="{A4CE8A81-3393-4226-9695-33E9DA2902F8}"/>
              </a:ext>
            </a:extLst>
          </p:cNvPr>
          <p:cNvSpPr>
            <a:spLocks noGrp="1"/>
          </p:cNvSpPr>
          <p:nvPr/>
        </p:nvSpPr>
        <p:spPr>
          <a:xfrm>
            <a:off x="685800" y="3401568"/>
            <a:ext cx="667512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ビューモデルはアプリケーション層のユースケースを呼び出します。</a:t>
            </a:r>
          </a:p>
          <a:p>
            <a:pPr>
              <a:spcAft>
                <a:spcPts val="500"/>
              </a:spcAft>
              <a:buNone/>
            </a:pPr>
            <a:r>
              <a:rPr sz="1700">
                <a:solidFill>
                  <a:srgbClr val="545454"/>
                </a:solidFill>
                <a:latin typeface="Arial"/>
                <a:ea typeface="Arial"/>
                <a:cs typeface="Arial"/>
              </a:rPr>
              <a:t>•  アプリケーション層は公開インターフェースを通じて外部機能を利用します。</a:t>
            </a:r>
          </a:p>
          <a:p>
            <a:pPr>
              <a:spcAft>
                <a:spcPts val="500"/>
              </a:spcAft>
              <a:buNone/>
            </a:pPr>
            <a:r>
              <a:rPr sz="1700">
                <a:solidFill>
                  <a:srgbClr val="545454"/>
                </a:solidFill>
                <a:latin typeface="Arial"/>
                <a:ea typeface="Arial"/>
                <a:cs typeface="Arial"/>
              </a:rPr>
              <a:t>•  コンポジションルートがMAUI、SQLite、Sentry、DeviceCtrlをアプリ起動時に組み立てます。</a:t>
            </a:r>
          </a:p>
        </p:txBody>
      </p:sp>
      <p:sp>
        <p:nvSpPr>
          <p:cNvPr id="6" name="TextBox 5">
            <a:extLst>
              <a:ext uri="{FF2B5EF4-FFF2-40B4-BE49-F238E27FC236}">
                <a16:creationId xmlns:a16="http://schemas.microsoft.com/office/drawing/2014/main" id="{E724F70F-70EE-4FC8-B840-6F127AC533D8}"/>
              </a:ext>
            </a:extLst>
          </p:cNvPr>
          <p:cNvSpPr>
            <a:spLocks noGrp="1"/>
          </p:cNvSpPr>
          <p:nvPr/>
        </p:nvSpPr>
        <p:spPr>
          <a:xfrm>
            <a:off x="594360" y="5376672"/>
            <a:ext cx="676656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設計原則</a:t>
            </a:r>
          </a:p>
        </p:txBody>
      </p:sp>
      <p:sp>
        <p:nvSpPr>
          <p:cNvPr id="7" name="TextBox 6">
            <a:extLst>
              <a:ext uri="{FF2B5EF4-FFF2-40B4-BE49-F238E27FC236}">
                <a16:creationId xmlns:a16="http://schemas.microsoft.com/office/drawing/2014/main" id="{6DE3ADCA-2161-4565-A29F-C0D34326CB6F}"/>
              </a:ext>
            </a:extLst>
          </p:cNvPr>
          <p:cNvSpPr>
            <a:spLocks noGrp="1"/>
          </p:cNvSpPr>
          <p:nvPr/>
        </p:nvSpPr>
        <p:spPr>
          <a:xfrm>
            <a:off x="685800" y="5852160"/>
            <a:ext cx="667512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ビューモデルは具象の機器実装を生成しません。</a:t>
            </a:r>
          </a:p>
          <a:p>
            <a:pPr>
              <a:spcAft>
                <a:spcPts val="500"/>
              </a:spcAft>
              <a:buNone/>
            </a:pPr>
            <a:r>
              <a:rPr sz="1700">
                <a:solidFill>
                  <a:srgbClr val="545454"/>
                </a:solidFill>
                <a:latin typeface="Arial"/>
                <a:ea typeface="Arial"/>
                <a:cs typeface="Arial"/>
              </a:rPr>
              <a:t>•  アプリケーション層はMAUI、名前付きパイプ、SQLiteおよびSentryの実装詳細へ依存しません。</a:t>
            </a:r>
          </a:p>
          <a:p>
            <a:pPr>
              <a:spcAft>
                <a:spcPts val="500"/>
              </a:spcAft>
              <a:buNone/>
            </a:pPr>
            <a:r>
              <a:rPr sz="1700">
                <a:solidFill>
                  <a:srgbClr val="545454"/>
                </a:solidFill>
                <a:latin typeface="Arial"/>
                <a:ea typeface="Arial"/>
                <a:cs typeface="Arial"/>
              </a:rPr>
              <a:t>•  コンポジションルートを依存性注入と実装組み立ての一つの起点とします。</a:t>
            </a:r>
          </a:p>
        </p:txBody>
      </p:sp>
      <p:sp>
        <p:nvSpPr>
          <p:cNvPr id="8" name="Rounded Rectangle 7">
            <a:extLst>
              <a:ext uri="{FF2B5EF4-FFF2-40B4-BE49-F238E27FC236}">
                <a16:creationId xmlns:a16="http://schemas.microsoft.com/office/drawing/2014/main" id="{01A09EB2-450A-4DF8-9779-2D82B22248DD}"/>
              </a:ext>
            </a:extLst>
          </p:cNvPr>
          <p:cNvSpPr>
            <a:spLocks noGrp="1"/>
          </p:cNvSpPr>
          <p:nvPr/>
        </p:nvSpPr>
        <p:spPr>
          <a:xfrm>
            <a:off x="7955279" y="2926080"/>
            <a:ext cx="9966960" cy="1280160"/>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A6C4D08-6C2F-44FF-996C-1FB0844E8875}"/>
              </a:ext>
            </a:extLst>
          </p:cNvPr>
          <p:cNvSpPr>
            <a:spLocks noGrp="1"/>
          </p:cNvSpPr>
          <p:nvPr/>
        </p:nvSpPr>
        <p:spPr>
          <a:xfrm>
            <a:off x="8065007" y="2999232"/>
            <a:ext cx="9747504"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プレゼンテーション層</a:t>
            </a:r>
          </a:p>
        </p:txBody>
      </p:sp>
      <p:sp>
        <p:nvSpPr>
          <p:cNvPr id="10" name="Rounded Rectangle 9">
            <a:extLst>
              <a:ext uri="{FF2B5EF4-FFF2-40B4-BE49-F238E27FC236}">
                <a16:creationId xmlns:a16="http://schemas.microsoft.com/office/drawing/2014/main" id="{176F3ECA-94BD-4746-BD12-35B7991CE6AA}"/>
              </a:ext>
            </a:extLst>
          </p:cNvPr>
          <p:cNvSpPr>
            <a:spLocks noGrp="1"/>
          </p:cNvSpPr>
          <p:nvPr/>
        </p:nvSpPr>
        <p:spPr>
          <a:xfrm>
            <a:off x="8183879" y="3337560"/>
            <a:ext cx="4617720" cy="6400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ビュー／XAML</a:t>
            </a:r>
          </a:p>
          <a:p>
            <a:pPr algn="ctr">
              <a:buNone/>
            </a:pPr>
            <a:r>
              <a:rPr sz="1000" b="0">
                <a:solidFill>
                  <a:srgbClr val="333333"/>
                </a:solidFill>
                <a:latin typeface="Arial"/>
                <a:ea typeface="Arial"/>
                <a:cs typeface="Arial"/>
              </a:rPr>
              <a:t>表示と操作</a:t>
            </a:r>
          </a:p>
        </p:txBody>
      </p:sp>
      <p:sp>
        <p:nvSpPr>
          <p:cNvPr id="11" name="Rounded Rectangle 10">
            <a:extLst>
              <a:ext uri="{FF2B5EF4-FFF2-40B4-BE49-F238E27FC236}">
                <a16:creationId xmlns:a16="http://schemas.microsoft.com/office/drawing/2014/main" id="{93E80DE5-0283-4A96-A227-57DFC9BBD8BC}"/>
              </a:ext>
            </a:extLst>
          </p:cNvPr>
          <p:cNvSpPr>
            <a:spLocks noGrp="1"/>
          </p:cNvSpPr>
          <p:nvPr/>
        </p:nvSpPr>
        <p:spPr>
          <a:xfrm>
            <a:off x="13075919" y="3337560"/>
            <a:ext cx="4617720" cy="6400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ビューモデル</a:t>
            </a:r>
          </a:p>
          <a:p>
            <a:pPr algn="ctr">
              <a:buNone/>
            </a:pPr>
            <a:r>
              <a:rPr sz="1000" b="0">
                <a:solidFill>
                  <a:srgbClr val="333333"/>
                </a:solidFill>
                <a:latin typeface="Arial"/>
                <a:ea typeface="Arial"/>
                <a:cs typeface="Arial"/>
              </a:rPr>
              <a:t>画面状態とコマンド</a:t>
            </a:r>
          </a:p>
        </p:txBody>
      </p:sp>
      <p:sp>
        <p:nvSpPr>
          <p:cNvPr id="12" name="Rounded Rectangle 11">
            <a:extLst>
              <a:ext uri="{FF2B5EF4-FFF2-40B4-BE49-F238E27FC236}">
                <a16:creationId xmlns:a16="http://schemas.microsoft.com/office/drawing/2014/main" id="{D85CEA9B-CACA-41EF-B879-378290D84529}"/>
              </a:ext>
            </a:extLst>
          </p:cNvPr>
          <p:cNvSpPr>
            <a:spLocks noGrp="1"/>
          </p:cNvSpPr>
          <p:nvPr/>
        </p:nvSpPr>
        <p:spPr>
          <a:xfrm>
            <a:off x="7955279" y="4663440"/>
            <a:ext cx="9966960" cy="1280160"/>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A6F04AD-819B-43AB-BE42-B9D89041DFDB}"/>
              </a:ext>
            </a:extLst>
          </p:cNvPr>
          <p:cNvSpPr>
            <a:spLocks noGrp="1"/>
          </p:cNvSpPr>
          <p:nvPr/>
        </p:nvSpPr>
        <p:spPr>
          <a:xfrm>
            <a:off x="8065007" y="4736592"/>
            <a:ext cx="9747504"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アプリケーション層／ドメイン層</a:t>
            </a:r>
          </a:p>
        </p:txBody>
      </p:sp>
      <p:sp>
        <p:nvSpPr>
          <p:cNvPr id="14" name="Rounded Rectangle 13">
            <a:extLst>
              <a:ext uri="{FF2B5EF4-FFF2-40B4-BE49-F238E27FC236}">
                <a16:creationId xmlns:a16="http://schemas.microsoft.com/office/drawing/2014/main" id="{96F21439-2AE0-4DF6-8F6B-40CEFC14EB77}"/>
              </a:ext>
            </a:extLst>
          </p:cNvPr>
          <p:cNvSpPr>
            <a:spLocks noGrp="1"/>
          </p:cNvSpPr>
          <p:nvPr/>
        </p:nvSpPr>
        <p:spPr>
          <a:xfrm>
            <a:off x="8183879" y="5074920"/>
            <a:ext cx="4617720" cy="6400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コマンド／クエリ／サービス</a:t>
            </a:r>
          </a:p>
          <a:p>
            <a:pPr algn="ctr">
              <a:buNone/>
            </a:pPr>
            <a:r>
              <a:rPr sz="1000" b="0">
                <a:solidFill>
                  <a:srgbClr val="333333"/>
                </a:solidFill>
                <a:latin typeface="Arial"/>
                <a:ea typeface="Arial"/>
                <a:cs typeface="Arial"/>
              </a:rPr>
              <a:t>ユースケース調整</a:t>
            </a:r>
          </a:p>
        </p:txBody>
      </p:sp>
      <p:sp>
        <p:nvSpPr>
          <p:cNvPr id="15" name="Rounded Rectangle 14">
            <a:extLst>
              <a:ext uri="{FF2B5EF4-FFF2-40B4-BE49-F238E27FC236}">
                <a16:creationId xmlns:a16="http://schemas.microsoft.com/office/drawing/2014/main" id="{C566B0AF-129F-4C0D-8FA9-27CE12E98F68}"/>
              </a:ext>
            </a:extLst>
          </p:cNvPr>
          <p:cNvSpPr>
            <a:spLocks noGrp="1"/>
          </p:cNvSpPr>
          <p:nvPr/>
        </p:nvSpPr>
        <p:spPr>
          <a:xfrm>
            <a:off x="13075919" y="5074920"/>
            <a:ext cx="4617720" cy="6400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共通の業務ルール</a:t>
            </a:r>
          </a:p>
        </p:txBody>
      </p:sp>
      <p:sp>
        <p:nvSpPr>
          <p:cNvPr id="16" name="Connector 15">
            <a:extLst>
              <a:ext uri="{FF2B5EF4-FFF2-40B4-BE49-F238E27FC236}">
                <a16:creationId xmlns:a16="http://schemas.microsoft.com/office/drawing/2014/main" id="{1F9F9921-7D2B-4D64-95B8-7C6E860B0810}"/>
              </a:ext>
            </a:extLst>
          </p:cNvPr>
          <p:cNvSpPr>
            <a:spLocks noGrp="1"/>
          </p:cNvSpPr>
          <p:nvPr/>
        </p:nvSpPr>
        <p:spPr>
          <a:xfrm>
            <a:off x="12938759" y="4206240"/>
            <a:ext cx="0" cy="4572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17" name="Rounded Rectangle 16">
            <a:extLst>
              <a:ext uri="{FF2B5EF4-FFF2-40B4-BE49-F238E27FC236}">
                <a16:creationId xmlns:a16="http://schemas.microsoft.com/office/drawing/2014/main" id="{B3042BA3-D633-409B-8B73-FBFE2305050B}"/>
              </a:ext>
            </a:extLst>
          </p:cNvPr>
          <p:cNvSpPr>
            <a:spLocks noGrp="1"/>
          </p:cNvSpPr>
          <p:nvPr/>
        </p:nvSpPr>
        <p:spPr>
          <a:xfrm>
            <a:off x="7955279" y="6400800"/>
            <a:ext cx="9966960" cy="1280160"/>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89FF77A-C477-4C71-B5FF-695DFDA8502E}"/>
              </a:ext>
            </a:extLst>
          </p:cNvPr>
          <p:cNvSpPr>
            <a:spLocks noGrp="1"/>
          </p:cNvSpPr>
          <p:nvPr/>
        </p:nvSpPr>
        <p:spPr>
          <a:xfrm>
            <a:off x="8065007" y="6473952"/>
            <a:ext cx="9747504"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公開インターフェース</a:t>
            </a:r>
          </a:p>
        </p:txBody>
      </p:sp>
      <p:sp>
        <p:nvSpPr>
          <p:cNvPr id="19" name="Rounded Rectangle 18">
            <a:extLst>
              <a:ext uri="{FF2B5EF4-FFF2-40B4-BE49-F238E27FC236}">
                <a16:creationId xmlns:a16="http://schemas.microsoft.com/office/drawing/2014/main" id="{27BA4EB0-CA19-4522-9E36-60CA73D91F5D}"/>
              </a:ext>
            </a:extLst>
          </p:cNvPr>
          <p:cNvSpPr>
            <a:spLocks noGrp="1"/>
          </p:cNvSpPr>
          <p:nvPr/>
        </p:nvSpPr>
        <p:spPr>
          <a:xfrm>
            <a:off x="8183879" y="6812280"/>
            <a:ext cx="2987040" cy="640080"/>
          </a:xfrm>
          <a:prstGeom prst="roundRect">
            <a:avLst>
              <a:gd name="adj" fmla="val 8000"/>
            </a:avLst>
          </a:prstGeom>
          <a:solidFill>
            <a:srgbClr val="FFF2CC"/>
          </a:solidFill>
          <a:ln w="15875">
            <a:solidFill>
              <a:srgbClr val="BF9000"/>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画面遷移</a:t>
            </a:r>
          </a:p>
        </p:txBody>
      </p:sp>
      <p:sp>
        <p:nvSpPr>
          <p:cNvPr id="20" name="Rounded Rectangle 19">
            <a:extLst>
              <a:ext uri="{FF2B5EF4-FFF2-40B4-BE49-F238E27FC236}">
                <a16:creationId xmlns:a16="http://schemas.microsoft.com/office/drawing/2014/main" id="{386A7B11-8893-4346-9D07-386D906B6B5F}"/>
              </a:ext>
            </a:extLst>
          </p:cNvPr>
          <p:cNvSpPr>
            <a:spLocks noGrp="1"/>
          </p:cNvSpPr>
          <p:nvPr/>
        </p:nvSpPr>
        <p:spPr>
          <a:xfrm>
            <a:off x="11445240" y="6812280"/>
            <a:ext cx="2987040" cy="640080"/>
          </a:xfrm>
          <a:prstGeom prst="roundRect">
            <a:avLst>
              <a:gd name="adj" fmla="val 8000"/>
            </a:avLst>
          </a:prstGeom>
          <a:solidFill>
            <a:srgbClr val="FFF2CC"/>
          </a:solidFill>
          <a:ln w="15875">
            <a:solidFill>
              <a:srgbClr val="BF9000"/>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状態保存／監視／ログ</a:t>
            </a:r>
          </a:p>
        </p:txBody>
      </p:sp>
      <p:sp>
        <p:nvSpPr>
          <p:cNvPr id="21" name="Rounded Rectangle 20">
            <a:extLst>
              <a:ext uri="{FF2B5EF4-FFF2-40B4-BE49-F238E27FC236}">
                <a16:creationId xmlns:a16="http://schemas.microsoft.com/office/drawing/2014/main" id="{05620107-74A7-4347-B2E7-5E98CED3A127}"/>
              </a:ext>
            </a:extLst>
          </p:cNvPr>
          <p:cNvSpPr>
            <a:spLocks noGrp="1"/>
          </p:cNvSpPr>
          <p:nvPr/>
        </p:nvSpPr>
        <p:spPr>
          <a:xfrm>
            <a:off x="14706599" y="6812280"/>
            <a:ext cx="2987040" cy="640080"/>
          </a:xfrm>
          <a:prstGeom prst="roundRect">
            <a:avLst>
              <a:gd name="adj" fmla="val 8000"/>
            </a:avLst>
          </a:prstGeom>
          <a:solidFill>
            <a:srgbClr val="FFF2CC"/>
          </a:solidFill>
          <a:ln w="15875">
            <a:solidFill>
              <a:srgbClr val="BF9000"/>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デバイス制御インターフェース</a:t>
            </a:r>
          </a:p>
        </p:txBody>
      </p:sp>
      <p:sp>
        <p:nvSpPr>
          <p:cNvPr id="22" name="Connector 21">
            <a:extLst>
              <a:ext uri="{FF2B5EF4-FFF2-40B4-BE49-F238E27FC236}">
                <a16:creationId xmlns:a16="http://schemas.microsoft.com/office/drawing/2014/main" id="{9C58A9AD-60A5-48A8-8694-3BDBF8E50D15}"/>
              </a:ext>
            </a:extLst>
          </p:cNvPr>
          <p:cNvSpPr>
            <a:spLocks noGrp="1"/>
          </p:cNvSpPr>
          <p:nvPr/>
        </p:nvSpPr>
        <p:spPr>
          <a:xfrm>
            <a:off x="12938759" y="5943600"/>
            <a:ext cx="0" cy="4572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3" name="Rounded Rectangle 22">
            <a:extLst>
              <a:ext uri="{FF2B5EF4-FFF2-40B4-BE49-F238E27FC236}">
                <a16:creationId xmlns:a16="http://schemas.microsoft.com/office/drawing/2014/main" id="{849357B7-6BF0-4D21-9ECC-1178E0FFF502}"/>
              </a:ext>
            </a:extLst>
          </p:cNvPr>
          <p:cNvSpPr>
            <a:spLocks noGrp="1"/>
          </p:cNvSpPr>
          <p:nvPr/>
        </p:nvSpPr>
        <p:spPr>
          <a:xfrm>
            <a:off x="7955279" y="8138159"/>
            <a:ext cx="9966960" cy="1280160"/>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7C61E042-5F70-4CFF-B755-F4B3126CBC4E}"/>
              </a:ext>
            </a:extLst>
          </p:cNvPr>
          <p:cNvSpPr>
            <a:spLocks noGrp="1"/>
          </p:cNvSpPr>
          <p:nvPr/>
        </p:nvSpPr>
        <p:spPr>
          <a:xfrm>
            <a:off x="8065007" y="8211311"/>
            <a:ext cx="9747504"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インフラストラクチャ層</a:t>
            </a:r>
          </a:p>
        </p:txBody>
      </p:sp>
      <p:sp>
        <p:nvSpPr>
          <p:cNvPr id="25" name="Rounded Rectangle 24">
            <a:extLst>
              <a:ext uri="{FF2B5EF4-FFF2-40B4-BE49-F238E27FC236}">
                <a16:creationId xmlns:a16="http://schemas.microsoft.com/office/drawing/2014/main" id="{3FB4F339-E909-429D-9202-22E60AC45231}"/>
              </a:ext>
            </a:extLst>
          </p:cNvPr>
          <p:cNvSpPr>
            <a:spLocks noGrp="1"/>
          </p:cNvSpPr>
          <p:nvPr/>
        </p:nvSpPr>
        <p:spPr>
          <a:xfrm>
            <a:off x="8183879" y="8549639"/>
            <a:ext cx="4617720" cy="6400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MAUI／SQLite／Sentry</a:t>
            </a:r>
          </a:p>
        </p:txBody>
      </p:sp>
      <p:sp>
        <p:nvSpPr>
          <p:cNvPr id="26" name="Rounded Rectangle 25">
            <a:extLst>
              <a:ext uri="{FF2B5EF4-FFF2-40B4-BE49-F238E27FC236}">
                <a16:creationId xmlns:a16="http://schemas.microsoft.com/office/drawing/2014/main" id="{2F70D5D8-3433-43E6-A13E-312199FEA671}"/>
              </a:ext>
            </a:extLst>
          </p:cNvPr>
          <p:cNvSpPr>
            <a:spLocks noGrp="1"/>
          </p:cNvSpPr>
          <p:nvPr/>
        </p:nvSpPr>
        <p:spPr>
          <a:xfrm>
            <a:off x="13075919" y="8549639"/>
            <a:ext cx="4617720" cy="640080"/>
          </a:xfrm>
          <a:prstGeom prst="roundRect">
            <a:avLst>
              <a:gd name="adj" fmla="val 8000"/>
            </a:avLst>
          </a:prstGeom>
          <a:solidFill>
            <a:srgbClr val="E2F0D9"/>
          </a:solidFill>
          <a:ln w="15875">
            <a:solidFill>
              <a:srgbClr val="70AD47"/>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DeviceCtrl</a:t>
            </a:r>
          </a:p>
        </p:txBody>
      </p:sp>
      <p:sp>
        <p:nvSpPr>
          <p:cNvPr id="27" name="Connector 26">
            <a:extLst>
              <a:ext uri="{FF2B5EF4-FFF2-40B4-BE49-F238E27FC236}">
                <a16:creationId xmlns:a16="http://schemas.microsoft.com/office/drawing/2014/main" id="{EA0F3606-6053-4274-B27D-BF2A6A1D7640}"/>
              </a:ext>
            </a:extLst>
          </p:cNvPr>
          <p:cNvSpPr>
            <a:spLocks noGrp="1"/>
          </p:cNvSpPr>
          <p:nvPr/>
        </p:nvSpPr>
        <p:spPr>
          <a:xfrm>
            <a:off x="12938759" y="7680959"/>
            <a:ext cx="0" cy="4572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8" name="TextBox 27">
            <a:extLst>
              <a:ext uri="{FF2B5EF4-FFF2-40B4-BE49-F238E27FC236}">
                <a16:creationId xmlns:a16="http://schemas.microsoft.com/office/drawing/2014/main" id="{7602D418-7AD8-42EA-B6A1-6F14F79D2783}"/>
              </a:ext>
            </a:extLst>
          </p:cNvPr>
          <p:cNvSpPr>
            <a:spLocks noGrp="1"/>
          </p:cNvSpPr>
          <p:nvPr/>
        </p:nvSpPr>
        <p:spPr>
          <a:xfrm>
            <a:off x="12938759" y="7840979"/>
            <a:ext cx="2011680" cy="274320"/>
          </a:xfrm>
          <a:prstGeom prst="rect">
            <a:avLst/>
          </a:prstGeom>
          <a:noFill/>
        </p:spPr>
        <p:txBody>
          <a:bodyPr wrap="square" lIns="45720" tIns="0" rIns="45720" bIns="0" anchor="t">
            <a:spAutoFit/>
          </a:bodyPr>
          <a:lstStyle/>
          <a:p>
            <a:pPr algn="ctr">
              <a:spcAft>
                <a:spcPts val="600"/>
              </a:spcAft>
              <a:buNone/>
            </a:pPr>
            <a:r>
              <a:rPr sz="1000" b="0">
                <a:solidFill>
                  <a:srgbClr val="8C8C8C"/>
                </a:solidFill>
                <a:latin typeface="Arial"/>
                <a:ea typeface="Arial"/>
                <a:cs typeface="Arial"/>
              </a:rPr>
              <a:t>コンポジションルートで組み立て</a:t>
            </a:r>
          </a:p>
        </p:txBody>
      </p:sp>
      <p:sp>
        <p:nvSpPr>
          <p:cNvPr id="29" name="TextBox 28">
            <a:extLst>
              <a:ext uri="{FF2B5EF4-FFF2-40B4-BE49-F238E27FC236}">
                <a16:creationId xmlns:a16="http://schemas.microsoft.com/office/drawing/2014/main" id="{1534BDDF-5D3F-4CE2-ABF8-C2B2243AE91C}"/>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ARCH-01 3.2、3.6、7.1、ARCH-02 2.3、5、6.1</a:t>
            </a:r>
          </a:p>
        </p:txBody>
      </p:sp>
    </p:spTree>
    <p:extLst>
      <p:ext uri="{BB962C8B-B14F-4D97-AF65-F5344CB8AC3E}">
        <p14:creationId xmlns:p14="http://schemas.microsoft.com/office/powerpoint/2010/main" val="472536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DB884B-6114-4C5B-BBD9-2223B7989F32}"/>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画面操作から機器制御までの処理フロー</a:t>
            </a:r>
          </a:p>
        </p:txBody>
      </p:sp>
      <p:sp>
        <p:nvSpPr>
          <p:cNvPr id="3" name="Rounded Rectangle 2">
            <a:extLst>
              <a:ext uri="{FF2B5EF4-FFF2-40B4-BE49-F238E27FC236}">
                <a16:creationId xmlns:a16="http://schemas.microsoft.com/office/drawing/2014/main" id="{F857C0EB-7B0E-4E54-A291-B78718479C68}"/>
              </a:ext>
            </a:extLst>
          </p:cNvPr>
          <p:cNvSpPr>
            <a:spLocks noGrp="1"/>
          </p:cNvSpPr>
          <p:nvPr/>
        </p:nvSpPr>
        <p:spPr>
          <a:xfrm>
            <a:off x="548640" y="1371600"/>
            <a:ext cx="17190720" cy="86868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ビューを機器実装から切り離し、機器変更時の画面修正を最小限に抑えます。</a:t>
            </a:r>
          </a:p>
        </p:txBody>
      </p:sp>
      <p:sp>
        <p:nvSpPr>
          <p:cNvPr id="4" name="TextBox 3">
            <a:extLst>
              <a:ext uri="{FF2B5EF4-FFF2-40B4-BE49-F238E27FC236}">
                <a16:creationId xmlns:a16="http://schemas.microsoft.com/office/drawing/2014/main" id="{B72D86C9-2529-4AF0-AFA8-7E75044051B9}"/>
              </a:ext>
            </a:extLst>
          </p:cNvPr>
          <p:cNvSpPr>
            <a:spLocks noGrp="1"/>
          </p:cNvSpPr>
          <p:nvPr/>
        </p:nvSpPr>
        <p:spPr>
          <a:xfrm>
            <a:off x="594360" y="2514600"/>
            <a:ext cx="676656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処理順序</a:t>
            </a:r>
          </a:p>
        </p:txBody>
      </p:sp>
      <p:sp>
        <p:nvSpPr>
          <p:cNvPr id="5" name="TextBox 4">
            <a:extLst>
              <a:ext uri="{FF2B5EF4-FFF2-40B4-BE49-F238E27FC236}">
                <a16:creationId xmlns:a16="http://schemas.microsoft.com/office/drawing/2014/main" id="{3472FEC3-F3AD-49E1-9A96-300CD0DF8713}"/>
              </a:ext>
            </a:extLst>
          </p:cNvPr>
          <p:cNvSpPr>
            <a:spLocks noGrp="1"/>
          </p:cNvSpPr>
          <p:nvPr/>
        </p:nvSpPr>
        <p:spPr>
          <a:xfrm>
            <a:off x="685800" y="2990088"/>
            <a:ext cx="667512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1. ビューが操作をビューモデルのコマンドへ渡します。</a:t>
            </a:r>
          </a:p>
          <a:p>
            <a:pPr>
              <a:spcAft>
                <a:spcPts val="500"/>
              </a:spcAft>
              <a:buNone/>
            </a:pPr>
            <a:r>
              <a:rPr sz="1700">
                <a:solidFill>
                  <a:srgbClr val="545454"/>
                </a:solidFill>
                <a:latin typeface="Arial"/>
                <a:ea typeface="Arial"/>
                <a:cs typeface="Arial"/>
              </a:rPr>
              <a:t>2. ビューモデルが画面状態を更新し、アプリケーション層へ処理を依頼します。</a:t>
            </a:r>
          </a:p>
          <a:p>
            <a:pPr>
              <a:spcAft>
                <a:spcPts val="500"/>
              </a:spcAft>
              <a:buNone/>
            </a:pPr>
            <a:r>
              <a:rPr sz="1700">
                <a:solidFill>
                  <a:srgbClr val="545454"/>
                </a:solidFill>
                <a:latin typeface="Arial"/>
                <a:ea typeface="Arial"/>
                <a:cs typeface="Arial"/>
              </a:rPr>
              <a:t>3. アプリケーション層がデバイス制御インターフェースを呼び出します。</a:t>
            </a:r>
          </a:p>
          <a:p>
            <a:pPr>
              <a:spcAft>
                <a:spcPts val="500"/>
              </a:spcAft>
              <a:buNone/>
            </a:pPr>
            <a:r>
              <a:rPr sz="1700">
                <a:solidFill>
                  <a:srgbClr val="545454"/>
                </a:solidFill>
                <a:latin typeface="Arial"/>
                <a:ea typeface="Arial"/>
                <a:cs typeface="Arial"/>
              </a:rPr>
              <a:t>4. DeviceCtrlが設定とプラットフォームに応じて接続方式別実装を選択します。</a:t>
            </a:r>
          </a:p>
          <a:p>
            <a:pPr>
              <a:spcAft>
                <a:spcPts val="500"/>
              </a:spcAft>
              <a:buNone/>
            </a:pPr>
            <a:r>
              <a:rPr sz="1700">
                <a:solidFill>
                  <a:srgbClr val="545454"/>
                </a:solidFill>
                <a:latin typeface="Arial"/>
                <a:ea typeface="Arial"/>
                <a:cs typeface="Arial"/>
              </a:rPr>
              <a:t>5. ビューモデルが結果を画面状態へ反映し、ビューが表示を更新します。</a:t>
            </a:r>
          </a:p>
        </p:txBody>
      </p:sp>
      <p:sp>
        <p:nvSpPr>
          <p:cNvPr id="6" name="TextBox 5">
            <a:extLst>
              <a:ext uri="{FF2B5EF4-FFF2-40B4-BE49-F238E27FC236}">
                <a16:creationId xmlns:a16="http://schemas.microsoft.com/office/drawing/2014/main" id="{12BB7D9D-BF04-4E82-BEE2-43E0C6C555A6}"/>
              </a:ext>
            </a:extLst>
          </p:cNvPr>
          <p:cNvSpPr>
            <a:spLocks noGrp="1"/>
          </p:cNvSpPr>
          <p:nvPr/>
        </p:nvSpPr>
        <p:spPr>
          <a:xfrm>
            <a:off x="7955279" y="2514600"/>
            <a:ext cx="4186123" cy="320040"/>
          </a:xfrm>
          <a:prstGeom prst="rect">
            <a:avLst/>
          </a:prstGeom>
          <a:noFill/>
        </p:spPr>
        <p:txBody>
          <a:bodyPr wrap="square" lIns="45720" tIns="0" rIns="45720" bIns="0" anchor="t">
            <a:spAutoFit/>
          </a:bodyPr>
          <a:lstStyle/>
          <a:p>
            <a:pPr algn="ctr">
              <a:spcAft>
                <a:spcPts val="600"/>
              </a:spcAft>
              <a:buNone/>
            </a:pPr>
            <a:r>
              <a:rPr sz="1100" b="1">
                <a:solidFill>
                  <a:srgbClr val="8C8C8C"/>
                </a:solidFill>
                <a:latin typeface="Arial"/>
                <a:ea typeface="Arial"/>
                <a:cs typeface="Arial"/>
              </a:rPr>
              <a:t>往路 — 操作から機器へ</a:t>
            </a:r>
          </a:p>
        </p:txBody>
      </p:sp>
      <p:sp>
        <p:nvSpPr>
          <p:cNvPr id="7" name="TextBox 6">
            <a:extLst>
              <a:ext uri="{FF2B5EF4-FFF2-40B4-BE49-F238E27FC236}">
                <a16:creationId xmlns:a16="http://schemas.microsoft.com/office/drawing/2014/main" id="{1BFF55C0-37E9-4669-942D-52E3010A44F8}"/>
              </a:ext>
            </a:extLst>
          </p:cNvPr>
          <p:cNvSpPr>
            <a:spLocks noGrp="1"/>
          </p:cNvSpPr>
          <p:nvPr/>
        </p:nvSpPr>
        <p:spPr>
          <a:xfrm>
            <a:off x="13736116" y="2514600"/>
            <a:ext cx="4186123" cy="320040"/>
          </a:xfrm>
          <a:prstGeom prst="rect">
            <a:avLst/>
          </a:prstGeom>
          <a:noFill/>
        </p:spPr>
        <p:txBody>
          <a:bodyPr wrap="square" lIns="45720" tIns="0" rIns="45720" bIns="0" anchor="t">
            <a:spAutoFit/>
          </a:bodyPr>
          <a:lstStyle/>
          <a:p>
            <a:pPr algn="ctr">
              <a:spcAft>
                <a:spcPts val="600"/>
              </a:spcAft>
              <a:buNone/>
            </a:pPr>
            <a:r>
              <a:rPr sz="1100" b="1">
                <a:solidFill>
                  <a:srgbClr val="8C8C8C"/>
                </a:solidFill>
                <a:latin typeface="Arial"/>
                <a:ea typeface="Arial"/>
                <a:cs typeface="Arial"/>
              </a:rPr>
              <a:t>復路 — 結果から画面へ</a:t>
            </a:r>
          </a:p>
        </p:txBody>
      </p:sp>
      <p:sp>
        <p:nvSpPr>
          <p:cNvPr id="8" name="Rounded Rectangle 7">
            <a:extLst>
              <a:ext uri="{FF2B5EF4-FFF2-40B4-BE49-F238E27FC236}">
                <a16:creationId xmlns:a16="http://schemas.microsoft.com/office/drawing/2014/main" id="{156295DC-00C5-4F4A-8586-96A54BABBF6B}"/>
              </a:ext>
            </a:extLst>
          </p:cNvPr>
          <p:cNvSpPr>
            <a:spLocks noGrp="1"/>
          </p:cNvSpPr>
          <p:nvPr/>
        </p:nvSpPr>
        <p:spPr>
          <a:xfrm>
            <a:off x="7955279" y="2971800"/>
            <a:ext cx="4186123" cy="721766"/>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利用者の操作</a:t>
            </a:r>
          </a:p>
        </p:txBody>
      </p:sp>
      <p:sp>
        <p:nvSpPr>
          <p:cNvPr id="9" name="Rounded Rectangle 8">
            <a:extLst>
              <a:ext uri="{FF2B5EF4-FFF2-40B4-BE49-F238E27FC236}">
                <a16:creationId xmlns:a16="http://schemas.microsoft.com/office/drawing/2014/main" id="{5501C670-CE5F-47FF-913E-A66F7DEA3577}"/>
              </a:ext>
            </a:extLst>
          </p:cNvPr>
          <p:cNvSpPr>
            <a:spLocks noGrp="1"/>
          </p:cNvSpPr>
          <p:nvPr/>
        </p:nvSpPr>
        <p:spPr>
          <a:xfrm>
            <a:off x="7955279" y="3947160"/>
            <a:ext cx="4186123" cy="721766"/>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ビュー</a:t>
            </a:r>
          </a:p>
          <a:p>
            <a:pPr algn="ctr">
              <a:buNone/>
            </a:pPr>
            <a:r>
              <a:rPr sz="1000" b="0">
                <a:solidFill>
                  <a:srgbClr val="333333"/>
                </a:solidFill>
                <a:latin typeface="Arial"/>
                <a:ea typeface="Arial"/>
                <a:cs typeface="Arial"/>
              </a:rPr>
              <a:t>操作の受付</a:t>
            </a:r>
          </a:p>
        </p:txBody>
      </p:sp>
      <p:sp>
        <p:nvSpPr>
          <p:cNvPr id="10" name="Connector 9">
            <a:extLst>
              <a:ext uri="{FF2B5EF4-FFF2-40B4-BE49-F238E27FC236}">
                <a16:creationId xmlns:a16="http://schemas.microsoft.com/office/drawing/2014/main" id="{69827E19-C9A0-45FB-9B9C-85E3A90FC1C1}"/>
              </a:ext>
            </a:extLst>
          </p:cNvPr>
          <p:cNvSpPr>
            <a:spLocks noGrp="1"/>
          </p:cNvSpPr>
          <p:nvPr/>
        </p:nvSpPr>
        <p:spPr>
          <a:xfrm>
            <a:off x="10048341" y="3693566"/>
            <a:ext cx="0" cy="253594"/>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11" name="Rounded Rectangle 10">
            <a:extLst>
              <a:ext uri="{FF2B5EF4-FFF2-40B4-BE49-F238E27FC236}">
                <a16:creationId xmlns:a16="http://schemas.microsoft.com/office/drawing/2014/main" id="{01294484-AA73-4EE8-A298-D56B417F48A2}"/>
              </a:ext>
            </a:extLst>
          </p:cNvPr>
          <p:cNvSpPr>
            <a:spLocks noGrp="1"/>
          </p:cNvSpPr>
          <p:nvPr/>
        </p:nvSpPr>
        <p:spPr>
          <a:xfrm>
            <a:off x="7955279" y="4922520"/>
            <a:ext cx="4186123" cy="721766"/>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ビューモデル</a:t>
            </a:r>
          </a:p>
          <a:p>
            <a:pPr algn="ctr">
              <a:buNone/>
            </a:pPr>
            <a:r>
              <a:rPr sz="1000" b="0">
                <a:solidFill>
                  <a:srgbClr val="333333"/>
                </a:solidFill>
                <a:latin typeface="Arial"/>
                <a:ea typeface="Arial"/>
                <a:cs typeface="Arial"/>
              </a:rPr>
              <a:t>画面状態の更新と処理依頼</a:t>
            </a:r>
          </a:p>
        </p:txBody>
      </p:sp>
      <p:sp>
        <p:nvSpPr>
          <p:cNvPr id="12" name="Connector 11">
            <a:extLst>
              <a:ext uri="{FF2B5EF4-FFF2-40B4-BE49-F238E27FC236}">
                <a16:creationId xmlns:a16="http://schemas.microsoft.com/office/drawing/2014/main" id="{D6D3F160-520C-46FB-A3DC-099B091C6907}"/>
              </a:ext>
            </a:extLst>
          </p:cNvPr>
          <p:cNvSpPr>
            <a:spLocks noGrp="1"/>
          </p:cNvSpPr>
          <p:nvPr/>
        </p:nvSpPr>
        <p:spPr>
          <a:xfrm>
            <a:off x="10048341" y="4668926"/>
            <a:ext cx="0" cy="253594"/>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13" name="Rounded Rectangle 12">
            <a:extLst>
              <a:ext uri="{FF2B5EF4-FFF2-40B4-BE49-F238E27FC236}">
                <a16:creationId xmlns:a16="http://schemas.microsoft.com/office/drawing/2014/main" id="{E3FAD3D5-9AAB-49A6-BEBD-4D40A6C792A3}"/>
              </a:ext>
            </a:extLst>
          </p:cNvPr>
          <p:cNvSpPr>
            <a:spLocks noGrp="1"/>
          </p:cNvSpPr>
          <p:nvPr/>
        </p:nvSpPr>
        <p:spPr>
          <a:xfrm>
            <a:off x="7955279" y="5897880"/>
            <a:ext cx="4186123" cy="721766"/>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アプリケーション層</a:t>
            </a:r>
          </a:p>
          <a:p>
            <a:pPr algn="ctr">
              <a:buNone/>
            </a:pPr>
            <a:r>
              <a:rPr sz="1000" b="0">
                <a:solidFill>
                  <a:srgbClr val="333333"/>
                </a:solidFill>
                <a:latin typeface="Arial"/>
                <a:ea typeface="Arial"/>
                <a:cs typeface="Arial"/>
              </a:rPr>
              <a:t>ユースケースの調整</a:t>
            </a:r>
          </a:p>
        </p:txBody>
      </p:sp>
      <p:sp>
        <p:nvSpPr>
          <p:cNvPr id="14" name="Connector 13">
            <a:extLst>
              <a:ext uri="{FF2B5EF4-FFF2-40B4-BE49-F238E27FC236}">
                <a16:creationId xmlns:a16="http://schemas.microsoft.com/office/drawing/2014/main" id="{977ECDF2-DA3E-425F-9818-065DA37F2157}"/>
              </a:ext>
            </a:extLst>
          </p:cNvPr>
          <p:cNvSpPr>
            <a:spLocks noGrp="1"/>
          </p:cNvSpPr>
          <p:nvPr/>
        </p:nvSpPr>
        <p:spPr>
          <a:xfrm>
            <a:off x="10048341" y="5644286"/>
            <a:ext cx="0" cy="253594"/>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15" name="Rounded Rectangle 14">
            <a:extLst>
              <a:ext uri="{FF2B5EF4-FFF2-40B4-BE49-F238E27FC236}">
                <a16:creationId xmlns:a16="http://schemas.microsoft.com/office/drawing/2014/main" id="{33AAB86E-E8D5-47B0-80B1-1AD9B551D9C6}"/>
              </a:ext>
            </a:extLst>
          </p:cNvPr>
          <p:cNvSpPr>
            <a:spLocks noGrp="1"/>
          </p:cNvSpPr>
          <p:nvPr/>
        </p:nvSpPr>
        <p:spPr>
          <a:xfrm>
            <a:off x="7955279" y="6873240"/>
            <a:ext cx="4186123" cy="721766"/>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デバイス制御インターフェース</a:t>
            </a:r>
          </a:p>
        </p:txBody>
      </p:sp>
      <p:sp>
        <p:nvSpPr>
          <p:cNvPr id="16" name="Connector 15">
            <a:extLst>
              <a:ext uri="{FF2B5EF4-FFF2-40B4-BE49-F238E27FC236}">
                <a16:creationId xmlns:a16="http://schemas.microsoft.com/office/drawing/2014/main" id="{03CEA092-4878-453B-ABE8-02BB3A5EA246}"/>
              </a:ext>
            </a:extLst>
          </p:cNvPr>
          <p:cNvSpPr>
            <a:spLocks noGrp="1"/>
          </p:cNvSpPr>
          <p:nvPr/>
        </p:nvSpPr>
        <p:spPr>
          <a:xfrm>
            <a:off x="10048341" y="6619646"/>
            <a:ext cx="0" cy="253594"/>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17" name="Rounded Rectangle 16">
            <a:extLst>
              <a:ext uri="{FF2B5EF4-FFF2-40B4-BE49-F238E27FC236}">
                <a16:creationId xmlns:a16="http://schemas.microsoft.com/office/drawing/2014/main" id="{EBB1A758-B2B2-4591-A7A6-7E7338D38BEE}"/>
              </a:ext>
            </a:extLst>
          </p:cNvPr>
          <p:cNvSpPr>
            <a:spLocks noGrp="1"/>
          </p:cNvSpPr>
          <p:nvPr/>
        </p:nvSpPr>
        <p:spPr>
          <a:xfrm>
            <a:off x="7955279" y="7848599"/>
            <a:ext cx="4186123" cy="721766"/>
          </a:xfrm>
          <a:prstGeom prst="roundRect">
            <a:avLst>
              <a:gd name="adj" fmla="val 8000"/>
            </a:avLst>
          </a:prstGeom>
          <a:solidFill>
            <a:srgbClr val="E2F0D9"/>
          </a:solidFill>
          <a:ln w="15875">
            <a:solidFill>
              <a:srgbClr val="70AD47"/>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DeviceCtrl</a:t>
            </a:r>
          </a:p>
          <a:p>
            <a:pPr algn="ctr">
              <a:buNone/>
            </a:pPr>
            <a:r>
              <a:rPr sz="1000" b="0">
                <a:solidFill>
                  <a:srgbClr val="333333"/>
                </a:solidFill>
                <a:latin typeface="Arial"/>
                <a:ea typeface="Arial"/>
                <a:cs typeface="Arial"/>
              </a:rPr>
              <a:t>接続方式の選択と実行</a:t>
            </a:r>
          </a:p>
        </p:txBody>
      </p:sp>
      <p:sp>
        <p:nvSpPr>
          <p:cNvPr id="18" name="Connector 17">
            <a:extLst>
              <a:ext uri="{FF2B5EF4-FFF2-40B4-BE49-F238E27FC236}">
                <a16:creationId xmlns:a16="http://schemas.microsoft.com/office/drawing/2014/main" id="{474D2E07-7BF2-42E5-A968-D195736BFB07}"/>
              </a:ext>
            </a:extLst>
          </p:cNvPr>
          <p:cNvSpPr>
            <a:spLocks noGrp="1"/>
          </p:cNvSpPr>
          <p:nvPr/>
        </p:nvSpPr>
        <p:spPr>
          <a:xfrm>
            <a:off x="10048341" y="7595006"/>
            <a:ext cx="0" cy="253593"/>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19" name="Rounded Rectangle 18">
            <a:extLst>
              <a:ext uri="{FF2B5EF4-FFF2-40B4-BE49-F238E27FC236}">
                <a16:creationId xmlns:a16="http://schemas.microsoft.com/office/drawing/2014/main" id="{26AA723B-D97F-4D6D-B8D5-FEBEB8C774DD}"/>
              </a:ext>
            </a:extLst>
          </p:cNvPr>
          <p:cNvSpPr>
            <a:spLocks noGrp="1"/>
          </p:cNvSpPr>
          <p:nvPr/>
        </p:nvSpPr>
        <p:spPr>
          <a:xfrm>
            <a:off x="13736116" y="4922520"/>
            <a:ext cx="4186123" cy="721766"/>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ビューモデル</a:t>
            </a:r>
          </a:p>
          <a:p>
            <a:pPr algn="ctr">
              <a:buNone/>
            </a:pPr>
            <a:r>
              <a:rPr sz="1000" b="0">
                <a:solidFill>
                  <a:srgbClr val="333333"/>
                </a:solidFill>
                <a:latin typeface="Arial"/>
                <a:ea typeface="Arial"/>
                <a:cs typeface="Arial"/>
              </a:rPr>
              <a:t>結果を画面状態へ反映</a:t>
            </a:r>
          </a:p>
        </p:txBody>
      </p:sp>
      <p:sp>
        <p:nvSpPr>
          <p:cNvPr id="20" name="Rounded Rectangle 19">
            <a:extLst>
              <a:ext uri="{FF2B5EF4-FFF2-40B4-BE49-F238E27FC236}">
                <a16:creationId xmlns:a16="http://schemas.microsoft.com/office/drawing/2014/main" id="{3DF21A00-89EC-4A9E-B7AF-DCA2C2AC5FB9}"/>
              </a:ext>
            </a:extLst>
          </p:cNvPr>
          <p:cNvSpPr>
            <a:spLocks noGrp="1"/>
          </p:cNvSpPr>
          <p:nvPr/>
        </p:nvSpPr>
        <p:spPr>
          <a:xfrm>
            <a:off x="13736116" y="3947160"/>
            <a:ext cx="4186123" cy="721766"/>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ビュー</a:t>
            </a:r>
          </a:p>
          <a:p>
            <a:pPr algn="ctr">
              <a:buNone/>
            </a:pPr>
            <a:r>
              <a:rPr sz="1000" b="0">
                <a:solidFill>
                  <a:srgbClr val="333333"/>
                </a:solidFill>
                <a:latin typeface="Arial"/>
                <a:ea typeface="Arial"/>
                <a:cs typeface="Arial"/>
              </a:rPr>
              <a:t>表示の更新</a:t>
            </a:r>
          </a:p>
        </p:txBody>
      </p:sp>
      <p:sp>
        <p:nvSpPr>
          <p:cNvPr id="21" name="Connector 20">
            <a:extLst>
              <a:ext uri="{FF2B5EF4-FFF2-40B4-BE49-F238E27FC236}">
                <a16:creationId xmlns:a16="http://schemas.microsoft.com/office/drawing/2014/main" id="{1C542A6F-6AA6-497A-A6D3-A273D3A0CD17}"/>
              </a:ext>
            </a:extLst>
          </p:cNvPr>
          <p:cNvSpPr>
            <a:spLocks noGrp="1"/>
          </p:cNvSpPr>
          <p:nvPr/>
        </p:nvSpPr>
        <p:spPr>
          <a:xfrm>
            <a:off x="12141403" y="8209483"/>
            <a:ext cx="3687775" cy="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2" name="Connector 21">
            <a:extLst>
              <a:ext uri="{FF2B5EF4-FFF2-40B4-BE49-F238E27FC236}">
                <a16:creationId xmlns:a16="http://schemas.microsoft.com/office/drawing/2014/main" id="{6CBFCEC3-9C7A-40E1-B477-7A6099FF3A90}"/>
              </a:ext>
            </a:extLst>
          </p:cNvPr>
          <p:cNvSpPr>
            <a:spLocks noGrp="1"/>
          </p:cNvSpPr>
          <p:nvPr/>
        </p:nvSpPr>
        <p:spPr>
          <a:xfrm flipV="1">
            <a:off x="15829178" y="5644286"/>
            <a:ext cx="0" cy="2565197"/>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3" name="Connector 22">
            <a:extLst>
              <a:ext uri="{FF2B5EF4-FFF2-40B4-BE49-F238E27FC236}">
                <a16:creationId xmlns:a16="http://schemas.microsoft.com/office/drawing/2014/main" id="{5E846A96-6C5F-4C0E-B1E3-C7CF844E3740}"/>
              </a:ext>
            </a:extLst>
          </p:cNvPr>
          <p:cNvSpPr>
            <a:spLocks noGrp="1"/>
          </p:cNvSpPr>
          <p:nvPr/>
        </p:nvSpPr>
        <p:spPr>
          <a:xfrm flipV="1">
            <a:off x="15829178" y="4668926"/>
            <a:ext cx="0" cy="253594"/>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4" name="TextBox 23">
            <a:extLst>
              <a:ext uri="{FF2B5EF4-FFF2-40B4-BE49-F238E27FC236}">
                <a16:creationId xmlns:a16="http://schemas.microsoft.com/office/drawing/2014/main" id="{584D4CB9-887E-45A0-956F-7F3696825015}"/>
              </a:ext>
            </a:extLst>
          </p:cNvPr>
          <p:cNvSpPr>
            <a:spLocks noGrp="1"/>
          </p:cNvSpPr>
          <p:nvPr/>
        </p:nvSpPr>
        <p:spPr>
          <a:xfrm>
            <a:off x="13137184" y="7998053"/>
            <a:ext cx="2194560" cy="274320"/>
          </a:xfrm>
          <a:prstGeom prst="rect">
            <a:avLst/>
          </a:prstGeom>
          <a:noFill/>
        </p:spPr>
        <p:txBody>
          <a:bodyPr wrap="square" lIns="45720" tIns="0" rIns="45720" bIns="0" anchor="t">
            <a:spAutoFit/>
          </a:bodyPr>
          <a:lstStyle/>
          <a:p>
            <a:pPr algn="l">
              <a:spcAft>
                <a:spcPts val="600"/>
              </a:spcAft>
              <a:buNone/>
            </a:pPr>
            <a:r>
              <a:rPr sz="1000" b="0">
                <a:solidFill>
                  <a:srgbClr val="8C8C8C"/>
                </a:solidFill>
                <a:latin typeface="Arial"/>
                <a:ea typeface="Arial"/>
                <a:cs typeface="Arial"/>
              </a:rPr>
              <a:t>機器操作の結果</a:t>
            </a:r>
          </a:p>
        </p:txBody>
      </p:sp>
      <p:sp>
        <p:nvSpPr>
          <p:cNvPr id="25" name="TextBox 24">
            <a:extLst>
              <a:ext uri="{FF2B5EF4-FFF2-40B4-BE49-F238E27FC236}">
                <a16:creationId xmlns:a16="http://schemas.microsoft.com/office/drawing/2014/main" id="{DF8F6653-86D2-4CA8-BC0C-7C3CECFAC240}"/>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ARCH-01 3.3–3.4、6.7、ARCH-DEVICE-01 2.1、5.1–5.4</a:t>
            </a:r>
          </a:p>
        </p:txBody>
      </p:sp>
    </p:spTree>
    <p:extLst>
      <p:ext uri="{BB962C8B-B14F-4D97-AF65-F5344CB8AC3E}">
        <p14:creationId xmlns:p14="http://schemas.microsoft.com/office/powerpoint/2010/main" val="1280873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B61C2A-4CD1-42E3-BEC3-E1A1D20C9200}"/>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アプリ起動・認証・状態復元</a:t>
            </a:r>
          </a:p>
        </p:txBody>
      </p:sp>
      <p:sp>
        <p:nvSpPr>
          <p:cNvPr id="3" name="Rounded Rectangle 2">
            <a:extLst>
              <a:ext uri="{FF2B5EF4-FFF2-40B4-BE49-F238E27FC236}">
                <a16:creationId xmlns:a16="http://schemas.microsoft.com/office/drawing/2014/main" id="{64CBAA38-182B-4D0E-A12A-FE24F85D95C2}"/>
              </a:ext>
            </a:extLst>
          </p:cNvPr>
          <p:cNvSpPr>
            <a:spLocks noGrp="1"/>
          </p:cNvSpPr>
          <p:nvPr/>
        </p:nvSpPr>
        <p:spPr>
          <a:xfrm>
            <a:off x="548640" y="1371600"/>
            <a:ext cx="17190720" cy="86868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起動時の確認処理を共通化し、必要な情報と機器状態を確認してから安全に業務を開始します。</a:t>
            </a:r>
          </a:p>
        </p:txBody>
      </p:sp>
      <p:sp>
        <p:nvSpPr>
          <p:cNvPr id="4" name="TextBox 3">
            <a:extLst>
              <a:ext uri="{FF2B5EF4-FFF2-40B4-BE49-F238E27FC236}">
                <a16:creationId xmlns:a16="http://schemas.microsoft.com/office/drawing/2014/main" id="{39DBFA6F-772D-4FBD-B3C7-1B56E582C767}"/>
              </a:ext>
            </a:extLst>
          </p:cNvPr>
          <p:cNvSpPr>
            <a:spLocks noGrp="1"/>
          </p:cNvSpPr>
          <p:nvPr/>
        </p:nvSpPr>
        <p:spPr>
          <a:xfrm>
            <a:off x="594360" y="251460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起動順序</a:t>
            </a:r>
          </a:p>
        </p:txBody>
      </p:sp>
      <p:sp>
        <p:nvSpPr>
          <p:cNvPr id="5" name="TextBox 4">
            <a:extLst>
              <a:ext uri="{FF2B5EF4-FFF2-40B4-BE49-F238E27FC236}">
                <a16:creationId xmlns:a16="http://schemas.microsoft.com/office/drawing/2014/main" id="{BC065AF4-6AFB-4E09-A5FE-CE7FBCDD1734}"/>
              </a:ext>
            </a:extLst>
          </p:cNvPr>
          <p:cNvSpPr>
            <a:spLocks noGrp="1"/>
          </p:cNvSpPr>
          <p:nvPr/>
        </p:nvSpPr>
        <p:spPr>
          <a:xfrm>
            <a:off x="685800" y="299008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1. アプリのバージョンと利用可否を確認します。</a:t>
            </a:r>
          </a:p>
          <a:p>
            <a:pPr>
              <a:spcAft>
                <a:spcPts val="500"/>
              </a:spcAft>
              <a:buNone/>
            </a:pPr>
            <a:r>
              <a:rPr sz="1700">
                <a:solidFill>
                  <a:srgbClr val="545454"/>
                </a:solidFill>
                <a:latin typeface="Arial"/>
                <a:ea typeface="Arial"/>
                <a:cs typeface="Arial"/>
              </a:rPr>
              <a:t>2. 端末設定とデバイス設定を取得し、取得できない場合は直近の有効な設定を使用します。</a:t>
            </a:r>
          </a:p>
          <a:p>
            <a:pPr>
              <a:spcAft>
                <a:spcPts val="500"/>
              </a:spcAft>
              <a:buNone/>
            </a:pPr>
            <a:r>
              <a:rPr sz="1700">
                <a:solidFill>
                  <a:srgbClr val="545454"/>
                </a:solidFill>
                <a:latin typeface="Arial"/>
                <a:ea typeface="Arial"/>
                <a:cs typeface="Arial"/>
              </a:rPr>
              <a:t>3. オフライン業務に必要な情報と案内情報を更新します。</a:t>
            </a:r>
          </a:p>
          <a:p>
            <a:pPr>
              <a:spcAft>
                <a:spcPts val="500"/>
              </a:spcAft>
              <a:buNone/>
            </a:pPr>
            <a:r>
              <a:rPr sz="1700">
                <a:solidFill>
                  <a:srgbClr val="545454"/>
                </a:solidFill>
                <a:latin typeface="Arial"/>
                <a:ea typeface="Arial"/>
                <a:cs typeface="Arial"/>
              </a:rPr>
              <a:t>4. 認証状態を確認し、必要に応じて再ログインを求めます。</a:t>
            </a:r>
          </a:p>
          <a:p>
            <a:pPr>
              <a:spcAft>
                <a:spcPts val="500"/>
              </a:spcAft>
              <a:buNone/>
            </a:pPr>
            <a:r>
              <a:rPr sz="1700">
                <a:solidFill>
                  <a:srgbClr val="545454"/>
                </a:solidFill>
                <a:latin typeface="Arial"/>
                <a:ea typeface="Arial"/>
                <a:cs typeface="Arial"/>
              </a:rPr>
              <a:t>5. 決済端末の接続状態を確認し、利用可否を画面へ通知します。</a:t>
            </a:r>
          </a:p>
          <a:p>
            <a:pPr>
              <a:spcAft>
                <a:spcPts val="500"/>
              </a:spcAft>
              <a:buNone/>
            </a:pPr>
            <a:r>
              <a:rPr sz="1700">
                <a:solidFill>
                  <a:srgbClr val="545454"/>
                </a:solidFill>
                <a:latin typeface="Arial"/>
                <a:ea typeface="Arial"/>
                <a:cs typeface="Arial"/>
              </a:rPr>
              <a:t>6. デバイス制御を初期化し、保存済みの画面状態と入力内容を復元します。</a:t>
            </a:r>
          </a:p>
        </p:txBody>
      </p:sp>
      <p:sp>
        <p:nvSpPr>
          <p:cNvPr id="6" name="TextBox 5">
            <a:extLst>
              <a:ext uri="{FF2B5EF4-FFF2-40B4-BE49-F238E27FC236}">
                <a16:creationId xmlns:a16="http://schemas.microsoft.com/office/drawing/2014/main" id="{807F13FB-8C5F-4860-A787-393DF63A5B2F}"/>
              </a:ext>
            </a:extLst>
          </p:cNvPr>
          <p:cNvSpPr>
            <a:spLocks noGrp="1"/>
          </p:cNvSpPr>
          <p:nvPr/>
        </p:nvSpPr>
        <p:spPr>
          <a:xfrm>
            <a:off x="594360" y="4965192"/>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認証と復元の原則</a:t>
            </a:r>
          </a:p>
        </p:txBody>
      </p:sp>
      <p:sp>
        <p:nvSpPr>
          <p:cNvPr id="7" name="TextBox 6">
            <a:extLst>
              <a:ext uri="{FF2B5EF4-FFF2-40B4-BE49-F238E27FC236}">
                <a16:creationId xmlns:a16="http://schemas.microsoft.com/office/drawing/2014/main" id="{7AAFCFA6-9A3F-4323-A4D9-88C404A52ADA}"/>
              </a:ext>
            </a:extLst>
          </p:cNvPr>
          <p:cNvSpPr>
            <a:spLocks noGrp="1"/>
          </p:cNvSpPr>
          <p:nvPr/>
        </p:nvSpPr>
        <p:spPr>
          <a:xfrm>
            <a:off x="685800" y="5440679"/>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一定時間操作がない場合は、サーバー側の認証期限に従って再ログインを求めます。</a:t>
            </a:r>
          </a:p>
          <a:p>
            <a:pPr>
              <a:spcAft>
                <a:spcPts val="500"/>
              </a:spcAft>
              <a:buNone/>
            </a:pPr>
            <a:r>
              <a:rPr sz="1700">
                <a:solidFill>
                  <a:srgbClr val="545454"/>
                </a:solidFill>
                <a:latin typeface="Arial"/>
                <a:ea typeface="Arial"/>
                <a:cs typeface="Arial"/>
              </a:rPr>
              <a:t>•  アプリの異常終了またはタスク終了後は、再ログインを行ってから保存済みの状態を復元します。</a:t>
            </a:r>
          </a:p>
          <a:p>
            <a:pPr>
              <a:spcAft>
                <a:spcPts val="500"/>
              </a:spcAft>
              <a:buNone/>
            </a:pPr>
            <a:r>
              <a:rPr sz="1700">
                <a:solidFill>
                  <a:srgbClr val="545454"/>
                </a:solidFill>
                <a:latin typeface="Arial"/>
                <a:ea typeface="Arial"/>
                <a:cs typeface="Arial"/>
              </a:rPr>
              <a:t>•  復元対象を画面入力、業務状態および一時的な表示状態に分け、必要な情報だけを保存します。</a:t>
            </a:r>
          </a:p>
          <a:p>
            <a:pPr>
              <a:spcAft>
                <a:spcPts val="500"/>
              </a:spcAft>
              <a:buNone/>
            </a:pPr>
            <a:r>
              <a:rPr sz="1700">
                <a:solidFill>
                  <a:srgbClr val="545454"/>
                </a:solidFill>
                <a:latin typeface="Arial"/>
                <a:ea typeface="Arial"/>
                <a:cs typeface="Arial"/>
              </a:rPr>
              <a:t>•  認証情報はOSの安全な保管領域へ保存します。</a:t>
            </a:r>
          </a:p>
        </p:txBody>
      </p:sp>
      <p:sp>
        <p:nvSpPr>
          <p:cNvPr id="8" name="TextBox 7">
            <a:extLst>
              <a:ext uri="{FF2B5EF4-FFF2-40B4-BE49-F238E27FC236}">
                <a16:creationId xmlns:a16="http://schemas.microsoft.com/office/drawing/2014/main" id="{E2CC0B71-C4AE-4F4A-9238-2D7B55745793}"/>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KSNEWSYS-309、KSNEWSYS-390、KSNEWSYS-394、KSNEWSYS-427</a:t>
            </a:r>
          </a:p>
        </p:txBody>
      </p:sp>
    </p:spTree>
    <p:extLst>
      <p:ext uri="{BB962C8B-B14F-4D97-AF65-F5344CB8AC3E}">
        <p14:creationId xmlns:p14="http://schemas.microsoft.com/office/powerpoint/2010/main" val="447843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3BC2A6-0E49-44A2-BFCA-AA9EB1099FC8}"/>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共通基盤とアプリライフサイクル</a:t>
            </a:r>
          </a:p>
        </p:txBody>
      </p:sp>
      <p:sp>
        <p:nvSpPr>
          <p:cNvPr id="3" name="Rounded Rectangle 2">
            <a:extLst>
              <a:ext uri="{FF2B5EF4-FFF2-40B4-BE49-F238E27FC236}">
                <a16:creationId xmlns:a16="http://schemas.microsoft.com/office/drawing/2014/main" id="{A50A9D48-20F7-407B-A94B-AFEEEF46916B}"/>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共通機能をTabletPos.Coreとコンポジションルートへ集約し、方式変更を一か所で管理します。</a:t>
            </a:r>
          </a:p>
        </p:txBody>
      </p:sp>
      <p:graphicFrame>
        <p:nvGraphicFramePr>
          <p:cNvPr id="9" name="Table 3"/>
          <p:cNvGraphicFramePr/>
          <p:nvPr/>
        </p:nvGraphicFramePr>
        <p:xfrm>
          <a:off x="621792" y="2926080"/>
          <a:ext cx="17190719" cy="2194560"/>
        </p:xfrm>
        <a:graphic>
          <a:graphicData uri="http://schemas.openxmlformats.org/drawingml/2006/table">
            <a:tbl>
              <a:tblPr firstRow="1" bandRow="1">
                <a:tableStyleId>{5C22544A-7EE6-4342-B048-85BDC9FD1C3A}</a:tableStyleId>
              </a:tblPr>
              <a:tblGrid>
                <a:gridCol w="2914898">
                  <a:extLst>
                    <a:ext uri="{9D8B030D-6E8A-4147-A177-3AD203B41FA5}">
                      <a16:colId xmlns:a16="http://schemas.microsoft.com/office/drawing/2014/main" val="20000"/>
                    </a:ext>
                  </a:extLst>
                </a:gridCol>
                <a:gridCol w="14275821">
                  <a:extLst>
                    <a:ext uri="{9D8B030D-6E8A-4147-A177-3AD203B41FA5}">
                      <a16:colId xmlns:a16="http://schemas.microsoft.com/office/drawing/2014/main" val="20001"/>
                    </a:ext>
                  </a:extLst>
                </a:gridCol>
              </a:tblGrid>
              <a:tr h="365760">
                <a:tc>
                  <a:txBody>
                    <a:bodyPr/>
                    <a:lstStyle/>
                    <a:p>
                      <a:r>
                        <a:rPr sz="1400" b="1">
                          <a:solidFill>
                            <a:srgbClr val="FFFFFF"/>
                          </a:solidFill>
                          <a:latin typeface="Arial"/>
                          <a:ea typeface="Arial"/>
                          <a:cs typeface="Arial"/>
                        </a:rPr>
                        <a:t>機能</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責務</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ログ</a:t>
                      </a:r>
                    </a:p>
                  </a:txBody>
                  <a:tcPr marL="64008" marR="64008" marT="27432" marB="27432" anchor="ctr">
                    <a:solidFill>
                      <a:srgbClr val="FFFFFF"/>
                    </a:solidFill>
                  </a:tcPr>
                </a:tc>
                <a:tc>
                  <a:txBody>
                    <a:bodyPr/>
                    <a:lstStyle/>
                    <a:p>
                      <a:r>
                        <a:rPr sz="1400">
                          <a:solidFill>
                            <a:srgbClr val="545454"/>
                          </a:solidFill>
                          <a:latin typeface="Arial"/>
                          <a:ea typeface="Arial"/>
                          <a:cs typeface="Arial"/>
                        </a:rPr>
                        <a:t>端末アプリとDeviceCtrlへ共通のログ出力インターフェースを提供する</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監視</a:t>
                      </a:r>
                    </a:p>
                  </a:txBody>
                  <a:tcPr marL="64008" marR="64008" marT="27432" marB="27432" anchor="ctr">
                    <a:solidFill>
                      <a:srgbClr val="F7F7F7"/>
                    </a:solidFill>
                  </a:tcPr>
                </a:tc>
                <a:tc>
                  <a:txBody>
                    <a:bodyPr/>
                    <a:lstStyle/>
                    <a:p>
                      <a:r>
                        <a:rPr sz="1400">
                          <a:solidFill>
                            <a:srgbClr val="545454"/>
                          </a:solidFill>
                          <a:latin typeface="Arial"/>
                          <a:ea typeface="Arial"/>
                          <a:cs typeface="Arial"/>
                        </a:rPr>
                        <a:t>障害前の操作履歴とクラッシュ情報を記録する</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画面状態</a:t>
                      </a:r>
                    </a:p>
                  </a:txBody>
                  <a:tcPr marL="64008" marR="64008" marT="27432" marB="27432" anchor="ctr">
                    <a:solidFill>
                      <a:srgbClr val="FFFFFF"/>
                    </a:solidFill>
                  </a:tcPr>
                </a:tc>
                <a:tc>
                  <a:txBody>
                    <a:bodyPr/>
                    <a:lstStyle/>
                    <a:p>
                      <a:r>
                        <a:rPr sz="1400">
                          <a:solidFill>
                            <a:srgbClr val="545454"/>
                          </a:solidFill>
                          <a:latin typeface="Arial"/>
                          <a:ea typeface="Arial"/>
                          <a:cs typeface="Arial"/>
                        </a:rPr>
                        <a:t>対象となるビューモデルの状態をSQLiteへ保存し、再ログイン後またはアプリ復帰時に復元する</a:t>
                      </a:r>
                    </a:p>
                  </a:txBody>
                  <a:tcPr marL="64008" marR="64008" marT="27432" marB="27432" anchor="ctr">
                    <a:solidFill>
                      <a:srgbClr val="FFFFFF"/>
                    </a:solidFill>
                  </a:tcPr>
                </a:tc>
                <a:extLst>
                  <a:ext uri="{0D108BD9-81ED-4DB2-BD59-A6C34878D82A}">
                    <a16:rowId xmlns:a16="http://schemas.microsoft.com/office/drawing/2014/main" val="10003"/>
                  </a:ext>
                </a:extLst>
              </a:tr>
              <a:tr h="365760">
                <a:tc>
                  <a:txBody>
                    <a:bodyPr/>
                    <a:lstStyle/>
                    <a:p>
                      <a:r>
                        <a:rPr sz="1400">
                          <a:solidFill>
                            <a:srgbClr val="545454"/>
                          </a:solidFill>
                          <a:latin typeface="Arial"/>
                          <a:ea typeface="Arial"/>
                          <a:cs typeface="Arial"/>
                        </a:rPr>
                        <a:t>依存性注入</a:t>
                      </a:r>
                    </a:p>
                  </a:txBody>
                  <a:tcPr marL="64008" marR="64008" marT="27432" marB="27432" anchor="ctr">
                    <a:solidFill>
                      <a:srgbClr val="F7F7F7"/>
                    </a:solidFill>
                  </a:tcPr>
                </a:tc>
                <a:tc>
                  <a:txBody>
                    <a:bodyPr/>
                    <a:lstStyle/>
                    <a:p>
                      <a:r>
                        <a:rPr sz="1400">
                          <a:solidFill>
                            <a:srgbClr val="545454"/>
                          </a:solidFill>
                          <a:latin typeface="Arial"/>
                          <a:ea typeface="Arial"/>
                          <a:cs typeface="Arial"/>
                        </a:rPr>
                        <a:t>ビュー、ビューモデル、アプリケーション層、TabletPos.Core、DeviceCtrlを登録する</a:t>
                      </a:r>
                    </a:p>
                  </a:txBody>
                  <a:tcPr marL="64008" marR="64008" marT="27432" marB="27432" anchor="ctr">
                    <a:solidFill>
                      <a:srgbClr val="F7F7F7"/>
                    </a:solidFill>
                  </a:tcPr>
                </a:tc>
                <a:extLst>
                  <a:ext uri="{0D108BD9-81ED-4DB2-BD59-A6C34878D82A}">
                    <a16:rowId xmlns:a16="http://schemas.microsoft.com/office/drawing/2014/main" val="10004"/>
                  </a:ext>
                </a:extLst>
              </a:tr>
              <a:tr h="365760">
                <a:tc>
                  <a:txBody>
                    <a:bodyPr/>
                    <a:lstStyle/>
                    <a:p>
                      <a:r>
                        <a:rPr sz="1400">
                          <a:solidFill>
                            <a:srgbClr val="545454"/>
                          </a:solidFill>
                          <a:latin typeface="Arial"/>
                          <a:ea typeface="Arial"/>
                          <a:cs typeface="Arial"/>
                        </a:rPr>
                        <a:t>ライフサイクル</a:t>
                      </a:r>
                    </a:p>
                  </a:txBody>
                  <a:tcPr marL="64008" marR="64008" marT="27432" marB="27432" anchor="ctr">
                    <a:solidFill>
                      <a:srgbClr val="FFFFFF"/>
                    </a:solidFill>
                  </a:tcPr>
                </a:tc>
                <a:tc>
                  <a:txBody>
                    <a:bodyPr/>
                    <a:lstStyle/>
                    <a:p>
                      <a:r>
                        <a:rPr sz="1400">
                          <a:solidFill>
                            <a:srgbClr val="545454"/>
                          </a:solidFill>
                          <a:latin typeface="Arial"/>
                          <a:ea typeface="Arial"/>
                          <a:cs typeface="Arial"/>
                        </a:rPr>
                        <a:t>DeviceManagerを初期化し、Windows POSではコネクタとイベント受信を起動・停止する</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6164EDFE-91B5-4D43-A4DF-A8945097F657}"/>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ARCH-01 3.6、3.8、7、ARCH-02 2.1、4.1、5.4</a:t>
            </a:r>
          </a:p>
        </p:txBody>
      </p:sp>
    </p:spTree>
    <p:extLst>
      <p:ext uri="{BB962C8B-B14F-4D97-AF65-F5344CB8AC3E}">
        <p14:creationId xmlns:p14="http://schemas.microsoft.com/office/powerpoint/2010/main" val="193238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F4217E-A6A2-4D93-98BF-B893F1DDB022}"/>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端末内データの暗号化と鍵管理</a:t>
            </a:r>
          </a:p>
        </p:txBody>
      </p:sp>
      <p:sp>
        <p:nvSpPr>
          <p:cNvPr id="3" name="Rounded Rectangle 2">
            <a:extLst>
              <a:ext uri="{FF2B5EF4-FFF2-40B4-BE49-F238E27FC236}">
                <a16:creationId xmlns:a16="http://schemas.microsoft.com/office/drawing/2014/main" id="{088B5C8C-84B7-4272-A71A-0618D28AFA1E}"/>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端末内の業務データとログを暗号化し、端末の紛失や不正アクセスが発生しても保存内容を容易に読み取れない構成とします。</a:t>
            </a:r>
          </a:p>
        </p:txBody>
      </p:sp>
      <p:graphicFrame>
        <p:nvGraphicFramePr>
          <p:cNvPr id="11" name="Table 3"/>
          <p:cNvGraphicFramePr/>
          <p:nvPr/>
        </p:nvGraphicFramePr>
        <p:xfrm>
          <a:off x="621792" y="2926080"/>
          <a:ext cx="17190719" cy="1463040"/>
        </p:xfrm>
        <a:graphic>
          <a:graphicData uri="http://schemas.openxmlformats.org/drawingml/2006/table">
            <a:tbl>
              <a:tblPr firstRow="1" bandRow="1">
                <a:tableStyleId>{5C22544A-7EE6-4342-B048-85BDC9FD1C3A}</a:tableStyleId>
              </a:tblPr>
              <a:tblGrid>
                <a:gridCol w="2886775">
                  <a:extLst>
                    <a:ext uri="{9D8B030D-6E8A-4147-A177-3AD203B41FA5}">
                      <a16:colId xmlns:a16="http://schemas.microsoft.com/office/drawing/2014/main" val="20000"/>
                    </a:ext>
                  </a:extLst>
                </a:gridCol>
                <a:gridCol w="9615745">
                  <a:extLst>
                    <a:ext uri="{9D8B030D-6E8A-4147-A177-3AD203B41FA5}">
                      <a16:colId xmlns:a16="http://schemas.microsoft.com/office/drawing/2014/main" val="20001"/>
                    </a:ext>
                  </a:extLst>
                </a:gridCol>
                <a:gridCol w="4688199">
                  <a:extLst>
                    <a:ext uri="{9D8B030D-6E8A-4147-A177-3AD203B41FA5}">
                      <a16:colId xmlns:a16="http://schemas.microsoft.com/office/drawing/2014/main" val="20002"/>
                    </a:ext>
                  </a:extLst>
                </a:gridCol>
              </a:tblGrid>
              <a:tr h="365760">
                <a:tc>
                  <a:txBody>
                    <a:bodyPr/>
                    <a:lstStyle/>
                    <a:p>
                      <a:r>
                        <a:rPr sz="1400" b="1">
                          <a:solidFill>
                            <a:srgbClr val="FFFFFF"/>
                          </a:solidFill>
                          <a:latin typeface="Arial"/>
                          <a:ea typeface="Arial"/>
                          <a:cs typeface="Arial"/>
                        </a:rPr>
                        <a:t>保護対象</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暗号化方針</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鍵の保管先</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SQLite</a:t>
                      </a:r>
                    </a:p>
                  </a:txBody>
                  <a:tcPr marL="64008" marR="64008" marT="27432" marB="27432" anchor="ctr">
                    <a:solidFill>
                      <a:srgbClr val="FFFFFF"/>
                    </a:solidFill>
                  </a:tcPr>
                </a:tc>
                <a:tc>
                  <a:txBody>
                    <a:bodyPr/>
                    <a:lstStyle/>
                    <a:p>
                      <a:r>
                        <a:rPr sz="1400">
                          <a:solidFill>
                            <a:srgbClr val="545454"/>
                          </a:solidFill>
                          <a:latin typeface="Arial"/>
                          <a:ea typeface="Arial"/>
                          <a:cs typeface="Arial"/>
                        </a:rPr>
                        <a:t>データベース全体をAES-256相当の方式で暗号化する</a:t>
                      </a:r>
                    </a:p>
                  </a:txBody>
                  <a:tcPr marL="64008" marR="64008" marT="27432" marB="27432" anchor="ctr">
                    <a:solidFill>
                      <a:srgbClr val="FFFFFF"/>
                    </a:solidFill>
                  </a:tcPr>
                </a:tc>
                <a:tc>
                  <a:txBody>
                    <a:bodyPr/>
                    <a:lstStyle/>
                    <a:p>
                      <a:r>
                        <a:rPr sz="1400">
                          <a:solidFill>
                            <a:srgbClr val="545454"/>
                          </a:solidFill>
                          <a:latin typeface="Arial"/>
                          <a:ea typeface="Arial"/>
                          <a:cs typeface="Arial"/>
                        </a:rPr>
                        <a:t>OSの安全な保管領域</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業務ファイル</a:t>
                      </a:r>
                    </a:p>
                  </a:txBody>
                  <a:tcPr marL="64008" marR="64008" marT="27432" marB="27432" anchor="ctr">
                    <a:solidFill>
                      <a:srgbClr val="F7F7F7"/>
                    </a:solidFill>
                  </a:tcPr>
                </a:tc>
                <a:tc>
                  <a:txBody>
                    <a:bodyPr/>
                    <a:lstStyle/>
                    <a:p>
                      <a:r>
                        <a:rPr sz="1400">
                          <a:solidFill>
                            <a:srgbClr val="545454"/>
                          </a:solidFill>
                          <a:latin typeface="Arial"/>
                          <a:ea typeface="Arial"/>
                          <a:cs typeface="Arial"/>
                        </a:rPr>
                        <a:t>保存前に暗号化し、利用時だけメモリ上で復号する</a:t>
                      </a:r>
                    </a:p>
                  </a:txBody>
                  <a:tcPr marL="64008" marR="64008" marT="27432" marB="27432" anchor="ctr">
                    <a:solidFill>
                      <a:srgbClr val="F7F7F7"/>
                    </a:solidFill>
                  </a:tcPr>
                </a:tc>
                <a:tc>
                  <a:txBody>
                    <a:bodyPr/>
                    <a:lstStyle/>
                    <a:p>
                      <a:r>
                        <a:rPr sz="1400">
                          <a:solidFill>
                            <a:srgbClr val="545454"/>
                          </a:solidFill>
                          <a:latin typeface="Arial"/>
                          <a:ea typeface="Arial"/>
                          <a:cs typeface="Arial"/>
                        </a:rPr>
                        <a:t>OSの安全な保管領域</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ログファイル</a:t>
                      </a:r>
                    </a:p>
                  </a:txBody>
                  <a:tcPr marL="64008" marR="64008" marT="27432" marB="27432" anchor="ctr">
                    <a:solidFill>
                      <a:srgbClr val="FFFFFF"/>
                    </a:solidFill>
                  </a:tcPr>
                </a:tc>
                <a:tc>
                  <a:txBody>
                    <a:bodyPr/>
                    <a:lstStyle/>
                    <a:p>
                      <a:r>
                        <a:rPr sz="1400">
                          <a:solidFill>
                            <a:srgbClr val="545454"/>
                          </a:solidFill>
                          <a:latin typeface="Arial"/>
                          <a:ea typeface="Arial"/>
                          <a:cs typeface="Arial"/>
                        </a:rPr>
                        <a:t>端末保存時に暗号化し、送信時はHTTPSで保護する</a:t>
                      </a:r>
                    </a:p>
                  </a:txBody>
                  <a:tcPr marL="64008" marR="64008" marT="27432" marB="27432" anchor="ctr">
                    <a:solidFill>
                      <a:srgbClr val="FFFFFF"/>
                    </a:solidFill>
                  </a:tcPr>
                </a:tc>
                <a:tc>
                  <a:txBody>
                    <a:bodyPr/>
                    <a:lstStyle/>
                    <a:p>
                      <a:r>
                        <a:rPr sz="1400">
                          <a:solidFill>
                            <a:srgbClr val="545454"/>
                          </a:solidFill>
                          <a:latin typeface="Arial"/>
                          <a:ea typeface="Arial"/>
                          <a:cs typeface="Arial"/>
                        </a:rPr>
                        <a:t>業務データとは異なる鍵</a:t>
                      </a:r>
                    </a:p>
                  </a:txBody>
                  <a:tcPr marL="64008" marR="64008"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FE7CB75F-EB87-4AED-8AB1-8565512364AD}"/>
              </a:ext>
            </a:extLst>
          </p:cNvPr>
          <p:cNvSpPr>
            <a:spLocks noGrp="1"/>
          </p:cNvSpPr>
          <p:nvPr/>
        </p:nvSpPr>
        <p:spPr>
          <a:xfrm>
            <a:off x="594360" y="461772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鍵管理の原則</a:t>
            </a:r>
          </a:p>
        </p:txBody>
      </p:sp>
      <p:sp>
        <p:nvSpPr>
          <p:cNvPr id="6" name="TextBox 5">
            <a:extLst>
              <a:ext uri="{FF2B5EF4-FFF2-40B4-BE49-F238E27FC236}">
                <a16:creationId xmlns:a16="http://schemas.microsoft.com/office/drawing/2014/main" id="{9EFA9D1D-8D5B-4893-AACA-D08A9E3A2BEA}"/>
              </a:ext>
            </a:extLst>
          </p:cNvPr>
          <p:cNvSpPr>
            <a:spLocks noGrp="1"/>
          </p:cNvSpPr>
          <p:nvPr/>
        </p:nvSpPr>
        <p:spPr>
          <a:xfrm>
            <a:off x="685800" y="509320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Windows POSでは資格情報マネージャー（Credential Manager）とDPAPI、タブレットPOS（Android／iOS）ではAndroid KeystoreまたはiOS Keychainを利用します。</a:t>
            </a:r>
          </a:p>
          <a:p>
            <a:pPr>
              <a:spcAft>
                <a:spcPts val="500"/>
              </a:spcAft>
              <a:buNone/>
            </a:pPr>
            <a:r>
              <a:rPr sz="1700">
                <a:solidFill>
                  <a:srgbClr val="545454"/>
                </a:solidFill>
                <a:latin typeface="Arial"/>
                <a:ea typeface="Arial"/>
                <a:cs typeface="Arial"/>
              </a:rPr>
              <a:t>•  端末、環境および用途ごとに鍵を分け、クラウド側の鍵を端末へ保存しません。</a:t>
            </a:r>
          </a:p>
          <a:p>
            <a:pPr>
              <a:spcAft>
                <a:spcPts val="500"/>
              </a:spcAft>
              <a:buNone/>
            </a:pPr>
            <a:r>
              <a:rPr sz="1700">
                <a:solidFill>
                  <a:srgbClr val="545454"/>
                </a:solidFill>
                <a:latin typeface="Arial"/>
                <a:ea typeface="Arial"/>
                <a:cs typeface="Arial"/>
              </a:rPr>
              <a:t>•  端末IDや営業日だけから推測できる鍵は使用しません。</a:t>
            </a:r>
          </a:p>
          <a:p>
            <a:pPr>
              <a:spcAft>
                <a:spcPts val="500"/>
              </a:spcAft>
              <a:buNone/>
            </a:pPr>
            <a:r>
              <a:rPr sz="1700">
                <a:solidFill>
                  <a:srgbClr val="545454"/>
                </a:solidFill>
                <a:latin typeface="Arial"/>
                <a:ea typeface="Arial"/>
                <a:cs typeface="Arial"/>
              </a:rPr>
              <a:t>•  鍵をソースコード、設定ファイルまたはログへ出力しません。</a:t>
            </a:r>
          </a:p>
          <a:p>
            <a:pPr>
              <a:spcAft>
                <a:spcPts val="500"/>
              </a:spcAft>
              <a:buNone/>
            </a:pPr>
            <a:r>
              <a:rPr sz="1700">
                <a:solidFill>
                  <a:srgbClr val="545454"/>
                </a:solidFill>
                <a:latin typeface="Arial"/>
                <a:ea typeface="Arial"/>
                <a:cs typeface="Arial"/>
              </a:rPr>
              <a:t>•  アプリ更新、端末交換および初期化に備えて鍵の更新と失効を管理します。</a:t>
            </a:r>
          </a:p>
          <a:p>
            <a:pPr>
              <a:spcAft>
                <a:spcPts val="500"/>
              </a:spcAft>
              <a:buNone/>
            </a:pPr>
            <a:r>
              <a:rPr sz="1700">
                <a:solidFill>
                  <a:srgbClr val="545454"/>
                </a:solidFill>
                <a:latin typeface="Arial"/>
                <a:ea typeface="Arial"/>
                <a:cs typeface="Arial"/>
              </a:rPr>
              <a:t>•  端末紛失時は端末管理基盤からロック、利用停止または遠隔消去を行います。</a:t>
            </a:r>
          </a:p>
        </p:txBody>
      </p:sp>
      <p:sp>
        <p:nvSpPr>
          <p:cNvPr id="7" name="TextBox 6">
            <a:extLst>
              <a:ext uri="{FF2B5EF4-FFF2-40B4-BE49-F238E27FC236}">
                <a16:creationId xmlns:a16="http://schemas.microsoft.com/office/drawing/2014/main" id="{8A21C999-3B77-462A-BA35-1BDD69A3AB65}"/>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KSNEWSYS-156、KSNEWSYS-195、KSNEWSYS-482</a:t>
            </a:r>
          </a:p>
        </p:txBody>
      </p:sp>
    </p:spTree>
    <p:extLst>
      <p:ext uri="{BB962C8B-B14F-4D97-AF65-F5344CB8AC3E}">
        <p14:creationId xmlns:p14="http://schemas.microsoft.com/office/powerpoint/2010/main" val="155444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B823AC-6DC6-42AE-99DC-9457246658EB}"/>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ログ収集・監視・機微情報保護</a:t>
            </a:r>
          </a:p>
        </p:txBody>
      </p:sp>
      <p:sp>
        <p:nvSpPr>
          <p:cNvPr id="3" name="Rounded Rectangle 2">
            <a:extLst>
              <a:ext uri="{FF2B5EF4-FFF2-40B4-BE49-F238E27FC236}">
                <a16:creationId xmlns:a16="http://schemas.microsoft.com/office/drawing/2014/main" id="{7F90AA5F-EA83-4C95-8F1A-D833E3A88915}"/>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運用ログとクラッシュ監視を分け、調査に必要な情報を確保しながら通信量、運用費用および情報漏えいのリスクを抑えます。</a:t>
            </a:r>
          </a:p>
        </p:txBody>
      </p:sp>
      <p:graphicFrame>
        <p:nvGraphicFramePr>
          <p:cNvPr id="11" name="Table 3"/>
          <p:cNvGraphicFramePr/>
          <p:nvPr/>
        </p:nvGraphicFramePr>
        <p:xfrm>
          <a:off x="621792" y="2926080"/>
          <a:ext cx="17190719" cy="1463040"/>
        </p:xfrm>
        <a:graphic>
          <a:graphicData uri="http://schemas.openxmlformats.org/drawingml/2006/table">
            <a:tbl>
              <a:tblPr firstRow="1" bandRow="1">
                <a:tableStyleId>{5C22544A-7EE6-4342-B048-85BDC9FD1C3A}</a:tableStyleId>
              </a:tblPr>
              <a:tblGrid>
                <a:gridCol w="3054303">
                  <a:extLst>
                    <a:ext uri="{9D8B030D-6E8A-4147-A177-3AD203B41FA5}">
                      <a16:colId xmlns:a16="http://schemas.microsoft.com/office/drawing/2014/main" val="20000"/>
                    </a:ext>
                  </a:extLst>
                </a:gridCol>
                <a:gridCol w="7634346">
                  <a:extLst>
                    <a:ext uri="{9D8B030D-6E8A-4147-A177-3AD203B41FA5}">
                      <a16:colId xmlns:a16="http://schemas.microsoft.com/office/drawing/2014/main" val="20001"/>
                    </a:ext>
                  </a:extLst>
                </a:gridCol>
                <a:gridCol w="6502070">
                  <a:extLst>
                    <a:ext uri="{9D8B030D-6E8A-4147-A177-3AD203B41FA5}">
                      <a16:colId xmlns:a16="http://schemas.microsoft.com/office/drawing/2014/main" val="20002"/>
                    </a:ext>
                  </a:extLst>
                </a:gridCol>
              </a:tblGrid>
              <a:tr h="365760">
                <a:tc>
                  <a:txBody>
                    <a:bodyPr/>
                    <a:lstStyle/>
                    <a:p>
                      <a:r>
                        <a:rPr sz="1400" b="1">
                          <a:solidFill>
                            <a:srgbClr val="FFFFFF"/>
                          </a:solidFill>
                          <a:latin typeface="Arial"/>
                          <a:ea typeface="Arial"/>
                          <a:cs typeface="Arial"/>
                        </a:rPr>
                        <a:t>種別</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主な内容</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保存・送信先</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運用ログ</a:t>
                      </a:r>
                    </a:p>
                  </a:txBody>
                  <a:tcPr marL="64008" marR="64008" marT="27432" marB="27432" anchor="ctr">
                    <a:solidFill>
                      <a:srgbClr val="FFFFFF"/>
                    </a:solidFill>
                  </a:tcPr>
                </a:tc>
                <a:tc>
                  <a:txBody>
                    <a:bodyPr/>
                    <a:lstStyle/>
                    <a:p>
                      <a:r>
                        <a:rPr sz="1400">
                          <a:solidFill>
                            <a:srgbClr val="545454"/>
                          </a:solidFill>
                          <a:latin typeface="Arial"/>
                          <a:ea typeface="Arial"/>
                          <a:cs typeface="Arial"/>
                        </a:rPr>
                        <a:t>画面遷移、API通信、業務処理、機器操作</a:t>
                      </a:r>
                    </a:p>
                  </a:txBody>
                  <a:tcPr marL="64008" marR="64008" marT="27432" marB="27432" anchor="ctr">
                    <a:solidFill>
                      <a:srgbClr val="FFFFFF"/>
                    </a:solidFill>
                  </a:tcPr>
                </a:tc>
                <a:tc>
                  <a:txBody>
                    <a:bodyPr/>
                    <a:lstStyle/>
                    <a:p>
                      <a:r>
                        <a:rPr sz="1400">
                          <a:solidFill>
                            <a:srgbClr val="545454"/>
                          </a:solidFill>
                          <a:latin typeface="Arial"/>
                          <a:ea typeface="Arial"/>
                          <a:cs typeface="Arial"/>
                        </a:rPr>
                        <a:t>暗号化したローカルログ</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クラッシュ情報</a:t>
                      </a:r>
                    </a:p>
                  </a:txBody>
                  <a:tcPr marL="64008" marR="64008" marT="27432" marB="27432" anchor="ctr">
                    <a:solidFill>
                      <a:srgbClr val="F7F7F7"/>
                    </a:solidFill>
                  </a:tcPr>
                </a:tc>
                <a:tc>
                  <a:txBody>
                    <a:bodyPr/>
                    <a:lstStyle/>
                    <a:p>
                      <a:r>
                        <a:rPr sz="1400">
                          <a:solidFill>
                            <a:srgbClr val="545454"/>
                          </a:solidFill>
                          <a:latin typeface="Arial"/>
                          <a:ea typeface="Arial"/>
                          <a:cs typeface="Arial"/>
                        </a:rPr>
                        <a:t>未処理例外、スタックトレース、直前の操作履歴</a:t>
                      </a:r>
                    </a:p>
                  </a:txBody>
                  <a:tcPr marL="64008" marR="64008" marT="27432" marB="27432" anchor="ctr">
                    <a:solidFill>
                      <a:srgbClr val="F7F7F7"/>
                    </a:solidFill>
                  </a:tcPr>
                </a:tc>
                <a:tc>
                  <a:txBody>
                    <a:bodyPr/>
                    <a:lstStyle/>
                    <a:p>
                      <a:r>
                        <a:rPr sz="1400">
                          <a:solidFill>
                            <a:srgbClr val="545454"/>
                          </a:solidFill>
                          <a:latin typeface="Arial"/>
                          <a:ea typeface="Arial"/>
                          <a:cs typeface="Arial"/>
                        </a:rPr>
                        <a:t>Sentry</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長期保管ログ</a:t>
                      </a:r>
                    </a:p>
                  </a:txBody>
                  <a:tcPr marL="64008" marR="64008" marT="27432" marB="27432" anchor="ctr">
                    <a:solidFill>
                      <a:srgbClr val="FFFFFF"/>
                    </a:solidFill>
                  </a:tcPr>
                </a:tc>
                <a:tc>
                  <a:txBody>
                    <a:bodyPr/>
                    <a:lstStyle/>
                    <a:p>
                      <a:r>
                        <a:rPr sz="1400">
                          <a:solidFill>
                            <a:srgbClr val="545454"/>
                          </a:solidFill>
                          <a:latin typeface="Arial"/>
                          <a:ea typeface="Arial"/>
                          <a:cs typeface="Arial"/>
                        </a:rPr>
                        <a:t>障害調査または監査に必要なログ</a:t>
                      </a:r>
                    </a:p>
                  </a:txBody>
                  <a:tcPr marL="64008" marR="64008" marT="27432" marB="27432" anchor="ctr">
                    <a:solidFill>
                      <a:srgbClr val="FFFFFF"/>
                    </a:solidFill>
                  </a:tcPr>
                </a:tc>
                <a:tc>
                  <a:txBody>
                    <a:bodyPr/>
                    <a:lstStyle/>
                    <a:p>
                      <a:r>
                        <a:rPr sz="1400">
                          <a:solidFill>
                            <a:srgbClr val="545454"/>
                          </a:solidFill>
                          <a:latin typeface="Arial"/>
                          <a:ea typeface="Arial"/>
                          <a:cs typeface="Arial"/>
                        </a:rPr>
                        <a:t>サーバーまたはオブジェクトストレージ</a:t>
                      </a:r>
                    </a:p>
                  </a:txBody>
                  <a:tcPr marL="64008" marR="64008"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8E4EABC5-A2CC-4045-9BCC-2007ADF1D79A}"/>
              </a:ext>
            </a:extLst>
          </p:cNvPr>
          <p:cNvSpPr>
            <a:spLocks noGrp="1"/>
          </p:cNvSpPr>
          <p:nvPr/>
        </p:nvSpPr>
        <p:spPr>
          <a:xfrm>
            <a:off x="594360" y="461772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運用と保護</a:t>
            </a:r>
          </a:p>
        </p:txBody>
      </p:sp>
      <p:sp>
        <p:nvSpPr>
          <p:cNvPr id="6" name="TextBox 5">
            <a:extLst>
              <a:ext uri="{FF2B5EF4-FFF2-40B4-BE49-F238E27FC236}">
                <a16:creationId xmlns:a16="http://schemas.microsoft.com/office/drawing/2014/main" id="{1BAA88B5-A5F1-4690-8615-970FD70DF2A3}"/>
              </a:ext>
            </a:extLst>
          </p:cNvPr>
          <p:cNvSpPr>
            <a:spLocks noGrp="1"/>
          </p:cNvSpPr>
          <p:nvPr/>
        </p:nvSpPr>
        <p:spPr>
          <a:xfrm>
            <a:off x="685800" y="509320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日付とファイルサイズでログをローテーションし、保存期間と上限容量を設定します。</a:t>
            </a:r>
          </a:p>
          <a:p>
            <a:pPr>
              <a:spcAft>
                <a:spcPts val="500"/>
              </a:spcAft>
              <a:buNone/>
            </a:pPr>
            <a:r>
              <a:rPr sz="1700">
                <a:solidFill>
                  <a:srgbClr val="545454"/>
                </a:solidFill>
                <a:latin typeface="Arial"/>
                <a:ea typeface="Arial"/>
                <a:cs typeface="Arial"/>
              </a:rPr>
              <a:t>•  ネットワーク切断中は端末内に保持し、回復後に暗号化した通信で再送します。</a:t>
            </a:r>
          </a:p>
          <a:p>
            <a:pPr>
              <a:spcAft>
                <a:spcPts val="500"/>
              </a:spcAft>
              <a:buNone/>
            </a:pPr>
            <a:r>
              <a:rPr sz="1700">
                <a:solidFill>
                  <a:srgbClr val="545454"/>
                </a:solidFill>
                <a:latin typeface="Arial"/>
                <a:ea typeface="Arial"/>
                <a:cs typeface="Arial"/>
              </a:rPr>
              <a:t>•  Sentryへ送信する対象はクラッシュと未処理例外を中心とし、通常の操作ログは一律送信しません。</a:t>
            </a:r>
          </a:p>
          <a:p>
            <a:pPr>
              <a:spcAft>
                <a:spcPts val="500"/>
              </a:spcAft>
              <a:buNone/>
            </a:pPr>
            <a:r>
              <a:rPr sz="1700">
                <a:solidFill>
                  <a:srgbClr val="545454"/>
                </a:solidFill>
                <a:latin typeface="Arial"/>
                <a:ea typeface="Arial"/>
                <a:cs typeface="Arial"/>
              </a:rPr>
              <a:t>•  カード情報、暗証番号、認証トークン、個人情報およびAPIの本文を記録しません。</a:t>
            </a:r>
          </a:p>
          <a:p>
            <a:pPr>
              <a:spcAft>
                <a:spcPts val="500"/>
              </a:spcAft>
              <a:buNone/>
            </a:pPr>
            <a:r>
              <a:rPr sz="1700">
                <a:solidFill>
                  <a:srgbClr val="545454"/>
                </a:solidFill>
                <a:latin typeface="Arial"/>
                <a:ea typeface="Arial"/>
                <a:cs typeface="Arial"/>
              </a:rPr>
              <a:t>•  調査に識別子が必要な場合は、マスキングまたはハッシュ化した値を使用します。</a:t>
            </a:r>
          </a:p>
          <a:p>
            <a:pPr>
              <a:spcAft>
                <a:spcPts val="500"/>
              </a:spcAft>
              <a:buNone/>
            </a:pPr>
            <a:r>
              <a:rPr sz="1700">
                <a:solidFill>
                  <a:srgbClr val="545454"/>
                </a:solidFill>
                <a:latin typeface="Arial"/>
                <a:ea typeface="Arial"/>
                <a:cs typeface="Arial"/>
              </a:rPr>
              <a:t>•  端末アプリ、DeviceCtrlおよびデバイスコネクタのログを区分し、障害箇所を特定できるようにします。</a:t>
            </a:r>
          </a:p>
        </p:txBody>
      </p:sp>
      <p:sp>
        <p:nvSpPr>
          <p:cNvPr id="7" name="TextBox 6">
            <a:extLst>
              <a:ext uri="{FF2B5EF4-FFF2-40B4-BE49-F238E27FC236}">
                <a16:creationId xmlns:a16="http://schemas.microsoft.com/office/drawing/2014/main" id="{B4D1F3E4-5C3C-4C6D-A086-88518CFC85B7}"/>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KSNEWSYS-155、KSNEWSYS-209、KSNEWSYS-377、KSNEWSYS-426</a:t>
            </a:r>
          </a:p>
        </p:txBody>
      </p:sp>
    </p:spTree>
    <p:extLst>
      <p:ext uri="{BB962C8B-B14F-4D97-AF65-F5344CB8AC3E}">
        <p14:creationId xmlns:p14="http://schemas.microsoft.com/office/powerpoint/2010/main" val="1128602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88BEC1-3E0E-40DD-8341-512AC3371DFF}"/>
              </a:ext>
            </a:extLst>
          </p:cNvPr>
          <p:cNvSpPr>
            <a:spLocks noGrp="1"/>
          </p:cNvSpPr>
          <p:nvPr/>
        </p:nvSpPr>
        <p:spPr>
          <a:xfrm>
            <a:off x="1828800" y="3291840"/>
            <a:ext cx="14630400" cy="822960"/>
          </a:xfrm>
          <a:prstGeom prst="rect">
            <a:avLst/>
          </a:prstGeom>
          <a:noFill/>
        </p:spPr>
        <p:txBody>
          <a:bodyPr wrap="square" lIns="45720" tIns="0" rIns="45720" bIns="0" anchor="t">
            <a:spAutoFit/>
          </a:bodyPr>
          <a:lstStyle/>
          <a:p>
            <a:pPr algn="ctr">
              <a:spcAft>
                <a:spcPts val="600"/>
              </a:spcAft>
              <a:buNone/>
            </a:pPr>
            <a:r>
              <a:rPr sz="3000" b="1">
                <a:solidFill>
                  <a:srgbClr val="8C8C8C"/>
                </a:solidFill>
                <a:latin typeface="Arial"/>
                <a:ea typeface="Arial"/>
                <a:cs typeface="Arial"/>
              </a:rPr>
              <a:t>第3</a:t>
            </a:r>
          </a:p>
        </p:txBody>
      </p:sp>
      <p:sp>
        <p:nvSpPr>
          <p:cNvPr id="3" name="TextBox 2">
            <a:extLst>
              <a:ext uri="{FF2B5EF4-FFF2-40B4-BE49-F238E27FC236}">
                <a16:creationId xmlns:a16="http://schemas.microsoft.com/office/drawing/2014/main" id="{14E93C71-5DCD-4030-A0CE-6600F189C5F0}"/>
              </a:ext>
            </a:extLst>
          </p:cNvPr>
          <p:cNvSpPr>
            <a:spLocks noGrp="1"/>
          </p:cNvSpPr>
          <p:nvPr/>
        </p:nvSpPr>
        <p:spPr>
          <a:xfrm>
            <a:off x="1828800" y="4023360"/>
            <a:ext cx="14630400" cy="1280160"/>
          </a:xfrm>
          <a:prstGeom prst="rect">
            <a:avLst/>
          </a:prstGeom>
          <a:noFill/>
        </p:spPr>
        <p:txBody>
          <a:bodyPr wrap="square" lIns="45720" tIns="0" rIns="45720" bIns="0" anchor="t">
            <a:spAutoFit/>
          </a:bodyPr>
          <a:lstStyle/>
          <a:p>
            <a:pPr algn="ctr">
              <a:spcAft>
                <a:spcPts val="600"/>
              </a:spcAft>
              <a:buNone/>
            </a:pPr>
            <a:r>
              <a:rPr sz="5800" b="1">
                <a:solidFill>
                  <a:srgbClr val="545454"/>
                </a:solidFill>
                <a:latin typeface="Arial"/>
                <a:ea typeface="Arial"/>
                <a:cs typeface="Arial"/>
              </a:rPr>
              <a:t>デバイス制御</a:t>
            </a:r>
          </a:p>
        </p:txBody>
      </p:sp>
      <p:sp>
        <p:nvSpPr>
          <p:cNvPr id="4" name="TextBox 3">
            <a:extLst>
              <a:ext uri="{FF2B5EF4-FFF2-40B4-BE49-F238E27FC236}">
                <a16:creationId xmlns:a16="http://schemas.microsoft.com/office/drawing/2014/main" id="{9D6D66E5-749E-41BD-9888-3B88C7CF5BAB}"/>
              </a:ext>
            </a:extLst>
          </p:cNvPr>
          <p:cNvSpPr>
            <a:spLocks noGrp="1"/>
          </p:cNvSpPr>
          <p:nvPr/>
        </p:nvSpPr>
        <p:spPr>
          <a:xfrm>
            <a:off x="1828800" y="5760720"/>
            <a:ext cx="14630400" cy="548640"/>
          </a:xfrm>
          <a:prstGeom prst="rect">
            <a:avLst/>
          </a:prstGeom>
          <a:noFill/>
        </p:spPr>
        <p:txBody>
          <a:bodyPr wrap="square" lIns="45720" tIns="0" rIns="45720" bIns="0" anchor="t">
            <a:spAutoFit/>
          </a:bodyPr>
          <a:lstStyle/>
          <a:p>
            <a:pPr algn="ctr">
              <a:spcAft>
                <a:spcPts val="600"/>
              </a:spcAft>
              <a:buNone/>
            </a:pPr>
            <a:r>
              <a:rPr sz="2200" b="0">
                <a:solidFill>
                  <a:srgbClr val="545454"/>
                </a:solidFill>
                <a:latin typeface="Arial"/>
                <a:ea typeface="Arial"/>
                <a:cs typeface="Arial"/>
              </a:rPr>
              <a:t>DeviceCtrlが機器と接続方式を選択し、安全に使用権と取引状態を管理する仕組みを説明します。</a:t>
            </a:r>
          </a:p>
        </p:txBody>
      </p:sp>
      <p:sp>
        <p:nvSpPr>
          <p:cNvPr id="5" name="TextBox 4">
            <a:extLst>
              <a:ext uri="{FF2B5EF4-FFF2-40B4-BE49-F238E27FC236}">
                <a16:creationId xmlns:a16="http://schemas.microsoft.com/office/drawing/2014/main" id="{063E7E73-70DF-4F92-8F3F-64CBCC4231C4}"/>
              </a:ext>
            </a:extLst>
          </p:cNvPr>
          <p:cNvSpPr>
            <a:spLocks noGrp="1"/>
          </p:cNvSpPr>
          <p:nvPr/>
        </p:nvSpPr>
        <p:spPr>
          <a:xfrm>
            <a:off x="5303520" y="6858000"/>
            <a:ext cx="7680960" cy="365760"/>
          </a:xfrm>
          <a:prstGeom prst="rect">
            <a:avLst/>
          </a:prstGeom>
          <a:noFill/>
        </p:spPr>
        <p:txBody>
          <a:bodyPr wrap="square" lIns="0" tIns="0" rIns="0" bIns="0">
            <a:spAutoFit/>
          </a:bodyPr>
          <a:lstStyle/>
          <a:p>
            <a:pPr>
              <a:spcAft>
                <a:spcPts val="800"/>
              </a:spcAft>
              <a:buNone/>
            </a:pPr>
            <a:r>
              <a:rPr sz="1600">
                <a:solidFill>
                  <a:srgbClr val="545454"/>
                </a:solidFill>
                <a:latin typeface="Arial"/>
                <a:ea typeface="Arial"/>
                <a:cs typeface="Arial"/>
              </a:rPr>
              <a:t>•  スライド19 — デバイス制御方式の選択</a:t>
            </a:r>
          </a:p>
          <a:p>
            <a:pPr>
              <a:spcAft>
                <a:spcPts val="800"/>
              </a:spcAft>
              <a:buNone/>
            </a:pPr>
            <a:r>
              <a:rPr sz="1600">
                <a:solidFill>
                  <a:srgbClr val="545454"/>
                </a:solidFill>
                <a:latin typeface="Arial"/>
                <a:ea typeface="Arial"/>
                <a:cs typeface="Arial"/>
              </a:rPr>
              <a:t>•  スライド20 — デバイス制御の内部構造</a:t>
            </a:r>
          </a:p>
          <a:p>
            <a:pPr>
              <a:spcAft>
                <a:spcPts val="800"/>
              </a:spcAft>
              <a:buNone/>
            </a:pPr>
            <a:r>
              <a:rPr sz="1600">
                <a:solidFill>
                  <a:srgbClr val="545454"/>
                </a:solidFill>
                <a:latin typeface="Arial"/>
                <a:ea typeface="Arial"/>
                <a:cs typeface="Arial"/>
              </a:rPr>
              <a:t>•  スライド21 — 端末種別ごとの機器接続経路</a:t>
            </a:r>
          </a:p>
          <a:p>
            <a:pPr>
              <a:spcAft>
                <a:spcPts val="800"/>
              </a:spcAft>
              <a:buNone/>
            </a:pPr>
            <a:r>
              <a:rPr sz="1600">
                <a:solidFill>
                  <a:srgbClr val="545454"/>
                </a:solidFill>
                <a:latin typeface="Arial"/>
                <a:ea typeface="Arial"/>
                <a:cs typeface="Arial"/>
              </a:rPr>
              <a:t>•  スライド22 — 接続方式別の排他制御</a:t>
            </a:r>
          </a:p>
          <a:p>
            <a:pPr>
              <a:spcAft>
                <a:spcPts val="800"/>
              </a:spcAft>
              <a:buNone/>
            </a:pPr>
            <a:r>
              <a:rPr sz="1600">
                <a:solidFill>
                  <a:srgbClr val="545454"/>
                </a:solidFill>
                <a:latin typeface="Arial"/>
                <a:ea typeface="Arial"/>
                <a:cs typeface="Arial"/>
              </a:rPr>
              <a:t>•  スライド23 — 決済端末の制御と取引状態管理</a:t>
            </a:r>
          </a:p>
        </p:txBody>
      </p:sp>
    </p:spTree>
    <p:extLst>
      <p:ext uri="{BB962C8B-B14F-4D97-AF65-F5344CB8AC3E}">
        <p14:creationId xmlns:p14="http://schemas.microsoft.com/office/powerpoint/2010/main" val="711603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AB8330-0CFB-4403-BABE-789663079509}"/>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デバイス制御方式の選択</a:t>
            </a:r>
          </a:p>
        </p:txBody>
      </p:sp>
      <p:sp>
        <p:nvSpPr>
          <p:cNvPr id="3" name="Rounded Rectangle 2">
            <a:extLst>
              <a:ext uri="{FF2B5EF4-FFF2-40B4-BE49-F238E27FC236}">
                <a16:creationId xmlns:a16="http://schemas.microsoft.com/office/drawing/2014/main" id="{DF5455ED-CC11-406B-9DAC-B3EEF4F1C013}"/>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機器差分をデバイス制御インターフェースの内側で吸収し、アプリケーション層に機器別の分岐を持たせません。</a:t>
            </a:r>
          </a:p>
        </p:txBody>
      </p:sp>
      <p:sp>
        <p:nvSpPr>
          <p:cNvPr id="4" name="TextBox 3">
            <a:extLst>
              <a:ext uri="{FF2B5EF4-FFF2-40B4-BE49-F238E27FC236}">
                <a16:creationId xmlns:a16="http://schemas.microsoft.com/office/drawing/2014/main" id="{3ED99FEF-B8E7-4124-A7EC-71501F6B752B}"/>
              </a:ext>
            </a:extLst>
          </p:cNvPr>
          <p:cNvSpPr>
            <a:spLocks noGrp="1"/>
          </p:cNvSpPr>
          <p:nvPr/>
        </p:nvSpPr>
        <p:spPr>
          <a:xfrm>
            <a:off x="594360" y="292608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要点</a:t>
            </a:r>
          </a:p>
        </p:txBody>
      </p:sp>
      <p:sp>
        <p:nvSpPr>
          <p:cNvPr id="5" name="TextBox 4">
            <a:extLst>
              <a:ext uri="{FF2B5EF4-FFF2-40B4-BE49-F238E27FC236}">
                <a16:creationId xmlns:a16="http://schemas.microsoft.com/office/drawing/2014/main" id="{B7DA5AEC-9344-44AC-831E-7CE7394AACD1}"/>
              </a:ext>
            </a:extLst>
          </p:cNvPr>
          <p:cNvSpPr>
            <a:spLocks noGrp="1"/>
          </p:cNvSpPr>
          <p:nvPr/>
        </p:nvSpPr>
        <p:spPr>
          <a:xfrm>
            <a:off x="685800" y="340156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DeviceManagerとStrategyFactoryがアプリケーション層に代わって接続方式別実装を選択します。</a:t>
            </a:r>
          </a:p>
          <a:p>
            <a:pPr>
              <a:spcAft>
                <a:spcPts val="500"/>
              </a:spcAft>
              <a:buNone/>
            </a:pPr>
            <a:r>
              <a:rPr sz="1700">
                <a:solidFill>
                  <a:srgbClr val="545454"/>
                </a:solidFill>
                <a:latin typeface="Arial"/>
                <a:ea typeface="Arial"/>
                <a:cs typeface="Arial"/>
              </a:rPr>
              <a:t>•  選択条件は設定、OSおよび機器種別です。</a:t>
            </a:r>
          </a:p>
        </p:txBody>
      </p:sp>
      <p:graphicFrame>
        <p:nvGraphicFramePr>
          <p:cNvPr id="13" name="Table 5"/>
          <p:cNvGraphicFramePr/>
          <p:nvPr/>
        </p:nvGraphicFramePr>
        <p:xfrm>
          <a:off x="621792" y="4206240"/>
          <a:ext cx="17190719" cy="2194560"/>
        </p:xfrm>
        <a:graphic>
          <a:graphicData uri="http://schemas.openxmlformats.org/drawingml/2006/table">
            <a:tbl>
              <a:tblPr firstRow="1" bandRow="1">
                <a:tableStyleId>{5C22544A-7EE6-4342-B048-85BDC9FD1C3A}</a:tableStyleId>
              </a:tblPr>
              <a:tblGrid>
                <a:gridCol w="7331196">
                  <a:extLst>
                    <a:ext uri="{9D8B030D-6E8A-4147-A177-3AD203B41FA5}">
                      <a16:colId xmlns:a16="http://schemas.microsoft.com/office/drawing/2014/main" val="20000"/>
                    </a:ext>
                  </a:extLst>
                </a:gridCol>
                <a:gridCol w="9859523">
                  <a:extLst>
                    <a:ext uri="{9D8B030D-6E8A-4147-A177-3AD203B41FA5}">
                      <a16:colId xmlns:a16="http://schemas.microsoft.com/office/drawing/2014/main" val="20001"/>
                    </a:ext>
                  </a:extLst>
                </a:gridCol>
              </a:tblGrid>
              <a:tr h="365760">
                <a:tc>
                  <a:txBody>
                    <a:bodyPr/>
                    <a:lstStyle/>
                    <a:p>
                      <a:r>
                        <a:rPr sz="1400" b="1">
                          <a:solidFill>
                            <a:srgbClr val="FFFFFF"/>
                          </a:solidFill>
                          <a:latin typeface="Arial"/>
                          <a:ea typeface="Arial"/>
                          <a:cs typeface="Arial"/>
                        </a:rPr>
                        <a:t>構成要素</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役割</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DeviceManager</a:t>
                      </a:r>
                    </a:p>
                  </a:txBody>
                  <a:tcPr marL="64008" marR="64008" marT="27432" marB="27432" anchor="ctr">
                    <a:solidFill>
                      <a:srgbClr val="FFFFFF"/>
                    </a:solidFill>
                  </a:tcPr>
                </a:tc>
                <a:tc>
                  <a:txBody>
                    <a:bodyPr/>
                    <a:lstStyle/>
                    <a:p>
                      <a:r>
                        <a:rPr sz="1400">
                          <a:solidFill>
                            <a:srgbClr val="545454"/>
                          </a:solidFill>
                          <a:latin typeface="Arial"/>
                          <a:ea typeface="Arial"/>
                          <a:cs typeface="Arial"/>
                        </a:rPr>
                        <a:t>現在の設定を保持し、有効な機器を選択する</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DeviceControllerConfigService</a:t>
                      </a:r>
                    </a:p>
                  </a:txBody>
                  <a:tcPr marL="64008" marR="64008" marT="27432" marB="27432" anchor="ctr">
                    <a:solidFill>
                      <a:srgbClr val="F7F7F7"/>
                    </a:solidFill>
                  </a:tcPr>
                </a:tc>
                <a:tc>
                  <a:txBody>
                    <a:bodyPr/>
                    <a:lstStyle/>
                    <a:p>
                      <a:r>
                        <a:rPr sz="1400">
                          <a:solidFill>
                            <a:srgbClr val="545454"/>
                          </a:solidFill>
                          <a:latin typeface="Arial"/>
                          <a:ea typeface="Arial"/>
                          <a:cs typeface="Arial"/>
                        </a:rPr>
                        <a:t>DeviceCtrl設定を読み込み、保存し、必要に応じて既定値へ切り替える</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StrategyFactory</a:t>
                      </a:r>
                    </a:p>
                  </a:txBody>
                  <a:tcPr marL="64008" marR="64008" marT="27432" marB="27432" anchor="ctr">
                    <a:solidFill>
                      <a:srgbClr val="FFFFFF"/>
                    </a:solidFill>
                  </a:tcPr>
                </a:tc>
                <a:tc>
                  <a:txBody>
                    <a:bodyPr/>
                    <a:lstStyle/>
                    <a:p>
                      <a:r>
                        <a:rPr sz="1400">
                          <a:solidFill>
                            <a:srgbClr val="545454"/>
                          </a:solidFill>
                          <a:latin typeface="Arial"/>
                          <a:ea typeface="Arial"/>
                          <a:cs typeface="Arial"/>
                        </a:rPr>
                        <a:t>選択された機器仕様（DeviceSpec）に対応する接続方式別実装を生成する</a:t>
                      </a:r>
                    </a:p>
                  </a:txBody>
                  <a:tcPr marL="64008" marR="64008" marT="27432" marB="27432" anchor="ctr">
                    <a:solidFill>
                      <a:srgbClr val="FFFFFF"/>
                    </a:solidFill>
                  </a:tcPr>
                </a:tc>
                <a:extLst>
                  <a:ext uri="{0D108BD9-81ED-4DB2-BD59-A6C34878D82A}">
                    <a16:rowId xmlns:a16="http://schemas.microsoft.com/office/drawing/2014/main" val="10003"/>
                  </a:ext>
                </a:extLst>
              </a:tr>
              <a:tr h="365760">
                <a:tc>
                  <a:txBody>
                    <a:bodyPr/>
                    <a:lstStyle/>
                    <a:p>
                      <a:r>
                        <a:rPr sz="1400">
                          <a:solidFill>
                            <a:srgbClr val="545454"/>
                          </a:solidFill>
                          <a:latin typeface="Arial"/>
                          <a:ea typeface="Arial"/>
                          <a:cs typeface="Arial"/>
                        </a:rPr>
                        <a:t>デバイス制御インターフェース</a:t>
                      </a:r>
                    </a:p>
                  </a:txBody>
                  <a:tcPr marL="64008" marR="64008" marT="27432" marB="27432" anchor="ctr">
                    <a:solidFill>
                      <a:srgbClr val="F7F7F7"/>
                    </a:solidFill>
                  </a:tcPr>
                </a:tc>
                <a:tc>
                  <a:txBody>
                    <a:bodyPr/>
                    <a:lstStyle/>
                    <a:p>
                      <a:r>
                        <a:rPr sz="1400">
                          <a:solidFill>
                            <a:srgbClr val="545454"/>
                          </a:solidFill>
                          <a:latin typeface="Arial"/>
                          <a:ea typeface="Arial"/>
                          <a:cs typeface="Arial"/>
                        </a:rPr>
                        <a:t>開始（Start）、機器操作、終了（End）を機器種別ごとに定義する</a:t>
                      </a:r>
                    </a:p>
                  </a:txBody>
                  <a:tcPr marL="64008" marR="64008" marT="27432" marB="27432" anchor="ctr">
                    <a:solidFill>
                      <a:srgbClr val="F7F7F7"/>
                    </a:solidFill>
                  </a:tcPr>
                </a:tc>
                <a:extLst>
                  <a:ext uri="{0D108BD9-81ED-4DB2-BD59-A6C34878D82A}">
                    <a16:rowId xmlns:a16="http://schemas.microsoft.com/office/drawing/2014/main" val="10004"/>
                  </a:ext>
                </a:extLst>
              </a:tr>
              <a:tr h="365760">
                <a:tc>
                  <a:txBody>
                    <a:bodyPr/>
                    <a:lstStyle/>
                    <a:p>
                      <a:r>
                        <a:rPr sz="1400">
                          <a:solidFill>
                            <a:srgbClr val="545454"/>
                          </a:solidFill>
                          <a:latin typeface="Arial"/>
                          <a:ea typeface="Arial"/>
                          <a:cs typeface="Arial"/>
                        </a:rPr>
                        <a:t>OS別の接続方式別実装</a:t>
                      </a:r>
                    </a:p>
                  </a:txBody>
                  <a:tcPr marL="64008" marR="64008" marT="27432" marB="27432" anchor="ctr">
                    <a:solidFill>
                      <a:srgbClr val="FFFFFF"/>
                    </a:solidFill>
                  </a:tcPr>
                </a:tc>
                <a:tc>
                  <a:txBody>
                    <a:bodyPr/>
                    <a:lstStyle/>
                    <a:p>
                      <a:r>
                        <a:rPr sz="1400">
                          <a:solidFill>
                            <a:srgbClr val="545454"/>
                          </a:solidFill>
                          <a:latin typeface="Arial"/>
                          <a:ea typeface="Arial"/>
                          <a:cs typeface="Arial"/>
                        </a:rPr>
                        <a:t>名前付きパイプ、シリアル通信、ロウインプット、SDKまたはOS標準APIを使い分ける</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7" name="TextBox 6">
            <a:extLst>
              <a:ext uri="{FF2B5EF4-FFF2-40B4-BE49-F238E27FC236}">
                <a16:creationId xmlns:a16="http://schemas.microsoft.com/office/drawing/2014/main" id="{A912485B-67AF-4EB2-800D-9EA72566C472}"/>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ARCH-DEVICE-01 2.1–2.3、5.1–5.4</a:t>
            </a:r>
          </a:p>
        </p:txBody>
      </p:sp>
    </p:spTree>
    <p:extLst>
      <p:ext uri="{BB962C8B-B14F-4D97-AF65-F5344CB8AC3E}">
        <p14:creationId xmlns:p14="http://schemas.microsoft.com/office/powerpoint/2010/main" val="789730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8F6E8F-28FD-4B0E-A7D3-3B0458420B9D}"/>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デバイス制御の内部構造</a:t>
            </a:r>
          </a:p>
        </p:txBody>
      </p:sp>
      <p:sp>
        <p:nvSpPr>
          <p:cNvPr id="3" name="Rounded Rectangle 2">
            <a:extLst>
              <a:ext uri="{FF2B5EF4-FFF2-40B4-BE49-F238E27FC236}">
                <a16:creationId xmlns:a16="http://schemas.microsoft.com/office/drawing/2014/main" id="{60BDB3EB-21C4-45A6-9063-F74013587F1A}"/>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設定ファイルから有効な機器と接続方式別実装を決定し、デバイス制御インターフェースとしてアプリケーション層へ提供します。</a:t>
            </a:r>
          </a:p>
        </p:txBody>
      </p:sp>
      <p:sp>
        <p:nvSpPr>
          <p:cNvPr id="4" name="TextBox 3">
            <a:extLst>
              <a:ext uri="{FF2B5EF4-FFF2-40B4-BE49-F238E27FC236}">
                <a16:creationId xmlns:a16="http://schemas.microsoft.com/office/drawing/2014/main" id="{5E68523D-0E56-4D23-8FEC-A072666C4EB3}"/>
              </a:ext>
            </a:extLst>
          </p:cNvPr>
          <p:cNvSpPr>
            <a:spLocks noGrp="1"/>
          </p:cNvSpPr>
          <p:nvPr/>
        </p:nvSpPr>
        <p:spPr>
          <a:xfrm>
            <a:off x="594360" y="292608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初期化と選択の順序</a:t>
            </a:r>
          </a:p>
        </p:txBody>
      </p:sp>
      <p:sp>
        <p:nvSpPr>
          <p:cNvPr id="5" name="TextBox 4">
            <a:extLst>
              <a:ext uri="{FF2B5EF4-FFF2-40B4-BE49-F238E27FC236}">
                <a16:creationId xmlns:a16="http://schemas.microsoft.com/office/drawing/2014/main" id="{F8C91A47-B7C5-4F61-B558-63CB9AAD9778}"/>
              </a:ext>
            </a:extLst>
          </p:cNvPr>
          <p:cNvSpPr>
            <a:spLocks noGrp="1"/>
          </p:cNvSpPr>
          <p:nvPr/>
        </p:nvSpPr>
        <p:spPr>
          <a:xfrm>
            <a:off x="685800" y="340156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1. DeviceManagerがDeviceControllerConfigServiceへ設定の読み込みを要求します。</a:t>
            </a:r>
          </a:p>
          <a:p>
            <a:pPr>
              <a:spcAft>
                <a:spcPts val="500"/>
              </a:spcAft>
              <a:buNone/>
            </a:pPr>
            <a:r>
              <a:rPr sz="1700">
                <a:solidFill>
                  <a:srgbClr val="545454"/>
                </a:solidFill>
                <a:latin typeface="Arial"/>
                <a:ea typeface="Arial"/>
                <a:cs typeface="Arial"/>
              </a:rPr>
              <a:t>2. アプリデータフォルダの設定を優先します。</a:t>
            </a:r>
          </a:p>
          <a:p>
            <a:pPr>
              <a:spcAft>
                <a:spcPts val="500"/>
              </a:spcAft>
              <a:buNone/>
            </a:pPr>
            <a:r>
              <a:rPr sz="1700">
                <a:solidFill>
                  <a:srgbClr val="545454"/>
                </a:solidFill>
                <a:latin typeface="Arial"/>
                <a:ea typeface="Arial"/>
                <a:cs typeface="Arial"/>
              </a:rPr>
              <a:t>3. 利用できない場合は同梱された既定設定へ切り替えます。</a:t>
            </a:r>
          </a:p>
          <a:p>
            <a:pPr>
              <a:spcAft>
                <a:spcPts val="500"/>
              </a:spcAft>
              <a:buNone/>
            </a:pPr>
            <a:r>
              <a:rPr sz="1700">
                <a:solidFill>
                  <a:srgbClr val="545454"/>
                </a:solidFill>
                <a:latin typeface="Arial"/>
                <a:ea typeface="Arial"/>
                <a:cs typeface="Arial"/>
              </a:rPr>
              <a:t>4. 機器種別、OS、有効な識別子から有効デバイス設定（ActiveDevice）と機器仕様（DeviceSpec）を選択します。</a:t>
            </a:r>
          </a:p>
          <a:p>
            <a:pPr>
              <a:spcAft>
                <a:spcPts val="500"/>
              </a:spcAft>
              <a:buNone/>
            </a:pPr>
            <a:r>
              <a:rPr sz="1700">
                <a:solidFill>
                  <a:srgbClr val="545454"/>
                </a:solidFill>
                <a:latin typeface="Arial"/>
                <a:ea typeface="Arial"/>
                <a:cs typeface="Arial"/>
              </a:rPr>
              <a:t>5. StrategyFactoryが接続方式別実装を生成し、デバイス制御インターフェースとして返します。</a:t>
            </a:r>
          </a:p>
          <a:p>
            <a:pPr>
              <a:spcAft>
                <a:spcPts val="500"/>
              </a:spcAft>
              <a:buNone/>
            </a:pPr>
            <a:r>
              <a:rPr sz="1700">
                <a:solidFill>
                  <a:srgbClr val="545454"/>
                </a:solidFill>
                <a:latin typeface="Arial"/>
                <a:ea typeface="Arial"/>
                <a:cs typeface="Arial"/>
              </a:rPr>
              <a:t>6. アプリケーション層は返されたインターフェースを利用し、個別実装を選択しません。</a:t>
            </a:r>
          </a:p>
        </p:txBody>
      </p:sp>
      <p:sp>
        <p:nvSpPr>
          <p:cNvPr id="6" name="TextBox 5">
            <a:extLst>
              <a:ext uri="{FF2B5EF4-FFF2-40B4-BE49-F238E27FC236}">
                <a16:creationId xmlns:a16="http://schemas.microsoft.com/office/drawing/2014/main" id="{CFF4A497-7622-4BC4-A27B-5A3BAC844552}"/>
              </a:ext>
            </a:extLst>
          </p:cNvPr>
          <p:cNvSpPr>
            <a:spLocks noGrp="1"/>
          </p:cNvSpPr>
          <p:nvPr/>
        </p:nvSpPr>
        <p:spPr>
          <a:xfrm>
            <a:off x="594360" y="5376672"/>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管理対象</a:t>
            </a:r>
          </a:p>
        </p:txBody>
      </p:sp>
      <p:sp>
        <p:nvSpPr>
          <p:cNvPr id="7" name="TextBox 6">
            <a:extLst>
              <a:ext uri="{FF2B5EF4-FFF2-40B4-BE49-F238E27FC236}">
                <a16:creationId xmlns:a16="http://schemas.microsoft.com/office/drawing/2014/main" id="{1721F101-FFAA-47C1-B878-A41847AD623E}"/>
              </a:ext>
            </a:extLst>
          </p:cNvPr>
          <p:cNvSpPr>
            <a:spLocks noGrp="1"/>
          </p:cNvSpPr>
          <p:nvPr/>
        </p:nvSpPr>
        <p:spPr>
          <a:xfrm>
            <a:off x="685800" y="5852160"/>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`device_controller_config.json`</a:t>
            </a:r>
          </a:p>
          <a:p>
            <a:pPr>
              <a:spcAft>
                <a:spcPts val="500"/>
              </a:spcAft>
              <a:buNone/>
            </a:pPr>
            <a:r>
              <a:rPr sz="1700">
                <a:solidFill>
                  <a:srgbClr val="545454"/>
                </a:solidFill>
                <a:latin typeface="Arial"/>
                <a:ea typeface="Arial"/>
                <a:cs typeface="Arial"/>
              </a:rPr>
              <a:t>•  アプリデータフォルダの有効設定</a:t>
            </a:r>
          </a:p>
          <a:p>
            <a:pPr>
              <a:spcAft>
                <a:spcPts val="500"/>
              </a:spcAft>
              <a:buNone/>
            </a:pPr>
            <a:r>
              <a:rPr sz="1700">
                <a:solidFill>
                  <a:srgbClr val="545454"/>
                </a:solidFill>
                <a:latin typeface="Arial"/>
                <a:ea typeface="Arial"/>
                <a:cs typeface="Arial"/>
              </a:rPr>
              <a:t>•  同梱された既定設定</a:t>
            </a:r>
          </a:p>
        </p:txBody>
      </p:sp>
      <p:sp>
        <p:nvSpPr>
          <p:cNvPr id="8" name="TextBox 7">
            <a:extLst>
              <a:ext uri="{FF2B5EF4-FFF2-40B4-BE49-F238E27FC236}">
                <a16:creationId xmlns:a16="http://schemas.microsoft.com/office/drawing/2014/main" id="{9660169D-69A2-48F5-A73C-0E821D59B08C}"/>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ARCH-01 4.6、ARCH-DEVICE-01 6.1–6.4、ARCH-02 4.3、5.4</a:t>
            </a:r>
          </a:p>
        </p:txBody>
      </p:sp>
    </p:spTree>
    <p:extLst>
      <p:ext uri="{BB962C8B-B14F-4D97-AF65-F5344CB8AC3E}">
        <p14:creationId xmlns:p14="http://schemas.microsoft.com/office/powerpoint/2010/main" val="887985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BE221A-EFBC-4AD6-8CEF-483BA47CB697}"/>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端末種別ごとの機器接続経路</a:t>
            </a:r>
          </a:p>
        </p:txBody>
      </p:sp>
      <p:sp>
        <p:nvSpPr>
          <p:cNvPr id="3" name="Rounded Rectangle 2">
            <a:extLst>
              <a:ext uri="{FF2B5EF4-FFF2-40B4-BE49-F238E27FC236}">
                <a16:creationId xmlns:a16="http://schemas.microsoft.com/office/drawing/2014/main" id="{121420C7-F771-4971-B147-5BC3F5E07C13}"/>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Windows POSでは既存の機器制御資産を必要とする周辺機器だけをデバイスコネクタ経由とし、タブレットPOS（Android／iOS）は共通の直接接続方針で制御します。</a:t>
            </a:r>
          </a:p>
        </p:txBody>
      </p:sp>
      <p:graphicFrame>
        <p:nvGraphicFramePr>
          <p:cNvPr id="58" name="Table 3"/>
          <p:cNvGraphicFramePr/>
          <p:nvPr/>
        </p:nvGraphicFramePr>
        <p:xfrm>
          <a:off x="621792" y="2926080"/>
          <a:ext cx="6766558" cy="2651760"/>
        </p:xfrm>
        <a:graphic>
          <a:graphicData uri="http://schemas.openxmlformats.org/drawingml/2006/table">
            <a:tbl>
              <a:tblPr firstRow="1" bandRow="1">
                <a:tableStyleId>{5C22544A-7EE6-4342-B048-85BDC9FD1C3A}</a:tableStyleId>
              </a:tblPr>
              <a:tblGrid>
                <a:gridCol w="1723718">
                  <a:extLst>
                    <a:ext uri="{9D8B030D-6E8A-4147-A177-3AD203B41FA5}">
                      <a16:colId xmlns:a16="http://schemas.microsoft.com/office/drawing/2014/main" val="20000"/>
                    </a:ext>
                  </a:extLst>
                </a:gridCol>
                <a:gridCol w="2521420">
                  <a:extLst>
                    <a:ext uri="{9D8B030D-6E8A-4147-A177-3AD203B41FA5}">
                      <a16:colId xmlns:a16="http://schemas.microsoft.com/office/drawing/2014/main" val="20001"/>
                    </a:ext>
                  </a:extLst>
                </a:gridCol>
                <a:gridCol w="2521420">
                  <a:extLst>
                    <a:ext uri="{9D8B030D-6E8A-4147-A177-3AD203B41FA5}">
                      <a16:colId xmlns:a16="http://schemas.microsoft.com/office/drawing/2014/main" val="20002"/>
                    </a:ext>
                  </a:extLst>
                </a:gridCol>
              </a:tblGrid>
              <a:tr h="365760">
                <a:tc>
                  <a:txBody>
                    <a:bodyPr/>
                    <a:lstStyle/>
                    <a:p>
                      <a:r>
                        <a:rPr sz="1100" b="1">
                          <a:solidFill>
                            <a:srgbClr val="FFFFFF"/>
                          </a:solidFill>
                          <a:latin typeface="Arial"/>
                          <a:ea typeface="Arial"/>
                          <a:cs typeface="Arial"/>
                        </a:rPr>
                        <a:t>経路</a:t>
                      </a:r>
                    </a:p>
                  </a:txBody>
                  <a:tcPr marL="64008" marR="64008" marT="27432" marB="27432" anchor="ctr">
                    <a:solidFill>
                      <a:srgbClr val="545454"/>
                    </a:solidFill>
                  </a:tcPr>
                </a:tc>
                <a:tc>
                  <a:txBody>
                    <a:bodyPr/>
                    <a:lstStyle/>
                    <a:p>
                      <a:r>
                        <a:rPr sz="1100" b="1">
                          <a:solidFill>
                            <a:srgbClr val="FFFFFF"/>
                          </a:solidFill>
                          <a:latin typeface="Arial"/>
                          <a:ea typeface="Arial"/>
                          <a:cs typeface="Arial"/>
                        </a:rPr>
                        <a:t>方式</a:t>
                      </a:r>
                    </a:p>
                  </a:txBody>
                  <a:tcPr marL="64008" marR="64008" marT="27432" marB="27432" anchor="ctr">
                    <a:solidFill>
                      <a:srgbClr val="545454"/>
                    </a:solidFill>
                  </a:tcPr>
                </a:tc>
                <a:tc>
                  <a:txBody>
                    <a:bodyPr/>
                    <a:lstStyle/>
                    <a:p>
                      <a:r>
                        <a:rPr sz="1100" b="1">
                          <a:solidFill>
                            <a:srgbClr val="FFFFFF"/>
                          </a:solidFill>
                          <a:latin typeface="Arial"/>
                          <a:ea typeface="Arial"/>
                          <a:cs typeface="Arial"/>
                        </a:rPr>
                        <a:t>対象機器</a:t>
                      </a:r>
                    </a:p>
                  </a:txBody>
                  <a:tcPr marL="64008" marR="64008" marT="27432" marB="27432" anchor="ctr">
                    <a:solidFill>
                      <a:srgbClr val="545454"/>
                    </a:solidFill>
                  </a:tcPr>
                </a:tc>
                <a:extLst>
                  <a:ext uri="{0D108BD9-81ED-4DB2-BD59-A6C34878D82A}">
                    <a16:rowId xmlns:a16="http://schemas.microsoft.com/office/drawing/2014/main" val="10000"/>
                  </a:ext>
                </a:extLst>
              </a:tr>
              <a:tr h="841248">
                <a:tc>
                  <a:txBody>
                    <a:bodyPr/>
                    <a:lstStyle/>
                    <a:p>
                      <a:r>
                        <a:rPr sz="1100">
                          <a:solidFill>
                            <a:srgbClr val="545454"/>
                          </a:solidFill>
                          <a:latin typeface="Arial"/>
                          <a:ea typeface="Arial"/>
                          <a:cs typeface="Arial"/>
                        </a:rPr>
                        <a:t>Windows POS（直接接続）</a:t>
                      </a:r>
                    </a:p>
                  </a:txBody>
                  <a:tcPr marL="64008" marR="64008" marT="27432" marB="27432" anchor="ctr">
                    <a:solidFill>
                      <a:srgbClr val="FFFFFF"/>
                    </a:solidFill>
                  </a:tcPr>
                </a:tc>
                <a:tc>
                  <a:txBody>
                    <a:bodyPr/>
                    <a:lstStyle/>
                    <a:p>
                      <a:r>
                        <a:rPr sz="1100">
                          <a:solidFill>
                            <a:srgbClr val="545454"/>
                          </a:solidFill>
                          <a:latin typeface="Arial"/>
                          <a:ea typeface="Arial"/>
                          <a:cs typeface="Arial"/>
                        </a:rPr>
                        <a:t>シリアル通信（SerialPort）、ロウインプット（Raw Input）</a:t>
                      </a:r>
                    </a:p>
                  </a:txBody>
                  <a:tcPr marL="64008" marR="64008" marT="27432" marB="27432" anchor="ctr">
                    <a:solidFill>
                      <a:srgbClr val="FFFFFF"/>
                    </a:solidFill>
                  </a:tcPr>
                </a:tc>
                <a:tc>
                  <a:txBody>
                    <a:bodyPr/>
                    <a:lstStyle/>
                    <a:p>
                      <a:r>
                        <a:rPr sz="1100">
                          <a:solidFill>
                            <a:srgbClr val="545454"/>
                          </a:solidFill>
                          <a:latin typeface="Arial"/>
                          <a:ea typeface="Arial"/>
                          <a:cs typeface="Arial"/>
                        </a:rPr>
                        <a:t>バーコードスキャナー、専用キーボード</a:t>
                      </a:r>
                    </a:p>
                  </a:txBody>
                  <a:tcPr marL="64008" marR="64008" marT="27432" marB="27432" anchor="ctr">
                    <a:solidFill>
                      <a:srgbClr val="FFFFFF"/>
                    </a:solidFill>
                  </a:tcPr>
                </a:tc>
                <a:extLst>
                  <a:ext uri="{0D108BD9-81ED-4DB2-BD59-A6C34878D82A}">
                    <a16:rowId xmlns:a16="http://schemas.microsoft.com/office/drawing/2014/main" val="10001"/>
                  </a:ext>
                </a:extLst>
              </a:tr>
              <a:tr h="841248">
                <a:tc>
                  <a:txBody>
                    <a:bodyPr/>
                    <a:lstStyle/>
                    <a:p>
                      <a:r>
                        <a:rPr sz="1100">
                          <a:solidFill>
                            <a:srgbClr val="545454"/>
                          </a:solidFill>
                          <a:latin typeface="Arial"/>
                          <a:ea typeface="Arial"/>
                          <a:cs typeface="Arial"/>
                        </a:rPr>
                        <a:t>Windows POS（デバイスコネクタ経由）</a:t>
                      </a:r>
                    </a:p>
                  </a:txBody>
                  <a:tcPr marL="64008" marR="64008" marT="27432" marB="27432" anchor="ctr">
                    <a:solidFill>
                      <a:srgbClr val="F7F7F7"/>
                    </a:solidFill>
                  </a:tcPr>
                </a:tc>
                <a:tc>
                  <a:txBody>
                    <a:bodyPr/>
                    <a:lstStyle/>
                    <a:p>
                      <a:r>
                        <a:rPr sz="1100">
                          <a:solidFill>
                            <a:srgbClr val="545454"/>
                          </a:solidFill>
                          <a:latin typeface="Arial"/>
                          <a:ea typeface="Arial"/>
                          <a:cs typeface="Arial"/>
                        </a:rPr>
                        <a:t>名前付きパイプ、OPOS／OCX／DLL</a:t>
                      </a:r>
                    </a:p>
                  </a:txBody>
                  <a:tcPr marL="64008" marR="64008" marT="27432" marB="27432" anchor="ctr">
                    <a:solidFill>
                      <a:srgbClr val="F7F7F7"/>
                    </a:solidFill>
                  </a:tcPr>
                </a:tc>
                <a:tc>
                  <a:txBody>
                    <a:bodyPr/>
                    <a:lstStyle/>
                    <a:p>
                      <a:r>
                        <a:rPr sz="1100">
                          <a:solidFill>
                            <a:srgbClr val="545454"/>
                          </a:solidFill>
                          <a:latin typeface="Arial"/>
                          <a:ea typeface="Arial"/>
                          <a:cs typeface="Arial"/>
                        </a:rPr>
                        <a:t>既存機器：自動釣銭機、ドロア、カスタマーディスプレイ、プリンター、決済端末</a:t>
                      </a:r>
                    </a:p>
                  </a:txBody>
                  <a:tcPr marL="64008" marR="64008" marT="27432" marB="27432" anchor="ctr">
                    <a:solidFill>
                      <a:srgbClr val="F7F7F7"/>
                    </a:solidFill>
                  </a:tcPr>
                </a:tc>
                <a:extLst>
                  <a:ext uri="{0D108BD9-81ED-4DB2-BD59-A6C34878D82A}">
                    <a16:rowId xmlns:a16="http://schemas.microsoft.com/office/drawing/2014/main" val="10002"/>
                  </a:ext>
                </a:extLst>
              </a:tr>
              <a:tr h="603504">
                <a:tc>
                  <a:txBody>
                    <a:bodyPr/>
                    <a:lstStyle/>
                    <a:p>
                      <a:r>
                        <a:rPr sz="1100">
                          <a:solidFill>
                            <a:srgbClr val="545454"/>
                          </a:solidFill>
                          <a:latin typeface="Arial"/>
                          <a:ea typeface="Arial"/>
                          <a:cs typeface="Arial"/>
                        </a:rPr>
                        <a:t>タブレットPOS（Android／iOS）</a:t>
                      </a:r>
                    </a:p>
                  </a:txBody>
                  <a:tcPr marL="64008" marR="64008" marT="27432" marB="27432" anchor="ctr">
                    <a:solidFill>
                      <a:srgbClr val="FFFFFF"/>
                    </a:solidFill>
                  </a:tcPr>
                </a:tc>
                <a:tc>
                  <a:txBody>
                    <a:bodyPr/>
                    <a:lstStyle/>
                    <a:p>
                      <a:r>
                        <a:rPr sz="1100">
                          <a:solidFill>
                            <a:srgbClr val="545454"/>
                          </a:solidFill>
                          <a:latin typeface="Arial"/>
                          <a:ea typeface="Arial"/>
                          <a:cs typeface="Arial"/>
                        </a:rPr>
                        <a:t>カメラ、Bluetooth、SDKまたはOS標準APIによる直接接続</a:t>
                      </a:r>
                    </a:p>
                  </a:txBody>
                  <a:tcPr marL="64008" marR="64008" marT="27432" marB="27432" anchor="ctr">
                    <a:solidFill>
                      <a:srgbClr val="FFFFFF"/>
                    </a:solidFill>
                  </a:tcPr>
                </a:tc>
                <a:tc>
                  <a:txBody>
                    <a:bodyPr/>
                    <a:lstStyle/>
                    <a:p>
                      <a:r>
                        <a:rPr sz="1100">
                          <a:solidFill>
                            <a:srgbClr val="545454"/>
                          </a:solidFill>
                          <a:latin typeface="Arial"/>
                          <a:ea typeface="Arial"/>
                          <a:cs typeface="Arial"/>
                        </a:rPr>
                        <a:t>スキャナー、プリンター、カスタマーディスプレイ、決済端末</a:t>
                      </a:r>
                    </a:p>
                  </a:txBody>
                  <a:tcPr marL="64008" marR="64008"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9DAD4D45-56F7-47D4-A7D2-4019B7807493}"/>
              </a:ext>
            </a:extLst>
          </p:cNvPr>
          <p:cNvSpPr>
            <a:spLocks noGrp="1"/>
          </p:cNvSpPr>
          <p:nvPr/>
        </p:nvSpPr>
        <p:spPr>
          <a:xfrm>
            <a:off x="594360" y="5806440"/>
            <a:ext cx="6766560" cy="365760"/>
          </a:xfrm>
          <a:prstGeom prst="rect">
            <a:avLst/>
          </a:prstGeom>
          <a:noFill/>
        </p:spPr>
        <p:txBody>
          <a:bodyPr wrap="square" lIns="45720" tIns="0" rIns="45720" bIns="0" anchor="t">
            <a:spAutoFit/>
          </a:bodyPr>
          <a:lstStyle/>
          <a:p>
            <a:pPr algn="l">
              <a:spcAft>
                <a:spcPts val="600"/>
              </a:spcAft>
              <a:buNone/>
            </a:pPr>
            <a:r>
              <a:rPr sz="1700" b="1">
                <a:solidFill>
                  <a:srgbClr val="333333"/>
                </a:solidFill>
                <a:latin typeface="Arial"/>
                <a:ea typeface="Arial"/>
                <a:cs typeface="Arial"/>
              </a:rPr>
              <a:t>設計原則</a:t>
            </a:r>
          </a:p>
        </p:txBody>
      </p:sp>
      <p:sp>
        <p:nvSpPr>
          <p:cNvPr id="6" name="TextBox 5">
            <a:extLst>
              <a:ext uri="{FF2B5EF4-FFF2-40B4-BE49-F238E27FC236}">
                <a16:creationId xmlns:a16="http://schemas.microsoft.com/office/drawing/2014/main" id="{D5024BFA-4009-45CB-A0C3-49AC74124BAF}"/>
              </a:ext>
            </a:extLst>
          </p:cNvPr>
          <p:cNvSpPr>
            <a:spLocks noGrp="1"/>
          </p:cNvSpPr>
          <p:nvPr/>
        </p:nvSpPr>
        <p:spPr>
          <a:xfrm>
            <a:off x="685800" y="6281928"/>
            <a:ext cx="6675120" cy="365760"/>
          </a:xfrm>
          <a:prstGeom prst="rect">
            <a:avLst/>
          </a:prstGeom>
          <a:noFill/>
        </p:spPr>
        <p:txBody>
          <a:bodyPr wrap="square" lIns="0" tIns="0" rIns="0" bIns="0">
            <a:spAutoFit/>
          </a:bodyPr>
          <a:lstStyle/>
          <a:p>
            <a:pPr>
              <a:spcAft>
                <a:spcPts val="500"/>
              </a:spcAft>
              <a:buNone/>
            </a:pPr>
            <a:r>
              <a:rPr sz="1400">
                <a:solidFill>
                  <a:srgbClr val="545454"/>
                </a:solidFill>
                <a:latin typeface="Arial"/>
                <a:ea typeface="Arial"/>
                <a:cs typeface="Arial"/>
              </a:rPr>
              <a:t>•  DeviceCtrlはWindows POSとタブレットPOS（Android／iOS）の端末アプリ内で動作します。</a:t>
            </a:r>
          </a:p>
          <a:p>
            <a:pPr>
              <a:spcAft>
                <a:spcPts val="500"/>
              </a:spcAft>
              <a:buNone/>
            </a:pPr>
            <a:r>
              <a:rPr sz="1400">
                <a:solidFill>
                  <a:srgbClr val="545454"/>
                </a:solidFill>
                <a:latin typeface="Arial"/>
                <a:ea typeface="Arial"/>
                <a:cs typeface="Arial"/>
              </a:rPr>
              <a:t>•  Windows POSのスキャナーと専用キーボードはコネクタを経由しません。</a:t>
            </a:r>
          </a:p>
          <a:p>
            <a:pPr>
              <a:spcAft>
                <a:spcPts val="500"/>
              </a:spcAft>
              <a:buNone/>
            </a:pPr>
            <a:r>
              <a:rPr sz="1400">
                <a:solidFill>
                  <a:srgbClr val="545454"/>
                </a:solidFill>
                <a:latin typeface="Arial"/>
                <a:ea typeface="Arial"/>
                <a:cs typeface="Arial"/>
              </a:rPr>
              <a:t>•  デバイスコネクタは周辺機器ではなく、端末アプリとは別に動作するWindows POSのプロセスです。</a:t>
            </a:r>
          </a:p>
          <a:p>
            <a:pPr>
              <a:spcAft>
                <a:spcPts val="500"/>
              </a:spcAft>
              <a:buNone/>
            </a:pPr>
            <a:r>
              <a:rPr sz="1400">
                <a:solidFill>
                  <a:srgbClr val="545454"/>
                </a:solidFill>
                <a:latin typeface="Arial"/>
                <a:ea typeface="Arial"/>
                <a:cs typeface="Arial"/>
              </a:rPr>
              <a:t>•  タブレットPOS（Android／iOS）にはデバイスコネクタに相当する中間プロセスを設けず、DeviceCtrl内の接続方式別実装から制御します。</a:t>
            </a:r>
          </a:p>
        </p:txBody>
      </p:sp>
      <p:sp>
        <p:nvSpPr>
          <p:cNvPr id="7" name="Rounded Rectangle 6">
            <a:extLst>
              <a:ext uri="{FF2B5EF4-FFF2-40B4-BE49-F238E27FC236}">
                <a16:creationId xmlns:a16="http://schemas.microsoft.com/office/drawing/2014/main" id="{791C6BDF-F395-455E-A3AA-95D0D5E848EF}"/>
              </a:ext>
            </a:extLst>
          </p:cNvPr>
          <p:cNvSpPr>
            <a:spLocks noGrp="1"/>
          </p:cNvSpPr>
          <p:nvPr/>
        </p:nvSpPr>
        <p:spPr>
          <a:xfrm>
            <a:off x="7955279" y="3557016"/>
            <a:ext cx="3986784" cy="3280867"/>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5F6CAC92-D2A6-4F10-B9C1-8C527B4360C8}"/>
              </a:ext>
            </a:extLst>
          </p:cNvPr>
          <p:cNvSpPr>
            <a:spLocks noGrp="1"/>
          </p:cNvSpPr>
          <p:nvPr/>
        </p:nvSpPr>
        <p:spPr>
          <a:xfrm>
            <a:off x="8065007" y="3630168"/>
            <a:ext cx="3767328"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POS端末内アプリケーション</a:t>
            </a:r>
          </a:p>
        </p:txBody>
      </p:sp>
      <p:sp>
        <p:nvSpPr>
          <p:cNvPr id="9" name="Rounded Rectangle 8">
            <a:extLst>
              <a:ext uri="{FF2B5EF4-FFF2-40B4-BE49-F238E27FC236}">
                <a16:creationId xmlns:a16="http://schemas.microsoft.com/office/drawing/2014/main" id="{B15B3809-EB53-4C8F-B16E-986788F0C650}"/>
              </a:ext>
            </a:extLst>
          </p:cNvPr>
          <p:cNvSpPr>
            <a:spLocks noGrp="1"/>
          </p:cNvSpPr>
          <p:nvPr/>
        </p:nvSpPr>
        <p:spPr>
          <a:xfrm>
            <a:off x="8138159" y="4187952"/>
            <a:ext cx="3621024" cy="946403"/>
          </a:xfrm>
          <a:prstGeom prst="roundRect">
            <a:avLst>
              <a:gd name="adj" fmla="val 8000"/>
            </a:avLst>
          </a:prstGeom>
          <a:solidFill>
            <a:srgbClr val="E2F0D9"/>
          </a:solidFill>
          <a:ln w="15875">
            <a:solidFill>
              <a:srgbClr val="70AD47"/>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端末アプリ — MAUIプロセス</a:t>
            </a:r>
          </a:p>
          <a:p>
            <a:pPr algn="ctr">
              <a:buNone/>
            </a:pPr>
            <a:r>
              <a:rPr sz="900" b="0">
                <a:solidFill>
                  <a:srgbClr val="333333"/>
                </a:solidFill>
                <a:latin typeface="Arial"/>
                <a:ea typeface="Arial"/>
                <a:cs typeface="Arial"/>
              </a:rPr>
              <a:t>DeviceCtrl</a:t>
            </a:r>
          </a:p>
        </p:txBody>
      </p:sp>
      <p:sp>
        <p:nvSpPr>
          <p:cNvPr id="10" name="Rounded Rectangle 9">
            <a:extLst>
              <a:ext uri="{FF2B5EF4-FFF2-40B4-BE49-F238E27FC236}">
                <a16:creationId xmlns:a16="http://schemas.microsoft.com/office/drawing/2014/main" id="{1A4F0766-3094-411E-B257-6443DA622322}"/>
              </a:ext>
            </a:extLst>
          </p:cNvPr>
          <p:cNvSpPr>
            <a:spLocks noGrp="1"/>
          </p:cNvSpPr>
          <p:nvPr/>
        </p:nvSpPr>
        <p:spPr>
          <a:xfrm>
            <a:off x="8138159" y="5702198"/>
            <a:ext cx="3621024" cy="946403"/>
          </a:xfrm>
          <a:prstGeom prst="roundRect">
            <a:avLst>
              <a:gd name="adj" fmla="val 8000"/>
            </a:avLst>
          </a:prstGeom>
          <a:solidFill>
            <a:srgbClr val="FCE4D6"/>
          </a:solidFill>
          <a:ln w="15875">
            <a:solidFill>
              <a:srgbClr val="ED7D31"/>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デバイスコネクタ</a:t>
            </a:r>
          </a:p>
          <a:p>
            <a:pPr algn="ctr">
              <a:buNone/>
            </a:pPr>
            <a:r>
              <a:rPr sz="900" b="0">
                <a:solidFill>
                  <a:srgbClr val="333333"/>
                </a:solidFill>
                <a:latin typeface="Arial"/>
                <a:ea typeface="Arial"/>
                <a:cs typeface="Arial"/>
              </a:rPr>
              <a:t>Windows POSの別プロセス</a:t>
            </a:r>
          </a:p>
        </p:txBody>
      </p:sp>
      <p:sp>
        <p:nvSpPr>
          <p:cNvPr id="11" name="Connector 10">
            <a:extLst>
              <a:ext uri="{FF2B5EF4-FFF2-40B4-BE49-F238E27FC236}">
                <a16:creationId xmlns:a16="http://schemas.microsoft.com/office/drawing/2014/main" id="{945688BD-4F2B-4AD2-9A46-DA4942D265A5}"/>
              </a:ext>
            </a:extLst>
          </p:cNvPr>
          <p:cNvSpPr>
            <a:spLocks noGrp="1"/>
          </p:cNvSpPr>
          <p:nvPr/>
        </p:nvSpPr>
        <p:spPr>
          <a:xfrm>
            <a:off x="9948672" y="5134356"/>
            <a:ext cx="0" cy="567842"/>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12" name="TextBox 11">
            <a:extLst>
              <a:ext uri="{FF2B5EF4-FFF2-40B4-BE49-F238E27FC236}">
                <a16:creationId xmlns:a16="http://schemas.microsoft.com/office/drawing/2014/main" id="{B627A89B-DB87-4BBE-8F4F-56563A3BCA5C}"/>
              </a:ext>
            </a:extLst>
          </p:cNvPr>
          <p:cNvSpPr>
            <a:spLocks noGrp="1"/>
          </p:cNvSpPr>
          <p:nvPr/>
        </p:nvSpPr>
        <p:spPr>
          <a:xfrm>
            <a:off x="10058399" y="5165902"/>
            <a:ext cx="1828800" cy="256032"/>
          </a:xfrm>
          <a:prstGeom prst="rect">
            <a:avLst/>
          </a:prstGeom>
          <a:noFill/>
        </p:spPr>
        <p:txBody>
          <a:bodyPr wrap="square" lIns="45720" tIns="0" rIns="45720" bIns="0" anchor="t">
            <a:spAutoFit/>
          </a:bodyPr>
          <a:lstStyle/>
          <a:p>
            <a:pPr algn="l">
              <a:spcAft>
                <a:spcPts val="600"/>
              </a:spcAft>
              <a:buNone/>
            </a:pPr>
            <a:r>
              <a:rPr sz="900" b="0">
                <a:solidFill>
                  <a:srgbClr val="8C8C8C"/>
                </a:solidFill>
                <a:latin typeface="Arial"/>
                <a:ea typeface="Arial"/>
                <a:cs typeface="Arial"/>
              </a:rPr>
              <a:t>名前付きパイプ</a:t>
            </a:r>
          </a:p>
        </p:txBody>
      </p:sp>
      <p:sp>
        <p:nvSpPr>
          <p:cNvPr id="13" name="Rounded Rectangle 12">
            <a:extLst>
              <a:ext uri="{FF2B5EF4-FFF2-40B4-BE49-F238E27FC236}">
                <a16:creationId xmlns:a16="http://schemas.microsoft.com/office/drawing/2014/main" id="{D861046F-636B-48BF-9A82-5703FBCDBB4E}"/>
              </a:ext>
            </a:extLst>
          </p:cNvPr>
          <p:cNvSpPr>
            <a:spLocks noGrp="1"/>
          </p:cNvSpPr>
          <p:nvPr/>
        </p:nvSpPr>
        <p:spPr>
          <a:xfrm>
            <a:off x="12739420" y="2926080"/>
            <a:ext cx="5182819" cy="6309359"/>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25884669-A285-4CC8-A041-B150DAA39436}"/>
              </a:ext>
            </a:extLst>
          </p:cNvPr>
          <p:cNvSpPr>
            <a:spLocks noGrp="1"/>
          </p:cNvSpPr>
          <p:nvPr/>
        </p:nvSpPr>
        <p:spPr>
          <a:xfrm>
            <a:off x="12849148" y="2999232"/>
            <a:ext cx="4963363"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周辺機器</a:t>
            </a:r>
          </a:p>
        </p:txBody>
      </p:sp>
      <p:sp>
        <p:nvSpPr>
          <p:cNvPr id="15" name="Rounded Rectangle 14">
            <a:extLst>
              <a:ext uri="{FF2B5EF4-FFF2-40B4-BE49-F238E27FC236}">
                <a16:creationId xmlns:a16="http://schemas.microsoft.com/office/drawing/2014/main" id="{28ECDC9D-B20F-465B-9340-6286B8C55768}"/>
              </a:ext>
            </a:extLst>
          </p:cNvPr>
          <p:cNvSpPr>
            <a:spLocks noGrp="1"/>
          </p:cNvSpPr>
          <p:nvPr/>
        </p:nvSpPr>
        <p:spPr>
          <a:xfrm>
            <a:off x="12968020" y="3430828"/>
            <a:ext cx="4725619" cy="1261872"/>
          </a:xfrm>
          <a:prstGeom prst="roundRect">
            <a:avLst>
              <a:gd name="adj" fmla="val 8000"/>
            </a:avLst>
          </a:prstGeom>
          <a:solidFill>
            <a:srgbClr val="E4DFEC"/>
          </a:solidFill>
          <a:ln w="15875">
            <a:solidFill>
              <a:srgbClr val="8064A2"/>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直接接続機器</a:t>
            </a:r>
          </a:p>
          <a:p>
            <a:pPr algn="ctr">
              <a:buNone/>
            </a:pPr>
            <a:r>
              <a:rPr sz="900" b="0">
                <a:solidFill>
                  <a:srgbClr val="333333"/>
                </a:solidFill>
                <a:latin typeface="Arial"/>
                <a:ea typeface="Arial"/>
                <a:cs typeface="Arial"/>
              </a:rPr>
              <a:t>バーコードスキャナー／専用キーボード</a:t>
            </a:r>
          </a:p>
        </p:txBody>
      </p:sp>
      <p:sp>
        <p:nvSpPr>
          <p:cNvPr id="16" name="Rounded Rectangle 15">
            <a:extLst>
              <a:ext uri="{FF2B5EF4-FFF2-40B4-BE49-F238E27FC236}">
                <a16:creationId xmlns:a16="http://schemas.microsoft.com/office/drawing/2014/main" id="{BAC12541-A69C-4ABD-BDEB-91C36724AAB3}"/>
              </a:ext>
            </a:extLst>
          </p:cNvPr>
          <p:cNvSpPr>
            <a:spLocks noGrp="1"/>
          </p:cNvSpPr>
          <p:nvPr/>
        </p:nvSpPr>
        <p:spPr>
          <a:xfrm>
            <a:off x="12968019" y="7027164"/>
            <a:ext cx="4725619" cy="1640433"/>
          </a:xfrm>
          <a:prstGeom prst="roundRect">
            <a:avLst>
              <a:gd name="adj" fmla="val 8000"/>
            </a:avLst>
          </a:prstGeom>
          <a:solidFill>
            <a:srgbClr val="E4DFEC"/>
          </a:solidFill>
          <a:ln w="15875">
            <a:solidFill>
              <a:srgbClr val="8064A2"/>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既存機器</a:t>
            </a:r>
          </a:p>
          <a:p>
            <a:pPr algn="ctr">
              <a:buNone/>
            </a:pPr>
            <a:r>
              <a:rPr sz="900" b="0">
                <a:solidFill>
                  <a:srgbClr val="333333"/>
                </a:solidFill>
                <a:latin typeface="Arial"/>
                <a:ea typeface="Arial"/>
                <a:cs typeface="Arial"/>
              </a:rPr>
              <a:t>自動釣銭機／ドロア／カスタマーディスプレイ</a:t>
            </a:r>
          </a:p>
          <a:p>
            <a:pPr algn="ctr">
              <a:buNone/>
            </a:pPr>
            <a:r>
              <a:rPr sz="900" b="0">
                <a:solidFill>
                  <a:srgbClr val="333333"/>
                </a:solidFill>
                <a:latin typeface="Arial"/>
                <a:ea typeface="Arial"/>
                <a:cs typeface="Arial"/>
              </a:rPr>
              <a:t>プリンター／決済端末</a:t>
            </a:r>
          </a:p>
        </p:txBody>
      </p:sp>
      <p:sp>
        <p:nvSpPr>
          <p:cNvPr id="17" name="Rounded Rectangle 16">
            <a:extLst>
              <a:ext uri="{FF2B5EF4-FFF2-40B4-BE49-F238E27FC236}">
                <a16:creationId xmlns:a16="http://schemas.microsoft.com/office/drawing/2014/main" id="{CADE6A7E-0A3A-479D-A78C-80C59DFDC9B3}"/>
              </a:ext>
            </a:extLst>
          </p:cNvPr>
          <p:cNvSpPr>
            <a:spLocks noGrp="1"/>
          </p:cNvSpPr>
          <p:nvPr/>
        </p:nvSpPr>
        <p:spPr>
          <a:xfrm>
            <a:off x="13001015" y="4898947"/>
            <a:ext cx="4725619" cy="1388059"/>
          </a:xfrm>
          <a:prstGeom prst="roundRect">
            <a:avLst>
              <a:gd name="adj" fmla="val 8000"/>
            </a:avLst>
          </a:prstGeom>
          <a:solidFill>
            <a:srgbClr val="E4DFEC"/>
          </a:solidFill>
          <a:ln w="15875">
            <a:solidFill>
              <a:srgbClr val="8064A2"/>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直接接続機器</a:t>
            </a:r>
          </a:p>
          <a:p>
            <a:pPr algn="ctr">
              <a:buNone/>
            </a:pPr>
            <a:r>
              <a:rPr sz="900" b="0">
                <a:solidFill>
                  <a:srgbClr val="333333"/>
                </a:solidFill>
                <a:latin typeface="Arial"/>
                <a:ea typeface="Arial"/>
                <a:cs typeface="Arial"/>
              </a:rPr>
              <a:t>スキャナー／プリンター</a:t>
            </a:r>
          </a:p>
          <a:p>
            <a:pPr algn="ctr">
              <a:buNone/>
            </a:pPr>
            <a:r>
              <a:rPr sz="900" b="0">
                <a:solidFill>
                  <a:srgbClr val="333333"/>
                </a:solidFill>
                <a:latin typeface="Arial"/>
                <a:ea typeface="Arial"/>
                <a:cs typeface="Arial"/>
              </a:rPr>
              <a:t>カスタマーディスプレイ／決済端末</a:t>
            </a:r>
          </a:p>
        </p:txBody>
      </p:sp>
      <p:cxnSp>
        <p:nvCxnSpPr>
          <p:cNvPr id="72" name="Connector 18"/>
          <p:cNvCxnSpPr>
            <a:stCxn id="9" idx="3"/>
          </p:cNvCxnSpPr>
          <p:nvPr/>
        </p:nvCxnSpPr>
        <p:spPr>
          <a:xfrm flipV="1">
            <a:off x="11759183" y="4074464"/>
            <a:ext cx="1208837" cy="586690"/>
          </a:xfrm>
          <a:prstGeom prst="bentConnector3">
            <a:avLst>
              <a:gd name="adj1" fmla="val 44747"/>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83445277-CF8F-4989-AA55-F9CA905A1AD4}"/>
              </a:ext>
            </a:extLst>
          </p:cNvPr>
          <p:cNvSpPr>
            <a:spLocks noGrp="1"/>
          </p:cNvSpPr>
          <p:nvPr/>
        </p:nvSpPr>
        <p:spPr>
          <a:xfrm>
            <a:off x="11709881" y="3821939"/>
            <a:ext cx="2926080" cy="274320"/>
          </a:xfrm>
          <a:prstGeom prst="rect">
            <a:avLst/>
          </a:prstGeom>
          <a:noFill/>
        </p:spPr>
        <p:txBody>
          <a:bodyPr wrap="square" lIns="45720" tIns="0" rIns="45720" bIns="0" anchor="t">
            <a:spAutoFit/>
          </a:bodyPr>
          <a:lstStyle/>
          <a:p>
            <a:pPr algn="ctr">
              <a:spcAft>
                <a:spcPts val="600"/>
              </a:spcAft>
              <a:buNone/>
            </a:pPr>
            <a:r>
              <a:rPr sz="1000" b="0">
                <a:solidFill>
                  <a:srgbClr val="8C8C8C"/>
                </a:solidFill>
                <a:latin typeface="Arial"/>
                <a:ea typeface="Arial"/>
                <a:cs typeface="Arial"/>
              </a:rPr>
              <a:t>Windows POS（直接接続）</a:t>
            </a:r>
          </a:p>
        </p:txBody>
      </p:sp>
      <p:cxnSp>
        <p:nvCxnSpPr>
          <p:cNvPr id="74" name="Connector 20"/>
          <p:cNvCxnSpPr>
            <a:stCxn id="10" idx="3"/>
            <a:endCxn id="16" idx="1"/>
          </p:cNvCxnSpPr>
          <p:nvPr/>
        </p:nvCxnSpPr>
        <p:spPr>
          <a:xfrm>
            <a:off x="11759183" y="6175400"/>
            <a:ext cx="1208836" cy="1671981"/>
          </a:xfrm>
          <a:prstGeom prst="bentConnector3">
            <a:avLst>
              <a:gd name="adj1" fmla="val 26887"/>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C23AD697-FF1A-4B81-A641-DA0020A94D02}"/>
              </a:ext>
            </a:extLst>
          </p:cNvPr>
          <p:cNvSpPr>
            <a:spLocks noGrp="1"/>
          </p:cNvSpPr>
          <p:nvPr/>
        </p:nvSpPr>
        <p:spPr>
          <a:xfrm>
            <a:off x="12168528" y="7617968"/>
            <a:ext cx="2743200" cy="256032"/>
          </a:xfrm>
          <a:prstGeom prst="rect">
            <a:avLst/>
          </a:prstGeom>
          <a:noFill/>
        </p:spPr>
        <p:txBody>
          <a:bodyPr wrap="square" lIns="45720" tIns="0" rIns="45720" bIns="0" anchor="t">
            <a:spAutoFit/>
          </a:bodyPr>
          <a:lstStyle/>
          <a:p>
            <a:pPr algn="l">
              <a:spcAft>
                <a:spcPts val="600"/>
              </a:spcAft>
              <a:buNone/>
            </a:pPr>
            <a:r>
              <a:rPr sz="900" b="0">
                <a:solidFill>
                  <a:srgbClr val="8C8C8C"/>
                </a:solidFill>
                <a:latin typeface="Arial"/>
                <a:ea typeface="Arial"/>
                <a:cs typeface="Arial"/>
              </a:rPr>
              <a:t>Windows POS（コネクタ経由）</a:t>
            </a:r>
          </a:p>
        </p:txBody>
      </p:sp>
      <p:sp>
        <p:nvSpPr>
          <p:cNvPr id="25" name="TextBox 24">
            <a:extLst>
              <a:ext uri="{FF2B5EF4-FFF2-40B4-BE49-F238E27FC236}">
                <a16:creationId xmlns:a16="http://schemas.microsoft.com/office/drawing/2014/main" id="{766B4591-4B88-448C-AA48-310C2282DB91}"/>
              </a:ext>
            </a:extLst>
          </p:cNvPr>
          <p:cNvSpPr>
            <a:spLocks noGrp="1"/>
          </p:cNvSpPr>
          <p:nvPr/>
        </p:nvSpPr>
        <p:spPr>
          <a:xfrm>
            <a:off x="11885445" y="5301665"/>
            <a:ext cx="2926080" cy="274320"/>
          </a:xfrm>
          <a:prstGeom prst="rect">
            <a:avLst/>
          </a:prstGeom>
          <a:noFill/>
        </p:spPr>
        <p:txBody>
          <a:bodyPr wrap="square" lIns="45720" tIns="0" rIns="45720" bIns="0" anchor="t">
            <a:spAutoFit/>
          </a:bodyPr>
          <a:lstStyle/>
          <a:p>
            <a:pPr algn="ctr">
              <a:spcAft>
                <a:spcPts val="600"/>
              </a:spcAft>
              <a:buNone/>
            </a:pPr>
            <a:r>
              <a:rPr sz="1000" b="0">
                <a:solidFill>
                  <a:srgbClr val="8C8C8C"/>
                </a:solidFill>
                <a:latin typeface="Arial"/>
                <a:ea typeface="Arial"/>
                <a:cs typeface="Arial"/>
              </a:rPr>
              <a:t>タブレットPOS（Android／iOS）</a:t>
            </a:r>
          </a:p>
        </p:txBody>
      </p:sp>
      <p:pic>
        <p:nvPicPr>
          <p:cNvPr id="77" name="Picture 25"/>
          <p:cNvPicPr>
            <a:picLocks noChangeAspect="1"/>
          </p:cNvPicPr>
          <p:nvPr/>
        </p:nvPicPr>
        <p:blipFill>
          <a:blip r:embed="rId3"/>
          <a:stretch>
            <a:fillRect/>
          </a:stretch>
        </p:blipFill>
        <p:spPr>
          <a:xfrm>
            <a:off x="457200" y="8092440"/>
            <a:ext cx="828640" cy="822960"/>
          </a:xfrm>
          <a:prstGeom prst="rect">
            <a:avLst/>
          </a:prstGeom>
        </p:spPr>
      </p:pic>
      <p:sp>
        <p:nvSpPr>
          <p:cNvPr id="27" name="TextBox 26">
            <a:extLst>
              <a:ext uri="{FF2B5EF4-FFF2-40B4-BE49-F238E27FC236}">
                <a16:creationId xmlns:a16="http://schemas.microsoft.com/office/drawing/2014/main" id="{0175BC1D-F284-4901-801E-6342D21ECEBD}"/>
              </a:ext>
            </a:extLst>
          </p:cNvPr>
          <p:cNvSpPr>
            <a:spLocks noGrp="1"/>
          </p:cNvSpPr>
          <p:nvPr/>
        </p:nvSpPr>
        <p:spPr>
          <a:xfrm>
            <a:off x="388620" y="9025128"/>
            <a:ext cx="965799" cy="320040"/>
          </a:xfrm>
          <a:prstGeom prst="rect">
            <a:avLst/>
          </a:prstGeom>
          <a:noFill/>
        </p:spPr>
        <p:txBody>
          <a:bodyPr wrap="square" lIns="45720" tIns="0" rIns="45720" bIns="0" anchor="t">
            <a:spAutoFit/>
          </a:bodyPr>
          <a:lstStyle/>
          <a:p>
            <a:pPr algn="ctr">
              <a:spcAft>
                <a:spcPts val="600"/>
              </a:spcAft>
              <a:buNone/>
            </a:pPr>
            <a:r>
              <a:rPr sz="900" b="1">
                <a:solidFill>
                  <a:srgbClr val="8C8C8C"/>
                </a:solidFill>
                <a:latin typeface="Arial"/>
                <a:ea typeface="Arial"/>
                <a:cs typeface="Arial"/>
              </a:rPr>
              <a:t>バーコードスキャナー</a:t>
            </a:r>
          </a:p>
        </p:txBody>
      </p:sp>
      <p:pic>
        <p:nvPicPr>
          <p:cNvPr id="79" name="Picture 27"/>
          <p:cNvPicPr>
            <a:picLocks noChangeAspect="1"/>
          </p:cNvPicPr>
          <p:nvPr/>
        </p:nvPicPr>
        <p:blipFill>
          <a:blip r:embed="rId4"/>
          <a:stretch>
            <a:fillRect/>
          </a:stretch>
        </p:blipFill>
        <p:spPr>
          <a:xfrm>
            <a:off x="1572768" y="8092440"/>
            <a:ext cx="857155" cy="822960"/>
          </a:xfrm>
          <a:prstGeom prst="rect">
            <a:avLst/>
          </a:prstGeom>
        </p:spPr>
      </p:pic>
      <p:sp>
        <p:nvSpPr>
          <p:cNvPr id="29" name="TextBox 28">
            <a:extLst>
              <a:ext uri="{FF2B5EF4-FFF2-40B4-BE49-F238E27FC236}">
                <a16:creationId xmlns:a16="http://schemas.microsoft.com/office/drawing/2014/main" id="{F4363B23-7FFB-4827-827D-46F3F51BF3F4}"/>
              </a:ext>
            </a:extLst>
          </p:cNvPr>
          <p:cNvSpPr>
            <a:spLocks noGrp="1"/>
          </p:cNvSpPr>
          <p:nvPr/>
        </p:nvSpPr>
        <p:spPr>
          <a:xfrm>
            <a:off x="1504188" y="9025128"/>
            <a:ext cx="994315" cy="320040"/>
          </a:xfrm>
          <a:prstGeom prst="rect">
            <a:avLst/>
          </a:prstGeom>
          <a:noFill/>
        </p:spPr>
        <p:txBody>
          <a:bodyPr wrap="square" lIns="45720" tIns="0" rIns="45720" bIns="0" anchor="t">
            <a:spAutoFit/>
          </a:bodyPr>
          <a:lstStyle/>
          <a:p>
            <a:pPr algn="ctr">
              <a:spcAft>
                <a:spcPts val="600"/>
              </a:spcAft>
              <a:buNone/>
            </a:pPr>
            <a:r>
              <a:rPr sz="900" b="1">
                <a:solidFill>
                  <a:srgbClr val="8C8C8C"/>
                </a:solidFill>
                <a:latin typeface="Arial"/>
                <a:ea typeface="Arial"/>
                <a:cs typeface="Arial"/>
              </a:rPr>
              <a:t>レシートプリンター</a:t>
            </a:r>
          </a:p>
        </p:txBody>
      </p:sp>
      <p:pic>
        <p:nvPicPr>
          <p:cNvPr id="81" name="Picture 29"/>
          <p:cNvPicPr>
            <a:picLocks noChangeAspect="1"/>
          </p:cNvPicPr>
          <p:nvPr/>
        </p:nvPicPr>
        <p:blipFill>
          <a:blip r:embed="rId5"/>
          <a:stretch>
            <a:fillRect/>
          </a:stretch>
        </p:blipFill>
        <p:spPr>
          <a:xfrm>
            <a:off x="2688336" y="8092440"/>
            <a:ext cx="889517" cy="822960"/>
          </a:xfrm>
          <a:prstGeom prst="rect">
            <a:avLst/>
          </a:prstGeom>
        </p:spPr>
      </p:pic>
      <p:sp>
        <p:nvSpPr>
          <p:cNvPr id="31" name="TextBox 30">
            <a:extLst>
              <a:ext uri="{FF2B5EF4-FFF2-40B4-BE49-F238E27FC236}">
                <a16:creationId xmlns:a16="http://schemas.microsoft.com/office/drawing/2014/main" id="{ADA3FA87-F71B-4C48-983C-0ED0C111E274}"/>
              </a:ext>
            </a:extLst>
          </p:cNvPr>
          <p:cNvSpPr>
            <a:spLocks noGrp="1"/>
          </p:cNvSpPr>
          <p:nvPr/>
        </p:nvSpPr>
        <p:spPr>
          <a:xfrm>
            <a:off x="2619756" y="9025128"/>
            <a:ext cx="1026676" cy="320040"/>
          </a:xfrm>
          <a:prstGeom prst="rect">
            <a:avLst/>
          </a:prstGeom>
          <a:noFill/>
        </p:spPr>
        <p:txBody>
          <a:bodyPr wrap="square" lIns="45720" tIns="0" rIns="45720" bIns="0" anchor="t">
            <a:spAutoFit/>
          </a:bodyPr>
          <a:lstStyle/>
          <a:p>
            <a:pPr algn="ctr">
              <a:spcAft>
                <a:spcPts val="600"/>
              </a:spcAft>
              <a:buNone/>
            </a:pPr>
            <a:r>
              <a:rPr sz="900" b="1">
                <a:solidFill>
                  <a:srgbClr val="8C8C8C"/>
                </a:solidFill>
                <a:latin typeface="Arial"/>
                <a:ea typeface="Arial"/>
                <a:cs typeface="Arial"/>
              </a:rPr>
              <a:t>自動釣銭機</a:t>
            </a:r>
          </a:p>
        </p:txBody>
      </p:sp>
      <p:pic>
        <p:nvPicPr>
          <p:cNvPr id="83" name="Picture 31"/>
          <p:cNvPicPr>
            <a:picLocks noChangeAspect="1"/>
          </p:cNvPicPr>
          <p:nvPr/>
        </p:nvPicPr>
        <p:blipFill>
          <a:blip r:embed="rId6"/>
          <a:stretch>
            <a:fillRect/>
          </a:stretch>
        </p:blipFill>
        <p:spPr>
          <a:xfrm>
            <a:off x="3803904" y="8092440"/>
            <a:ext cx="972807" cy="822960"/>
          </a:xfrm>
          <a:prstGeom prst="rect">
            <a:avLst/>
          </a:prstGeom>
        </p:spPr>
      </p:pic>
      <p:sp>
        <p:nvSpPr>
          <p:cNvPr id="33" name="TextBox 32">
            <a:extLst>
              <a:ext uri="{FF2B5EF4-FFF2-40B4-BE49-F238E27FC236}">
                <a16:creationId xmlns:a16="http://schemas.microsoft.com/office/drawing/2014/main" id="{E0315244-AA27-48D8-A0F9-AE2EFB2D28CB}"/>
              </a:ext>
            </a:extLst>
          </p:cNvPr>
          <p:cNvSpPr>
            <a:spLocks noGrp="1"/>
          </p:cNvSpPr>
          <p:nvPr/>
        </p:nvSpPr>
        <p:spPr>
          <a:xfrm>
            <a:off x="3735324" y="9025128"/>
            <a:ext cx="1109967" cy="320040"/>
          </a:xfrm>
          <a:prstGeom prst="rect">
            <a:avLst/>
          </a:prstGeom>
          <a:noFill/>
        </p:spPr>
        <p:txBody>
          <a:bodyPr wrap="square" lIns="45720" tIns="0" rIns="45720" bIns="0" anchor="t">
            <a:spAutoFit/>
          </a:bodyPr>
          <a:lstStyle/>
          <a:p>
            <a:pPr algn="ctr">
              <a:spcAft>
                <a:spcPts val="600"/>
              </a:spcAft>
              <a:buNone/>
            </a:pPr>
            <a:r>
              <a:rPr sz="900" b="1">
                <a:solidFill>
                  <a:srgbClr val="8C8C8C"/>
                </a:solidFill>
                <a:latin typeface="Arial"/>
                <a:ea typeface="Arial"/>
                <a:cs typeface="Arial"/>
              </a:rPr>
              <a:t>キャッシュドロア</a:t>
            </a:r>
          </a:p>
        </p:txBody>
      </p:sp>
      <p:pic>
        <p:nvPicPr>
          <p:cNvPr id="85" name="Picture 33"/>
          <p:cNvPicPr>
            <a:picLocks noChangeAspect="1"/>
          </p:cNvPicPr>
          <p:nvPr/>
        </p:nvPicPr>
        <p:blipFill>
          <a:blip r:embed="rId7"/>
          <a:stretch>
            <a:fillRect/>
          </a:stretch>
        </p:blipFill>
        <p:spPr>
          <a:xfrm>
            <a:off x="4919472" y="8092440"/>
            <a:ext cx="846368" cy="822960"/>
          </a:xfrm>
          <a:prstGeom prst="rect">
            <a:avLst/>
          </a:prstGeom>
        </p:spPr>
      </p:pic>
      <p:sp>
        <p:nvSpPr>
          <p:cNvPr id="35" name="TextBox 34">
            <a:extLst>
              <a:ext uri="{FF2B5EF4-FFF2-40B4-BE49-F238E27FC236}">
                <a16:creationId xmlns:a16="http://schemas.microsoft.com/office/drawing/2014/main" id="{73A8122F-2B90-46D9-961B-11B0902B21C9}"/>
              </a:ext>
            </a:extLst>
          </p:cNvPr>
          <p:cNvSpPr>
            <a:spLocks noGrp="1"/>
          </p:cNvSpPr>
          <p:nvPr/>
        </p:nvSpPr>
        <p:spPr>
          <a:xfrm>
            <a:off x="4850892" y="9025128"/>
            <a:ext cx="983528" cy="320040"/>
          </a:xfrm>
          <a:prstGeom prst="rect">
            <a:avLst/>
          </a:prstGeom>
          <a:noFill/>
        </p:spPr>
        <p:txBody>
          <a:bodyPr wrap="square" lIns="45720" tIns="0" rIns="45720" bIns="0" anchor="t">
            <a:spAutoFit/>
          </a:bodyPr>
          <a:lstStyle/>
          <a:p>
            <a:pPr algn="ctr">
              <a:spcAft>
                <a:spcPts val="600"/>
              </a:spcAft>
              <a:buNone/>
            </a:pPr>
            <a:r>
              <a:rPr sz="900" b="1">
                <a:solidFill>
                  <a:srgbClr val="8C8C8C"/>
                </a:solidFill>
                <a:latin typeface="Arial"/>
                <a:ea typeface="Arial"/>
                <a:cs typeface="Arial"/>
              </a:rPr>
              <a:t>カスタマーディスプレイ</a:t>
            </a:r>
          </a:p>
        </p:txBody>
      </p:sp>
      <p:pic>
        <p:nvPicPr>
          <p:cNvPr id="87" name="Picture 35"/>
          <p:cNvPicPr>
            <a:picLocks noChangeAspect="1"/>
          </p:cNvPicPr>
          <p:nvPr/>
        </p:nvPicPr>
        <p:blipFill>
          <a:blip r:embed="rId8"/>
          <a:stretch>
            <a:fillRect/>
          </a:stretch>
        </p:blipFill>
        <p:spPr>
          <a:xfrm>
            <a:off x="6035040" y="8092440"/>
            <a:ext cx="851229" cy="822960"/>
          </a:xfrm>
          <a:prstGeom prst="rect">
            <a:avLst/>
          </a:prstGeom>
        </p:spPr>
      </p:pic>
      <p:sp>
        <p:nvSpPr>
          <p:cNvPr id="37" name="TextBox 36">
            <a:extLst>
              <a:ext uri="{FF2B5EF4-FFF2-40B4-BE49-F238E27FC236}">
                <a16:creationId xmlns:a16="http://schemas.microsoft.com/office/drawing/2014/main" id="{02B29553-6B1F-430A-80EA-AF40C053AEF3}"/>
              </a:ext>
            </a:extLst>
          </p:cNvPr>
          <p:cNvSpPr>
            <a:spLocks noGrp="1"/>
          </p:cNvSpPr>
          <p:nvPr/>
        </p:nvSpPr>
        <p:spPr>
          <a:xfrm>
            <a:off x="5966460" y="9025128"/>
            <a:ext cx="988389" cy="320040"/>
          </a:xfrm>
          <a:prstGeom prst="rect">
            <a:avLst/>
          </a:prstGeom>
          <a:noFill/>
        </p:spPr>
        <p:txBody>
          <a:bodyPr wrap="square" lIns="45720" tIns="0" rIns="45720" bIns="0" anchor="t">
            <a:spAutoFit/>
          </a:bodyPr>
          <a:lstStyle/>
          <a:p>
            <a:pPr algn="ctr">
              <a:spcAft>
                <a:spcPts val="600"/>
              </a:spcAft>
              <a:buNone/>
            </a:pPr>
            <a:r>
              <a:rPr sz="900" b="1">
                <a:solidFill>
                  <a:srgbClr val="8C8C8C"/>
                </a:solidFill>
                <a:latin typeface="Arial"/>
                <a:ea typeface="Arial"/>
                <a:cs typeface="Arial"/>
              </a:rPr>
              <a:t>決済端末</a:t>
            </a:r>
          </a:p>
        </p:txBody>
      </p:sp>
      <p:sp>
        <p:nvSpPr>
          <p:cNvPr id="38" name="TextBox 37">
            <a:extLst>
              <a:ext uri="{FF2B5EF4-FFF2-40B4-BE49-F238E27FC236}">
                <a16:creationId xmlns:a16="http://schemas.microsoft.com/office/drawing/2014/main" id="{7DEDE7A7-64F6-4E81-A122-A5067BD2EE43}"/>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ARCH-01 1.2、4.5.5、6.1、ARCH-DEVICE-01 7.1–7.4</a:t>
            </a:r>
          </a:p>
        </p:txBody>
      </p:sp>
      <p:cxnSp>
        <p:nvCxnSpPr>
          <p:cNvPr id="90" name="Connector 18"/>
          <p:cNvCxnSpPr>
            <a:stCxn id="9" idx="3"/>
            <a:endCxn id="17" idx="1"/>
          </p:cNvCxnSpPr>
          <p:nvPr/>
        </p:nvCxnSpPr>
        <p:spPr>
          <a:xfrm>
            <a:off x="11759183" y="4661154"/>
            <a:ext cx="1241832" cy="931823"/>
          </a:xfrm>
          <a:prstGeom prst="bentConnector3">
            <a:avLst>
              <a:gd name="adj1" fmla="val 43864"/>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4045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2669EC-BDF4-49F3-A27A-52FA3AC98F15}"/>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接続方式別の排他制御</a:t>
            </a:r>
          </a:p>
        </p:txBody>
      </p:sp>
      <p:sp>
        <p:nvSpPr>
          <p:cNvPr id="3" name="Rounded Rectangle 2">
            <a:extLst>
              <a:ext uri="{FF2B5EF4-FFF2-40B4-BE49-F238E27FC236}">
                <a16:creationId xmlns:a16="http://schemas.microsoft.com/office/drawing/2014/main" id="{4607E40D-CDC9-4234-8C34-29C8352D8007}"/>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排他制御は接続方式に応じた実装層で行い、端末アプリはアプリライフサイクルに合わせて機器の使用開始と終了を指示します。</a:t>
            </a:r>
          </a:p>
        </p:txBody>
      </p:sp>
      <p:graphicFrame>
        <p:nvGraphicFramePr>
          <p:cNvPr id="11" name="Table 3"/>
          <p:cNvGraphicFramePr/>
          <p:nvPr/>
        </p:nvGraphicFramePr>
        <p:xfrm>
          <a:off x="621792" y="2926080"/>
          <a:ext cx="17190718" cy="1700784"/>
        </p:xfrm>
        <a:graphic>
          <a:graphicData uri="http://schemas.openxmlformats.org/drawingml/2006/table">
            <a:tbl>
              <a:tblPr firstRow="1" bandRow="1">
                <a:tableStyleId>{5C22544A-7EE6-4342-B048-85BDC9FD1C3A}</a:tableStyleId>
              </a:tblPr>
              <a:tblGrid>
                <a:gridCol w="4557516">
                  <a:extLst>
                    <a:ext uri="{9D8B030D-6E8A-4147-A177-3AD203B41FA5}">
                      <a16:colId xmlns:a16="http://schemas.microsoft.com/office/drawing/2014/main" val="20000"/>
                    </a:ext>
                  </a:extLst>
                </a:gridCol>
                <a:gridCol w="3745967">
                  <a:extLst>
                    <a:ext uri="{9D8B030D-6E8A-4147-A177-3AD203B41FA5}">
                      <a16:colId xmlns:a16="http://schemas.microsoft.com/office/drawing/2014/main" val="20001"/>
                    </a:ext>
                  </a:extLst>
                </a:gridCol>
                <a:gridCol w="8887235">
                  <a:extLst>
                    <a:ext uri="{9D8B030D-6E8A-4147-A177-3AD203B41FA5}">
                      <a16:colId xmlns:a16="http://schemas.microsoft.com/office/drawing/2014/main" val="20002"/>
                    </a:ext>
                  </a:extLst>
                </a:gridCol>
              </a:tblGrid>
              <a:tr h="365760">
                <a:tc>
                  <a:txBody>
                    <a:bodyPr/>
                    <a:lstStyle/>
                    <a:p>
                      <a:r>
                        <a:rPr sz="1400" b="1">
                          <a:solidFill>
                            <a:srgbClr val="FFFFFF"/>
                          </a:solidFill>
                          <a:latin typeface="Arial"/>
                          <a:ea typeface="Arial"/>
                          <a:cs typeface="Arial"/>
                        </a:rPr>
                        <a:t>接続経路</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排他制御の実装箇所</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制御方法</a:t>
                      </a:r>
                    </a:p>
                  </a:txBody>
                  <a:tcPr marL="64008" marR="64008" marT="27432" marB="27432" anchor="ctr">
                    <a:solidFill>
                      <a:srgbClr val="545454"/>
                    </a:solidFill>
                  </a:tcPr>
                </a:tc>
                <a:extLst>
                  <a:ext uri="{0D108BD9-81ED-4DB2-BD59-A6C34878D82A}">
                    <a16:rowId xmlns:a16="http://schemas.microsoft.com/office/drawing/2014/main" val="10000"/>
                  </a:ext>
                </a:extLst>
              </a:tr>
              <a:tr h="603504">
                <a:tc>
                  <a:txBody>
                    <a:bodyPr/>
                    <a:lstStyle/>
                    <a:p>
                      <a:r>
                        <a:rPr sz="1400">
                          <a:solidFill>
                            <a:srgbClr val="545454"/>
                          </a:solidFill>
                          <a:latin typeface="Arial"/>
                          <a:ea typeface="Arial"/>
                          <a:cs typeface="Arial"/>
                        </a:rPr>
                        <a:t>Windows POS（デバイスコネクタ経由）</a:t>
                      </a:r>
                    </a:p>
                  </a:txBody>
                  <a:tcPr marL="64008" marR="64008" marT="27432" marB="27432" anchor="ctr">
                    <a:solidFill>
                      <a:srgbClr val="FFFFFF"/>
                    </a:solidFill>
                  </a:tcPr>
                </a:tc>
                <a:tc>
                  <a:txBody>
                    <a:bodyPr/>
                    <a:lstStyle/>
                    <a:p>
                      <a:r>
                        <a:rPr sz="1400">
                          <a:solidFill>
                            <a:srgbClr val="545454"/>
                          </a:solidFill>
                          <a:latin typeface="Arial"/>
                          <a:ea typeface="Arial"/>
                          <a:cs typeface="Arial"/>
                        </a:rPr>
                        <a:t>デバイスコネクタと既存機器制御</a:t>
                      </a:r>
                    </a:p>
                  </a:txBody>
                  <a:tcPr marL="64008" marR="64008" marT="27432" marB="27432" anchor="ctr">
                    <a:solidFill>
                      <a:srgbClr val="FFFFFF"/>
                    </a:solidFill>
                  </a:tcPr>
                </a:tc>
                <a:tc>
                  <a:txBody>
                    <a:bodyPr/>
                    <a:lstStyle/>
                    <a:p>
                      <a:r>
                        <a:rPr sz="1400">
                          <a:solidFill>
                            <a:srgbClr val="545454"/>
                          </a:solidFill>
                          <a:latin typeface="Arial"/>
                          <a:ea typeface="Arial"/>
                          <a:cs typeface="Arial"/>
                        </a:rPr>
                        <a:t>DeviceId単位で要求を順序制御し、OPOS／OCXの占有機能（Claim／Release）を利用する</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Windows POS（直接接続）</a:t>
                      </a:r>
                    </a:p>
                  </a:txBody>
                  <a:tcPr marL="64008" marR="64008" marT="27432" marB="27432" anchor="ctr">
                    <a:solidFill>
                      <a:srgbClr val="F7F7F7"/>
                    </a:solidFill>
                  </a:tcPr>
                </a:tc>
                <a:tc>
                  <a:txBody>
                    <a:bodyPr/>
                    <a:lstStyle/>
                    <a:p>
                      <a:r>
                        <a:rPr sz="1400">
                          <a:solidFill>
                            <a:srgbClr val="545454"/>
                          </a:solidFill>
                          <a:latin typeface="Arial"/>
                          <a:ea typeface="Arial"/>
                          <a:cs typeface="Arial"/>
                        </a:rPr>
                        <a:t>DeviceCtrlの接続方式別実装</a:t>
                      </a:r>
                    </a:p>
                  </a:txBody>
                  <a:tcPr marL="64008" marR="64008" marT="27432" marB="27432" anchor="ctr">
                    <a:solidFill>
                      <a:srgbClr val="F7F7F7"/>
                    </a:solidFill>
                  </a:tcPr>
                </a:tc>
                <a:tc>
                  <a:txBody>
                    <a:bodyPr/>
                    <a:lstStyle/>
                    <a:p>
                      <a:r>
                        <a:rPr sz="1400">
                          <a:solidFill>
                            <a:srgbClr val="545454"/>
                          </a:solidFill>
                          <a:latin typeface="Arial"/>
                          <a:ea typeface="Arial"/>
                          <a:cs typeface="Arial"/>
                        </a:rPr>
                        <a:t>DeviceId単位で接続状態と処理順序を管理する</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タブレットPOS（Android／iOS）</a:t>
                      </a:r>
                    </a:p>
                  </a:txBody>
                  <a:tcPr marL="64008" marR="64008" marT="27432" marB="27432" anchor="ctr">
                    <a:solidFill>
                      <a:srgbClr val="FFFFFF"/>
                    </a:solidFill>
                  </a:tcPr>
                </a:tc>
                <a:tc>
                  <a:txBody>
                    <a:bodyPr/>
                    <a:lstStyle/>
                    <a:p>
                      <a:r>
                        <a:rPr sz="1400">
                          <a:solidFill>
                            <a:srgbClr val="545454"/>
                          </a:solidFill>
                          <a:latin typeface="Arial"/>
                          <a:ea typeface="Arial"/>
                          <a:cs typeface="Arial"/>
                        </a:rPr>
                        <a:t>DeviceCtrlの接続方式別実装</a:t>
                      </a:r>
                    </a:p>
                  </a:txBody>
                  <a:tcPr marL="64008" marR="64008" marT="27432" marB="27432" anchor="ctr">
                    <a:solidFill>
                      <a:srgbClr val="FFFFFF"/>
                    </a:solidFill>
                  </a:tcPr>
                </a:tc>
                <a:tc>
                  <a:txBody>
                    <a:bodyPr/>
                    <a:lstStyle/>
                    <a:p>
                      <a:r>
                        <a:rPr sz="1400">
                          <a:solidFill>
                            <a:srgbClr val="545454"/>
                          </a:solidFill>
                          <a:latin typeface="Arial"/>
                          <a:ea typeface="Arial"/>
                          <a:cs typeface="Arial"/>
                        </a:rPr>
                        <a:t>DeviceId単位で接続セッションと処理順序を管理し、OS／SDKの接続機能を利用する</a:t>
                      </a:r>
                    </a:p>
                  </a:txBody>
                  <a:tcPr marL="64008" marR="64008"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6AE3F5B6-1AF5-49E4-A4A4-DAE4C5F17A8D}"/>
              </a:ext>
            </a:extLst>
          </p:cNvPr>
          <p:cNvSpPr>
            <a:spLocks noGrp="1"/>
          </p:cNvSpPr>
          <p:nvPr/>
        </p:nvSpPr>
        <p:spPr>
          <a:xfrm>
            <a:off x="594360" y="4855464"/>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端末アプリとの連携</a:t>
            </a:r>
          </a:p>
        </p:txBody>
      </p:sp>
      <p:sp>
        <p:nvSpPr>
          <p:cNvPr id="6" name="TextBox 5">
            <a:extLst>
              <a:ext uri="{FF2B5EF4-FFF2-40B4-BE49-F238E27FC236}">
                <a16:creationId xmlns:a16="http://schemas.microsoft.com/office/drawing/2014/main" id="{62EA5CC4-A2CB-40A5-BCFF-6516876B67E5}"/>
              </a:ext>
            </a:extLst>
          </p:cNvPr>
          <p:cNvSpPr>
            <a:spLocks noGrp="1"/>
          </p:cNvSpPr>
          <p:nvPr/>
        </p:nvSpPr>
        <p:spPr>
          <a:xfrm>
            <a:off x="685800" y="5330952"/>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端末アプリは起動・復帰時にDeviceCtrlの開始処理（Start）を呼び出します。</a:t>
            </a:r>
          </a:p>
          <a:p>
            <a:pPr>
              <a:spcAft>
                <a:spcPts val="500"/>
              </a:spcAft>
              <a:buNone/>
            </a:pPr>
            <a:r>
              <a:rPr sz="1700">
                <a:solidFill>
                  <a:srgbClr val="545454"/>
                </a:solidFill>
                <a:latin typeface="Arial"/>
                <a:ea typeface="Arial"/>
                <a:cs typeface="Arial"/>
              </a:rPr>
              <a:t>•  端末アプリはバックグラウンド移行・終了時に終了処理（End）を呼び出し、機器の使用権を安全に解放します。</a:t>
            </a:r>
          </a:p>
          <a:p>
            <a:pPr>
              <a:spcAft>
                <a:spcPts val="500"/>
              </a:spcAft>
              <a:buNone/>
            </a:pPr>
            <a:r>
              <a:rPr sz="1700">
                <a:solidFill>
                  <a:srgbClr val="545454"/>
                </a:solidFill>
                <a:latin typeface="Arial"/>
                <a:ea typeface="Arial"/>
                <a:cs typeface="Arial"/>
              </a:rPr>
              <a:t>•  DeviceCtrlは開始・終了および機器操作の共通インターフェースを提供し、処理結果、切断および機器イベントを応答またはイベント通知で端末アプリへ返します。</a:t>
            </a:r>
          </a:p>
          <a:p>
            <a:pPr>
              <a:spcAft>
                <a:spcPts val="500"/>
              </a:spcAft>
              <a:buNone/>
            </a:pPr>
            <a:r>
              <a:rPr sz="1700">
                <a:solidFill>
                  <a:srgbClr val="545454"/>
                </a:solidFill>
                <a:latin typeface="Arial"/>
                <a:ea typeface="Arial"/>
                <a:cs typeface="Arial"/>
              </a:rPr>
              <a:t>•  デバイスコネクタまたは直接接続の実装が排他制御を行い、端末アプリは個別のOPOS／OCX、OSまたはSDKを直接操作しません。</a:t>
            </a:r>
          </a:p>
        </p:txBody>
      </p:sp>
      <p:sp>
        <p:nvSpPr>
          <p:cNvPr id="7" name="TextBox 6">
            <a:extLst>
              <a:ext uri="{FF2B5EF4-FFF2-40B4-BE49-F238E27FC236}">
                <a16:creationId xmlns:a16="http://schemas.microsoft.com/office/drawing/2014/main" id="{A49C3B82-C369-4B60-9953-5ED52654FE00}"/>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ARCH-01 3.8、5.6、7.2.4、ARCH-DEVICE-01 5–7、ARCH-HOST-01 5.6、6–8、KSNEWSYS-14、KSNEWSYS-41、KSNEWSYS-344</a:t>
            </a:r>
          </a:p>
        </p:txBody>
      </p:sp>
    </p:spTree>
    <p:extLst>
      <p:ext uri="{BB962C8B-B14F-4D97-AF65-F5344CB8AC3E}">
        <p14:creationId xmlns:p14="http://schemas.microsoft.com/office/powerpoint/2010/main" val="1937453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DF7EC0-0EEA-41A6-90CD-50175C9DA6DC}"/>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決済端末の制御と取引状態管理</a:t>
            </a:r>
          </a:p>
        </p:txBody>
      </p:sp>
      <p:sp>
        <p:nvSpPr>
          <p:cNvPr id="3" name="Rounded Rectangle 2">
            <a:extLst>
              <a:ext uri="{FF2B5EF4-FFF2-40B4-BE49-F238E27FC236}">
                <a16:creationId xmlns:a16="http://schemas.microsoft.com/office/drawing/2014/main" id="{032609BB-F08A-4B99-AD11-2C697FAD1969}"/>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決済処理を専用の通信モジュールへ集約し、タイムアウトや通信断が発生しても二重決済を防止します。</a:t>
            </a:r>
          </a:p>
        </p:txBody>
      </p:sp>
      <p:sp>
        <p:nvSpPr>
          <p:cNvPr id="4" name="TextBox 3">
            <a:extLst>
              <a:ext uri="{FF2B5EF4-FFF2-40B4-BE49-F238E27FC236}">
                <a16:creationId xmlns:a16="http://schemas.microsoft.com/office/drawing/2014/main" id="{4DBB3EF2-6AAF-49DD-940F-34940C802228}"/>
              </a:ext>
            </a:extLst>
          </p:cNvPr>
          <p:cNvSpPr>
            <a:spLocks noGrp="1"/>
          </p:cNvSpPr>
          <p:nvPr/>
        </p:nvSpPr>
        <p:spPr>
          <a:xfrm>
            <a:off x="594360" y="292608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処理の流れ</a:t>
            </a:r>
          </a:p>
        </p:txBody>
      </p:sp>
      <p:sp>
        <p:nvSpPr>
          <p:cNvPr id="5" name="TextBox 4">
            <a:extLst>
              <a:ext uri="{FF2B5EF4-FFF2-40B4-BE49-F238E27FC236}">
                <a16:creationId xmlns:a16="http://schemas.microsoft.com/office/drawing/2014/main" id="{6BC48061-D73C-4DD8-AC8B-EECBF8C1ED19}"/>
              </a:ext>
            </a:extLst>
          </p:cNvPr>
          <p:cNvSpPr>
            <a:spLocks noGrp="1"/>
          </p:cNvSpPr>
          <p:nvPr/>
        </p:nvSpPr>
        <p:spPr>
          <a:xfrm>
            <a:off x="685800" y="340156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1. アプリ起動時と取引開始前に決済端末の接続状態を確認します。</a:t>
            </a:r>
          </a:p>
          <a:p>
            <a:pPr>
              <a:spcAft>
                <a:spcPts val="500"/>
              </a:spcAft>
              <a:buNone/>
            </a:pPr>
            <a:r>
              <a:rPr sz="1700">
                <a:solidFill>
                  <a:srgbClr val="545454"/>
                </a:solidFill>
                <a:latin typeface="Arial"/>
                <a:ea typeface="Arial"/>
                <a:cs typeface="Arial"/>
              </a:rPr>
              <a:t>2. 業務アプリはDeviceCtrlの決済インターフェースへ処理を依頼します。</a:t>
            </a:r>
          </a:p>
          <a:p>
            <a:pPr>
              <a:spcAft>
                <a:spcPts val="500"/>
              </a:spcAft>
              <a:buNone/>
            </a:pPr>
            <a:r>
              <a:rPr sz="1700">
                <a:solidFill>
                  <a:srgbClr val="545454"/>
                </a:solidFill>
                <a:latin typeface="Arial"/>
                <a:ea typeface="Arial"/>
                <a:cs typeface="Arial"/>
              </a:rPr>
              <a:t>3. 決済通信モジュールが決済種別に応じて要求を変換し、決済端末へ送信します。</a:t>
            </a:r>
          </a:p>
          <a:p>
            <a:pPr>
              <a:spcAft>
                <a:spcPts val="500"/>
              </a:spcAft>
              <a:buNone/>
            </a:pPr>
            <a:r>
              <a:rPr sz="1700">
                <a:solidFill>
                  <a:srgbClr val="545454"/>
                </a:solidFill>
                <a:latin typeface="Arial"/>
                <a:ea typeface="Arial"/>
                <a:cs typeface="Arial"/>
              </a:rPr>
              <a:t>4. 取引識別子と処理状態を保持し、応答、取消および端末イベントを同じ取引へ関連付けます。</a:t>
            </a:r>
          </a:p>
          <a:p>
            <a:pPr>
              <a:spcAft>
                <a:spcPts val="500"/>
              </a:spcAft>
              <a:buNone/>
            </a:pPr>
            <a:r>
              <a:rPr sz="1700">
                <a:solidFill>
                  <a:srgbClr val="545454"/>
                </a:solidFill>
                <a:latin typeface="Arial"/>
                <a:ea typeface="Arial"/>
                <a:cs typeface="Arial"/>
              </a:rPr>
              <a:t>5. 結果が不明な場合は自動再送せず、状態照会または取消処理で確定します。</a:t>
            </a:r>
          </a:p>
        </p:txBody>
      </p:sp>
      <p:graphicFrame>
        <p:nvGraphicFramePr>
          <p:cNvPr id="16" name="Table 5"/>
          <p:cNvGraphicFramePr/>
          <p:nvPr/>
        </p:nvGraphicFramePr>
        <p:xfrm>
          <a:off x="621792" y="5084064"/>
          <a:ext cx="17190719" cy="2194560"/>
        </p:xfrm>
        <a:graphic>
          <a:graphicData uri="http://schemas.openxmlformats.org/drawingml/2006/table">
            <a:tbl>
              <a:tblPr firstRow="1" bandRow="1">
                <a:tableStyleId>{5C22544A-7EE6-4342-B048-85BDC9FD1C3A}</a:tableStyleId>
              </a:tblPr>
              <a:tblGrid>
                <a:gridCol w="3223972">
                  <a:extLst>
                    <a:ext uri="{9D8B030D-6E8A-4147-A177-3AD203B41FA5}">
                      <a16:colId xmlns:a16="http://schemas.microsoft.com/office/drawing/2014/main" val="20000"/>
                    </a:ext>
                  </a:extLst>
                </a:gridCol>
                <a:gridCol w="13966747">
                  <a:extLst>
                    <a:ext uri="{9D8B030D-6E8A-4147-A177-3AD203B41FA5}">
                      <a16:colId xmlns:a16="http://schemas.microsoft.com/office/drawing/2014/main" val="20001"/>
                    </a:ext>
                  </a:extLst>
                </a:gridCol>
              </a:tblGrid>
              <a:tr h="365760">
                <a:tc>
                  <a:txBody>
                    <a:bodyPr/>
                    <a:lstStyle/>
                    <a:p>
                      <a:r>
                        <a:rPr sz="1400" b="1">
                          <a:solidFill>
                            <a:srgbClr val="FFFFFF"/>
                          </a:solidFill>
                          <a:latin typeface="Arial"/>
                          <a:ea typeface="Arial"/>
                          <a:cs typeface="Arial"/>
                        </a:rPr>
                        <a:t>状態</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主な処理</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接続確認</a:t>
                      </a:r>
                    </a:p>
                  </a:txBody>
                  <a:tcPr marL="64008" marR="64008" marT="27432" marB="27432" anchor="ctr">
                    <a:solidFill>
                      <a:srgbClr val="FFFFFF"/>
                    </a:solidFill>
                  </a:tcPr>
                </a:tc>
                <a:tc>
                  <a:txBody>
                    <a:bodyPr/>
                    <a:lstStyle/>
                    <a:p>
                      <a:r>
                        <a:rPr sz="1400">
                          <a:solidFill>
                            <a:srgbClr val="545454"/>
                          </a:solidFill>
                          <a:latin typeface="Arial"/>
                          <a:ea typeface="Arial"/>
                          <a:cs typeface="Arial"/>
                        </a:rPr>
                        <a:t>端末の利用可否を確認する</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取引開始</a:t>
                      </a:r>
                    </a:p>
                  </a:txBody>
                  <a:tcPr marL="64008" marR="64008" marT="27432" marB="27432" anchor="ctr">
                    <a:solidFill>
                      <a:srgbClr val="F7F7F7"/>
                    </a:solidFill>
                  </a:tcPr>
                </a:tc>
                <a:tc>
                  <a:txBody>
                    <a:bodyPr/>
                    <a:lstStyle/>
                    <a:p>
                      <a:r>
                        <a:rPr sz="1400">
                          <a:solidFill>
                            <a:srgbClr val="545454"/>
                          </a:solidFill>
                          <a:latin typeface="Arial"/>
                          <a:ea typeface="Arial"/>
                          <a:cs typeface="Arial"/>
                        </a:rPr>
                        <a:t>取引識別子を発行し、決済要求を一度だけ送信する</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処理中</a:t>
                      </a:r>
                    </a:p>
                  </a:txBody>
                  <a:tcPr marL="64008" marR="64008" marT="27432" marB="27432" anchor="ctr">
                    <a:solidFill>
                      <a:srgbClr val="FFFFFF"/>
                    </a:solidFill>
                  </a:tcPr>
                </a:tc>
                <a:tc>
                  <a:txBody>
                    <a:bodyPr/>
                    <a:lstStyle/>
                    <a:p>
                      <a:r>
                        <a:rPr sz="1400">
                          <a:solidFill>
                            <a:srgbClr val="545454"/>
                          </a:solidFill>
                          <a:latin typeface="Arial"/>
                          <a:ea typeface="Arial"/>
                          <a:cs typeface="Arial"/>
                        </a:rPr>
                        <a:t>応答、端末イベントおよび利用者による取消を監視する</a:t>
                      </a:r>
                    </a:p>
                  </a:txBody>
                  <a:tcPr marL="64008" marR="64008" marT="27432" marB="27432" anchor="ctr">
                    <a:solidFill>
                      <a:srgbClr val="FFFFFF"/>
                    </a:solidFill>
                  </a:tcPr>
                </a:tc>
                <a:extLst>
                  <a:ext uri="{0D108BD9-81ED-4DB2-BD59-A6C34878D82A}">
                    <a16:rowId xmlns:a16="http://schemas.microsoft.com/office/drawing/2014/main" val="10003"/>
                  </a:ext>
                </a:extLst>
              </a:tr>
              <a:tr h="365760">
                <a:tc>
                  <a:txBody>
                    <a:bodyPr/>
                    <a:lstStyle/>
                    <a:p>
                      <a:r>
                        <a:rPr sz="1400">
                          <a:solidFill>
                            <a:srgbClr val="545454"/>
                          </a:solidFill>
                          <a:latin typeface="Arial"/>
                          <a:ea typeface="Arial"/>
                          <a:cs typeface="Arial"/>
                        </a:rPr>
                        <a:t>完了</a:t>
                      </a:r>
                    </a:p>
                  </a:txBody>
                  <a:tcPr marL="64008" marR="64008" marT="27432" marB="27432" anchor="ctr">
                    <a:solidFill>
                      <a:srgbClr val="F7F7F7"/>
                    </a:solidFill>
                  </a:tcPr>
                </a:tc>
                <a:tc>
                  <a:txBody>
                    <a:bodyPr/>
                    <a:lstStyle/>
                    <a:p>
                      <a:r>
                        <a:rPr sz="1400">
                          <a:solidFill>
                            <a:srgbClr val="545454"/>
                          </a:solidFill>
                          <a:latin typeface="Arial"/>
                          <a:ea typeface="Arial"/>
                          <a:cs typeface="Arial"/>
                        </a:rPr>
                        <a:t>結果を業務アプリへ返し、取引状態を確定する</a:t>
                      </a:r>
                    </a:p>
                  </a:txBody>
                  <a:tcPr marL="64008" marR="64008" marT="27432" marB="27432" anchor="ctr">
                    <a:solidFill>
                      <a:srgbClr val="F7F7F7"/>
                    </a:solidFill>
                  </a:tcPr>
                </a:tc>
                <a:extLst>
                  <a:ext uri="{0D108BD9-81ED-4DB2-BD59-A6C34878D82A}">
                    <a16:rowId xmlns:a16="http://schemas.microsoft.com/office/drawing/2014/main" val="10004"/>
                  </a:ext>
                </a:extLst>
              </a:tr>
              <a:tr h="365760">
                <a:tc>
                  <a:txBody>
                    <a:bodyPr/>
                    <a:lstStyle/>
                    <a:p>
                      <a:r>
                        <a:rPr sz="1400">
                          <a:solidFill>
                            <a:srgbClr val="545454"/>
                          </a:solidFill>
                          <a:latin typeface="Arial"/>
                          <a:ea typeface="Arial"/>
                          <a:cs typeface="Arial"/>
                        </a:rPr>
                        <a:t>結果不明</a:t>
                      </a:r>
                    </a:p>
                  </a:txBody>
                  <a:tcPr marL="64008" marR="64008" marT="27432" marB="27432" anchor="ctr">
                    <a:solidFill>
                      <a:srgbClr val="FFFFFF"/>
                    </a:solidFill>
                  </a:tcPr>
                </a:tc>
                <a:tc>
                  <a:txBody>
                    <a:bodyPr/>
                    <a:lstStyle/>
                    <a:p>
                      <a:r>
                        <a:rPr sz="1400">
                          <a:solidFill>
                            <a:srgbClr val="545454"/>
                          </a:solidFill>
                          <a:latin typeface="Arial"/>
                          <a:ea typeface="Arial"/>
                          <a:cs typeface="Arial"/>
                        </a:rPr>
                        <a:t>状態照会または取消を行い、同じ決済要求を再送しない</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pic>
        <p:nvPicPr>
          <p:cNvPr id="17" name="Picture 6"/>
          <p:cNvPicPr>
            <a:picLocks noChangeAspect="1"/>
          </p:cNvPicPr>
          <p:nvPr/>
        </p:nvPicPr>
        <p:blipFill>
          <a:blip r:embed="rId3"/>
          <a:stretch>
            <a:fillRect/>
          </a:stretch>
        </p:blipFill>
        <p:spPr>
          <a:xfrm>
            <a:off x="14264640" y="6035040"/>
            <a:ext cx="2742850" cy="2651760"/>
          </a:xfrm>
          <a:prstGeom prst="rect">
            <a:avLst/>
          </a:prstGeom>
        </p:spPr>
      </p:pic>
      <p:sp>
        <p:nvSpPr>
          <p:cNvPr id="8" name="TextBox 7">
            <a:extLst>
              <a:ext uri="{FF2B5EF4-FFF2-40B4-BE49-F238E27FC236}">
                <a16:creationId xmlns:a16="http://schemas.microsoft.com/office/drawing/2014/main" id="{BF71D830-CD69-48E8-865D-BE5F83276F9C}"/>
              </a:ext>
            </a:extLst>
          </p:cNvPr>
          <p:cNvSpPr>
            <a:spLocks noGrp="1"/>
          </p:cNvSpPr>
          <p:nvPr/>
        </p:nvSpPr>
        <p:spPr>
          <a:xfrm>
            <a:off x="14196060" y="8796528"/>
            <a:ext cx="2880010" cy="320040"/>
          </a:xfrm>
          <a:prstGeom prst="rect">
            <a:avLst/>
          </a:prstGeom>
          <a:noFill/>
        </p:spPr>
        <p:txBody>
          <a:bodyPr wrap="square" lIns="45720" tIns="0" rIns="45720" bIns="0" anchor="t">
            <a:spAutoFit/>
          </a:bodyPr>
          <a:lstStyle/>
          <a:p>
            <a:pPr algn="ctr">
              <a:spcAft>
                <a:spcPts val="600"/>
              </a:spcAft>
              <a:buNone/>
            </a:pPr>
            <a:r>
              <a:rPr sz="1200" b="1">
                <a:solidFill>
                  <a:srgbClr val="8C8C8C"/>
                </a:solidFill>
                <a:latin typeface="Arial"/>
                <a:ea typeface="Arial"/>
                <a:cs typeface="Arial"/>
              </a:rPr>
              <a:t>決済端末</a:t>
            </a:r>
          </a:p>
        </p:txBody>
      </p:sp>
      <p:sp>
        <p:nvSpPr>
          <p:cNvPr id="9" name="TextBox 8">
            <a:extLst>
              <a:ext uri="{FF2B5EF4-FFF2-40B4-BE49-F238E27FC236}">
                <a16:creationId xmlns:a16="http://schemas.microsoft.com/office/drawing/2014/main" id="{7250DB27-565D-4837-8BE6-7DEB8B34303B}"/>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KSNEWSYS-42、KSNEWSYS-269、KSNEWSYS-270、KSNEWSYS-390</a:t>
            </a:r>
          </a:p>
        </p:txBody>
      </p:sp>
    </p:spTree>
    <p:extLst>
      <p:ext uri="{BB962C8B-B14F-4D97-AF65-F5344CB8AC3E}">
        <p14:creationId xmlns:p14="http://schemas.microsoft.com/office/powerpoint/2010/main" val="512000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5D949E-18A1-4D5F-9537-1561992B6C0E}"/>
              </a:ext>
            </a:extLst>
          </p:cNvPr>
          <p:cNvSpPr>
            <a:spLocks noGrp="1"/>
          </p:cNvSpPr>
          <p:nvPr/>
        </p:nvSpPr>
        <p:spPr>
          <a:xfrm>
            <a:off x="1828800" y="3291840"/>
            <a:ext cx="14630400" cy="822960"/>
          </a:xfrm>
          <a:prstGeom prst="rect">
            <a:avLst/>
          </a:prstGeom>
          <a:noFill/>
        </p:spPr>
        <p:txBody>
          <a:bodyPr wrap="square" lIns="45720" tIns="0" rIns="45720" bIns="0" anchor="t">
            <a:spAutoFit/>
          </a:bodyPr>
          <a:lstStyle/>
          <a:p>
            <a:pPr algn="ctr">
              <a:spcAft>
                <a:spcPts val="600"/>
              </a:spcAft>
              <a:buNone/>
            </a:pPr>
            <a:r>
              <a:rPr sz="3000" b="1">
                <a:solidFill>
                  <a:srgbClr val="8C8C8C"/>
                </a:solidFill>
                <a:latin typeface="Arial"/>
                <a:ea typeface="Arial"/>
                <a:cs typeface="Arial"/>
              </a:rPr>
              <a:t>第4</a:t>
            </a:r>
          </a:p>
        </p:txBody>
      </p:sp>
      <p:sp>
        <p:nvSpPr>
          <p:cNvPr id="3" name="TextBox 2">
            <a:extLst>
              <a:ext uri="{FF2B5EF4-FFF2-40B4-BE49-F238E27FC236}">
                <a16:creationId xmlns:a16="http://schemas.microsoft.com/office/drawing/2014/main" id="{29F77DB1-BE35-4B9A-B67E-23687C8519F4}"/>
              </a:ext>
            </a:extLst>
          </p:cNvPr>
          <p:cNvSpPr>
            <a:spLocks noGrp="1"/>
          </p:cNvSpPr>
          <p:nvPr/>
        </p:nvSpPr>
        <p:spPr>
          <a:xfrm>
            <a:off x="1828800" y="4023360"/>
            <a:ext cx="14630400" cy="1280160"/>
          </a:xfrm>
          <a:prstGeom prst="rect">
            <a:avLst/>
          </a:prstGeom>
          <a:noFill/>
        </p:spPr>
        <p:txBody>
          <a:bodyPr wrap="square" lIns="45720" tIns="0" rIns="45720" bIns="0" anchor="t">
            <a:spAutoFit/>
          </a:bodyPr>
          <a:lstStyle/>
          <a:p>
            <a:pPr algn="ctr">
              <a:spcAft>
                <a:spcPts val="600"/>
              </a:spcAft>
              <a:buNone/>
            </a:pPr>
            <a:r>
              <a:rPr sz="5800" b="1">
                <a:solidFill>
                  <a:srgbClr val="545454"/>
                </a:solidFill>
                <a:latin typeface="Arial"/>
                <a:ea typeface="Arial"/>
                <a:cs typeface="Arial"/>
              </a:rPr>
              <a:t>デバイスコネクタ</a:t>
            </a:r>
          </a:p>
        </p:txBody>
      </p:sp>
      <p:sp>
        <p:nvSpPr>
          <p:cNvPr id="4" name="TextBox 3">
            <a:extLst>
              <a:ext uri="{FF2B5EF4-FFF2-40B4-BE49-F238E27FC236}">
                <a16:creationId xmlns:a16="http://schemas.microsoft.com/office/drawing/2014/main" id="{C07A39CD-DEEE-4D48-ADD0-DBF732884360}"/>
              </a:ext>
            </a:extLst>
          </p:cNvPr>
          <p:cNvSpPr>
            <a:spLocks noGrp="1"/>
          </p:cNvSpPr>
          <p:nvPr/>
        </p:nvSpPr>
        <p:spPr>
          <a:xfrm>
            <a:off x="1828800" y="5760720"/>
            <a:ext cx="14630400" cy="548640"/>
          </a:xfrm>
          <a:prstGeom prst="rect">
            <a:avLst/>
          </a:prstGeom>
          <a:noFill/>
        </p:spPr>
        <p:txBody>
          <a:bodyPr wrap="square" lIns="45720" tIns="0" rIns="45720" bIns="0" anchor="t">
            <a:spAutoFit/>
          </a:bodyPr>
          <a:lstStyle/>
          <a:p>
            <a:pPr algn="ctr">
              <a:spcAft>
                <a:spcPts val="600"/>
              </a:spcAft>
              <a:buNone/>
            </a:pPr>
            <a:r>
              <a:rPr sz="2200" b="0">
                <a:solidFill>
                  <a:srgbClr val="545454"/>
                </a:solidFill>
                <a:latin typeface="Arial"/>
                <a:ea typeface="Arial"/>
                <a:cs typeface="Arial"/>
              </a:rPr>
              <a:t>デバイスコネクタを別プロセスとする理由、内部処理およびライフサイクルを説明します。</a:t>
            </a:r>
          </a:p>
        </p:txBody>
      </p:sp>
      <p:sp>
        <p:nvSpPr>
          <p:cNvPr id="5" name="TextBox 4">
            <a:extLst>
              <a:ext uri="{FF2B5EF4-FFF2-40B4-BE49-F238E27FC236}">
                <a16:creationId xmlns:a16="http://schemas.microsoft.com/office/drawing/2014/main" id="{750CCE48-A43A-4302-A5F9-26549AACD23E}"/>
              </a:ext>
            </a:extLst>
          </p:cNvPr>
          <p:cNvSpPr>
            <a:spLocks noGrp="1"/>
          </p:cNvSpPr>
          <p:nvPr/>
        </p:nvSpPr>
        <p:spPr>
          <a:xfrm>
            <a:off x="5303520" y="6858000"/>
            <a:ext cx="7680960" cy="365760"/>
          </a:xfrm>
          <a:prstGeom prst="rect">
            <a:avLst/>
          </a:prstGeom>
          <a:noFill/>
        </p:spPr>
        <p:txBody>
          <a:bodyPr wrap="square" lIns="0" tIns="0" rIns="0" bIns="0">
            <a:spAutoFit/>
          </a:bodyPr>
          <a:lstStyle/>
          <a:p>
            <a:pPr>
              <a:spcAft>
                <a:spcPts val="800"/>
              </a:spcAft>
              <a:buNone/>
            </a:pPr>
            <a:r>
              <a:rPr sz="1600">
                <a:solidFill>
                  <a:srgbClr val="545454"/>
                </a:solidFill>
                <a:latin typeface="Arial"/>
                <a:ea typeface="Arial"/>
                <a:cs typeface="Arial"/>
              </a:rPr>
              <a:t>•  スライド25 — デバイスコネクタを別プロセスに分離する理由</a:t>
            </a:r>
          </a:p>
          <a:p>
            <a:pPr>
              <a:spcAft>
                <a:spcPts val="800"/>
              </a:spcAft>
              <a:buNone/>
            </a:pPr>
            <a:r>
              <a:rPr sz="1600">
                <a:solidFill>
                  <a:srgbClr val="545454"/>
                </a:solidFill>
                <a:latin typeface="Arial"/>
                <a:ea typeface="Arial"/>
                <a:cs typeface="Arial"/>
              </a:rPr>
              <a:t>•  スライド26 — デバイスコネクタ内部構造</a:t>
            </a:r>
          </a:p>
          <a:p>
            <a:pPr>
              <a:spcAft>
                <a:spcPts val="800"/>
              </a:spcAft>
              <a:buNone/>
            </a:pPr>
            <a:r>
              <a:rPr sz="1600">
                <a:solidFill>
                  <a:srgbClr val="545454"/>
                </a:solidFill>
                <a:latin typeface="Arial"/>
                <a:ea typeface="Arial"/>
                <a:cs typeface="Arial"/>
              </a:rPr>
              <a:t>•  スライド27 — プロセス間通信の境界</a:t>
            </a:r>
          </a:p>
          <a:p>
            <a:pPr>
              <a:spcAft>
                <a:spcPts val="800"/>
              </a:spcAft>
              <a:buNone/>
            </a:pPr>
            <a:r>
              <a:rPr sz="1600">
                <a:solidFill>
                  <a:srgbClr val="545454"/>
                </a:solidFill>
                <a:latin typeface="Arial"/>
                <a:ea typeface="Arial"/>
                <a:cs typeface="Arial"/>
              </a:rPr>
              <a:t>•  スライド28 — デバイスコネクタの起動・停止・復旧</a:t>
            </a:r>
          </a:p>
        </p:txBody>
      </p:sp>
    </p:spTree>
    <p:extLst>
      <p:ext uri="{BB962C8B-B14F-4D97-AF65-F5344CB8AC3E}">
        <p14:creationId xmlns:p14="http://schemas.microsoft.com/office/powerpoint/2010/main" val="207555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87AD01-AA8D-4119-84DD-ABCC2B6BFDE9}"/>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デバイスコネクタを別プロセスに分離する理由</a:t>
            </a:r>
          </a:p>
        </p:txBody>
      </p:sp>
      <p:sp>
        <p:nvSpPr>
          <p:cNvPr id="3" name="Rounded Rectangle 2">
            <a:extLst>
              <a:ext uri="{FF2B5EF4-FFF2-40B4-BE49-F238E27FC236}">
                <a16:creationId xmlns:a16="http://schemas.microsoft.com/office/drawing/2014/main" id="{CDF2756F-0BC5-4511-A040-16D0281591C8}"/>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既存ライブラリの実行条件に対応するため、デバイスコネクタをWindows POSの別プロセスとします。</a:t>
            </a:r>
          </a:p>
        </p:txBody>
      </p:sp>
      <p:graphicFrame>
        <p:nvGraphicFramePr>
          <p:cNvPr id="11" name="Table 3"/>
          <p:cNvGraphicFramePr/>
          <p:nvPr/>
        </p:nvGraphicFramePr>
        <p:xfrm>
          <a:off x="621792" y="2926080"/>
          <a:ext cx="17190719" cy="2194560"/>
        </p:xfrm>
        <a:graphic>
          <a:graphicData uri="http://schemas.openxmlformats.org/drawingml/2006/table">
            <a:tbl>
              <a:tblPr firstRow="1" bandRow="1">
                <a:tableStyleId>{5C22544A-7EE6-4342-B048-85BDC9FD1C3A}</a:tableStyleId>
              </a:tblPr>
              <a:tblGrid>
                <a:gridCol w="3583769">
                  <a:extLst>
                    <a:ext uri="{9D8B030D-6E8A-4147-A177-3AD203B41FA5}">
                      <a16:colId xmlns:a16="http://schemas.microsoft.com/office/drawing/2014/main" val="20000"/>
                    </a:ext>
                  </a:extLst>
                </a:gridCol>
                <a:gridCol w="13606950">
                  <a:extLst>
                    <a:ext uri="{9D8B030D-6E8A-4147-A177-3AD203B41FA5}">
                      <a16:colId xmlns:a16="http://schemas.microsoft.com/office/drawing/2014/main" val="20001"/>
                    </a:ext>
                  </a:extLst>
                </a:gridCol>
              </a:tblGrid>
              <a:tr h="365760">
                <a:tc>
                  <a:txBody>
                    <a:bodyPr/>
                    <a:lstStyle/>
                    <a:p>
                      <a:r>
                        <a:rPr sz="1400" b="1">
                          <a:solidFill>
                            <a:srgbClr val="FFFFFF"/>
                          </a:solidFill>
                          <a:latin typeface="Arial"/>
                          <a:ea typeface="Arial"/>
                          <a:cs typeface="Arial"/>
                        </a:rPr>
                        <a:t>理由</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適用する設計</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実行環境の相違</a:t>
                      </a:r>
                    </a:p>
                  </a:txBody>
                  <a:tcPr marL="64008" marR="64008" marT="27432" marB="27432" anchor="ctr">
                    <a:solidFill>
                      <a:srgbClr val="FFFFFF"/>
                    </a:solidFill>
                  </a:tcPr>
                </a:tc>
                <a:tc>
                  <a:txBody>
                    <a:bodyPr/>
                    <a:lstStyle/>
                    <a:p>
                      <a:r>
                        <a:rPr sz="1400">
                          <a:solidFill>
                            <a:srgbClr val="545454"/>
                          </a:solidFill>
                          <a:latin typeface="Arial"/>
                          <a:ea typeface="Arial"/>
                          <a:cs typeface="Arial"/>
                        </a:rPr>
                        <a:t>OPOS、OCX、ActiveX、ベンダーDLLをWindows POSの別プロセスで実行する</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OCX／COMの要件</a:t>
                      </a:r>
                    </a:p>
                  </a:txBody>
                  <a:tcPr marL="64008" marR="64008" marT="27432" marB="27432" anchor="ctr">
                    <a:solidFill>
                      <a:srgbClr val="F7F7F7"/>
                    </a:solidFill>
                  </a:tcPr>
                </a:tc>
                <a:tc>
                  <a:txBody>
                    <a:bodyPr/>
                    <a:lstStyle/>
                    <a:p>
                      <a:r>
                        <a:rPr sz="1400">
                          <a:solidFill>
                            <a:srgbClr val="545454"/>
                          </a:solidFill>
                          <a:latin typeface="Arial"/>
                          <a:ea typeface="Arial"/>
                          <a:cs typeface="Arial"/>
                        </a:rPr>
                        <a:t>WinFormsでメッセージループ、画面スレッド、シングルスレッドアパートメント（STA）の制約を維持する</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機器管理の集約</a:t>
                      </a:r>
                    </a:p>
                  </a:txBody>
                  <a:tcPr marL="64008" marR="64008" marT="27432" marB="27432" anchor="ctr">
                    <a:solidFill>
                      <a:srgbClr val="FFFFFF"/>
                    </a:solidFill>
                  </a:tcPr>
                </a:tc>
                <a:tc>
                  <a:txBody>
                    <a:bodyPr/>
                    <a:lstStyle/>
                    <a:p>
                      <a:r>
                        <a:rPr sz="1400">
                          <a:solidFill>
                            <a:srgbClr val="545454"/>
                          </a:solidFill>
                          <a:latin typeface="Arial"/>
                          <a:ea typeface="Arial"/>
                          <a:cs typeface="Arial"/>
                        </a:rPr>
                        <a:t>設定に従って機器を初期化、保持、検索、実行、停止する</a:t>
                      </a:r>
                    </a:p>
                  </a:txBody>
                  <a:tcPr marL="64008" marR="64008" marT="27432" marB="27432" anchor="ctr">
                    <a:solidFill>
                      <a:srgbClr val="FFFFFF"/>
                    </a:solidFill>
                  </a:tcPr>
                </a:tc>
                <a:extLst>
                  <a:ext uri="{0D108BD9-81ED-4DB2-BD59-A6C34878D82A}">
                    <a16:rowId xmlns:a16="http://schemas.microsoft.com/office/drawing/2014/main" val="10003"/>
                  </a:ext>
                </a:extLst>
              </a:tr>
              <a:tr h="365760">
                <a:tc>
                  <a:txBody>
                    <a:bodyPr/>
                    <a:lstStyle/>
                    <a:p>
                      <a:r>
                        <a:rPr sz="1400">
                          <a:solidFill>
                            <a:srgbClr val="545454"/>
                          </a:solidFill>
                          <a:latin typeface="Arial"/>
                          <a:ea typeface="Arial"/>
                          <a:cs typeface="Arial"/>
                        </a:rPr>
                        <a:t>障害の分離</a:t>
                      </a:r>
                    </a:p>
                  </a:txBody>
                  <a:tcPr marL="64008" marR="64008" marT="27432" marB="27432" anchor="ctr">
                    <a:solidFill>
                      <a:srgbClr val="F7F7F7"/>
                    </a:solidFill>
                  </a:tcPr>
                </a:tc>
                <a:tc>
                  <a:txBody>
                    <a:bodyPr/>
                    <a:lstStyle/>
                    <a:p>
                      <a:r>
                        <a:rPr sz="1400">
                          <a:solidFill>
                            <a:srgbClr val="545454"/>
                          </a:solidFill>
                          <a:latin typeface="Arial"/>
                          <a:ea typeface="Arial"/>
                          <a:cs typeface="Arial"/>
                        </a:rPr>
                        <a:t>端末アプリ、プロセス間通信、機器のログと障害を分けて調査する</a:t>
                      </a:r>
                    </a:p>
                  </a:txBody>
                  <a:tcPr marL="64008" marR="64008" marT="27432" marB="27432" anchor="ctr">
                    <a:solidFill>
                      <a:srgbClr val="F7F7F7"/>
                    </a:solidFill>
                  </a:tcPr>
                </a:tc>
                <a:extLst>
                  <a:ext uri="{0D108BD9-81ED-4DB2-BD59-A6C34878D82A}">
                    <a16:rowId xmlns:a16="http://schemas.microsoft.com/office/drawing/2014/main" val="10004"/>
                  </a:ext>
                </a:extLst>
              </a:tr>
              <a:tr h="365760">
                <a:tc>
                  <a:txBody>
                    <a:bodyPr/>
                    <a:lstStyle/>
                    <a:p>
                      <a:r>
                        <a:rPr sz="1400">
                          <a:solidFill>
                            <a:srgbClr val="545454"/>
                          </a:solidFill>
                          <a:latin typeface="Arial"/>
                          <a:ea typeface="Arial"/>
                          <a:cs typeface="Arial"/>
                        </a:rPr>
                        <a:t>適用範囲</a:t>
                      </a:r>
                    </a:p>
                  </a:txBody>
                  <a:tcPr marL="64008" marR="64008" marT="27432" marB="27432" anchor="ctr">
                    <a:solidFill>
                      <a:srgbClr val="FFFFFF"/>
                    </a:solidFill>
                  </a:tcPr>
                </a:tc>
                <a:tc>
                  <a:txBody>
                    <a:bodyPr/>
                    <a:lstStyle/>
                    <a:p>
                      <a:r>
                        <a:rPr sz="1400">
                          <a:solidFill>
                            <a:srgbClr val="545454"/>
                          </a:solidFill>
                          <a:latin typeface="Arial"/>
                          <a:ea typeface="Arial"/>
                          <a:cs typeface="Arial"/>
                        </a:rPr>
                        <a:t>既存の機器制御資産を必要とする機器だけをコネクタ経由とする</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pic>
        <p:nvPicPr>
          <p:cNvPr id="12" name="Picture 4"/>
          <p:cNvPicPr>
            <a:picLocks noChangeAspect="1"/>
          </p:cNvPicPr>
          <p:nvPr/>
        </p:nvPicPr>
        <p:blipFill>
          <a:blip r:embed="rId3"/>
          <a:stretch>
            <a:fillRect/>
          </a:stretch>
        </p:blipFill>
        <p:spPr>
          <a:xfrm>
            <a:off x="15096744" y="5486400"/>
            <a:ext cx="1909051" cy="3200400"/>
          </a:xfrm>
          <a:prstGeom prst="rect">
            <a:avLst/>
          </a:prstGeom>
        </p:spPr>
      </p:pic>
      <p:sp>
        <p:nvSpPr>
          <p:cNvPr id="6" name="TextBox 5">
            <a:extLst>
              <a:ext uri="{FF2B5EF4-FFF2-40B4-BE49-F238E27FC236}">
                <a16:creationId xmlns:a16="http://schemas.microsoft.com/office/drawing/2014/main" id="{0BC5D09A-AE5C-436F-8617-B58211CF568C}"/>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ARCH-HOST-01 2.1–2.3、3.4、ARCH-01 5.1、5.7</a:t>
            </a:r>
          </a:p>
        </p:txBody>
      </p:sp>
    </p:spTree>
    <p:extLst>
      <p:ext uri="{BB962C8B-B14F-4D97-AF65-F5344CB8AC3E}">
        <p14:creationId xmlns:p14="http://schemas.microsoft.com/office/powerpoint/2010/main" val="773053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FA3E1F-974B-4C63-87B3-A144535FA9B7}"/>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デバイスコネクタ内部構造</a:t>
            </a:r>
          </a:p>
        </p:txBody>
      </p:sp>
      <p:sp>
        <p:nvSpPr>
          <p:cNvPr id="3" name="Rounded Rectangle 2">
            <a:extLst>
              <a:ext uri="{FF2B5EF4-FFF2-40B4-BE49-F238E27FC236}">
                <a16:creationId xmlns:a16="http://schemas.microsoft.com/office/drawing/2014/main" id="{4EBB6DA6-7649-4E17-A383-BC936B7F4410}"/>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デバイス識別子（DeviceId）ごとに要求順序を管理し、異なる機器を並行して処理します。</a:t>
            </a:r>
          </a:p>
        </p:txBody>
      </p:sp>
      <p:sp>
        <p:nvSpPr>
          <p:cNvPr id="4" name="TextBox 3">
            <a:extLst>
              <a:ext uri="{FF2B5EF4-FFF2-40B4-BE49-F238E27FC236}">
                <a16:creationId xmlns:a16="http://schemas.microsoft.com/office/drawing/2014/main" id="{15A9AD2C-DD78-499E-AA9E-9A05EE095BAB}"/>
              </a:ext>
            </a:extLst>
          </p:cNvPr>
          <p:cNvSpPr>
            <a:spLocks noGrp="1"/>
          </p:cNvSpPr>
          <p:nvPr/>
        </p:nvSpPr>
        <p:spPr>
          <a:xfrm>
            <a:off x="594360" y="2926080"/>
            <a:ext cx="676656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処理順序</a:t>
            </a:r>
          </a:p>
        </p:txBody>
      </p:sp>
      <p:sp>
        <p:nvSpPr>
          <p:cNvPr id="5" name="TextBox 4">
            <a:extLst>
              <a:ext uri="{FF2B5EF4-FFF2-40B4-BE49-F238E27FC236}">
                <a16:creationId xmlns:a16="http://schemas.microsoft.com/office/drawing/2014/main" id="{2B511A1E-76F3-4C2C-8A1B-0BBA7F5C97D6}"/>
              </a:ext>
            </a:extLst>
          </p:cNvPr>
          <p:cNvSpPr>
            <a:spLocks noGrp="1"/>
          </p:cNvSpPr>
          <p:nvPr/>
        </p:nvSpPr>
        <p:spPr>
          <a:xfrm>
            <a:off x="685800" y="3401568"/>
            <a:ext cx="667512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1. コマンド用パイプから要求を受信します。</a:t>
            </a:r>
          </a:p>
          <a:p>
            <a:pPr>
              <a:spcAft>
                <a:spcPts val="500"/>
              </a:spcAft>
              <a:buNone/>
            </a:pPr>
            <a:r>
              <a:rPr sz="1700">
                <a:solidFill>
                  <a:srgbClr val="545454"/>
                </a:solidFill>
                <a:latin typeface="Arial"/>
                <a:ea typeface="Arial"/>
                <a:cs typeface="Arial"/>
              </a:rPr>
              <a:t>2. 通信データを内部コマンドへ変換します。</a:t>
            </a:r>
          </a:p>
          <a:p>
            <a:pPr>
              <a:spcAft>
                <a:spcPts val="500"/>
              </a:spcAft>
              <a:buNone/>
            </a:pPr>
            <a:r>
              <a:rPr sz="1700">
                <a:solidFill>
                  <a:srgbClr val="545454"/>
                </a:solidFill>
                <a:latin typeface="Arial"/>
                <a:ea typeface="Arial"/>
                <a:cs typeface="Arial"/>
              </a:rPr>
              <a:t>3. デバイス識別子（DeviceId）ごとのキューへ登録します。</a:t>
            </a:r>
          </a:p>
          <a:p>
            <a:pPr>
              <a:spcAft>
                <a:spcPts val="500"/>
              </a:spcAft>
              <a:buNone/>
            </a:pPr>
            <a:r>
              <a:rPr sz="1700">
                <a:solidFill>
                  <a:srgbClr val="545454"/>
                </a:solidFill>
                <a:latin typeface="Arial"/>
                <a:ea typeface="Arial"/>
                <a:cs typeface="Arial"/>
              </a:rPr>
              <a:t>4. 対象機器のデバイス制御インターフェース（IFDevice）を呼び出します。</a:t>
            </a:r>
          </a:p>
          <a:p>
            <a:pPr>
              <a:spcAft>
                <a:spcPts val="500"/>
              </a:spcAft>
              <a:buNone/>
            </a:pPr>
            <a:r>
              <a:rPr sz="1700">
                <a:solidFill>
                  <a:srgbClr val="545454"/>
                </a:solidFill>
                <a:latin typeface="Arial"/>
                <a:ea typeface="Arial"/>
                <a:cs typeface="Arial"/>
              </a:rPr>
              <a:t>5. 機器イベントをイベント用パイプへ発行します。</a:t>
            </a:r>
          </a:p>
        </p:txBody>
      </p:sp>
      <p:sp>
        <p:nvSpPr>
          <p:cNvPr id="6" name="Rounded Rectangle 5">
            <a:extLst>
              <a:ext uri="{FF2B5EF4-FFF2-40B4-BE49-F238E27FC236}">
                <a16:creationId xmlns:a16="http://schemas.microsoft.com/office/drawing/2014/main" id="{176F1EE4-A314-475E-8CAF-25C99A3EC134}"/>
              </a:ext>
            </a:extLst>
          </p:cNvPr>
          <p:cNvSpPr>
            <a:spLocks noGrp="1"/>
          </p:cNvSpPr>
          <p:nvPr/>
        </p:nvSpPr>
        <p:spPr>
          <a:xfrm>
            <a:off x="8752636" y="2926080"/>
            <a:ext cx="8372246" cy="640080"/>
          </a:xfrm>
          <a:prstGeom prst="roundRect">
            <a:avLst>
              <a:gd name="adj" fmla="val 8000"/>
            </a:avLst>
          </a:prstGeom>
          <a:solidFill>
            <a:srgbClr val="FFF2CC"/>
          </a:solidFill>
          <a:ln w="15875">
            <a:solidFill>
              <a:srgbClr val="BF9000"/>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共有通信定義 — TabletPos.DeviceContracts</a:t>
            </a:r>
          </a:p>
        </p:txBody>
      </p:sp>
      <p:sp>
        <p:nvSpPr>
          <p:cNvPr id="7" name="Rounded Rectangle 6">
            <a:extLst>
              <a:ext uri="{FF2B5EF4-FFF2-40B4-BE49-F238E27FC236}">
                <a16:creationId xmlns:a16="http://schemas.microsoft.com/office/drawing/2014/main" id="{FBCD053C-9FA9-433B-BD0D-587E83BD5A92}"/>
              </a:ext>
            </a:extLst>
          </p:cNvPr>
          <p:cNvSpPr>
            <a:spLocks noGrp="1"/>
          </p:cNvSpPr>
          <p:nvPr/>
        </p:nvSpPr>
        <p:spPr>
          <a:xfrm>
            <a:off x="7955279" y="3794760"/>
            <a:ext cx="9966960" cy="2514600"/>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751F2196-9302-401F-80E5-298D02DBCBA1}"/>
              </a:ext>
            </a:extLst>
          </p:cNvPr>
          <p:cNvSpPr>
            <a:spLocks noGrp="1"/>
          </p:cNvSpPr>
          <p:nvPr/>
        </p:nvSpPr>
        <p:spPr>
          <a:xfrm>
            <a:off x="8065007" y="3867912"/>
            <a:ext cx="9747504"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受信と振り分け</a:t>
            </a:r>
          </a:p>
        </p:txBody>
      </p:sp>
      <p:sp>
        <p:nvSpPr>
          <p:cNvPr id="9" name="Rounded Rectangle 8">
            <a:extLst>
              <a:ext uri="{FF2B5EF4-FFF2-40B4-BE49-F238E27FC236}">
                <a16:creationId xmlns:a16="http://schemas.microsoft.com/office/drawing/2014/main" id="{5F0FA650-FA0C-4416-B31D-E0B38C8446AE}"/>
              </a:ext>
            </a:extLst>
          </p:cNvPr>
          <p:cNvSpPr>
            <a:spLocks noGrp="1"/>
          </p:cNvSpPr>
          <p:nvPr/>
        </p:nvSpPr>
        <p:spPr>
          <a:xfrm>
            <a:off x="8229600" y="4206240"/>
            <a:ext cx="4526280" cy="914400"/>
          </a:xfrm>
          <a:prstGeom prst="roundRect">
            <a:avLst>
              <a:gd name="adj" fmla="val 8000"/>
            </a:avLst>
          </a:prstGeom>
          <a:solidFill>
            <a:srgbClr val="FCE4D6"/>
          </a:solidFill>
          <a:ln w="15875">
            <a:solidFill>
              <a:srgbClr val="ED7D31"/>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要求受信と応答返却</a:t>
            </a:r>
          </a:p>
          <a:p>
            <a:pPr algn="ctr">
              <a:buNone/>
            </a:pPr>
            <a:r>
              <a:rPr sz="900" b="0">
                <a:solidFill>
                  <a:srgbClr val="333333"/>
                </a:solidFill>
                <a:latin typeface="Arial"/>
                <a:ea typeface="Arial"/>
                <a:cs typeface="Arial"/>
              </a:rPr>
              <a:t>NamedPipeCommandServer</a:t>
            </a:r>
          </a:p>
        </p:txBody>
      </p:sp>
      <p:sp>
        <p:nvSpPr>
          <p:cNvPr id="10" name="Rounded Rectangle 9">
            <a:extLst>
              <a:ext uri="{FF2B5EF4-FFF2-40B4-BE49-F238E27FC236}">
                <a16:creationId xmlns:a16="http://schemas.microsoft.com/office/drawing/2014/main" id="{EE128D23-3F78-422F-97AF-FCE5956F9137}"/>
              </a:ext>
            </a:extLst>
          </p:cNvPr>
          <p:cNvSpPr>
            <a:spLocks noGrp="1"/>
          </p:cNvSpPr>
          <p:nvPr/>
        </p:nvSpPr>
        <p:spPr>
          <a:xfrm>
            <a:off x="13121640" y="4206240"/>
            <a:ext cx="4526280" cy="914400"/>
          </a:xfrm>
          <a:prstGeom prst="roundRect">
            <a:avLst>
              <a:gd name="adj" fmla="val 8000"/>
            </a:avLst>
          </a:prstGeom>
          <a:solidFill>
            <a:srgbClr val="FCE4D6"/>
          </a:solidFill>
          <a:ln w="15875">
            <a:solidFill>
              <a:srgbClr val="ED7D31"/>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通信データの変換</a:t>
            </a:r>
          </a:p>
          <a:p>
            <a:pPr algn="ctr">
              <a:buNone/>
            </a:pPr>
            <a:r>
              <a:rPr sz="900" b="0">
                <a:solidFill>
                  <a:srgbClr val="333333"/>
                </a:solidFill>
                <a:latin typeface="Arial"/>
                <a:ea typeface="Arial"/>
                <a:cs typeface="Arial"/>
              </a:rPr>
              <a:t>NamedPipeCommandMapper</a:t>
            </a:r>
          </a:p>
        </p:txBody>
      </p:sp>
      <p:sp>
        <p:nvSpPr>
          <p:cNvPr id="11" name="Rounded Rectangle 10">
            <a:extLst>
              <a:ext uri="{FF2B5EF4-FFF2-40B4-BE49-F238E27FC236}">
                <a16:creationId xmlns:a16="http://schemas.microsoft.com/office/drawing/2014/main" id="{2EB8D90D-DF41-49B6-8F4B-00273D1A3171}"/>
              </a:ext>
            </a:extLst>
          </p:cNvPr>
          <p:cNvSpPr>
            <a:spLocks noGrp="1"/>
          </p:cNvSpPr>
          <p:nvPr/>
        </p:nvSpPr>
        <p:spPr>
          <a:xfrm>
            <a:off x="8229600" y="5257800"/>
            <a:ext cx="4526280" cy="914400"/>
          </a:xfrm>
          <a:prstGeom prst="roundRect">
            <a:avLst>
              <a:gd name="adj" fmla="val 8000"/>
            </a:avLst>
          </a:prstGeom>
          <a:solidFill>
            <a:srgbClr val="FCE4D6"/>
          </a:solidFill>
          <a:ln w="15875">
            <a:solidFill>
              <a:srgbClr val="ED7D31"/>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機器別の順序制御</a:t>
            </a:r>
          </a:p>
          <a:p>
            <a:pPr algn="ctr">
              <a:buNone/>
            </a:pPr>
            <a:r>
              <a:rPr sz="900" b="0">
                <a:solidFill>
                  <a:srgbClr val="333333"/>
                </a:solidFill>
                <a:latin typeface="Arial"/>
                <a:ea typeface="Arial"/>
                <a:cs typeface="Arial"/>
              </a:rPr>
              <a:t>DeviceCommandRouter</a:t>
            </a:r>
          </a:p>
        </p:txBody>
      </p:sp>
      <p:sp>
        <p:nvSpPr>
          <p:cNvPr id="12" name="Rounded Rectangle 11">
            <a:extLst>
              <a:ext uri="{FF2B5EF4-FFF2-40B4-BE49-F238E27FC236}">
                <a16:creationId xmlns:a16="http://schemas.microsoft.com/office/drawing/2014/main" id="{DEA4FC03-6ED2-44FB-882B-01A6A02CE67A}"/>
              </a:ext>
            </a:extLst>
          </p:cNvPr>
          <p:cNvSpPr>
            <a:spLocks noGrp="1"/>
          </p:cNvSpPr>
          <p:nvPr/>
        </p:nvSpPr>
        <p:spPr>
          <a:xfrm>
            <a:off x="13121640" y="5257800"/>
            <a:ext cx="4526280" cy="914400"/>
          </a:xfrm>
          <a:prstGeom prst="roundRect">
            <a:avLst>
              <a:gd name="adj" fmla="val 8000"/>
            </a:avLst>
          </a:prstGeom>
          <a:solidFill>
            <a:srgbClr val="FCE4D6"/>
          </a:solidFill>
          <a:ln w="15875">
            <a:solidFill>
              <a:srgbClr val="ED7D31"/>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要求の分類と実行</a:t>
            </a:r>
          </a:p>
          <a:p>
            <a:pPr algn="ctr">
              <a:buNone/>
            </a:pPr>
            <a:r>
              <a:rPr sz="900" b="0">
                <a:solidFill>
                  <a:srgbClr val="333333"/>
                </a:solidFill>
                <a:latin typeface="Arial"/>
                <a:ea typeface="Arial"/>
                <a:cs typeface="Arial"/>
              </a:rPr>
              <a:t>DeviceCommandHandler</a:t>
            </a:r>
          </a:p>
        </p:txBody>
      </p:sp>
      <p:sp>
        <p:nvSpPr>
          <p:cNvPr id="13" name="Rounded Rectangle 12">
            <a:extLst>
              <a:ext uri="{FF2B5EF4-FFF2-40B4-BE49-F238E27FC236}">
                <a16:creationId xmlns:a16="http://schemas.microsoft.com/office/drawing/2014/main" id="{55F6530E-3476-4D7C-B33B-65713B5288C0}"/>
              </a:ext>
            </a:extLst>
          </p:cNvPr>
          <p:cNvSpPr>
            <a:spLocks noGrp="1"/>
          </p:cNvSpPr>
          <p:nvPr/>
        </p:nvSpPr>
        <p:spPr>
          <a:xfrm>
            <a:off x="7955279" y="6537960"/>
            <a:ext cx="9966960" cy="2148840"/>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978198-6B49-4374-AC84-543C1F5A3721}"/>
              </a:ext>
            </a:extLst>
          </p:cNvPr>
          <p:cNvSpPr>
            <a:spLocks noGrp="1"/>
          </p:cNvSpPr>
          <p:nvPr/>
        </p:nvSpPr>
        <p:spPr>
          <a:xfrm>
            <a:off x="8065007" y="6611112"/>
            <a:ext cx="9747504"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機器管理と制御</a:t>
            </a:r>
          </a:p>
        </p:txBody>
      </p:sp>
      <p:sp>
        <p:nvSpPr>
          <p:cNvPr id="15" name="Rounded Rectangle 14">
            <a:extLst>
              <a:ext uri="{FF2B5EF4-FFF2-40B4-BE49-F238E27FC236}">
                <a16:creationId xmlns:a16="http://schemas.microsoft.com/office/drawing/2014/main" id="{98229D78-6F48-4305-AAD1-5393F87CC093}"/>
              </a:ext>
            </a:extLst>
          </p:cNvPr>
          <p:cNvSpPr>
            <a:spLocks noGrp="1"/>
          </p:cNvSpPr>
          <p:nvPr/>
        </p:nvSpPr>
        <p:spPr>
          <a:xfrm>
            <a:off x="8229600" y="6949440"/>
            <a:ext cx="4526280" cy="777240"/>
          </a:xfrm>
          <a:prstGeom prst="roundRect">
            <a:avLst>
              <a:gd name="adj" fmla="val 8000"/>
            </a:avLst>
          </a:prstGeom>
          <a:solidFill>
            <a:srgbClr val="FCE4D6"/>
          </a:solidFill>
          <a:ln w="15875">
            <a:solidFill>
              <a:srgbClr val="ED7D31"/>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機器の生成・保持・検索・停止</a:t>
            </a:r>
          </a:p>
          <a:p>
            <a:pPr algn="ctr">
              <a:buNone/>
            </a:pPr>
            <a:r>
              <a:rPr sz="900" b="0">
                <a:solidFill>
                  <a:srgbClr val="333333"/>
                </a:solidFill>
                <a:latin typeface="Arial"/>
                <a:ea typeface="Arial"/>
                <a:cs typeface="Arial"/>
              </a:rPr>
              <a:t>TabletDeviceManager</a:t>
            </a:r>
          </a:p>
        </p:txBody>
      </p:sp>
      <p:sp>
        <p:nvSpPr>
          <p:cNvPr id="16" name="Rounded Rectangle 15">
            <a:extLst>
              <a:ext uri="{FF2B5EF4-FFF2-40B4-BE49-F238E27FC236}">
                <a16:creationId xmlns:a16="http://schemas.microsoft.com/office/drawing/2014/main" id="{20D874A3-9FC2-4688-B420-633AD9781BAE}"/>
              </a:ext>
            </a:extLst>
          </p:cNvPr>
          <p:cNvSpPr>
            <a:spLocks noGrp="1"/>
          </p:cNvSpPr>
          <p:nvPr/>
        </p:nvSpPr>
        <p:spPr>
          <a:xfrm>
            <a:off x="8229600" y="7818120"/>
            <a:ext cx="4526280" cy="777240"/>
          </a:xfrm>
          <a:prstGeom prst="roundRect">
            <a:avLst>
              <a:gd name="adj" fmla="val 8000"/>
            </a:avLst>
          </a:prstGeom>
          <a:solidFill>
            <a:srgbClr val="FCE4D6"/>
          </a:solidFill>
          <a:ln w="15875">
            <a:solidFill>
              <a:srgbClr val="ED7D31"/>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既存機器の制御クラス</a:t>
            </a:r>
          </a:p>
          <a:p>
            <a:pPr algn="ctr">
              <a:buNone/>
            </a:pPr>
            <a:r>
              <a:rPr sz="900" b="0">
                <a:solidFill>
                  <a:srgbClr val="333333"/>
                </a:solidFill>
                <a:latin typeface="Arial"/>
                <a:ea typeface="Arial"/>
                <a:cs typeface="Arial"/>
              </a:rPr>
              <a:t>IFDevice／DeviceBase</a:t>
            </a:r>
          </a:p>
        </p:txBody>
      </p:sp>
      <p:sp>
        <p:nvSpPr>
          <p:cNvPr id="17" name="Rounded Rectangle 16">
            <a:extLst>
              <a:ext uri="{FF2B5EF4-FFF2-40B4-BE49-F238E27FC236}">
                <a16:creationId xmlns:a16="http://schemas.microsoft.com/office/drawing/2014/main" id="{9C3D7D97-22BE-454E-97C4-7908082718C5}"/>
              </a:ext>
            </a:extLst>
          </p:cNvPr>
          <p:cNvSpPr>
            <a:spLocks noGrp="1"/>
          </p:cNvSpPr>
          <p:nvPr/>
        </p:nvSpPr>
        <p:spPr>
          <a:xfrm>
            <a:off x="13121639" y="7360920"/>
            <a:ext cx="4526280" cy="777240"/>
          </a:xfrm>
          <a:prstGeom prst="roundRect">
            <a:avLst>
              <a:gd name="adj" fmla="val 8000"/>
            </a:avLst>
          </a:prstGeom>
          <a:solidFill>
            <a:srgbClr val="FCE4D6"/>
          </a:solidFill>
          <a:ln w="15875">
            <a:solidFill>
              <a:srgbClr val="ED7D31"/>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非同期イベントの発行</a:t>
            </a:r>
          </a:p>
          <a:p>
            <a:pPr algn="ctr">
              <a:buNone/>
            </a:pPr>
            <a:r>
              <a:rPr sz="900" b="0">
                <a:solidFill>
                  <a:srgbClr val="333333"/>
                </a:solidFill>
                <a:latin typeface="Arial"/>
                <a:ea typeface="Arial"/>
                <a:cs typeface="Arial"/>
              </a:rPr>
              <a:t>NamedPipeEventPublisher</a:t>
            </a:r>
          </a:p>
        </p:txBody>
      </p:sp>
      <p:sp>
        <p:nvSpPr>
          <p:cNvPr id="18" name="Rounded Rectangle 17">
            <a:extLst>
              <a:ext uri="{FF2B5EF4-FFF2-40B4-BE49-F238E27FC236}">
                <a16:creationId xmlns:a16="http://schemas.microsoft.com/office/drawing/2014/main" id="{C9DC7C66-E4DA-4079-A5BC-6CD6A1470417}"/>
              </a:ext>
            </a:extLst>
          </p:cNvPr>
          <p:cNvSpPr>
            <a:spLocks noGrp="1"/>
          </p:cNvSpPr>
          <p:nvPr/>
        </p:nvSpPr>
        <p:spPr>
          <a:xfrm>
            <a:off x="8951976" y="8915400"/>
            <a:ext cx="7973568" cy="731520"/>
          </a:xfrm>
          <a:prstGeom prst="roundRect">
            <a:avLst>
              <a:gd name="adj" fmla="val 8000"/>
            </a:avLst>
          </a:prstGeom>
          <a:solidFill>
            <a:srgbClr val="E4DFEC"/>
          </a:solidFill>
          <a:ln w="15875">
            <a:solidFill>
              <a:srgbClr val="8064A2"/>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000" b="1">
                <a:solidFill>
                  <a:srgbClr val="333333"/>
                </a:solidFill>
                <a:latin typeface="Arial"/>
                <a:ea typeface="Arial"/>
                <a:cs typeface="Arial"/>
              </a:rPr>
              <a:t>既存機器 — 自動釣銭機／ドロア／カスタマーディスプレイ／プリンター／決済端末</a:t>
            </a:r>
          </a:p>
        </p:txBody>
      </p:sp>
      <p:sp>
        <p:nvSpPr>
          <p:cNvPr id="19" name="Connector 18">
            <a:extLst>
              <a:ext uri="{FF2B5EF4-FFF2-40B4-BE49-F238E27FC236}">
                <a16:creationId xmlns:a16="http://schemas.microsoft.com/office/drawing/2014/main" id="{52B868FF-8FF3-44C6-8AFF-AB82E8A61DD4}"/>
              </a:ext>
            </a:extLst>
          </p:cNvPr>
          <p:cNvSpPr>
            <a:spLocks noGrp="1"/>
          </p:cNvSpPr>
          <p:nvPr/>
        </p:nvSpPr>
        <p:spPr>
          <a:xfrm>
            <a:off x="12938759" y="3566160"/>
            <a:ext cx="0" cy="2286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0" name="Connector 19">
            <a:extLst>
              <a:ext uri="{FF2B5EF4-FFF2-40B4-BE49-F238E27FC236}">
                <a16:creationId xmlns:a16="http://schemas.microsoft.com/office/drawing/2014/main" id="{65351145-1B47-4D49-BACE-5DC58747CC0E}"/>
              </a:ext>
            </a:extLst>
          </p:cNvPr>
          <p:cNvSpPr>
            <a:spLocks noGrp="1"/>
          </p:cNvSpPr>
          <p:nvPr/>
        </p:nvSpPr>
        <p:spPr>
          <a:xfrm>
            <a:off x="12938759" y="6309360"/>
            <a:ext cx="0" cy="2286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1" name="Connector 20">
            <a:extLst>
              <a:ext uri="{FF2B5EF4-FFF2-40B4-BE49-F238E27FC236}">
                <a16:creationId xmlns:a16="http://schemas.microsoft.com/office/drawing/2014/main" id="{FDC664E7-CEB2-4917-B64A-16BD077FD607}"/>
              </a:ext>
            </a:extLst>
          </p:cNvPr>
          <p:cNvSpPr>
            <a:spLocks noGrp="1"/>
          </p:cNvSpPr>
          <p:nvPr/>
        </p:nvSpPr>
        <p:spPr>
          <a:xfrm>
            <a:off x="12938759" y="8686800"/>
            <a:ext cx="0" cy="2286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2" name="TextBox 21">
            <a:extLst>
              <a:ext uri="{FF2B5EF4-FFF2-40B4-BE49-F238E27FC236}">
                <a16:creationId xmlns:a16="http://schemas.microsoft.com/office/drawing/2014/main" id="{5DD0AB51-9800-4A1D-92B4-2C0D84BDA8BC}"/>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ARCH-HOST-01 5.3、7、ARCH-01 5.5–5.7</a:t>
            </a:r>
          </a:p>
        </p:txBody>
      </p:sp>
    </p:spTree>
    <p:extLst>
      <p:ext uri="{BB962C8B-B14F-4D97-AF65-F5344CB8AC3E}">
        <p14:creationId xmlns:p14="http://schemas.microsoft.com/office/powerpoint/2010/main" val="8562708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725FC3-F993-4E3E-B532-85444FBA343D}"/>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プロセス間通信の境界</a:t>
            </a:r>
          </a:p>
        </p:txBody>
      </p:sp>
      <p:sp>
        <p:nvSpPr>
          <p:cNvPr id="3" name="Rounded Rectangle 2">
            <a:extLst>
              <a:ext uri="{FF2B5EF4-FFF2-40B4-BE49-F238E27FC236}">
                <a16:creationId xmlns:a16="http://schemas.microsoft.com/office/drawing/2014/main" id="{E221AB8F-F765-4DD0-BFA2-3EF16C36FF9D}"/>
              </a:ext>
            </a:extLst>
          </p:cNvPr>
          <p:cNvSpPr>
            <a:spLocks noGrp="1"/>
          </p:cNvSpPr>
          <p:nvPr/>
        </p:nvSpPr>
        <p:spPr>
          <a:xfrm>
            <a:off x="548640" y="1371600"/>
            <a:ext cx="17190720" cy="86868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コマンドとイベントを別経路に分け、非同期イベントがコマンド応答を待たせない構成とします。</a:t>
            </a:r>
          </a:p>
        </p:txBody>
      </p:sp>
      <p:graphicFrame>
        <p:nvGraphicFramePr>
          <p:cNvPr id="11" name="Table 3"/>
          <p:cNvGraphicFramePr/>
          <p:nvPr/>
        </p:nvGraphicFramePr>
        <p:xfrm>
          <a:off x="621792" y="2514600"/>
          <a:ext cx="17190718" cy="1828800"/>
        </p:xfrm>
        <a:graphic>
          <a:graphicData uri="http://schemas.openxmlformats.org/drawingml/2006/table">
            <a:tbl>
              <a:tblPr firstRow="1" bandRow="1">
                <a:tableStyleId>{5C22544A-7EE6-4342-B048-85BDC9FD1C3A}</a:tableStyleId>
              </a:tblPr>
              <a:tblGrid>
                <a:gridCol w="6276690">
                  <a:extLst>
                    <a:ext uri="{9D8B030D-6E8A-4147-A177-3AD203B41FA5}">
                      <a16:colId xmlns:a16="http://schemas.microsoft.com/office/drawing/2014/main" val="20000"/>
                    </a:ext>
                  </a:extLst>
                </a:gridCol>
                <a:gridCol w="6878296">
                  <a:extLst>
                    <a:ext uri="{9D8B030D-6E8A-4147-A177-3AD203B41FA5}">
                      <a16:colId xmlns:a16="http://schemas.microsoft.com/office/drawing/2014/main" val="20001"/>
                    </a:ext>
                  </a:extLst>
                </a:gridCol>
                <a:gridCol w="4035732">
                  <a:extLst>
                    <a:ext uri="{9D8B030D-6E8A-4147-A177-3AD203B41FA5}">
                      <a16:colId xmlns:a16="http://schemas.microsoft.com/office/drawing/2014/main" val="20002"/>
                    </a:ext>
                  </a:extLst>
                </a:gridCol>
              </a:tblGrid>
              <a:tr h="365760">
                <a:tc>
                  <a:txBody>
                    <a:bodyPr/>
                    <a:lstStyle/>
                    <a:p>
                      <a:r>
                        <a:rPr sz="1400" b="1">
                          <a:solidFill>
                            <a:srgbClr val="FFFFFF"/>
                          </a:solidFill>
                          <a:latin typeface="Arial"/>
                          <a:ea typeface="Arial"/>
                          <a:cs typeface="Arial"/>
                        </a:rPr>
                        <a:t>境界</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処理</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目的</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コマンド用パイプ</a:t>
                      </a:r>
                    </a:p>
                  </a:txBody>
                  <a:tcPr marL="64008" marR="64008" marT="27432" marB="27432" anchor="ctr">
                    <a:solidFill>
                      <a:srgbClr val="FFFFFF"/>
                    </a:solidFill>
                  </a:tcPr>
                </a:tc>
                <a:tc>
                  <a:txBody>
                    <a:bodyPr/>
                    <a:lstStyle/>
                    <a:p>
                      <a:r>
                        <a:rPr sz="1400">
                          <a:solidFill>
                            <a:srgbClr val="545454"/>
                          </a:solidFill>
                          <a:latin typeface="Arial"/>
                          <a:ea typeface="Arial"/>
                          <a:cs typeface="Arial"/>
                        </a:rPr>
                        <a:t>1件の要求に対し、同じ接続で1件の応答を返す</a:t>
                      </a:r>
                    </a:p>
                  </a:txBody>
                  <a:tcPr marL="64008" marR="64008" marT="27432" marB="27432" anchor="ctr">
                    <a:solidFill>
                      <a:srgbClr val="FFFFFF"/>
                    </a:solidFill>
                  </a:tcPr>
                </a:tc>
                <a:tc>
                  <a:txBody>
                    <a:bodyPr/>
                    <a:lstStyle/>
                    <a:p>
                      <a:r>
                        <a:rPr sz="1400">
                          <a:solidFill>
                            <a:srgbClr val="545454"/>
                          </a:solidFill>
                          <a:latin typeface="Arial"/>
                          <a:ea typeface="Arial"/>
                          <a:cs typeface="Arial"/>
                        </a:rPr>
                        <a:t>機器操作ごとの結果を明確にする</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イベント用パイプ</a:t>
                      </a:r>
                    </a:p>
                  </a:txBody>
                  <a:tcPr marL="64008" marR="64008" marT="27432" marB="27432" anchor="ctr">
                    <a:solidFill>
                      <a:srgbClr val="F7F7F7"/>
                    </a:solidFill>
                  </a:tcPr>
                </a:tc>
                <a:tc>
                  <a:txBody>
                    <a:bodyPr/>
                    <a:lstStyle/>
                    <a:p>
                      <a:r>
                        <a:rPr sz="1400">
                          <a:solidFill>
                            <a:srgbClr val="545454"/>
                          </a:solidFill>
                          <a:latin typeface="Arial"/>
                          <a:ea typeface="Arial"/>
                          <a:cs typeface="Arial"/>
                        </a:rPr>
                        <a:t>コネクタがイベントを発行し、DeviceCtrlが独立して受信する</a:t>
                      </a:r>
                    </a:p>
                  </a:txBody>
                  <a:tcPr marL="64008" marR="64008" marT="27432" marB="27432" anchor="ctr">
                    <a:solidFill>
                      <a:srgbClr val="F7F7F7"/>
                    </a:solidFill>
                  </a:tcPr>
                </a:tc>
                <a:tc>
                  <a:txBody>
                    <a:bodyPr/>
                    <a:lstStyle/>
                    <a:p>
                      <a:r>
                        <a:rPr sz="1400">
                          <a:solidFill>
                            <a:srgbClr val="545454"/>
                          </a:solidFill>
                          <a:latin typeface="Arial"/>
                          <a:ea typeface="Arial"/>
                          <a:cs typeface="Arial"/>
                        </a:rPr>
                        <a:t>イベントをコマンド応答待ちから分離する</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共有通信定義（TabletPos.DeviceContracts）</a:t>
                      </a:r>
                    </a:p>
                  </a:txBody>
                  <a:tcPr marL="64008" marR="64008" marT="27432" marB="27432" anchor="ctr">
                    <a:solidFill>
                      <a:srgbClr val="FFFFFF"/>
                    </a:solidFill>
                  </a:tcPr>
                </a:tc>
                <a:tc>
                  <a:txBody>
                    <a:bodyPr/>
                    <a:lstStyle/>
                    <a:p>
                      <a:r>
                        <a:rPr sz="1400">
                          <a:solidFill>
                            <a:srgbClr val="545454"/>
                          </a:solidFill>
                          <a:latin typeface="Arial"/>
                          <a:ea typeface="Arial"/>
                          <a:cs typeface="Arial"/>
                        </a:rPr>
                        <a:t>データ転送オブジェクト（DTO）、識別子、既定値を二つのプロセスで共有する</a:t>
                      </a:r>
                    </a:p>
                  </a:txBody>
                  <a:tcPr marL="64008" marR="64008" marT="27432" marB="27432" anchor="ctr">
                    <a:solidFill>
                      <a:srgbClr val="FFFFFF"/>
                    </a:solidFill>
                  </a:tcPr>
                </a:tc>
                <a:tc>
                  <a:txBody>
                    <a:bodyPr/>
                    <a:lstStyle/>
                    <a:p>
                      <a:r>
                        <a:rPr sz="1400">
                          <a:solidFill>
                            <a:srgbClr val="545454"/>
                          </a:solidFill>
                          <a:latin typeface="Arial"/>
                          <a:ea typeface="Arial"/>
                          <a:cs typeface="Arial"/>
                        </a:rPr>
                        <a:t>通信定義の重複を防ぐ</a:t>
                      </a:r>
                    </a:p>
                  </a:txBody>
                  <a:tcPr marL="64008" marR="64008" marT="27432" marB="27432" anchor="ctr">
                    <a:solidFill>
                      <a:srgbClr val="FFFFFF"/>
                    </a:solidFill>
                  </a:tcPr>
                </a:tc>
                <a:extLst>
                  <a:ext uri="{0D108BD9-81ED-4DB2-BD59-A6C34878D82A}">
                    <a16:rowId xmlns:a16="http://schemas.microsoft.com/office/drawing/2014/main" val="10003"/>
                  </a:ext>
                </a:extLst>
              </a:tr>
              <a:tr h="365760">
                <a:tc>
                  <a:txBody>
                    <a:bodyPr/>
                    <a:lstStyle/>
                    <a:p>
                      <a:r>
                        <a:rPr sz="1400">
                          <a:solidFill>
                            <a:srgbClr val="545454"/>
                          </a:solidFill>
                          <a:latin typeface="Arial"/>
                          <a:ea typeface="Arial"/>
                          <a:cs typeface="Arial"/>
                        </a:rPr>
                        <a:t>機器別キュー</a:t>
                      </a:r>
                    </a:p>
                  </a:txBody>
                  <a:tcPr marL="64008" marR="64008" marT="27432" marB="27432" anchor="ctr">
                    <a:solidFill>
                      <a:srgbClr val="F7F7F7"/>
                    </a:solidFill>
                  </a:tcPr>
                </a:tc>
                <a:tc>
                  <a:txBody>
                    <a:bodyPr/>
                    <a:lstStyle/>
                    <a:p>
                      <a:r>
                        <a:rPr sz="1400">
                          <a:solidFill>
                            <a:srgbClr val="545454"/>
                          </a:solidFill>
                          <a:latin typeface="Arial"/>
                          <a:ea typeface="Arial"/>
                          <a:cs typeface="Arial"/>
                        </a:rPr>
                        <a:t>同一機器の順序を保ち、異なる機器は個別に処理する</a:t>
                      </a:r>
                    </a:p>
                  </a:txBody>
                  <a:tcPr marL="64008" marR="64008" marT="27432" marB="27432" anchor="ctr">
                    <a:solidFill>
                      <a:srgbClr val="F7F7F7"/>
                    </a:solidFill>
                  </a:tcPr>
                </a:tc>
                <a:tc>
                  <a:txBody>
                    <a:bodyPr/>
                    <a:lstStyle/>
                    <a:p>
                      <a:r>
                        <a:rPr sz="1400">
                          <a:solidFill>
                            <a:srgbClr val="545454"/>
                          </a:solidFill>
                          <a:latin typeface="Arial"/>
                          <a:ea typeface="Arial"/>
                          <a:cs typeface="Arial"/>
                        </a:rPr>
                        <a:t>一つの機器が別の機器を待たせない</a:t>
                      </a:r>
                    </a:p>
                  </a:txBody>
                  <a:tcPr marL="64008" marR="64008" marT="27432" marB="27432" anchor="ctr">
                    <a:solidFill>
                      <a:srgbClr val="F7F7F7"/>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A4A695A-FBFF-4B2B-A85E-0235EB439C19}"/>
              </a:ext>
            </a:extLst>
          </p:cNvPr>
          <p:cNvSpPr>
            <a:spLocks noGrp="1"/>
          </p:cNvSpPr>
          <p:nvPr/>
        </p:nvSpPr>
        <p:spPr>
          <a:xfrm>
            <a:off x="594360" y="457200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設計原則</a:t>
            </a:r>
          </a:p>
        </p:txBody>
      </p:sp>
      <p:sp>
        <p:nvSpPr>
          <p:cNvPr id="6" name="TextBox 5">
            <a:extLst>
              <a:ext uri="{FF2B5EF4-FFF2-40B4-BE49-F238E27FC236}">
                <a16:creationId xmlns:a16="http://schemas.microsoft.com/office/drawing/2014/main" id="{F769A2B3-AAF5-40A3-AE44-396C738D4FBF}"/>
              </a:ext>
            </a:extLst>
          </p:cNvPr>
          <p:cNvSpPr>
            <a:spLocks noGrp="1"/>
          </p:cNvSpPr>
          <p:nvPr/>
        </p:nvSpPr>
        <p:spPr>
          <a:xfrm>
            <a:off x="685800" y="504748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要求送信前だけ再接続を試行します。</a:t>
            </a:r>
          </a:p>
          <a:p>
            <a:pPr>
              <a:spcAft>
                <a:spcPts val="500"/>
              </a:spcAft>
              <a:buNone/>
            </a:pPr>
            <a:r>
              <a:rPr sz="1700">
                <a:solidFill>
                  <a:srgbClr val="545454"/>
                </a:solidFill>
                <a:latin typeface="Arial"/>
                <a:ea typeface="Arial"/>
                <a:cs typeface="Arial"/>
              </a:rPr>
              <a:t>•  送信後に結果が不明な要求は自動再送しません。</a:t>
            </a:r>
          </a:p>
          <a:p>
            <a:pPr>
              <a:spcAft>
                <a:spcPts val="500"/>
              </a:spcAft>
              <a:buNone/>
            </a:pPr>
            <a:r>
              <a:rPr sz="1700">
                <a:solidFill>
                  <a:srgbClr val="545454"/>
                </a:solidFill>
                <a:latin typeface="Arial"/>
                <a:ea typeface="Arial"/>
                <a:cs typeface="Arial"/>
              </a:rPr>
              <a:t>•  イベント用パイプをコマンドの同期応答の代わりに使用しません。</a:t>
            </a:r>
          </a:p>
        </p:txBody>
      </p:sp>
      <p:sp>
        <p:nvSpPr>
          <p:cNvPr id="7" name="TextBox 6">
            <a:extLst>
              <a:ext uri="{FF2B5EF4-FFF2-40B4-BE49-F238E27FC236}">
                <a16:creationId xmlns:a16="http://schemas.microsoft.com/office/drawing/2014/main" id="{012443A4-7AB6-451E-A218-67301D468369}"/>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ARCH-HOST-01 2.3、6.2.3、7.3、7.5、8.1</a:t>
            </a:r>
          </a:p>
        </p:txBody>
      </p:sp>
    </p:spTree>
    <p:extLst>
      <p:ext uri="{BB962C8B-B14F-4D97-AF65-F5344CB8AC3E}">
        <p14:creationId xmlns:p14="http://schemas.microsoft.com/office/powerpoint/2010/main" val="14836235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A0A7C1-87FD-4684-B3D4-E7C93E546F2C}"/>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デバイスコネクタの起動・停止・復旧</a:t>
            </a:r>
          </a:p>
        </p:txBody>
      </p:sp>
      <p:sp>
        <p:nvSpPr>
          <p:cNvPr id="3" name="Rounded Rectangle 2">
            <a:extLst>
              <a:ext uri="{FF2B5EF4-FFF2-40B4-BE49-F238E27FC236}">
                <a16:creationId xmlns:a16="http://schemas.microsoft.com/office/drawing/2014/main" id="{C6A5BBFD-D88C-4F0B-9422-81DFD50EA42B}"/>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端末アプリが起動したデバイスコネクタだけを管理し、正常終了と異常復旧のどちらでも不要な接続と使用権を残しません。</a:t>
            </a:r>
          </a:p>
        </p:txBody>
      </p:sp>
      <p:sp>
        <p:nvSpPr>
          <p:cNvPr id="4" name="TextBox 3">
            <a:extLst>
              <a:ext uri="{FF2B5EF4-FFF2-40B4-BE49-F238E27FC236}">
                <a16:creationId xmlns:a16="http://schemas.microsoft.com/office/drawing/2014/main" id="{62606557-E05E-484E-9BD2-C8AEC2CE3F93}"/>
              </a:ext>
            </a:extLst>
          </p:cNvPr>
          <p:cNvSpPr>
            <a:spLocks noGrp="1"/>
          </p:cNvSpPr>
          <p:nvPr/>
        </p:nvSpPr>
        <p:spPr>
          <a:xfrm>
            <a:off x="594360" y="2926080"/>
            <a:ext cx="6766560" cy="365760"/>
          </a:xfrm>
          <a:prstGeom prst="rect">
            <a:avLst/>
          </a:prstGeom>
          <a:noFill/>
        </p:spPr>
        <p:txBody>
          <a:bodyPr wrap="square" lIns="45720" tIns="0" rIns="45720" bIns="0" anchor="t">
            <a:spAutoFit/>
          </a:bodyPr>
          <a:lstStyle/>
          <a:p>
            <a:pPr algn="l">
              <a:spcAft>
                <a:spcPts val="600"/>
              </a:spcAft>
              <a:buNone/>
            </a:pPr>
            <a:r>
              <a:rPr sz="1800" b="1">
                <a:solidFill>
                  <a:srgbClr val="333333"/>
                </a:solidFill>
                <a:latin typeface="Arial"/>
                <a:ea typeface="Arial"/>
                <a:cs typeface="Arial"/>
              </a:rPr>
              <a:t>起動</a:t>
            </a:r>
          </a:p>
        </p:txBody>
      </p:sp>
      <p:sp>
        <p:nvSpPr>
          <p:cNvPr id="5" name="TextBox 4">
            <a:extLst>
              <a:ext uri="{FF2B5EF4-FFF2-40B4-BE49-F238E27FC236}">
                <a16:creationId xmlns:a16="http://schemas.microsoft.com/office/drawing/2014/main" id="{6968D5A3-28F9-4ABF-97F4-7E0CE8D0057F}"/>
              </a:ext>
            </a:extLst>
          </p:cNvPr>
          <p:cNvSpPr>
            <a:spLocks noGrp="1"/>
          </p:cNvSpPr>
          <p:nvPr/>
        </p:nvSpPr>
        <p:spPr>
          <a:xfrm>
            <a:off x="685800" y="3401568"/>
            <a:ext cx="6675120" cy="365760"/>
          </a:xfrm>
          <a:prstGeom prst="rect">
            <a:avLst/>
          </a:prstGeom>
          <a:noFill/>
        </p:spPr>
        <p:txBody>
          <a:bodyPr wrap="square" lIns="0" tIns="0" rIns="0" bIns="0">
            <a:spAutoFit/>
          </a:bodyPr>
          <a:lstStyle/>
          <a:p>
            <a:pPr>
              <a:spcAft>
                <a:spcPts val="500"/>
              </a:spcAft>
              <a:buNone/>
            </a:pPr>
            <a:r>
              <a:rPr sz="1500">
                <a:solidFill>
                  <a:srgbClr val="545454"/>
                </a:solidFill>
                <a:latin typeface="Arial"/>
                <a:ea typeface="Arial"/>
                <a:cs typeface="Arial"/>
              </a:rPr>
              <a:t>•  DeviceCtrl設定を読み込み、デバイスコネクタが未起動の場合だけ起動します。</a:t>
            </a:r>
          </a:p>
          <a:p>
            <a:pPr>
              <a:spcAft>
                <a:spcPts val="500"/>
              </a:spcAft>
              <a:buNone/>
            </a:pPr>
            <a:r>
              <a:rPr sz="1500">
                <a:solidFill>
                  <a:srgbClr val="545454"/>
                </a:solidFill>
                <a:latin typeface="Arial"/>
                <a:ea typeface="Arial"/>
                <a:cs typeface="Arial"/>
              </a:rPr>
              <a:t>•  ミューテックス（Mutex）で同じデバイスコネクタの重複起動を防止します。</a:t>
            </a:r>
          </a:p>
          <a:p>
            <a:pPr>
              <a:spcAft>
                <a:spcPts val="500"/>
              </a:spcAft>
              <a:buNone/>
            </a:pPr>
            <a:r>
              <a:rPr sz="1500">
                <a:solidFill>
                  <a:srgbClr val="545454"/>
                </a:solidFill>
                <a:latin typeface="Arial"/>
                <a:ea typeface="Arial"/>
                <a:cs typeface="Arial"/>
              </a:rPr>
              <a:t>•  準備完了を確認してから、イベント受信と機器操作を開始します。</a:t>
            </a:r>
          </a:p>
        </p:txBody>
      </p:sp>
      <p:sp>
        <p:nvSpPr>
          <p:cNvPr id="6" name="TextBox 5">
            <a:extLst>
              <a:ext uri="{FF2B5EF4-FFF2-40B4-BE49-F238E27FC236}">
                <a16:creationId xmlns:a16="http://schemas.microsoft.com/office/drawing/2014/main" id="{86E0E7F1-FEEA-430C-BB3D-C214CF8564C8}"/>
              </a:ext>
            </a:extLst>
          </p:cNvPr>
          <p:cNvSpPr>
            <a:spLocks noGrp="1"/>
          </p:cNvSpPr>
          <p:nvPr/>
        </p:nvSpPr>
        <p:spPr>
          <a:xfrm>
            <a:off x="594360" y="5084064"/>
            <a:ext cx="6766560" cy="365760"/>
          </a:xfrm>
          <a:prstGeom prst="rect">
            <a:avLst/>
          </a:prstGeom>
          <a:noFill/>
        </p:spPr>
        <p:txBody>
          <a:bodyPr wrap="square" lIns="45720" tIns="0" rIns="45720" bIns="0" anchor="t">
            <a:spAutoFit/>
          </a:bodyPr>
          <a:lstStyle/>
          <a:p>
            <a:pPr algn="l">
              <a:spcAft>
                <a:spcPts val="600"/>
              </a:spcAft>
              <a:buNone/>
            </a:pPr>
            <a:r>
              <a:rPr sz="1800" b="1">
                <a:solidFill>
                  <a:srgbClr val="333333"/>
                </a:solidFill>
                <a:latin typeface="Arial"/>
                <a:ea typeface="Arial"/>
                <a:cs typeface="Arial"/>
              </a:rPr>
              <a:t>運用と復旧</a:t>
            </a:r>
          </a:p>
        </p:txBody>
      </p:sp>
      <p:sp>
        <p:nvSpPr>
          <p:cNvPr id="7" name="TextBox 6">
            <a:extLst>
              <a:ext uri="{FF2B5EF4-FFF2-40B4-BE49-F238E27FC236}">
                <a16:creationId xmlns:a16="http://schemas.microsoft.com/office/drawing/2014/main" id="{0ECFE4D5-A1BC-458E-8CD2-1BEA427123E6}"/>
              </a:ext>
            </a:extLst>
          </p:cNvPr>
          <p:cNvSpPr>
            <a:spLocks noGrp="1"/>
          </p:cNvSpPr>
          <p:nvPr/>
        </p:nvSpPr>
        <p:spPr>
          <a:xfrm>
            <a:off x="685800" y="5559552"/>
            <a:ext cx="6675120" cy="365760"/>
          </a:xfrm>
          <a:prstGeom prst="rect">
            <a:avLst/>
          </a:prstGeom>
          <a:noFill/>
        </p:spPr>
        <p:txBody>
          <a:bodyPr wrap="square" lIns="0" tIns="0" rIns="0" bIns="0">
            <a:spAutoFit/>
          </a:bodyPr>
          <a:lstStyle/>
          <a:p>
            <a:pPr>
              <a:spcAft>
                <a:spcPts val="500"/>
              </a:spcAft>
              <a:buNone/>
            </a:pPr>
            <a:r>
              <a:rPr sz="1500">
                <a:solidFill>
                  <a:srgbClr val="545454"/>
                </a:solidFill>
                <a:latin typeface="Arial"/>
                <a:ea typeface="Arial"/>
                <a:cs typeface="Arial"/>
              </a:rPr>
              <a:t>•  イベント用パイプが切断された場合は、一定時間待機してから再接続します。</a:t>
            </a:r>
          </a:p>
          <a:p>
            <a:pPr>
              <a:spcAft>
                <a:spcPts val="500"/>
              </a:spcAft>
              <a:buNone/>
            </a:pPr>
            <a:r>
              <a:rPr sz="1500">
                <a:solidFill>
                  <a:srgbClr val="545454"/>
                </a:solidFill>
                <a:latin typeface="Arial"/>
                <a:ea typeface="Arial"/>
                <a:cs typeface="Arial"/>
              </a:rPr>
              <a:t>•  要求送信後に結果が不明な場合は自動再送せず、機器または取引の状態を確認します。</a:t>
            </a:r>
          </a:p>
          <a:p>
            <a:pPr>
              <a:spcAft>
                <a:spcPts val="500"/>
              </a:spcAft>
              <a:buNone/>
            </a:pPr>
            <a:r>
              <a:rPr sz="1500">
                <a:solidFill>
                  <a:srgbClr val="545454"/>
                </a:solidFill>
                <a:latin typeface="Arial"/>
                <a:ea typeface="Arial"/>
                <a:cs typeface="Arial"/>
              </a:rPr>
              <a:t>•  端末アプリまたは通信が異常終了した場合は、一定時間の無通信を検知して機器の使用権を解放します。</a:t>
            </a:r>
          </a:p>
        </p:txBody>
      </p:sp>
      <p:sp>
        <p:nvSpPr>
          <p:cNvPr id="8" name="TextBox 7">
            <a:extLst>
              <a:ext uri="{FF2B5EF4-FFF2-40B4-BE49-F238E27FC236}">
                <a16:creationId xmlns:a16="http://schemas.microsoft.com/office/drawing/2014/main" id="{BFDCC187-2D12-44E6-9455-BC8B88F530DC}"/>
              </a:ext>
            </a:extLst>
          </p:cNvPr>
          <p:cNvSpPr>
            <a:spLocks noGrp="1"/>
          </p:cNvSpPr>
          <p:nvPr/>
        </p:nvSpPr>
        <p:spPr>
          <a:xfrm>
            <a:off x="594360" y="7534656"/>
            <a:ext cx="6766560" cy="365760"/>
          </a:xfrm>
          <a:prstGeom prst="rect">
            <a:avLst/>
          </a:prstGeom>
          <a:noFill/>
        </p:spPr>
        <p:txBody>
          <a:bodyPr wrap="square" lIns="45720" tIns="0" rIns="45720" bIns="0" anchor="t">
            <a:spAutoFit/>
          </a:bodyPr>
          <a:lstStyle/>
          <a:p>
            <a:pPr algn="l">
              <a:spcAft>
                <a:spcPts val="600"/>
              </a:spcAft>
              <a:buNone/>
            </a:pPr>
            <a:r>
              <a:rPr sz="1800" b="1">
                <a:solidFill>
                  <a:srgbClr val="333333"/>
                </a:solidFill>
                <a:latin typeface="Arial"/>
                <a:ea typeface="Arial"/>
                <a:cs typeface="Arial"/>
              </a:rPr>
              <a:t>停止</a:t>
            </a:r>
          </a:p>
        </p:txBody>
      </p:sp>
      <p:sp>
        <p:nvSpPr>
          <p:cNvPr id="9" name="TextBox 8">
            <a:extLst>
              <a:ext uri="{FF2B5EF4-FFF2-40B4-BE49-F238E27FC236}">
                <a16:creationId xmlns:a16="http://schemas.microsoft.com/office/drawing/2014/main" id="{517FD5E9-CA29-42B4-B5E3-EA27715F430B}"/>
              </a:ext>
            </a:extLst>
          </p:cNvPr>
          <p:cNvSpPr>
            <a:spLocks noGrp="1"/>
          </p:cNvSpPr>
          <p:nvPr/>
        </p:nvSpPr>
        <p:spPr>
          <a:xfrm>
            <a:off x="685800" y="8010144"/>
            <a:ext cx="6675120" cy="365760"/>
          </a:xfrm>
          <a:prstGeom prst="rect">
            <a:avLst/>
          </a:prstGeom>
          <a:noFill/>
        </p:spPr>
        <p:txBody>
          <a:bodyPr wrap="square" lIns="0" tIns="0" rIns="0" bIns="0">
            <a:spAutoFit/>
          </a:bodyPr>
          <a:lstStyle/>
          <a:p>
            <a:pPr>
              <a:spcAft>
                <a:spcPts val="500"/>
              </a:spcAft>
              <a:buNone/>
            </a:pPr>
            <a:r>
              <a:rPr sz="1500">
                <a:solidFill>
                  <a:srgbClr val="545454"/>
                </a:solidFill>
                <a:latin typeface="Arial"/>
                <a:ea typeface="Arial"/>
                <a:cs typeface="Arial"/>
              </a:rPr>
              <a:t>•  イベント受信を停止してから、デバイスコネクタへ停止を要求します。</a:t>
            </a:r>
          </a:p>
          <a:p>
            <a:pPr>
              <a:spcAft>
                <a:spcPts val="500"/>
              </a:spcAft>
              <a:buNone/>
            </a:pPr>
            <a:r>
              <a:rPr sz="1500">
                <a:solidFill>
                  <a:srgbClr val="545454"/>
                </a:solidFill>
                <a:latin typeface="Arial"/>
                <a:ea typeface="Arial"/>
                <a:cs typeface="Arial"/>
              </a:rPr>
              <a:t>•  デバイスコネクタは通信経路と機器接続を順に終了します。</a:t>
            </a:r>
          </a:p>
          <a:p>
            <a:pPr>
              <a:spcAft>
                <a:spcPts val="500"/>
              </a:spcAft>
              <a:buNone/>
            </a:pPr>
            <a:r>
              <a:rPr sz="1500">
                <a:solidFill>
                  <a:srgbClr val="545454"/>
                </a:solidFill>
                <a:latin typeface="Arial"/>
                <a:ea typeface="Arial"/>
                <a:cs typeface="Arial"/>
              </a:rPr>
              <a:t>•  端末アプリが起動していないデバイスコネクタは停止しません。</a:t>
            </a:r>
          </a:p>
        </p:txBody>
      </p:sp>
      <p:sp>
        <p:nvSpPr>
          <p:cNvPr id="10" name="Rounded Rectangle 9">
            <a:extLst>
              <a:ext uri="{FF2B5EF4-FFF2-40B4-BE49-F238E27FC236}">
                <a16:creationId xmlns:a16="http://schemas.microsoft.com/office/drawing/2014/main" id="{9A9EF58C-899F-4C69-A433-8280E7DD532D}"/>
              </a:ext>
            </a:extLst>
          </p:cNvPr>
          <p:cNvSpPr>
            <a:spLocks noGrp="1"/>
          </p:cNvSpPr>
          <p:nvPr/>
        </p:nvSpPr>
        <p:spPr>
          <a:xfrm>
            <a:off x="7955279" y="2926080"/>
            <a:ext cx="3078480" cy="4754880"/>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0FBDBB6-950D-4BF7-B724-7B8A263A94E3}"/>
              </a:ext>
            </a:extLst>
          </p:cNvPr>
          <p:cNvSpPr>
            <a:spLocks noGrp="1"/>
          </p:cNvSpPr>
          <p:nvPr/>
        </p:nvSpPr>
        <p:spPr>
          <a:xfrm>
            <a:off x="8065007" y="2999232"/>
            <a:ext cx="2859024"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起動</a:t>
            </a:r>
          </a:p>
        </p:txBody>
      </p:sp>
      <p:sp>
        <p:nvSpPr>
          <p:cNvPr id="12" name="Rounded Rectangle 11">
            <a:extLst>
              <a:ext uri="{FF2B5EF4-FFF2-40B4-BE49-F238E27FC236}">
                <a16:creationId xmlns:a16="http://schemas.microsoft.com/office/drawing/2014/main" id="{20873D70-5281-4520-8752-55D24D7031A4}"/>
              </a:ext>
            </a:extLst>
          </p:cNvPr>
          <p:cNvSpPr>
            <a:spLocks noGrp="1"/>
          </p:cNvSpPr>
          <p:nvPr/>
        </p:nvSpPr>
        <p:spPr>
          <a:xfrm>
            <a:off x="8119871" y="3383280"/>
            <a:ext cx="2749296" cy="8686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DeviceCtrl設定の読込</a:t>
            </a:r>
          </a:p>
        </p:txBody>
      </p:sp>
      <p:sp>
        <p:nvSpPr>
          <p:cNvPr id="13" name="Rounded Rectangle 12">
            <a:extLst>
              <a:ext uri="{FF2B5EF4-FFF2-40B4-BE49-F238E27FC236}">
                <a16:creationId xmlns:a16="http://schemas.microsoft.com/office/drawing/2014/main" id="{F42F2606-39DE-4573-956B-0B72EDCF33BD}"/>
              </a:ext>
            </a:extLst>
          </p:cNvPr>
          <p:cNvSpPr>
            <a:spLocks noGrp="1"/>
          </p:cNvSpPr>
          <p:nvPr/>
        </p:nvSpPr>
        <p:spPr>
          <a:xfrm>
            <a:off x="8119871" y="4480560"/>
            <a:ext cx="2749296" cy="8686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未起動時のみ起動</a:t>
            </a:r>
          </a:p>
          <a:p>
            <a:pPr algn="ctr">
              <a:buNone/>
            </a:pPr>
            <a:r>
              <a:rPr sz="1000" b="0">
                <a:solidFill>
                  <a:srgbClr val="333333"/>
                </a:solidFill>
                <a:latin typeface="Arial"/>
                <a:ea typeface="Arial"/>
                <a:cs typeface="Arial"/>
              </a:rPr>
              <a:t>Mutexで重複起動を防止</a:t>
            </a:r>
          </a:p>
        </p:txBody>
      </p:sp>
      <p:sp>
        <p:nvSpPr>
          <p:cNvPr id="14" name="Connector 13">
            <a:extLst>
              <a:ext uri="{FF2B5EF4-FFF2-40B4-BE49-F238E27FC236}">
                <a16:creationId xmlns:a16="http://schemas.microsoft.com/office/drawing/2014/main" id="{65FB2140-94BC-45D4-AF6C-62ADA8A407EA}"/>
              </a:ext>
            </a:extLst>
          </p:cNvPr>
          <p:cNvSpPr>
            <a:spLocks noGrp="1"/>
          </p:cNvSpPr>
          <p:nvPr/>
        </p:nvSpPr>
        <p:spPr>
          <a:xfrm>
            <a:off x="9494520" y="4251960"/>
            <a:ext cx="0" cy="2286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15" name="Rounded Rectangle 14">
            <a:extLst>
              <a:ext uri="{FF2B5EF4-FFF2-40B4-BE49-F238E27FC236}">
                <a16:creationId xmlns:a16="http://schemas.microsoft.com/office/drawing/2014/main" id="{24C933D0-BBB4-42D6-A571-B38D871C26DE}"/>
              </a:ext>
            </a:extLst>
          </p:cNvPr>
          <p:cNvSpPr>
            <a:spLocks noGrp="1"/>
          </p:cNvSpPr>
          <p:nvPr/>
        </p:nvSpPr>
        <p:spPr>
          <a:xfrm>
            <a:off x="8119871" y="5577840"/>
            <a:ext cx="2749296" cy="8686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準備完了の確認</a:t>
            </a:r>
          </a:p>
        </p:txBody>
      </p:sp>
      <p:sp>
        <p:nvSpPr>
          <p:cNvPr id="16" name="Connector 15">
            <a:extLst>
              <a:ext uri="{FF2B5EF4-FFF2-40B4-BE49-F238E27FC236}">
                <a16:creationId xmlns:a16="http://schemas.microsoft.com/office/drawing/2014/main" id="{4D74D9A7-E845-4557-A7D0-C784DBBCCEA2}"/>
              </a:ext>
            </a:extLst>
          </p:cNvPr>
          <p:cNvSpPr>
            <a:spLocks noGrp="1"/>
          </p:cNvSpPr>
          <p:nvPr/>
        </p:nvSpPr>
        <p:spPr>
          <a:xfrm>
            <a:off x="9494520" y="5349240"/>
            <a:ext cx="0" cy="2286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17" name="Rounded Rectangle 16">
            <a:extLst>
              <a:ext uri="{FF2B5EF4-FFF2-40B4-BE49-F238E27FC236}">
                <a16:creationId xmlns:a16="http://schemas.microsoft.com/office/drawing/2014/main" id="{34081598-7474-46F8-94E4-E25BB3AA64DB}"/>
              </a:ext>
            </a:extLst>
          </p:cNvPr>
          <p:cNvSpPr>
            <a:spLocks noGrp="1"/>
          </p:cNvSpPr>
          <p:nvPr/>
        </p:nvSpPr>
        <p:spPr>
          <a:xfrm>
            <a:off x="8119871" y="6675120"/>
            <a:ext cx="2749296" cy="8686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イベント受信と機器操作の開始</a:t>
            </a:r>
          </a:p>
        </p:txBody>
      </p:sp>
      <p:sp>
        <p:nvSpPr>
          <p:cNvPr id="18" name="Connector 17">
            <a:extLst>
              <a:ext uri="{FF2B5EF4-FFF2-40B4-BE49-F238E27FC236}">
                <a16:creationId xmlns:a16="http://schemas.microsoft.com/office/drawing/2014/main" id="{785FFF49-077A-4EF1-98DE-FC031D234179}"/>
              </a:ext>
            </a:extLst>
          </p:cNvPr>
          <p:cNvSpPr>
            <a:spLocks noGrp="1"/>
          </p:cNvSpPr>
          <p:nvPr/>
        </p:nvSpPr>
        <p:spPr>
          <a:xfrm>
            <a:off x="9494520" y="6446520"/>
            <a:ext cx="0" cy="2286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19" name="Rounded Rectangle 18">
            <a:extLst>
              <a:ext uri="{FF2B5EF4-FFF2-40B4-BE49-F238E27FC236}">
                <a16:creationId xmlns:a16="http://schemas.microsoft.com/office/drawing/2014/main" id="{E5B4AA3B-FDFF-48DB-AABE-6545296F588C}"/>
              </a:ext>
            </a:extLst>
          </p:cNvPr>
          <p:cNvSpPr>
            <a:spLocks noGrp="1"/>
          </p:cNvSpPr>
          <p:nvPr/>
        </p:nvSpPr>
        <p:spPr>
          <a:xfrm>
            <a:off x="11399519" y="2926080"/>
            <a:ext cx="3078480" cy="4754880"/>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AB144378-A095-47FB-B7A8-BD1921B4A2E1}"/>
              </a:ext>
            </a:extLst>
          </p:cNvPr>
          <p:cNvSpPr>
            <a:spLocks noGrp="1"/>
          </p:cNvSpPr>
          <p:nvPr/>
        </p:nvSpPr>
        <p:spPr>
          <a:xfrm>
            <a:off x="11509247" y="2999232"/>
            <a:ext cx="2859024"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運用と復旧</a:t>
            </a:r>
          </a:p>
        </p:txBody>
      </p:sp>
      <p:sp>
        <p:nvSpPr>
          <p:cNvPr id="21" name="Rounded Rectangle 20">
            <a:extLst>
              <a:ext uri="{FF2B5EF4-FFF2-40B4-BE49-F238E27FC236}">
                <a16:creationId xmlns:a16="http://schemas.microsoft.com/office/drawing/2014/main" id="{64C7CE9C-60F1-48DE-9BCE-A1B8B2D19460}"/>
              </a:ext>
            </a:extLst>
          </p:cNvPr>
          <p:cNvSpPr>
            <a:spLocks noGrp="1"/>
          </p:cNvSpPr>
          <p:nvPr/>
        </p:nvSpPr>
        <p:spPr>
          <a:xfrm>
            <a:off x="11564111" y="3383280"/>
            <a:ext cx="2749296" cy="868680"/>
          </a:xfrm>
          <a:prstGeom prst="roundRect">
            <a:avLst>
              <a:gd name="adj" fmla="val 8000"/>
            </a:avLst>
          </a:prstGeom>
          <a:solidFill>
            <a:srgbClr val="E2F0D9"/>
          </a:solidFill>
          <a:ln w="15875">
            <a:solidFill>
              <a:srgbClr val="70AD47"/>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要求送信と応答受信</a:t>
            </a:r>
          </a:p>
        </p:txBody>
      </p:sp>
      <p:sp>
        <p:nvSpPr>
          <p:cNvPr id="22" name="Rounded Rectangle 21">
            <a:extLst>
              <a:ext uri="{FF2B5EF4-FFF2-40B4-BE49-F238E27FC236}">
                <a16:creationId xmlns:a16="http://schemas.microsoft.com/office/drawing/2014/main" id="{D58FA6C1-DB85-44D8-BFF5-D5842B2E449C}"/>
              </a:ext>
            </a:extLst>
          </p:cNvPr>
          <p:cNvSpPr>
            <a:spLocks noGrp="1"/>
          </p:cNvSpPr>
          <p:nvPr/>
        </p:nvSpPr>
        <p:spPr>
          <a:xfrm>
            <a:off x="11564111" y="4480560"/>
            <a:ext cx="2749296" cy="868680"/>
          </a:xfrm>
          <a:prstGeom prst="roundRect">
            <a:avLst>
              <a:gd name="adj" fmla="val 8000"/>
            </a:avLst>
          </a:prstGeom>
          <a:solidFill>
            <a:srgbClr val="E2F0D9"/>
          </a:solidFill>
          <a:ln w="15875">
            <a:solidFill>
              <a:srgbClr val="70AD47"/>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イベントの独立受信</a:t>
            </a:r>
          </a:p>
        </p:txBody>
      </p:sp>
      <p:sp>
        <p:nvSpPr>
          <p:cNvPr id="23" name="Connector 22">
            <a:extLst>
              <a:ext uri="{FF2B5EF4-FFF2-40B4-BE49-F238E27FC236}">
                <a16:creationId xmlns:a16="http://schemas.microsoft.com/office/drawing/2014/main" id="{B5278909-0B55-4936-8A58-28E138455E40}"/>
              </a:ext>
            </a:extLst>
          </p:cNvPr>
          <p:cNvSpPr>
            <a:spLocks noGrp="1"/>
          </p:cNvSpPr>
          <p:nvPr/>
        </p:nvSpPr>
        <p:spPr>
          <a:xfrm>
            <a:off x="12938759" y="4251960"/>
            <a:ext cx="0" cy="2286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4" name="Rounded Rectangle 23">
            <a:extLst>
              <a:ext uri="{FF2B5EF4-FFF2-40B4-BE49-F238E27FC236}">
                <a16:creationId xmlns:a16="http://schemas.microsoft.com/office/drawing/2014/main" id="{F306EC2E-438C-4D27-A95E-A9DD8122FCBC}"/>
              </a:ext>
            </a:extLst>
          </p:cNvPr>
          <p:cNvSpPr>
            <a:spLocks noGrp="1"/>
          </p:cNvSpPr>
          <p:nvPr/>
        </p:nvSpPr>
        <p:spPr>
          <a:xfrm>
            <a:off x="11564111" y="5577840"/>
            <a:ext cx="2749296" cy="868680"/>
          </a:xfrm>
          <a:prstGeom prst="roundRect">
            <a:avLst>
              <a:gd name="adj" fmla="val 8000"/>
            </a:avLst>
          </a:prstGeom>
          <a:solidFill>
            <a:srgbClr val="F4CCCC"/>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パイプ切断</a:t>
            </a:r>
          </a:p>
          <a:p>
            <a:pPr algn="ctr">
              <a:buNone/>
            </a:pPr>
            <a:r>
              <a:rPr sz="1000" b="0">
                <a:solidFill>
                  <a:srgbClr val="333333"/>
                </a:solidFill>
                <a:latin typeface="Arial"/>
                <a:ea typeface="Arial"/>
                <a:cs typeface="Arial"/>
              </a:rPr>
              <a:t>待機後に再接続</a:t>
            </a:r>
          </a:p>
        </p:txBody>
      </p:sp>
      <p:sp>
        <p:nvSpPr>
          <p:cNvPr id="25" name="Connector 24">
            <a:extLst>
              <a:ext uri="{FF2B5EF4-FFF2-40B4-BE49-F238E27FC236}">
                <a16:creationId xmlns:a16="http://schemas.microsoft.com/office/drawing/2014/main" id="{565E7423-BEB0-4E13-BFC4-319FADA2872B}"/>
              </a:ext>
            </a:extLst>
          </p:cNvPr>
          <p:cNvSpPr>
            <a:spLocks noGrp="1"/>
          </p:cNvSpPr>
          <p:nvPr/>
        </p:nvSpPr>
        <p:spPr>
          <a:xfrm>
            <a:off x="12938759" y="5349240"/>
            <a:ext cx="0" cy="2286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6" name="Rounded Rectangle 25">
            <a:extLst>
              <a:ext uri="{FF2B5EF4-FFF2-40B4-BE49-F238E27FC236}">
                <a16:creationId xmlns:a16="http://schemas.microsoft.com/office/drawing/2014/main" id="{238A497A-4E1F-4D72-80A5-5931090209FC}"/>
              </a:ext>
            </a:extLst>
          </p:cNvPr>
          <p:cNvSpPr>
            <a:spLocks noGrp="1"/>
          </p:cNvSpPr>
          <p:nvPr/>
        </p:nvSpPr>
        <p:spPr>
          <a:xfrm>
            <a:off x="11564111" y="6675120"/>
            <a:ext cx="2749296" cy="868680"/>
          </a:xfrm>
          <a:prstGeom prst="roundRect">
            <a:avLst>
              <a:gd name="adj" fmla="val 8000"/>
            </a:avLst>
          </a:prstGeom>
          <a:solidFill>
            <a:srgbClr val="F4CCCC"/>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結果が不明</a:t>
            </a:r>
          </a:p>
          <a:p>
            <a:pPr algn="ctr">
              <a:buNone/>
            </a:pPr>
            <a:r>
              <a:rPr sz="1000" b="0">
                <a:solidFill>
                  <a:srgbClr val="333333"/>
                </a:solidFill>
                <a:latin typeface="Arial"/>
                <a:ea typeface="Arial"/>
                <a:cs typeface="Arial"/>
              </a:rPr>
              <a:t>状態確認で確定</a:t>
            </a:r>
          </a:p>
        </p:txBody>
      </p:sp>
      <p:sp>
        <p:nvSpPr>
          <p:cNvPr id="27" name="Connector 26">
            <a:extLst>
              <a:ext uri="{FF2B5EF4-FFF2-40B4-BE49-F238E27FC236}">
                <a16:creationId xmlns:a16="http://schemas.microsoft.com/office/drawing/2014/main" id="{104E2C7F-44D8-417A-8049-DC639CEA8875}"/>
              </a:ext>
            </a:extLst>
          </p:cNvPr>
          <p:cNvSpPr>
            <a:spLocks noGrp="1"/>
          </p:cNvSpPr>
          <p:nvPr/>
        </p:nvSpPr>
        <p:spPr>
          <a:xfrm>
            <a:off x="12938759" y="6446520"/>
            <a:ext cx="0" cy="2286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8" name="Connector 27">
            <a:extLst>
              <a:ext uri="{FF2B5EF4-FFF2-40B4-BE49-F238E27FC236}">
                <a16:creationId xmlns:a16="http://schemas.microsoft.com/office/drawing/2014/main" id="{1480E9C4-5333-420A-9408-7CCB9CE42DFC}"/>
              </a:ext>
            </a:extLst>
          </p:cNvPr>
          <p:cNvSpPr>
            <a:spLocks noGrp="1"/>
          </p:cNvSpPr>
          <p:nvPr/>
        </p:nvSpPr>
        <p:spPr>
          <a:xfrm>
            <a:off x="11033759" y="5303520"/>
            <a:ext cx="365760"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29" name="Rounded Rectangle 28">
            <a:extLst>
              <a:ext uri="{FF2B5EF4-FFF2-40B4-BE49-F238E27FC236}">
                <a16:creationId xmlns:a16="http://schemas.microsoft.com/office/drawing/2014/main" id="{99061C74-A4F4-4408-8AA5-C989209A6126}"/>
              </a:ext>
            </a:extLst>
          </p:cNvPr>
          <p:cNvSpPr>
            <a:spLocks noGrp="1"/>
          </p:cNvSpPr>
          <p:nvPr/>
        </p:nvSpPr>
        <p:spPr>
          <a:xfrm>
            <a:off x="14843760" y="2926080"/>
            <a:ext cx="3078480" cy="4754880"/>
          </a:xfrm>
          <a:prstGeom prst="roundRect">
            <a:avLst>
              <a:gd name="adj" fmla="val 3000"/>
            </a:avLst>
          </a:prstGeom>
          <a:solidFill>
            <a:srgbClr val="FAFAFA"/>
          </a:solidFill>
          <a:ln w="12700">
            <a:solidFill>
              <a:srgbClr val="A6A6A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FA9D4CBD-718F-4398-9131-B7C85EDE26E5}"/>
              </a:ext>
            </a:extLst>
          </p:cNvPr>
          <p:cNvSpPr>
            <a:spLocks noGrp="1"/>
          </p:cNvSpPr>
          <p:nvPr/>
        </p:nvSpPr>
        <p:spPr>
          <a:xfrm>
            <a:off x="14953488" y="2999232"/>
            <a:ext cx="2859024" cy="274320"/>
          </a:xfrm>
          <a:prstGeom prst="rect">
            <a:avLst/>
          </a:prstGeom>
          <a:noFill/>
        </p:spPr>
        <p:txBody>
          <a:bodyPr wrap="square" lIns="45720" tIns="0" rIns="45720" bIns="0" anchor="t">
            <a:spAutoFit/>
          </a:bodyPr>
          <a:lstStyle/>
          <a:p>
            <a:pPr algn="l">
              <a:spcAft>
                <a:spcPts val="600"/>
              </a:spcAft>
              <a:buNone/>
            </a:pPr>
            <a:r>
              <a:rPr sz="1200" b="1">
                <a:solidFill>
                  <a:srgbClr val="8C8C8C"/>
                </a:solidFill>
                <a:latin typeface="Arial"/>
                <a:ea typeface="Arial"/>
                <a:cs typeface="Arial"/>
              </a:rPr>
              <a:t>停止</a:t>
            </a:r>
          </a:p>
        </p:txBody>
      </p:sp>
      <p:sp>
        <p:nvSpPr>
          <p:cNvPr id="31" name="Rounded Rectangle 30">
            <a:extLst>
              <a:ext uri="{FF2B5EF4-FFF2-40B4-BE49-F238E27FC236}">
                <a16:creationId xmlns:a16="http://schemas.microsoft.com/office/drawing/2014/main" id="{1F517A99-C3EF-4B96-BCFD-0E9CF5DCD814}"/>
              </a:ext>
            </a:extLst>
          </p:cNvPr>
          <p:cNvSpPr>
            <a:spLocks noGrp="1"/>
          </p:cNvSpPr>
          <p:nvPr/>
        </p:nvSpPr>
        <p:spPr>
          <a:xfrm>
            <a:off x="15008352" y="3383280"/>
            <a:ext cx="2749296" cy="8686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イベント受信の停止</a:t>
            </a:r>
          </a:p>
        </p:txBody>
      </p:sp>
      <p:sp>
        <p:nvSpPr>
          <p:cNvPr id="32" name="Rounded Rectangle 31">
            <a:extLst>
              <a:ext uri="{FF2B5EF4-FFF2-40B4-BE49-F238E27FC236}">
                <a16:creationId xmlns:a16="http://schemas.microsoft.com/office/drawing/2014/main" id="{A4CDBA8F-3A28-4BD4-8ACE-FFA6C2C49457}"/>
              </a:ext>
            </a:extLst>
          </p:cNvPr>
          <p:cNvSpPr>
            <a:spLocks noGrp="1"/>
          </p:cNvSpPr>
          <p:nvPr/>
        </p:nvSpPr>
        <p:spPr>
          <a:xfrm>
            <a:off x="15008352" y="4480560"/>
            <a:ext cx="2749296" cy="8686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停止要求の送信</a:t>
            </a:r>
          </a:p>
        </p:txBody>
      </p:sp>
      <p:sp>
        <p:nvSpPr>
          <p:cNvPr id="33" name="Connector 32">
            <a:extLst>
              <a:ext uri="{FF2B5EF4-FFF2-40B4-BE49-F238E27FC236}">
                <a16:creationId xmlns:a16="http://schemas.microsoft.com/office/drawing/2014/main" id="{C52686EC-16C9-4DF1-A4CF-0D35B81F8860}"/>
              </a:ext>
            </a:extLst>
          </p:cNvPr>
          <p:cNvSpPr>
            <a:spLocks noGrp="1"/>
          </p:cNvSpPr>
          <p:nvPr/>
        </p:nvSpPr>
        <p:spPr>
          <a:xfrm>
            <a:off x="16383000" y="4251960"/>
            <a:ext cx="0" cy="2286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34" name="Rounded Rectangle 33">
            <a:extLst>
              <a:ext uri="{FF2B5EF4-FFF2-40B4-BE49-F238E27FC236}">
                <a16:creationId xmlns:a16="http://schemas.microsoft.com/office/drawing/2014/main" id="{3F8E156C-40D4-45F7-8ADB-2250A758398B}"/>
              </a:ext>
            </a:extLst>
          </p:cNvPr>
          <p:cNvSpPr>
            <a:spLocks noGrp="1"/>
          </p:cNvSpPr>
          <p:nvPr/>
        </p:nvSpPr>
        <p:spPr>
          <a:xfrm>
            <a:off x="15008352" y="5577840"/>
            <a:ext cx="2749296" cy="8686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通信経路と機器接続の終了</a:t>
            </a:r>
          </a:p>
        </p:txBody>
      </p:sp>
      <p:sp>
        <p:nvSpPr>
          <p:cNvPr id="35" name="Connector 34">
            <a:extLst>
              <a:ext uri="{FF2B5EF4-FFF2-40B4-BE49-F238E27FC236}">
                <a16:creationId xmlns:a16="http://schemas.microsoft.com/office/drawing/2014/main" id="{A2F3A8DB-7F81-4FA5-9D92-ACF3A883CB62}"/>
              </a:ext>
            </a:extLst>
          </p:cNvPr>
          <p:cNvSpPr>
            <a:spLocks noGrp="1"/>
          </p:cNvSpPr>
          <p:nvPr/>
        </p:nvSpPr>
        <p:spPr>
          <a:xfrm>
            <a:off x="16383000" y="5349240"/>
            <a:ext cx="0" cy="2286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36" name="Rounded Rectangle 35">
            <a:extLst>
              <a:ext uri="{FF2B5EF4-FFF2-40B4-BE49-F238E27FC236}">
                <a16:creationId xmlns:a16="http://schemas.microsoft.com/office/drawing/2014/main" id="{41A6CA7D-1719-4895-864F-B22081437422}"/>
              </a:ext>
            </a:extLst>
          </p:cNvPr>
          <p:cNvSpPr>
            <a:spLocks noGrp="1"/>
          </p:cNvSpPr>
          <p:nvPr/>
        </p:nvSpPr>
        <p:spPr>
          <a:xfrm>
            <a:off x="15008352" y="6675120"/>
            <a:ext cx="2749296" cy="868680"/>
          </a:xfrm>
          <a:prstGeom prst="roundRect">
            <a:avLst>
              <a:gd name="adj" fmla="val 8000"/>
            </a:avLst>
          </a:prstGeom>
          <a:solidFill>
            <a:srgbClr val="DDEB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wrap="square" lIns="36576" tIns="0" rIns="36576" bIns="0" anchor="ctr"/>
          <a:lstStyle/>
          <a:p>
            <a:pPr algn="ctr">
              <a:buNone/>
            </a:pPr>
            <a:r>
              <a:rPr sz="1100" b="1">
                <a:solidFill>
                  <a:srgbClr val="333333"/>
                </a:solidFill>
                <a:latin typeface="Arial"/>
                <a:ea typeface="Arial"/>
                <a:cs typeface="Arial"/>
              </a:rPr>
              <a:t>プロセス終了の確認</a:t>
            </a:r>
          </a:p>
        </p:txBody>
      </p:sp>
      <p:sp>
        <p:nvSpPr>
          <p:cNvPr id="37" name="Connector 36">
            <a:extLst>
              <a:ext uri="{FF2B5EF4-FFF2-40B4-BE49-F238E27FC236}">
                <a16:creationId xmlns:a16="http://schemas.microsoft.com/office/drawing/2014/main" id="{F118C3B9-0F6E-4D32-BFE3-A88D968BCEC4}"/>
              </a:ext>
            </a:extLst>
          </p:cNvPr>
          <p:cNvSpPr>
            <a:spLocks noGrp="1"/>
          </p:cNvSpPr>
          <p:nvPr/>
        </p:nvSpPr>
        <p:spPr>
          <a:xfrm>
            <a:off x="16383000" y="6446520"/>
            <a:ext cx="0" cy="22860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38" name="Connector 37">
            <a:extLst>
              <a:ext uri="{FF2B5EF4-FFF2-40B4-BE49-F238E27FC236}">
                <a16:creationId xmlns:a16="http://schemas.microsoft.com/office/drawing/2014/main" id="{1B853188-8394-4B72-8BB7-638F24BE09C7}"/>
              </a:ext>
            </a:extLst>
          </p:cNvPr>
          <p:cNvSpPr>
            <a:spLocks noGrp="1"/>
          </p:cNvSpPr>
          <p:nvPr/>
        </p:nvSpPr>
        <p:spPr>
          <a:xfrm>
            <a:off x="14478000" y="5303520"/>
            <a:ext cx="365760"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ja-JP" altLang="en-US"/>
          </a:p>
        </p:txBody>
      </p:sp>
      <p:sp>
        <p:nvSpPr>
          <p:cNvPr id="39" name="TextBox 38">
            <a:extLst>
              <a:ext uri="{FF2B5EF4-FFF2-40B4-BE49-F238E27FC236}">
                <a16:creationId xmlns:a16="http://schemas.microsoft.com/office/drawing/2014/main" id="{0AC6E849-EBF3-45CE-8C96-A68E00BD9026}"/>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ARCH-HOST-01 6.1–6.2、7.2、10.3、ARCH-01 3.8、7.2.4、KSNEWSYS-14</a:t>
            </a:r>
          </a:p>
        </p:txBody>
      </p:sp>
    </p:spTree>
    <p:extLst>
      <p:ext uri="{BB962C8B-B14F-4D97-AF65-F5344CB8AC3E}">
        <p14:creationId xmlns:p14="http://schemas.microsoft.com/office/powerpoint/2010/main" val="1710088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1C7CF9-721B-4B55-9234-A41353233C99}"/>
              </a:ext>
            </a:extLst>
          </p:cNvPr>
          <p:cNvSpPr>
            <a:spLocks noGrp="1"/>
          </p:cNvSpPr>
          <p:nvPr/>
        </p:nvSpPr>
        <p:spPr>
          <a:xfrm>
            <a:off x="1828800" y="3291840"/>
            <a:ext cx="14630400" cy="822960"/>
          </a:xfrm>
          <a:prstGeom prst="rect">
            <a:avLst/>
          </a:prstGeom>
          <a:noFill/>
        </p:spPr>
        <p:txBody>
          <a:bodyPr wrap="square" lIns="45720" tIns="0" rIns="45720" bIns="0" anchor="t">
            <a:spAutoFit/>
          </a:bodyPr>
          <a:lstStyle/>
          <a:p>
            <a:pPr algn="ctr">
              <a:spcAft>
                <a:spcPts val="600"/>
              </a:spcAft>
              <a:buNone/>
            </a:pPr>
            <a:r>
              <a:rPr sz="3000" b="1">
                <a:solidFill>
                  <a:srgbClr val="8C8C8C"/>
                </a:solidFill>
                <a:latin typeface="Arial"/>
                <a:ea typeface="Arial"/>
                <a:cs typeface="Arial"/>
              </a:rPr>
              <a:t>第5</a:t>
            </a:r>
          </a:p>
        </p:txBody>
      </p:sp>
      <p:sp>
        <p:nvSpPr>
          <p:cNvPr id="3" name="TextBox 2">
            <a:extLst>
              <a:ext uri="{FF2B5EF4-FFF2-40B4-BE49-F238E27FC236}">
                <a16:creationId xmlns:a16="http://schemas.microsoft.com/office/drawing/2014/main" id="{15B3F641-AA6A-4521-B0EE-83DE44BE0B7F}"/>
              </a:ext>
            </a:extLst>
          </p:cNvPr>
          <p:cNvSpPr>
            <a:spLocks noGrp="1"/>
          </p:cNvSpPr>
          <p:nvPr/>
        </p:nvSpPr>
        <p:spPr>
          <a:xfrm>
            <a:off x="1828800" y="4023360"/>
            <a:ext cx="14630400" cy="1280160"/>
          </a:xfrm>
          <a:prstGeom prst="rect">
            <a:avLst/>
          </a:prstGeom>
          <a:noFill/>
        </p:spPr>
        <p:txBody>
          <a:bodyPr wrap="square" lIns="45720" tIns="0" rIns="45720" bIns="0" anchor="t">
            <a:spAutoFit/>
          </a:bodyPr>
          <a:lstStyle/>
          <a:p>
            <a:pPr algn="ctr">
              <a:spcAft>
                <a:spcPts val="600"/>
              </a:spcAft>
              <a:buNone/>
            </a:pPr>
            <a:r>
              <a:rPr sz="5800" b="1">
                <a:solidFill>
                  <a:srgbClr val="545454"/>
                </a:solidFill>
                <a:latin typeface="Arial"/>
                <a:ea typeface="Arial"/>
                <a:cs typeface="Arial"/>
              </a:rPr>
              <a:t>運用・保守</a:t>
            </a:r>
          </a:p>
        </p:txBody>
      </p:sp>
      <p:sp>
        <p:nvSpPr>
          <p:cNvPr id="4" name="TextBox 3">
            <a:extLst>
              <a:ext uri="{FF2B5EF4-FFF2-40B4-BE49-F238E27FC236}">
                <a16:creationId xmlns:a16="http://schemas.microsoft.com/office/drawing/2014/main" id="{6199B837-9197-46A2-91AE-047F5E2D5FC7}"/>
              </a:ext>
            </a:extLst>
          </p:cNvPr>
          <p:cNvSpPr>
            <a:spLocks noGrp="1"/>
          </p:cNvSpPr>
          <p:nvPr/>
        </p:nvSpPr>
        <p:spPr>
          <a:xfrm>
            <a:off x="1828800" y="5760720"/>
            <a:ext cx="14630400" cy="548640"/>
          </a:xfrm>
          <a:prstGeom prst="rect">
            <a:avLst/>
          </a:prstGeom>
          <a:noFill/>
        </p:spPr>
        <p:txBody>
          <a:bodyPr wrap="square" lIns="45720" tIns="0" rIns="45720" bIns="0" anchor="t">
            <a:spAutoFit/>
          </a:bodyPr>
          <a:lstStyle/>
          <a:p>
            <a:pPr algn="ctr">
              <a:spcAft>
                <a:spcPts val="600"/>
              </a:spcAft>
              <a:buNone/>
            </a:pPr>
            <a:r>
              <a:rPr sz="2200" b="0">
                <a:solidFill>
                  <a:srgbClr val="545454"/>
                </a:solidFill>
                <a:latin typeface="Arial"/>
                <a:ea typeface="Arial"/>
                <a:cs typeface="Arial"/>
              </a:rPr>
              <a:t>オフライン時の業務継続とアプリの配信・更新方針を説明します。</a:t>
            </a:r>
          </a:p>
        </p:txBody>
      </p:sp>
      <p:sp>
        <p:nvSpPr>
          <p:cNvPr id="5" name="TextBox 4">
            <a:extLst>
              <a:ext uri="{FF2B5EF4-FFF2-40B4-BE49-F238E27FC236}">
                <a16:creationId xmlns:a16="http://schemas.microsoft.com/office/drawing/2014/main" id="{D01F8D44-A252-44A3-B4BA-C8873C419BF1}"/>
              </a:ext>
            </a:extLst>
          </p:cNvPr>
          <p:cNvSpPr>
            <a:spLocks noGrp="1"/>
          </p:cNvSpPr>
          <p:nvPr/>
        </p:nvSpPr>
        <p:spPr>
          <a:xfrm>
            <a:off x="5303520" y="6858000"/>
            <a:ext cx="7680960" cy="365760"/>
          </a:xfrm>
          <a:prstGeom prst="rect">
            <a:avLst/>
          </a:prstGeom>
          <a:noFill/>
        </p:spPr>
        <p:txBody>
          <a:bodyPr wrap="square" lIns="0" tIns="0" rIns="0" bIns="0">
            <a:spAutoFit/>
          </a:bodyPr>
          <a:lstStyle/>
          <a:p>
            <a:pPr>
              <a:spcAft>
                <a:spcPts val="800"/>
              </a:spcAft>
              <a:buNone/>
            </a:pPr>
            <a:r>
              <a:rPr sz="1600">
                <a:solidFill>
                  <a:srgbClr val="545454"/>
                </a:solidFill>
                <a:latin typeface="Arial"/>
                <a:ea typeface="Arial"/>
                <a:cs typeface="Arial"/>
              </a:rPr>
              <a:t>•  スライド30 — オフライン継続と再同期</a:t>
            </a:r>
          </a:p>
          <a:p>
            <a:pPr>
              <a:spcAft>
                <a:spcPts val="800"/>
              </a:spcAft>
              <a:buNone/>
            </a:pPr>
            <a:r>
              <a:rPr sz="1600">
                <a:solidFill>
                  <a:srgbClr val="545454"/>
                </a:solidFill>
                <a:latin typeface="Arial"/>
                <a:ea typeface="Arial"/>
                <a:cs typeface="Arial"/>
              </a:rPr>
              <a:t>•  スライド31 — アプリ配信とバージョンアップ</a:t>
            </a:r>
          </a:p>
          <a:p>
            <a:pPr>
              <a:spcAft>
                <a:spcPts val="800"/>
              </a:spcAft>
              <a:buNone/>
            </a:pPr>
            <a:r>
              <a:rPr sz="1600">
                <a:solidFill>
                  <a:srgbClr val="545454"/>
                </a:solidFill>
                <a:latin typeface="Arial"/>
                <a:ea typeface="Arial"/>
                <a:cs typeface="Arial"/>
              </a:rPr>
              <a:t>•  スライド32 — まとめ</a:t>
            </a:r>
          </a:p>
        </p:txBody>
      </p:sp>
    </p:spTree>
    <p:extLst>
      <p:ext uri="{BB962C8B-B14F-4D97-AF65-F5344CB8AC3E}">
        <p14:creationId xmlns:p14="http://schemas.microsoft.com/office/powerpoint/2010/main" val="10802700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F7849B-0BB8-4D34-A394-00F8C0A17D97}"/>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オフライン継続と再同期</a:t>
            </a:r>
          </a:p>
        </p:txBody>
      </p:sp>
      <p:sp>
        <p:nvSpPr>
          <p:cNvPr id="3" name="Rounded Rectangle 2">
            <a:extLst>
              <a:ext uri="{FF2B5EF4-FFF2-40B4-BE49-F238E27FC236}">
                <a16:creationId xmlns:a16="http://schemas.microsoft.com/office/drawing/2014/main" id="{840152C4-DA95-4007-8D98-84E4019E3134}"/>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通信断の影響範囲を限定し、許可された業務を継続しながら通信回復後に安全にデータを同期します。</a:t>
            </a:r>
          </a:p>
        </p:txBody>
      </p:sp>
      <p:graphicFrame>
        <p:nvGraphicFramePr>
          <p:cNvPr id="11" name="Table 3"/>
          <p:cNvGraphicFramePr/>
          <p:nvPr/>
        </p:nvGraphicFramePr>
        <p:xfrm>
          <a:off x="621792" y="2926080"/>
          <a:ext cx="17190719" cy="1828800"/>
        </p:xfrm>
        <a:graphic>
          <a:graphicData uri="http://schemas.openxmlformats.org/drawingml/2006/table">
            <a:tbl>
              <a:tblPr firstRow="1" bandRow="1">
                <a:tableStyleId>{5C22544A-7EE6-4342-B048-85BDC9FD1C3A}</a:tableStyleId>
              </a:tblPr>
              <a:tblGrid>
                <a:gridCol w="3930928">
                  <a:extLst>
                    <a:ext uri="{9D8B030D-6E8A-4147-A177-3AD203B41FA5}">
                      <a16:colId xmlns:a16="http://schemas.microsoft.com/office/drawing/2014/main" val="20000"/>
                    </a:ext>
                  </a:extLst>
                </a:gridCol>
                <a:gridCol w="13259791">
                  <a:extLst>
                    <a:ext uri="{9D8B030D-6E8A-4147-A177-3AD203B41FA5}">
                      <a16:colId xmlns:a16="http://schemas.microsoft.com/office/drawing/2014/main" val="20001"/>
                    </a:ext>
                  </a:extLst>
                </a:gridCol>
              </a:tblGrid>
              <a:tr h="365760">
                <a:tc>
                  <a:txBody>
                    <a:bodyPr/>
                    <a:lstStyle/>
                    <a:p>
                      <a:r>
                        <a:rPr sz="1400" b="1">
                          <a:solidFill>
                            <a:srgbClr val="FFFFFF"/>
                          </a:solidFill>
                          <a:latin typeface="Arial"/>
                          <a:ea typeface="Arial"/>
                          <a:cs typeface="Arial"/>
                        </a:rPr>
                        <a:t>状況</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端末側の動作</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オンライン</a:t>
                      </a:r>
                    </a:p>
                  </a:txBody>
                  <a:tcPr marL="64008" marR="64008" marT="27432" marB="27432" anchor="ctr">
                    <a:solidFill>
                      <a:srgbClr val="FFFFFF"/>
                    </a:solidFill>
                  </a:tcPr>
                </a:tc>
                <a:tc>
                  <a:txBody>
                    <a:bodyPr/>
                    <a:lstStyle/>
                    <a:p>
                      <a:r>
                        <a:rPr sz="1400">
                          <a:solidFill>
                            <a:srgbClr val="545454"/>
                          </a:solidFill>
                          <a:latin typeface="Arial"/>
                          <a:ea typeface="Arial"/>
                          <a:cs typeface="Arial"/>
                        </a:rPr>
                        <a:t>APIから最新情報を取得し、サーバー側のデータを正として処理する</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一時的な通信断</a:t>
                      </a:r>
                    </a:p>
                  </a:txBody>
                  <a:tcPr marL="64008" marR="64008" marT="27432" marB="27432" anchor="ctr">
                    <a:solidFill>
                      <a:srgbClr val="F7F7F7"/>
                    </a:solidFill>
                  </a:tcPr>
                </a:tc>
                <a:tc>
                  <a:txBody>
                    <a:bodyPr/>
                    <a:lstStyle/>
                    <a:p>
                      <a:r>
                        <a:rPr sz="1400">
                          <a:solidFill>
                            <a:srgbClr val="545454"/>
                          </a:solidFill>
                          <a:latin typeface="Arial"/>
                          <a:ea typeface="Arial"/>
                          <a:cs typeface="Arial"/>
                        </a:rPr>
                        <a:t>直近の有効な設定と業務継続用データを利用する</a:t>
                      </a:r>
                    </a:p>
                  </a:txBody>
                  <a:tcPr marL="64008" marR="64008" marT="27432" marB="27432" anchor="ctr">
                    <a:solidFill>
                      <a:srgbClr val="F7F7F7"/>
                    </a:solidFill>
                  </a:tcPr>
                </a:tc>
                <a:extLst>
                  <a:ext uri="{0D108BD9-81ED-4DB2-BD59-A6C34878D82A}">
                    <a16:rowId xmlns:a16="http://schemas.microsoft.com/office/drawing/2014/main" val="10002"/>
                  </a:ext>
                </a:extLst>
              </a:tr>
              <a:tr h="365760">
                <a:tc>
                  <a:txBody>
                    <a:bodyPr/>
                    <a:lstStyle/>
                    <a:p>
                      <a:r>
                        <a:rPr sz="1400">
                          <a:solidFill>
                            <a:srgbClr val="545454"/>
                          </a:solidFill>
                          <a:latin typeface="Arial"/>
                          <a:ea typeface="Arial"/>
                          <a:cs typeface="Arial"/>
                        </a:rPr>
                        <a:t>オフライン処理</a:t>
                      </a:r>
                    </a:p>
                  </a:txBody>
                  <a:tcPr marL="64008" marR="64008" marT="27432" marB="27432" anchor="ctr">
                    <a:solidFill>
                      <a:srgbClr val="FFFFFF"/>
                    </a:solidFill>
                  </a:tcPr>
                </a:tc>
                <a:tc>
                  <a:txBody>
                    <a:bodyPr/>
                    <a:lstStyle/>
                    <a:p>
                      <a:r>
                        <a:rPr sz="1400">
                          <a:solidFill>
                            <a:srgbClr val="545454"/>
                          </a:solidFill>
                          <a:latin typeface="Arial"/>
                          <a:ea typeface="Arial"/>
                          <a:cs typeface="Arial"/>
                        </a:rPr>
                        <a:t>許可された業務だけを実行し、送信待ちデータへ記録する</a:t>
                      </a:r>
                    </a:p>
                  </a:txBody>
                  <a:tcPr marL="64008" marR="64008" marT="27432" marB="27432" anchor="ctr">
                    <a:solidFill>
                      <a:srgbClr val="FFFFFF"/>
                    </a:solidFill>
                  </a:tcPr>
                </a:tc>
                <a:extLst>
                  <a:ext uri="{0D108BD9-81ED-4DB2-BD59-A6C34878D82A}">
                    <a16:rowId xmlns:a16="http://schemas.microsoft.com/office/drawing/2014/main" val="10003"/>
                  </a:ext>
                </a:extLst>
              </a:tr>
              <a:tr h="365760">
                <a:tc>
                  <a:txBody>
                    <a:bodyPr/>
                    <a:lstStyle/>
                    <a:p>
                      <a:r>
                        <a:rPr sz="1400">
                          <a:solidFill>
                            <a:srgbClr val="545454"/>
                          </a:solidFill>
                          <a:latin typeface="Arial"/>
                          <a:ea typeface="Arial"/>
                          <a:cs typeface="Arial"/>
                        </a:rPr>
                        <a:t>通信回復</a:t>
                      </a:r>
                    </a:p>
                  </a:txBody>
                  <a:tcPr marL="64008" marR="64008" marT="27432" marB="27432" anchor="ctr">
                    <a:solidFill>
                      <a:srgbClr val="F7F7F7"/>
                    </a:solidFill>
                  </a:tcPr>
                </a:tc>
                <a:tc>
                  <a:txBody>
                    <a:bodyPr/>
                    <a:lstStyle/>
                    <a:p>
                      <a:r>
                        <a:rPr sz="1400">
                          <a:solidFill>
                            <a:srgbClr val="545454"/>
                          </a:solidFill>
                          <a:latin typeface="Arial"/>
                          <a:ea typeface="Arial"/>
                          <a:cs typeface="Arial"/>
                        </a:rPr>
                        <a:t>送信待ちデータを順序どおりに送信し、結果を照合する</a:t>
                      </a:r>
                    </a:p>
                  </a:txBody>
                  <a:tcPr marL="64008" marR="64008" marT="27432" marB="27432" anchor="ctr">
                    <a:solidFill>
                      <a:srgbClr val="F7F7F7"/>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1340ECFD-380C-4128-94CC-EAB79B1F74BB}"/>
              </a:ext>
            </a:extLst>
          </p:cNvPr>
          <p:cNvSpPr>
            <a:spLocks noGrp="1"/>
          </p:cNvSpPr>
          <p:nvPr/>
        </p:nvSpPr>
        <p:spPr>
          <a:xfrm>
            <a:off x="594360" y="498348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データ整合性の原則</a:t>
            </a:r>
          </a:p>
        </p:txBody>
      </p:sp>
      <p:sp>
        <p:nvSpPr>
          <p:cNvPr id="6" name="TextBox 5">
            <a:extLst>
              <a:ext uri="{FF2B5EF4-FFF2-40B4-BE49-F238E27FC236}">
                <a16:creationId xmlns:a16="http://schemas.microsoft.com/office/drawing/2014/main" id="{0429C4EF-C8BF-4C83-B7E8-70C9C5636C9B}"/>
              </a:ext>
            </a:extLst>
          </p:cNvPr>
          <p:cNvSpPr>
            <a:spLocks noGrp="1"/>
          </p:cNvSpPr>
          <p:nvPr/>
        </p:nvSpPr>
        <p:spPr>
          <a:xfrm>
            <a:off x="685800" y="545896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送信待ちデータには一意な処理識別子を付与し、同じ処理の重複登録を防止します。</a:t>
            </a:r>
          </a:p>
          <a:p>
            <a:pPr>
              <a:spcAft>
                <a:spcPts val="500"/>
              </a:spcAft>
              <a:buNone/>
            </a:pPr>
            <a:r>
              <a:rPr sz="1700">
                <a:solidFill>
                  <a:srgbClr val="545454"/>
                </a:solidFill>
                <a:latin typeface="Arial"/>
                <a:ea typeface="Arial"/>
                <a:cs typeface="Arial"/>
              </a:rPr>
              <a:t>•  タイムアウト後に結果が不明な更新処理は自動再送せず、サーバー側の処理結果を確認します。</a:t>
            </a:r>
          </a:p>
          <a:p>
            <a:pPr>
              <a:spcAft>
                <a:spcPts val="500"/>
              </a:spcAft>
              <a:buNone/>
            </a:pPr>
            <a:r>
              <a:rPr sz="1700">
                <a:solidFill>
                  <a:srgbClr val="545454"/>
                </a:solidFill>
                <a:latin typeface="Arial"/>
                <a:ea typeface="Arial"/>
                <a:cs typeface="Arial"/>
              </a:rPr>
              <a:t>•  商品、価格、在庫など有効期限が業務へ影響する情報には利用期限を設定します。</a:t>
            </a:r>
          </a:p>
          <a:p>
            <a:pPr>
              <a:spcAft>
                <a:spcPts val="500"/>
              </a:spcAft>
              <a:buNone/>
            </a:pPr>
            <a:r>
              <a:rPr sz="1700">
                <a:solidFill>
                  <a:srgbClr val="545454"/>
                </a:solidFill>
                <a:latin typeface="Arial"/>
                <a:ea typeface="Arial"/>
                <a:cs typeface="Arial"/>
              </a:rPr>
              <a:t>•  同期前にアプリ更新が必要な場合は、送信待ちデータを保護してから更新します。</a:t>
            </a:r>
          </a:p>
          <a:p>
            <a:pPr>
              <a:spcAft>
                <a:spcPts val="500"/>
              </a:spcAft>
              <a:buNone/>
            </a:pPr>
            <a:r>
              <a:rPr sz="1700">
                <a:solidFill>
                  <a:srgbClr val="545454"/>
                </a:solidFill>
                <a:latin typeface="Arial"/>
                <a:ea typeface="Arial"/>
                <a:cs typeface="Arial"/>
              </a:rPr>
              <a:t>•  同期失敗をログへ記録して監視対象とし、未送信データを端末から削除しません。</a:t>
            </a:r>
          </a:p>
        </p:txBody>
      </p:sp>
      <p:sp>
        <p:nvSpPr>
          <p:cNvPr id="7" name="TextBox 6">
            <a:extLst>
              <a:ext uri="{FF2B5EF4-FFF2-40B4-BE49-F238E27FC236}">
                <a16:creationId xmlns:a16="http://schemas.microsoft.com/office/drawing/2014/main" id="{181291D5-BF56-4968-BFB8-0B19D37932C2}"/>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KSNEWSYS-183、KSNEWSYS-407、KSNEWSYS-497、KSNEWSYS-653</a:t>
            </a:r>
          </a:p>
        </p:txBody>
      </p:sp>
    </p:spTree>
    <p:extLst>
      <p:ext uri="{BB962C8B-B14F-4D97-AF65-F5344CB8AC3E}">
        <p14:creationId xmlns:p14="http://schemas.microsoft.com/office/powerpoint/2010/main" val="531263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419BA0-1054-4014-852A-EC90839BAA2C}"/>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アプリ配信とバージョンアップ</a:t>
            </a:r>
          </a:p>
        </p:txBody>
      </p:sp>
      <p:sp>
        <p:nvSpPr>
          <p:cNvPr id="3" name="Rounded Rectangle 2">
            <a:extLst>
              <a:ext uri="{FF2B5EF4-FFF2-40B4-BE49-F238E27FC236}">
                <a16:creationId xmlns:a16="http://schemas.microsoft.com/office/drawing/2014/main" id="{7C24A480-FE55-4062-8CEE-7306AB7E8400}"/>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Windows POSとタブレットPOS（Android／iOS）の配信経路を分けながら、利用可能なバージョンを共通ポリシーで統制します。</a:t>
            </a:r>
          </a:p>
        </p:txBody>
      </p:sp>
      <p:graphicFrame>
        <p:nvGraphicFramePr>
          <p:cNvPr id="11" name="Table 3"/>
          <p:cNvGraphicFramePr/>
          <p:nvPr/>
        </p:nvGraphicFramePr>
        <p:xfrm>
          <a:off x="621792" y="2926080"/>
          <a:ext cx="17190719" cy="1097280"/>
        </p:xfrm>
        <a:graphic>
          <a:graphicData uri="http://schemas.openxmlformats.org/drawingml/2006/table">
            <a:tbl>
              <a:tblPr firstRow="1" bandRow="1">
                <a:tableStyleId>{5C22544A-7EE6-4342-B048-85BDC9FD1C3A}</a:tableStyleId>
              </a:tblPr>
              <a:tblGrid>
                <a:gridCol w="7160717">
                  <a:extLst>
                    <a:ext uri="{9D8B030D-6E8A-4147-A177-3AD203B41FA5}">
                      <a16:colId xmlns:a16="http://schemas.microsoft.com/office/drawing/2014/main" val="20000"/>
                    </a:ext>
                  </a:extLst>
                </a:gridCol>
                <a:gridCol w="10030002">
                  <a:extLst>
                    <a:ext uri="{9D8B030D-6E8A-4147-A177-3AD203B41FA5}">
                      <a16:colId xmlns:a16="http://schemas.microsoft.com/office/drawing/2014/main" val="20001"/>
                    </a:ext>
                  </a:extLst>
                </a:gridCol>
              </a:tblGrid>
              <a:tr h="365760">
                <a:tc>
                  <a:txBody>
                    <a:bodyPr/>
                    <a:lstStyle/>
                    <a:p>
                      <a:r>
                        <a:rPr sz="1400" b="1">
                          <a:solidFill>
                            <a:srgbClr val="FFFFFF"/>
                          </a:solidFill>
                          <a:latin typeface="Arial"/>
                          <a:ea typeface="Arial"/>
                          <a:cs typeface="Arial"/>
                        </a:rPr>
                        <a:t>対象</a:t>
                      </a:r>
                    </a:p>
                  </a:txBody>
                  <a:tcPr marL="64008" marR="64008" marT="27432" marB="27432" anchor="ctr">
                    <a:solidFill>
                      <a:srgbClr val="545454"/>
                    </a:solidFill>
                  </a:tcPr>
                </a:tc>
                <a:tc>
                  <a:txBody>
                    <a:bodyPr/>
                    <a:lstStyle/>
                    <a:p>
                      <a:r>
                        <a:rPr sz="1400" b="1">
                          <a:solidFill>
                            <a:srgbClr val="FFFFFF"/>
                          </a:solidFill>
                          <a:latin typeface="Arial"/>
                          <a:ea typeface="Arial"/>
                          <a:cs typeface="Arial"/>
                        </a:rPr>
                        <a:t>配信方針</a:t>
                      </a:r>
                    </a:p>
                  </a:txBody>
                  <a:tcPr marL="64008" marR="64008" marT="27432" marB="27432" anchor="ctr">
                    <a:solidFill>
                      <a:srgbClr val="545454"/>
                    </a:solidFill>
                  </a:tcPr>
                </a:tc>
                <a:extLst>
                  <a:ext uri="{0D108BD9-81ED-4DB2-BD59-A6C34878D82A}">
                    <a16:rowId xmlns:a16="http://schemas.microsoft.com/office/drawing/2014/main" val="10000"/>
                  </a:ext>
                </a:extLst>
              </a:tr>
              <a:tr h="365760">
                <a:tc>
                  <a:txBody>
                    <a:bodyPr/>
                    <a:lstStyle/>
                    <a:p>
                      <a:r>
                        <a:rPr sz="1400">
                          <a:solidFill>
                            <a:srgbClr val="545454"/>
                          </a:solidFill>
                          <a:latin typeface="Arial"/>
                          <a:ea typeface="Arial"/>
                          <a:cs typeface="Arial"/>
                        </a:rPr>
                        <a:t>Windows POS</a:t>
                      </a:r>
                    </a:p>
                  </a:txBody>
                  <a:tcPr marL="64008" marR="64008" marT="27432" marB="27432" anchor="ctr">
                    <a:solidFill>
                      <a:srgbClr val="FFFFFF"/>
                    </a:solidFill>
                  </a:tcPr>
                </a:tc>
                <a:tc>
                  <a:txBody>
                    <a:bodyPr/>
                    <a:lstStyle/>
                    <a:p>
                      <a:r>
                        <a:rPr sz="1400">
                          <a:solidFill>
                            <a:srgbClr val="545454"/>
                          </a:solidFill>
                          <a:latin typeface="Arial"/>
                          <a:ea typeface="Arial"/>
                          <a:cs typeface="Arial"/>
                        </a:rPr>
                        <a:t>管理された配信領域から更新プログラムを取得し、更新結果を記録する</a:t>
                      </a:r>
                    </a:p>
                  </a:txBody>
                  <a:tcPr marL="64008" marR="64008" marT="27432" marB="27432" anchor="ctr">
                    <a:solidFill>
                      <a:srgbClr val="FFFFFF"/>
                    </a:solidFill>
                  </a:tcPr>
                </a:tc>
                <a:extLst>
                  <a:ext uri="{0D108BD9-81ED-4DB2-BD59-A6C34878D82A}">
                    <a16:rowId xmlns:a16="http://schemas.microsoft.com/office/drawing/2014/main" val="10001"/>
                  </a:ext>
                </a:extLst>
              </a:tr>
              <a:tr h="365760">
                <a:tc>
                  <a:txBody>
                    <a:bodyPr/>
                    <a:lstStyle/>
                    <a:p>
                      <a:r>
                        <a:rPr sz="1400">
                          <a:solidFill>
                            <a:srgbClr val="545454"/>
                          </a:solidFill>
                          <a:latin typeface="Arial"/>
                          <a:ea typeface="Arial"/>
                          <a:cs typeface="Arial"/>
                        </a:rPr>
                        <a:t>タブレットPOS（Android／iOS）</a:t>
                      </a:r>
                    </a:p>
                  </a:txBody>
                  <a:tcPr marL="64008" marR="64008" marT="27432" marB="27432" anchor="ctr">
                    <a:solidFill>
                      <a:srgbClr val="F7F7F7"/>
                    </a:solidFill>
                  </a:tcPr>
                </a:tc>
                <a:tc>
                  <a:txBody>
                    <a:bodyPr/>
                    <a:lstStyle/>
                    <a:p>
                      <a:r>
                        <a:rPr sz="1400">
                          <a:solidFill>
                            <a:srgbClr val="545454"/>
                          </a:solidFill>
                          <a:latin typeface="Arial"/>
                          <a:ea typeface="Arial"/>
                          <a:cs typeface="Arial"/>
                        </a:rPr>
                        <a:t>端末管理基盤を介して管理対象アプリを配信する</a:t>
                      </a:r>
                    </a:p>
                  </a:txBody>
                  <a:tcPr marL="64008" marR="64008" marT="27432" marB="27432" anchor="ctr">
                    <a:solidFill>
                      <a:srgbClr val="F7F7F7"/>
                    </a:solidFill>
                  </a:tcPr>
                </a:tc>
                <a:extLst>
                  <a:ext uri="{0D108BD9-81ED-4DB2-BD59-A6C34878D82A}">
                    <a16:rowId xmlns:a16="http://schemas.microsoft.com/office/drawing/2014/main" val="10002"/>
                  </a:ext>
                </a:extLst>
              </a:tr>
            </a:tbl>
          </a:graphicData>
        </a:graphic>
      </p:graphicFrame>
      <p:sp>
        <p:nvSpPr>
          <p:cNvPr id="5" name="TextBox 4">
            <a:extLst>
              <a:ext uri="{FF2B5EF4-FFF2-40B4-BE49-F238E27FC236}">
                <a16:creationId xmlns:a16="http://schemas.microsoft.com/office/drawing/2014/main" id="{40D89832-92AC-4862-911A-99CEAD52800A}"/>
              </a:ext>
            </a:extLst>
          </p:cNvPr>
          <p:cNvSpPr>
            <a:spLocks noGrp="1"/>
          </p:cNvSpPr>
          <p:nvPr/>
        </p:nvSpPr>
        <p:spPr>
          <a:xfrm>
            <a:off x="594360" y="4251960"/>
            <a:ext cx="17190720" cy="365760"/>
          </a:xfrm>
          <a:prstGeom prst="rect">
            <a:avLst/>
          </a:prstGeom>
          <a:noFill/>
        </p:spPr>
        <p:txBody>
          <a:bodyPr wrap="square" lIns="45720" tIns="0" rIns="45720" bIns="0" anchor="t">
            <a:spAutoFit/>
          </a:bodyPr>
          <a:lstStyle/>
          <a:p>
            <a:pPr algn="l">
              <a:spcAft>
                <a:spcPts val="600"/>
              </a:spcAft>
              <a:buNone/>
            </a:pPr>
            <a:r>
              <a:rPr sz="2000" b="1">
                <a:solidFill>
                  <a:srgbClr val="333333"/>
                </a:solidFill>
                <a:latin typeface="Arial"/>
                <a:ea typeface="Arial"/>
                <a:cs typeface="Arial"/>
              </a:rPr>
              <a:t>更新の原則</a:t>
            </a:r>
          </a:p>
        </p:txBody>
      </p:sp>
      <p:sp>
        <p:nvSpPr>
          <p:cNvPr id="6" name="TextBox 5">
            <a:extLst>
              <a:ext uri="{FF2B5EF4-FFF2-40B4-BE49-F238E27FC236}">
                <a16:creationId xmlns:a16="http://schemas.microsoft.com/office/drawing/2014/main" id="{4EE64C85-6468-426F-84E4-3DC275D72C6F}"/>
              </a:ext>
            </a:extLst>
          </p:cNvPr>
          <p:cNvSpPr>
            <a:spLocks noGrp="1"/>
          </p:cNvSpPr>
          <p:nvPr/>
        </p:nvSpPr>
        <p:spPr>
          <a:xfrm>
            <a:off x="685800" y="4727448"/>
            <a:ext cx="17099280" cy="365760"/>
          </a:xfrm>
          <a:prstGeom prst="rect">
            <a:avLst/>
          </a:prstGeom>
          <a:noFill/>
        </p:spPr>
        <p:txBody>
          <a:bodyPr wrap="square" lIns="0" tIns="0" rIns="0" bIns="0">
            <a:spAutoFit/>
          </a:bodyPr>
          <a:lstStyle/>
          <a:p>
            <a:pPr>
              <a:spcAft>
                <a:spcPts val="500"/>
              </a:spcAft>
              <a:buNone/>
            </a:pPr>
            <a:r>
              <a:rPr sz="1700">
                <a:solidFill>
                  <a:srgbClr val="545454"/>
                </a:solidFill>
                <a:latin typeface="Arial"/>
                <a:ea typeface="Arial"/>
                <a:cs typeface="Arial"/>
              </a:rPr>
              <a:t>•  起動時に現在のバージョンと利用可能なバージョンを確認します。</a:t>
            </a:r>
          </a:p>
          <a:p>
            <a:pPr>
              <a:spcAft>
                <a:spcPts val="500"/>
              </a:spcAft>
              <a:buNone/>
            </a:pPr>
            <a:r>
              <a:rPr sz="1700">
                <a:solidFill>
                  <a:srgbClr val="545454"/>
                </a:solidFill>
                <a:latin typeface="Arial"/>
                <a:ea typeface="Arial"/>
                <a:cs typeface="Arial"/>
              </a:rPr>
              <a:t>•  サーバー側のポリシーで必須更新と任意更新を判定します。</a:t>
            </a:r>
          </a:p>
          <a:p>
            <a:pPr>
              <a:spcAft>
                <a:spcPts val="500"/>
              </a:spcAft>
              <a:buNone/>
            </a:pPr>
            <a:r>
              <a:rPr sz="1700">
                <a:solidFill>
                  <a:srgbClr val="545454"/>
                </a:solidFill>
                <a:latin typeface="Arial"/>
                <a:ea typeface="Arial"/>
                <a:cs typeface="Arial"/>
              </a:rPr>
              <a:t>•  API、端末内データおよびデバイス設定との互換性を確認してから更新します。</a:t>
            </a:r>
          </a:p>
          <a:p>
            <a:pPr>
              <a:spcAft>
                <a:spcPts val="500"/>
              </a:spcAft>
              <a:buNone/>
            </a:pPr>
            <a:r>
              <a:rPr sz="1700">
                <a:solidFill>
                  <a:srgbClr val="545454"/>
                </a:solidFill>
                <a:latin typeface="Arial"/>
                <a:ea typeface="Arial"/>
                <a:cs typeface="Arial"/>
              </a:rPr>
              <a:t>•  未送信データがある場合は同期または保護を完了してから更新します。</a:t>
            </a:r>
          </a:p>
          <a:p>
            <a:pPr>
              <a:spcAft>
                <a:spcPts val="500"/>
              </a:spcAft>
              <a:buNone/>
            </a:pPr>
            <a:r>
              <a:rPr sz="1700">
                <a:solidFill>
                  <a:srgbClr val="545454"/>
                </a:solidFill>
                <a:latin typeface="Arial"/>
                <a:ea typeface="Arial"/>
                <a:cs typeface="Arial"/>
              </a:rPr>
              <a:t>•  更新後に設定と端末内データを移行し、起動確認と更新結果を記録します。</a:t>
            </a:r>
          </a:p>
          <a:p>
            <a:pPr>
              <a:spcAft>
                <a:spcPts val="500"/>
              </a:spcAft>
              <a:buNone/>
            </a:pPr>
            <a:r>
              <a:rPr sz="1700">
                <a:solidFill>
                  <a:srgbClr val="545454"/>
                </a:solidFill>
                <a:latin typeface="Arial"/>
                <a:ea typeface="Arial"/>
                <a:cs typeface="Arial"/>
              </a:rPr>
              <a:t>•  更新に失敗した場合は業務開始を抑止し、安全な復旧手順へ移行します。</a:t>
            </a:r>
          </a:p>
        </p:txBody>
      </p:sp>
      <p:sp>
        <p:nvSpPr>
          <p:cNvPr id="7" name="TextBox 6">
            <a:extLst>
              <a:ext uri="{FF2B5EF4-FFF2-40B4-BE49-F238E27FC236}">
                <a16:creationId xmlns:a16="http://schemas.microsoft.com/office/drawing/2014/main" id="{3D697D93-0495-41C8-A375-D47E38C1E0EB}"/>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r>
              <a:rPr sz="1200" b="0">
                <a:solidFill>
                  <a:srgbClr val="8C8C8C"/>
                </a:solidFill>
                <a:latin typeface="Arial"/>
                <a:ea typeface="Arial"/>
                <a:cs typeface="Arial"/>
              </a:rPr>
              <a:t>出典: KSNEWSYS-143、KSNEWSYS-390、KSNEWSYS-396</a:t>
            </a:r>
          </a:p>
        </p:txBody>
      </p:sp>
    </p:spTree>
    <p:extLst>
      <p:ext uri="{BB962C8B-B14F-4D97-AF65-F5344CB8AC3E}">
        <p14:creationId xmlns:p14="http://schemas.microsoft.com/office/powerpoint/2010/main" val="2009302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0541C2-29E9-44A4-B01F-A316131AFA8E}"/>
              </a:ext>
            </a:extLst>
          </p:cNvPr>
          <p:cNvSpPr>
            <a:spLocks noGrp="1"/>
          </p:cNvSpPr>
          <p:nvPr/>
        </p:nvSpPr>
        <p:spPr>
          <a:xfrm>
            <a:off x="374904" y="310896"/>
            <a:ext cx="14173200" cy="640080"/>
          </a:xfrm>
          <a:prstGeom prst="rect">
            <a:avLst/>
          </a:prstGeom>
          <a:noFill/>
        </p:spPr>
        <p:txBody>
          <a:bodyPr wrap="square" lIns="45720" tIns="0" rIns="45720" bIns="0" anchor="t">
            <a:spAutoFit/>
          </a:bodyPr>
          <a:lstStyle/>
          <a:p>
            <a:pPr algn="l">
              <a:spcAft>
                <a:spcPts val="600"/>
              </a:spcAft>
              <a:buNone/>
            </a:pPr>
            <a:r>
              <a:rPr sz="3000" b="1">
                <a:solidFill>
                  <a:srgbClr val="545454"/>
                </a:solidFill>
                <a:latin typeface="Arial"/>
                <a:ea typeface="Arial"/>
                <a:cs typeface="Arial"/>
              </a:rPr>
              <a:t>まとめ</a:t>
            </a:r>
          </a:p>
        </p:txBody>
      </p:sp>
      <p:sp>
        <p:nvSpPr>
          <p:cNvPr id="3" name="Rounded Rectangle 2">
            <a:extLst>
              <a:ext uri="{FF2B5EF4-FFF2-40B4-BE49-F238E27FC236}">
                <a16:creationId xmlns:a16="http://schemas.microsoft.com/office/drawing/2014/main" id="{77DD8EFE-CACB-497F-BF62-23C38B987DC6}"/>
              </a:ext>
            </a:extLst>
          </p:cNvPr>
          <p:cNvSpPr>
            <a:spLocks noGrp="1"/>
          </p:cNvSpPr>
          <p:nvPr/>
        </p:nvSpPr>
        <p:spPr>
          <a:xfrm>
            <a:off x="548640" y="1371600"/>
            <a:ext cx="17190720" cy="1280160"/>
          </a:xfrm>
          <a:prstGeom prst="roundRect">
            <a:avLst>
              <a:gd name="adj" fmla="val 12000"/>
            </a:avLst>
          </a:prstGeom>
          <a:solidFill>
            <a:srgbClr val="F2DADA"/>
          </a:solidFill>
          <a:ln>
            <a:noFill/>
          </a:ln>
        </p:spPr>
        <p:style>
          <a:lnRef idx="1">
            <a:schemeClr val="accent1"/>
          </a:lnRef>
          <a:fillRef idx="3">
            <a:schemeClr val="accent1"/>
          </a:fillRef>
          <a:effectRef idx="2">
            <a:schemeClr val="accent1"/>
          </a:effectRef>
          <a:fontRef idx="minor">
            <a:schemeClr val="lt1"/>
          </a:fontRef>
        </p:style>
        <p:txBody>
          <a:bodyPr wrap="square" anchor="ctr"/>
          <a:lstStyle/>
          <a:p>
            <a:pPr algn="ctr">
              <a:buNone/>
            </a:pPr>
            <a:r>
              <a:rPr sz="2600" b="1">
                <a:solidFill>
                  <a:srgbClr val="333333"/>
                </a:solidFill>
                <a:latin typeface="Arial"/>
                <a:ea typeface="Arial"/>
                <a:cs typeface="Arial"/>
              </a:rPr>
              <a:t>共通の業務構造と端末種別に応じた機器接続方式を組み合わせ、安全性、運用性および拡張性を備えた端末基盤を実現します。</a:t>
            </a:r>
          </a:p>
        </p:txBody>
      </p:sp>
      <p:sp>
        <p:nvSpPr>
          <p:cNvPr id="4" name="TextBox 3">
            <a:extLst>
              <a:ext uri="{FF2B5EF4-FFF2-40B4-BE49-F238E27FC236}">
                <a16:creationId xmlns:a16="http://schemas.microsoft.com/office/drawing/2014/main" id="{64A18E68-C85C-426F-88C4-8CC2A7CF814F}"/>
              </a:ext>
            </a:extLst>
          </p:cNvPr>
          <p:cNvSpPr>
            <a:spLocks noGrp="1"/>
          </p:cNvSpPr>
          <p:nvPr/>
        </p:nvSpPr>
        <p:spPr>
          <a:xfrm>
            <a:off x="594360" y="2926080"/>
            <a:ext cx="17190720" cy="365760"/>
          </a:xfrm>
          <a:prstGeom prst="rect">
            <a:avLst/>
          </a:prstGeom>
          <a:noFill/>
        </p:spPr>
        <p:txBody>
          <a:bodyPr wrap="square" lIns="45720" tIns="0" rIns="45720" bIns="0" anchor="t">
            <a:spAutoFit/>
          </a:bodyPr>
          <a:lstStyle/>
          <a:p>
            <a:pPr algn="l">
              <a:spcAft>
                <a:spcPts val="600"/>
              </a:spcAft>
              <a:buNone/>
            </a:pPr>
            <a:r>
              <a:rPr sz="1600" b="1">
                <a:solidFill>
                  <a:srgbClr val="333333"/>
                </a:solidFill>
                <a:latin typeface="Arial"/>
                <a:ea typeface="Arial"/>
                <a:cs typeface="Arial"/>
              </a:rPr>
              <a:t>まとめ</a:t>
            </a:r>
          </a:p>
        </p:txBody>
      </p:sp>
      <p:sp>
        <p:nvSpPr>
          <p:cNvPr id="5" name="TextBox 4">
            <a:extLst>
              <a:ext uri="{FF2B5EF4-FFF2-40B4-BE49-F238E27FC236}">
                <a16:creationId xmlns:a16="http://schemas.microsoft.com/office/drawing/2014/main" id="{55094213-6160-432B-8FB8-366BF4AE10EE}"/>
              </a:ext>
            </a:extLst>
          </p:cNvPr>
          <p:cNvSpPr>
            <a:spLocks noGrp="1"/>
          </p:cNvSpPr>
          <p:nvPr/>
        </p:nvSpPr>
        <p:spPr>
          <a:xfrm>
            <a:off x="685800" y="3401568"/>
            <a:ext cx="17099280" cy="365760"/>
          </a:xfrm>
          <a:prstGeom prst="rect">
            <a:avLst/>
          </a:prstGeom>
          <a:noFill/>
        </p:spPr>
        <p:txBody>
          <a:bodyPr wrap="square" lIns="0" tIns="0" rIns="0" bIns="0">
            <a:spAutoFit/>
          </a:bodyPr>
          <a:lstStyle/>
          <a:p>
            <a:pPr>
              <a:spcAft>
                <a:spcPts val="500"/>
              </a:spcAft>
              <a:buNone/>
            </a:pPr>
            <a:r>
              <a:rPr sz="1300">
                <a:solidFill>
                  <a:srgbClr val="545454"/>
                </a:solidFill>
                <a:latin typeface="Arial"/>
                <a:ea typeface="Arial"/>
                <a:cs typeface="Arial"/>
              </a:rPr>
              <a:t>•  Windows POSとタブレットPOS（Android／iOS）で画面構造と業務処理を共通化します。</a:t>
            </a:r>
          </a:p>
          <a:p>
            <a:pPr>
              <a:spcAft>
                <a:spcPts val="500"/>
              </a:spcAft>
              <a:buNone/>
            </a:pPr>
            <a:r>
              <a:rPr sz="1300">
                <a:solidFill>
                  <a:srgbClr val="545454"/>
                </a:solidFill>
                <a:latin typeface="Arial"/>
                <a:ea typeface="Arial"/>
                <a:cs typeface="Arial"/>
              </a:rPr>
              <a:t>•  画面サイズ、解像度、DPIおよび端末の向きの違いを表示層で吸収します。</a:t>
            </a:r>
          </a:p>
          <a:p>
            <a:pPr>
              <a:spcAft>
                <a:spcPts val="500"/>
              </a:spcAft>
              <a:buNone/>
            </a:pPr>
            <a:r>
              <a:rPr sz="1300">
                <a:solidFill>
                  <a:srgbClr val="545454"/>
                </a:solidFill>
                <a:latin typeface="Arial"/>
                <a:ea typeface="Arial"/>
                <a:cs typeface="Arial"/>
              </a:rPr>
              <a:t>•  DeviceCtrlが設定、OSおよび機器種別から接続方式別実装を選択します。</a:t>
            </a:r>
          </a:p>
          <a:p>
            <a:pPr>
              <a:spcAft>
                <a:spcPts val="500"/>
              </a:spcAft>
              <a:buNone/>
            </a:pPr>
            <a:r>
              <a:rPr sz="1300">
                <a:solidFill>
                  <a:srgbClr val="545454"/>
                </a:solidFill>
                <a:latin typeface="Arial"/>
                <a:ea typeface="Arial"/>
                <a:cs typeface="Arial"/>
              </a:rPr>
              <a:t>•  Windows POSでは既存の機器制御資産をデバイスコネクタへ分離します。</a:t>
            </a:r>
          </a:p>
          <a:p>
            <a:pPr>
              <a:spcAft>
                <a:spcPts val="500"/>
              </a:spcAft>
              <a:buNone/>
            </a:pPr>
            <a:r>
              <a:rPr sz="1300">
                <a:solidFill>
                  <a:srgbClr val="545454"/>
                </a:solidFill>
                <a:latin typeface="Arial"/>
                <a:ea typeface="Arial"/>
                <a:cs typeface="Arial"/>
              </a:rPr>
              <a:t>•  機器ごとの排他制御と決済状態管理により、競合操作と二重決済を防止します。</a:t>
            </a:r>
          </a:p>
          <a:p>
            <a:pPr>
              <a:spcAft>
                <a:spcPts val="500"/>
              </a:spcAft>
              <a:buNone/>
            </a:pPr>
            <a:r>
              <a:rPr sz="1300">
                <a:solidFill>
                  <a:srgbClr val="545454"/>
                </a:solidFill>
                <a:latin typeface="Arial"/>
                <a:ea typeface="Arial"/>
                <a:cs typeface="Arial"/>
              </a:rPr>
              <a:t>•  端末内データとログを暗号化し、OSの安全な保管領域で鍵を管理します。</a:t>
            </a:r>
          </a:p>
          <a:p>
            <a:pPr>
              <a:spcAft>
                <a:spcPts val="500"/>
              </a:spcAft>
              <a:buNone/>
            </a:pPr>
            <a:r>
              <a:rPr sz="1300">
                <a:solidFill>
                  <a:srgbClr val="545454"/>
                </a:solidFill>
                <a:latin typeface="Arial"/>
                <a:ea typeface="Arial"/>
                <a:cs typeface="Arial"/>
              </a:rPr>
              <a:t>•  オフライン継続、状態復元、ログ監視およびバージョンアップを共通基盤として管理します。</a:t>
            </a:r>
          </a:p>
        </p:txBody>
      </p:sp>
      <p:sp>
        <p:nvSpPr>
          <p:cNvPr id="9" name="TextBox 8">
            <a:extLst>
              <a:ext uri="{FF2B5EF4-FFF2-40B4-BE49-F238E27FC236}">
                <a16:creationId xmlns:a16="http://schemas.microsoft.com/office/drawing/2014/main" id="{555584A9-F6DE-4A31-97B9-821C57579C0E}"/>
              </a:ext>
            </a:extLst>
          </p:cNvPr>
          <p:cNvSpPr>
            <a:spLocks noGrp="1"/>
          </p:cNvSpPr>
          <p:nvPr/>
        </p:nvSpPr>
        <p:spPr>
          <a:xfrm>
            <a:off x="594360" y="9464040"/>
            <a:ext cx="17007840" cy="365760"/>
          </a:xfrm>
          <a:prstGeom prst="rect">
            <a:avLst/>
          </a:prstGeom>
          <a:noFill/>
        </p:spPr>
        <p:txBody>
          <a:bodyPr wrap="square" lIns="45720" tIns="0" rIns="45720" bIns="0" anchor="t">
            <a:spAutoFit/>
          </a:bodyPr>
          <a:lstStyle/>
          <a:p>
            <a:pPr algn="l">
              <a:spcAft>
                <a:spcPts val="600"/>
              </a:spcAft>
              <a:buNone/>
            </a:pPr>
            <a:endParaRPr/>
          </a:p>
        </p:txBody>
      </p:sp>
    </p:spTree>
    <p:extLst>
      <p:ext uri="{BB962C8B-B14F-4D97-AF65-F5344CB8AC3E}">
        <p14:creationId xmlns:p14="http://schemas.microsoft.com/office/powerpoint/2010/main" val="79207335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2294</Words>
  <Application>Microsoft Office PowerPoint</Application>
  <DocSecurity>0</DocSecurity>
  <PresentationFormat>ユーザー設定</PresentationFormat>
  <Paragraphs>597</Paragraphs>
  <Slides>32</Slides>
  <Notes>32</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32</vt:i4>
      </vt:variant>
    </vt:vector>
  </HeadingPairs>
  <TitlesOfParts>
    <vt:vector size="35" baseType="lpstr">
      <vt:lpstr>Arimo</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グエンホンソン</cp:lastModifiedBy>
  <cp:revision>1</cp:revision>
  <dcterms:created xsi:type="dcterms:W3CDTF">2026-09-04T01:45:55Z</dcterms:created>
  <dcterms:modified xsi:type="dcterms:W3CDTF">2026-09-04T03:44:32Z</dcterms:modified>
</cp:coreProperties>
</file>